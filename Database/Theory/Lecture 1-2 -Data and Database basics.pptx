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00" y="40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95927" y="632206"/>
            <a:ext cx="420014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97407" y="441959"/>
            <a:ext cx="3627120" cy="106680"/>
          </a:xfrm>
          <a:custGeom>
            <a:avLst/>
            <a:gdLst/>
            <a:ahLst/>
            <a:cxnLst/>
            <a:rect l="l" t="t" r="r" b="b"/>
            <a:pathLst>
              <a:path w="2720340" h="106679">
                <a:moveTo>
                  <a:pt x="2720340" y="0"/>
                </a:moveTo>
                <a:lnTo>
                  <a:pt x="0" y="0"/>
                </a:lnTo>
                <a:lnTo>
                  <a:pt x="0" y="106679"/>
                </a:lnTo>
                <a:lnTo>
                  <a:pt x="2720340" y="106679"/>
                </a:lnTo>
                <a:lnTo>
                  <a:pt x="272034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7967471" y="441959"/>
            <a:ext cx="3615267" cy="106680"/>
          </a:xfrm>
          <a:custGeom>
            <a:avLst/>
            <a:gdLst/>
            <a:ahLst/>
            <a:cxnLst/>
            <a:rect l="l" t="t" r="r" b="b"/>
            <a:pathLst>
              <a:path w="2711450" h="106679">
                <a:moveTo>
                  <a:pt x="2711196" y="0"/>
                </a:moveTo>
                <a:lnTo>
                  <a:pt x="0" y="0"/>
                </a:lnTo>
                <a:lnTo>
                  <a:pt x="0" y="106679"/>
                </a:lnTo>
                <a:lnTo>
                  <a:pt x="2711196" y="106679"/>
                </a:lnTo>
                <a:lnTo>
                  <a:pt x="2711196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4287519" y="441959"/>
            <a:ext cx="3616960" cy="106680"/>
          </a:xfrm>
          <a:custGeom>
            <a:avLst/>
            <a:gdLst/>
            <a:ahLst/>
            <a:cxnLst/>
            <a:rect l="l" t="t" r="r" b="b"/>
            <a:pathLst>
              <a:path w="2712720" h="106679">
                <a:moveTo>
                  <a:pt x="2712719" y="0"/>
                </a:moveTo>
                <a:lnTo>
                  <a:pt x="0" y="0"/>
                </a:lnTo>
                <a:lnTo>
                  <a:pt x="0" y="106679"/>
                </a:lnTo>
                <a:lnTo>
                  <a:pt x="2712719" y="106679"/>
                </a:lnTo>
                <a:lnTo>
                  <a:pt x="2712719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7407" y="600456"/>
            <a:ext cx="1099718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585" y="1891666"/>
            <a:ext cx="10762827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3994" y="1875282"/>
            <a:ext cx="72491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90" dirty="0">
                <a:solidFill>
                  <a:srgbClr val="1A315F"/>
                </a:solidFill>
              </a:rPr>
              <a:t>DATABASE</a:t>
            </a:r>
            <a:r>
              <a:rPr sz="3600" spc="-60" dirty="0">
                <a:solidFill>
                  <a:srgbClr val="1A315F"/>
                </a:solidFill>
              </a:rPr>
              <a:t> </a:t>
            </a:r>
            <a:r>
              <a:rPr sz="3600" spc="-5" dirty="0">
                <a:solidFill>
                  <a:srgbClr val="1A315F"/>
                </a:solidFill>
              </a:rPr>
              <a:t>MANAGEMENT</a:t>
            </a:r>
            <a:r>
              <a:rPr sz="3600" spc="-105" dirty="0">
                <a:solidFill>
                  <a:srgbClr val="1A315F"/>
                </a:solidFill>
              </a:rPr>
              <a:t> </a:t>
            </a:r>
            <a:r>
              <a:rPr sz="3600" spc="-5" dirty="0">
                <a:solidFill>
                  <a:srgbClr val="1A315F"/>
                </a:solidFill>
              </a:rPr>
              <a:t>SYSTEMS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972056" y="3086100"/>
            <a:ext cx="8240395" cy="3305810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spcBef>
                <a:spcPts val="25"/>
              </a:spcBef>
            </a:pPr>
            <a:endParaRPr sz="2150">
              <a:latin typeface="Times New Roman"/>
              <a:cs typeface="Times New Roman"/>
            </a:endParaRPr>
          </a:p>
          <a:p>
            <a:pPr marL="160655" algn="ctr"/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Subject</a:t>
            </a:r>
            <a:r>
              <a:rPr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Teacher:</a:t>
            </a:r>
            <a:r>
              <a:rPr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Junaid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Javed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Korai</a:t>
            </a:r>
            <a:endParaRPr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spcBef>
                <a:spcPts val="25"/>
              </a:spcBef>
            </a:pPr>
            <a:endParaRPr sz="2350">
              <a:latin typeface="Times New Roman"/>
              <a:cs typeface="Times New Roman"/>
            </a:endParaRPr>
          </a:p>
          <a:p>
            <a:pPr marR="201295" algn="r"/>
            <a:r>
              <a:rPr sz="900" dirty="0">
                <a:solidFill>
                  <a:srgbClr val="FFFFFF"/>
                </a:solidFill>
                <a:latin typeface="Franklin Gothic Book"/>
                <a:cs typeface="Franklin Gothic Book"/>
              </a:rPr>
              <a:t>1</a:t>
            </a:r>
            <a:endParaRPr sz="900">
              <a:latin typeface="Franklin Gothic Book"/>
              <a:cs typeface="Franklin Gothic Boo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2056" y="3086100"/>
            <a:ext cx="8240395" cy="3305810"/>
          </a:xfrm>
          <a:custGeom>
            <a:avLst/>
            <a:gdLst/>
            <a:ahLst/>
            <a:cxnLst/>
            <a:rect l="l" t="t" r="r" b="b"/>
            <a:pathLst>
              <a:path w="8240395" h="3305810">
                <a:moveTo>
                  <a:pt x="8240268" y="0"/>
                </a:moveTo>
                <a:lnTo>
                  <a:pt x="0" y="0"/>
                </a:lnTo>
                <a:lnTo>
                  <a:pt x="0" y="3305555"/>
                </a:lnTo>
                <a:lnTo>
                  <a:pt x="8240268" y="3305555"/>
                </a:lnTo>
                <a:lnTo>
                  <a:pt x="8240268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83993" y="1875282"/>
            <a:ext cx="43268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dirty="0">
                <a:solidFill>
                  <a:srgbClr val="1A315F"/>
                </a:solidFill>
              </a:rPr>
              <a:t>D</a:t>
            </a:r>
            <a:r>
              <a:rPr sz="3600" spc="-335" dirty="0">
                <a:solidFill>
                  <a:srgbClr val="1A315F"/>
                </a:solidFill>
              </a:rPr>
              <a:t>AT</a:t>
            </a:r>
            <a:r>
              <a:rPr sz="3600" dirty="0">
                <a:solidFill>
                  <a:srgbClr val="1A315F"/>
                </a:solidFill>
              </a:rPr>
              <a:t>A</a:t>
            </a:r>
            <a:r>
              <a:rPr sz="3600" spc="-425" dirty="0">
                <a:solidFill>
                  <a:srgbClr val="1A315F"/>
                </a:solidFill>
              </a:rPr>
              <a:t> </a:t>
            </a:r>
            <a:r>
              <a:rPr sz="3600" spc="-5" dirty="0">
                <a:solidFill>
                  <a:srgbClr val="1A315F"/>
                </a:solidFill>
              </a:rPr>
              <a:t>AN</a:t>
            </a:r>
            <a:r>
              <a:rPr sz="3600" dirty="0">
                <a:solidFill>
                  <a:srgbClr val="1A315F"/>
                </a:solidFill>
              </a:rPr>
              <a:t>D</a:t>
            </a:r>
            <a:r>
              <a:rPr sz="3600" spc="-5" dirty="0">
                <a:solidFill>
                  <a:srgbClr val="1A315F"/>
                </a:solidFill>
              </a:rPr>
              <a:t> </a:t>
            </a:r>
            <a:r>
              <a:rPr sz="3600" dirty="0">
                <a:solidFill>
                  <a:srgbClr val="1A315F"/>
                </a:solidFill>
              </a:rPr>
              <a:t>D</a:t>
            </a:r>
            <a:r>
              <a:rPr sz="3600" spc="-335" dirty="0">
                <a:solidFill>
                  <a:srgbClr val="1A315F"/>
                </a:solidFill>
              </a:rPr>
              <a:t>AT</a:t>
            </a:r>
            <a:r>
              <a:rPr sz="3600" spc="-5" dirty="0">
                <a:solidFill>
                  <a:srgbClr val="1A315F"/>
                </a:solidFill>
              </a:rPr>
              <a:t>ABASE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9923144" y="6055868"/>
            <a:ext cx="9271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Franklin Gothic Book"/>
                <a:cs typeface="Franklin Gothic Book"/>
              </a:rPr>
              <a:t>2</a:t>
            </a:r>
            <a:endParaRPr sz="900">
              <a:latin typeface="Franklin Gothic Book"/>
              <a:cs typeface="Franklin Gothic Boo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3994" y="3166999"/>
            <a:ext cx="7598409" cy="28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97485" algn="ctr"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Lecture</a:t>
            </a:r>
            <a:r>
              <a:rPr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spcBef>
                <a:spcPts val="1220"/>
              </a:spcBef>
            </a:pPr>
            <a:r>
              <a:rPr sz="1600" b="1" spc="5" dirty="0">
                <a:solidFill>
                  <a:srgbClr val="FFFFCC"/>
                </a:solidFill>
                <a:latin typeface="Gill Sans MT"/>
                <a:cs typeface="Gill Sans MT"/>
              </a:rPr>
              <a:t>Disclaimer:</a:t>
            </a:r>
            <a:r>
              <a:rPr sz="1600" b="1" spc="1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The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material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used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in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this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presentation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to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deliver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 the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lecture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5" dirty="0">
                <a:solidFill>
                  <a:srgbClr val="FFFFCC"/>
                </a:solidFill>
                <a:latin typeface="Gill Sans MT"/>
                <a:cs typeface="Gill Sans MT"/>
              </a:rPr>
              <a:t>i.e., </a:t>
            </a:r>
            <a:r>
              <a:rPr sz="1600" spc="1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definitions/text 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and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pictures/graphs </a:t>
            </a:r>
            <a:r>
              <a:rPr sz="1600" spc="5" dirty="0">
                <a:solidFill>
                  <a:srgbClr val="FFFFCC"/>
                </a:solidFill>
                <a:latin typeface="Gill Sans MT"/>
                <a:cs typeface="Gill Sans MT"/>
              </a:rPr>
              <a:t>etc.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does not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solely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belong 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to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sz="1600" spc="-15" dirty="0">
                <a:solidFill>
                  <a:srgbClr val="FFFFCC"/>
                </a:solidFill>
                <a:latin typeface="Gill Sans MT"/>
                <a:cs typeface="Gill Sans MT"/>
              </a:rPr>
              <a:t>author/presenter.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sz="1600" spc="-43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presenter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 has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gathered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this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lecture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 material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from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 various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sources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 on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web/textbooks. 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15" dirty="0">
                <a:solidFill>
                  <a:srgbClr val="FFFFCC"/>
                </a:solidFill>
                <a:latin typeface="Gill Sans MT"/>
                <a:cs typeface="Gill Sans MT"/>
              </a:rPr>
              <a:t>Following</a:t>
            </a:r>
            <a:r>
              <a:rPr sz="1600" spc="4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sources</a:t>
            </a:r>
            <a:r>
              <a:rPr sz="1600" spc="1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15" dirty="0">
                <a:solidFill>
                  <a:srgbClr val="FFFFCC"/>
                </a:solidFill>
                <a:latin typeface="Gill Sans MT"/>
                <a:cs typeface="Gill Sans MT"/>
              </a:rPr>
              <a:t>are</a:t>
            </a:r>
            <a:r>
              <a:rPr sz="1600" spc="1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especially acknowledged:</a:t>
            </a:r>
            <a:endParaRPr sz="1600">
              <a:latin typeface="Gill Sans MT"/>
              <a:cs typeface="Gill Sans MT"/>
            </a:endParaRPr>
          </a:p>
          <a:p>
            <a:pPr marL="355600" marR="6350" indent="-342900">
              <a:spcBef>
                <a:spcPts val="121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400" spc="-15" dirty="0">
                <a:solidFill>
                  <a:srgbClr val="FFFFCC"/>
                </a:solidFill>
                <a:latin typeface="Gill Sans MT"/>
                <a:cs typeface="Gill Sans MT"/>
              </a:rPr>
              <a:t>Connolly,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 Thomas</a:t>
            </a:r>
            <a:r>
              <a:rPr sz="1400" spc="10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M.,</a:t>
            </a:r>
            <a:r>
              <a:rPr sz="1400" spc="36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sz="1400" spc="114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10" dirty="0">
                <a:solidFill>
                  <a:srgbClr val="FFFFCC"/>
                </a:solidFill>
                <a:latin typeface="Gill Sans MT"/>
                <a:cs typeface="Gill Sans MT"/>
              </a:rPr>
              <a:t>Carolyn</a:t>
            </a:r>
            <a:r>
              <a:rPr sz="1400" spc="12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E.</a:t>
            </a:r>
            <a:r>
              <a:rPr sz="1400" spc="35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Begg.</a:t>
            </a:r>
            <a:r>
              <a:rPr sz="1400" spc="35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Database</a:t>
            </a:r>
            <a:r>
              <a:rPr sz="1400" i="1" spc="114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dirty="0">
                <a:solidFill>
                  <a:srgbClr val="FFFFCC"/>
                </a:solidFill>
                <a:latin typeface="Gill Sans MT"/>
                <a:cs typeface="Gill Sans MT"/>
              </a:rPr>
              <a:t>systems:</a:t>
            </a:r>
            <a:r>
              <a:rPr sz="1400" i="1" spc="35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dirty="0">
                <a:solidFill>
                  <a:srgbClr val="FFFFCC"/>
                </a:solidFill>
                <a:latin typeface="Gill Sans MT"/>
                <a:cs typeface="Gill Sans MT"/>
              </a:rPr>
              <a:t>a</a:t>
            </a:r>
            <a:r>
              <a:rPr sz="1400" i="1" spc="12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10" dirty="0">
                <a:solidFill>
                  <a:srgbClr val="FFFFCC"/>
                </a:solidFill>
                <a:latin typeface="Gill Sans MT"/>
                <a:cs typeface="Gill Sans MT"/>
              </a:rPr>
              <a:t>practical</a:t>
            </a:r>
            <a:r>
              <a:rPr sz="1400" i="1" spc="13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approach</a:t>
            </a:r>
            <a:r>
              <a:rPr sz="1400" i="1" spc="12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dirty="0">
                <a:solidFill>
                  <a:srgbClr val="FFFFCC"/>
                </a:solidFill>
                <a:latin typeface="Gill Sans MT"/>
                <a:cs typeface="Gill Sans MT"/>
              </a:rPr>
              <a:t>to</a:t>
            </a:r>
            <a:r>
              <a:rPr sz="1400" i="1" spc="11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design, </a:t>
            </a:r>
            <a:r>
              <a:rPr sz="1400" i="1" spc="-37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dirty="0">
                <a:solidFill>
                  <a:srgbClr val="FFFFCC"/>
                </a:solidFill>
                <a:latin typeface="Gill Sans MT"/>
                <a:cs typeface="Gill Sans MT"/>
              </a:rPr>
              <a:t>implementation,</a:t>
            </a:r>
            <a:r>
              <a:rPr sz="1400" i="1" spc="-17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dirty="0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sz="1400" i="1" spc="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management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.</a:t>
            </a:r>
            <a:r>
              <a:rPr sz="1400" spc="-14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Pearson</a:t>
            </a:r>
            <a:r>
              <a:rPr sz="1400" spc="-2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Education,</a:t>
            </a:r>
            <a:r>
              <a:rPr sz="1400" spc="-16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5" dirty="0">
                <a:solidFill>
                  <a:srgbClr val="FFFFCC"/>
                </a:solidFill>
                <a:latin typeface="Gill Sans MT"/>
                <a:cs typeface="Gill Sans MT"/>
              </a:rPr>
              <a:t>2005.</a:t>
            </a:r>
            <a:endParaRPr sz="1400">
              <a:latin typeface="Gill Sans MT"/>
              <a:cs typeface="Gill Sans MT"/>
            </a:endParaRPr>
          </a:p>
          <a:p>
            <a:pPr marL="355600" marR="22860" indent="-342900">
              <a:spcBef>
                <a:spcPts val="12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2.</a:t>
            </a:r>
            <a:r>
              <a:rPr sz="1400" spc="4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25" dirty="0">
                <a:solidFill>
                  <a:srgbClr val="FFFFCC"/>
                </a:solidFill>
                <a:latin typeface="Gill Sans MT"/>
                <a:cs typeface="Gill Sans MT"/>
              </a:rPr>
              <a:t>Hoffer,</a:t>
            </a:r>
            <a:r>
              <a:rPr sz="1400" spc="4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15" dirty="0">
                <a:solidFill>
                  <a:srgbClr val="FFFFCC"/>
                </a:solidFill>
                <a:latin typeface="Gill Sans MT"/>
                <a:cs typeface="Gill Sans MT"/>
              </a:rPr>
              <a:t>Jeffrey</a:t>
            </a:r>
            <a:r>
              <a:rPr sz="1400" spc="18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A.,</a:t>
            </a:r>
            <a:r>
              <a:rPr sz="1400" spc="5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15" dirty="0">
                <a:solidFill>
                  <a:srgbClr val="FFFFCC"/>
                </a:solidFill>
                <a:latin typeface="Gill Sans MT"/>
                <a:cs typeface="Gill Sans MT"/>
              </a:rPr>
              <a:t>Venkataraman</a:t>
            </a:r>
            <a:r>
              <a:rPr sz="1400" spc="19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Ramesh,</a:t>
            </a:r>
            <a:r>
              <a:rPr sz="1400" spc="5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10" dirty="0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sz="1400" spc="19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Heikki</a:t>
            </a:r>
            <a:r>
              <a:rPr sz="1400" spc="18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40" dirty="0">
                <a:solidFill>
                  <a:srgbClr val="FFFFCC"/>
                </a:solidFill>
                <a:latin typeface="Gill Sans MT"/>
                <a:cs typeface="Gill Sans MT"/>
              </a:rPr>
              <a:t>Topi.</a:t>
            </a:r>
            <a:r>
              <a:rPr sz="1400" spc="4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Modern</a:t>
            </a:r>
            <a:r>
              <a:rPr sz="1400" i="1" spc="20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database</a:t>
            </a:r>
            <a:r>
              <a:rPr sz="1400" i="1" spc="19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management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.</a:t>
            </a:r>
            <a:r>
              <a:rPr sz="1400" spc="4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Upper </a:t>
            </a:r>
            <a:r>
              <a:rPr sz="1400" spc="-37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Saddle</a:t>
            </a:r>
            <a:r>
              <a:rPr sz="1400" spc="-3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30" dirty="0">
                <a:solidFill>
                  <a:srgbClr val="FFFFCC"/>
                </a:solidFill>
                <a:latin typeface="Gill Sans MT"/>
                <a:cs typeface="Gill Sans MT"/>
              </a:rPr>
              <a:t>River,</a:t>
            </a:r>
            <a:r>
              <a:rPr sz="1400" spc="-13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NJ:</a:t>
            </a:r>
            <a:r>
              <a:rPr sz="1400" spc="-14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Prentice</a:t>
            </a:r>
            <a:r>
              <a:rPr sz="1400" spc="-2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Hall,,</a:t>
            </a:r>
            <a:r>
              <a:rPr sz="1400" spc="-13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5" dirty="0">
                <a:solidFill>
                  <a:srgbClr val="FFFFCC"/>
                </a:solidFill>
                <a:latin typeface="Gill Sans MT"/>
                <a:cs typeface="Gill Sans MT"/>
              </a:rPr>
              <a:t>2011.</a:t>
            </a:r>
            <a:endParaRPr sz="14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972056" y="441960"/>
          <a:ext cx="8237855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9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4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marL="224154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IN</a:t>
                      </a:r>
                      <a:r>
                        <a:rPr sz="2400" b="1" spc="-365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IS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LE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TUR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E</a:t>
                      </a:r>
                      <a:r>
                        <a:rPr sz="2400" b="1" spc="-434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2400" b="1" spc="-190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Y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OU</a:t>
                      </a:r>
                      <a:r>
                        <a:rPr sz="2400" b="1" spc="-320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W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ILL 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LEA</a:t>
                      </a:r>
                      <a:r>
                        <a:rPr sz="2400" b="1" spc="-15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R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N</a:t>
                      </a:r>
                      <a:r>
                        <a:rPr sz="2400" b="1" spc="-250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ABOU</a:t>
                      </a:r>
                      <a:r>
                        <a:rPr sz="2400" b="1" spc="-75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:</a:t>
                      </a:r>
                      <a:endParaRPr sz="24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183993" y="2147697"/>
            <a:ext cx="4611370" cy="4031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indent="-304800">
              <a:spcBef>
                <a:spcPts val="100"/>
              </a:spcBef>
              <a:buClr>
                <a:srgbClr val="45CAE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b="1" dirty="0">
                <a:solidFill>
                  <a:srgbClr val="0D0D0D"/>
                </a:solidFill>
                <a:latin typeface="Gill Sans MT"/>
                <a:cs typeface="Gill Sans MT"/>
              </a:rPr>
              <a:t>Data,</a:t>
            </a:r>
            <a:r>
              <a:rPr b="1" spc="-210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b="1" dirty="0">
                <a:solidFill>
                  <a:srgbClr val="0D0D0D"/>
                </a:solidFill>
                <a:latin typeface="Gill Sans MT"/>
                <a:cs typeface="Gill Sans MT"/>
              </a:rPr>
              <a:t>In</a:t>
            </a:r>
            <a:r>
              <a:rPr b="1" spc="-20" dirty="0">
                <a:solidFill>
                  <a:srgbClr val="0D0D0D"/>
                </a:solidFill>
                <a:latin typeface="Gill Sans MT"/>
                <a:cs typeface="Gill Sans MT"/>
              </a:rPr>
              <a:t>f</a:t>
            </a:r>
            <a:r>
              <a:rPr b="1" spc="-5" dirty="0">
                <a:solidFill>
                  <a:srgbClr val="0D0D0D"/>
                </a:solidFill>
                <a:latin typeface="Gill Sans MT"/>
                <a:cs typeface="Gill Sans MT"/>
              </a:rPr>
              <a:t>orma</a:t>
            </a:r>
            <a:r>
              <a:rPr b="1" dirty="0">
                <a:solidFill>
                  <a:srgbClr val="0D0D0D"/>
                </a:solidFill>
                <a:latin typeface="Gill Sans MT"/>
                <a:cs typeface="Gill Sans MT"/>
              </a:rPr>
              <a:t>tion,</a:t>
            </a:r>
            <a:r>
              <a:rPr b="1" spc="-185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b="1" dirty="0">
                <a:solidFill>
                  <a:srgbClr val="0D0D0D"/>
                </a:solidFill>
                <a:latin typeface="Gill Sans MT"/>
                <a:cs typeface="Gill Sans MT"/>
              </a:rPr>
              <a:t>Meta</a:t>
            </a:r>
            <a:r>
              <a:rPr b="1" spc="-10" dirty="0">
                <a:solidFill>
                  <a:srgbClr val="0D0D0D"/>
                </a:solidFill>
                <a:latin typeface="Gill Sans MT"/>
                <a:cs typeface="Gill Sans MT"/>
              </a:rPr>
              <a:t>d</a:t>
            </a:r>
            <a:r>
              <a:rPr b="1" dirty="0">
                <a:solidFill>
                  <a:srgbClr val="0D0D0D"/>
                </a:solidFill>
                <a:latin typeface="Gill Sans MT"/>
                <a:cs typeface="Gill Sans MT"/>
              </a:rPr>
              <a:t>ata</a:t>
            </a:r>
            <a:endParaRPr>
              <a:latin typeface="Gill Sans MT"/>
              <a:cs typeface="Gill Sans MT"/>
            </a:endParaRPr>
          </a:p>
          <a:p>
            <a:pPr marL="317500" indent="-304800">
              <a:spcBef>
                <a:spcPts val="1510"/>
              </a:spcBef>
              <a:buClr>
                <a:srgbClr val="45CAE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b="1" spc="-25" dirty="0">
                <a:solidFill>
                  <a:srgbClr val="0D0D0D"/>
                </a:solidFill>
                <a:latin typeface="Gill Sans MT"/>
                <a:cs typeface="Gill Sans MT"/>
              </a:rPr>
              <a:t>Traditional</a:t>
            </a:r>
            <a:r>
              <a:rPr b="1" spc="-10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b="1" dirty="0">
                <a:solidFill>
                  <a:srgbClr val="0D0D0D"/>
                </a:solidFill>
                <a:latin typeface="Gill Sans MT"/>
                <a:cs typeface="Gill Sans MT"/>
              </a:rPr>
              <a:t>File</a:t>
            </a:r>
            <a:r>
              <a:rPr b="1" spc="-25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b="1" spc="-10" dirty="0">
                <a:solidFill>
                  <a:srgbClr val="0D0D0D"/>
                </a:solidFill>
                <a:latin typeface="Gill Sans MT"/>
                <a:cs typeface="Gill Sans MT"/>
              </a:rPr>
              <a:t>Processing </a:t>
            </a:r>
            <a:r>
              <a:rPr b="1" spc="-5" dirty="0">
                <a:solidFill>
                  <a:srgbClr val="0D0D0D"/>
                </a:solidFill>
                <a:latin typeface="Gill Sans MT"/>
                <a:cs typeface="Gill Sans MT"/>
              </a:rPr>
              <a:t>System</a:t>
            </a:r>
            <a:endParaRPr>
              <a:latin typeface="Gill Sans MT"/>
              <a:cs typeface="Gill Sans MT"/>
            </a:endParaRPr>
          </a:p>
          <a:p>
            <a:pPr marL="317500" indent="-304800">
              <a:spcBef>
                <a:spcPts val="1515"/>
              </a:spcBef>
              <a:buClr>
                <a:srgbClr val="45CAE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b="1" dirty="0">
                <a:solidFill>
                  <a:srgbClr val="0D0D0D"/>
                </a:solidFill>
                <a:latin typeface="Gill Sans MT"/>
                <a:cs typeface="Gill Sans MT"/>
              </a:rPr>
              <a:t>Examples</a:t>
            </a:r>
            <a:r>
              <a:rPr b="1" spc="-50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b="1" spc="-5" dirty="0">
                <a:solidFill>
                  <a:srgbClr val="0D0D0D"/>
                </a:solidFill>
                <a:latin typeface="Gill Sans MT"/>
                <a:cs typeface="Gill Sans MT"/>
              </a:rPr>
              <a:t>of</a:t>
            </a:r>
            <a:r>
              <a:rPr b="1" spc="-20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b="1" spc="-5" dirty="0">
                <a:solidFill>
                  <a:srgbClr val="0D0D0D"/>
                </a:solidFill>
                <a:latin typeface="Gill Sans MT"/>
                <a:cs typeface="Gill Sans MT"/>
              </a:rPr>
              <a:t>Database</a:t>
            </a:r>
            <a:r>
              <a:rPr b="1" spc="-55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b="1" dirty="0">
                <a:solidFill>
                  <a:srgbClr val="0D0D0D"/>
                </a:solidFill>
                <a:latin typeface="Gill Sans MT"/>
                <a:cs typeface="Gill Sans MT"/>
              </a:rPr>
              <a:t>Systems</a:t>
            </a:r>
            <a:endParaRPr>
              <a:latin typeface="Gill Sans MT"/>
              <a:cs typeface="Gill Sans MT"/>
            </a:endParaRPr>
          </a:p>
          <a:p>
            <a:pPr marL="317500" indent="-304800">
              <a:spcBef>
                <a:spcPts val="1515"/>
              </a:spcBef>
              <a:buClr>
                <a:srgbClr val="45CAE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b="1" spc="-5" dirty="0">
                <a:solidFill>
                  <a:srgbClr val="0D0D0D"/>
                </a:solidFill>
                <a:latin typeface="Gill Sans MT"/>
                <a:cs typeface="Gill Sans MT"/>
              </a:rPr>
              <a:t>Database</a:t>
            </a:r>
            <a:endParaRPr>
              <a:latin typeface="Gill Sans MT"/>
              <a:cs typeface="Gill Sans MT"/>
            </a:endParaRPr>
          </a:p>
          <a:p>
            <a:pPr marL="317500" indent="-304800">
              <a:spcBef>
                <a:spcPts val="1510"/>
              </a:spcBef>
              <a:buClr>
                <a:srgbClr val="45CAE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b="1" spc="-5" dirty="0">
                <a:solidFill>
                  <a:srgbClr val="0D0D0D"/>
                </a:solidFill>
                <a:latin typeface="Gill Sans MT"/>
                <a:cs typeface="Gill Sans MT"/>
              </a:rPr>
              <a:t>Database</a:t>
            </a:r>
            <a:r>
              <a:rPr b="1" spc="-55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b="1" spc="-10" dirty="0">
                <a:solidFill>
                  <a:srgbClr val="0D0D0D"/>
                </a:solidFill>
                <a:latin typeface="Gill Sans MT"/>
                <a:cs typeface="Gill Sans MT"/>
              </a:rPr>
              <a:t>Management</a:t>
            </a:r>
            <a:r>
              <a:rPr b="1" spc="-45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b="1" dirty="0">
                <a:solidFill>
                  <a:srgbClr val="0D0D0D"/>
                </a:solidFill>
                <a:latin typeface="Gill Sans MT"/>
                <a:cs typeface="Gill Sans MT"/>
              </a:rPr>
              <a:t>Systems</a:t>
            </a:r>
            <a:endParaRPr>
              <a:latin typeface="Gill Sans MT"/>
              <a:cs typeface="Gill Sans MT"/>
            </a:endParaRPr>
          </a:p>
          <a:p>
            <a:pPr marL="317500" indent="-304800">
              <a:spcBef>
                <a:spcPts val="1515"/>
              </a:spcBef>
              <a:buClr>
                <a:srgbClr val="45CAE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b="1" spc="-5" dirty="0">
                <a:solidFill>
                  <a:srgbClr val="0D0D0D"/>
                </a:solidFill>
                <a:latin typeface="Gill Sans MT"/>
                <a:cs typeface="Gill Sans MT"/>
              </a:rPr>
              <a:t>Database</a:t>
            </a:r>
            <a:r>
              <a:rPr b="1" spc="-55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b="1" spc="-5" dirty="0">
                <a:solidFill>
                  <a:srgbClr val="0D0D0D"/>
                </a:solidFill>
                <a:latin typeface="Gill Sans MT"/>
                <a:cs typeface="Gill Sans MT"/>
              </a:rPr>
              <a:t>application</a:t>
            </a:r>
            <a:r>
              <a:rPr b="1" spc="-35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b="1" spc="-5" dirty="0">
                <a:solidFill>
                  <a:srgbClr val="0D0D0D"/>
                </a:solidFill>
                <a:latin typeface="Gill Sans MT"/>
                <a:cs typeface="Gill Sans MT"/>
              </a:rPr>
              <a:t>programs,Views</a:t>
            </a:r>
            <a:endParaRPr>
              <a:latin typeface="Gill Sans MT"/>
              <a:cs typeface="Gill Sans MT"/>
            </a:endParaRPr>
          </a:p>
          <a:p>
            <a:pPr marL="317500" indent="-304800">
              <a:spcBef>
                <a:spcPts val="1510"/>
              </a:spcBef>
              <a:buClr>
                <a:srgbClr val="45CAE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b="1" spc="-5" dirty="0">
                <a:solidFill>
                  <a:srgbClr val="0D0D0D"/>
                </a:solidFill>
                <a:latin typeface="Gill Sans MT"/>
                <a:cs typeface="Gill Sans MT"/>
              </a:rPr>
              <a:t>Database</a:t>
            </a:r>
            <a:r>
              <a:rPr b="1" spc="-60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b="1" spc="-15" dirty="0">
                <a:solidFill>
                  <a:srgbClr val="0D0D0D"/>
                </a:solidFill>
                <a:latin typeface="Gill Sans MT"/>
                <a:cs typeface="Gill Sans MT"/>
              </a:rPr>
              <a:t>environment</a:t>
            </a:r>
            <a:endParaRPr>
              <a:latin typeface="Gill Sans MT"/>
              <a:cs typeface="Gill Sans MT"/>
            </a:endParaRPr>
          </a:p>
          <a:p>
            <a:pPr marL="317500" indent="-304800">
              <a:spcBef>
                <a:spcPts val="1515"/>
              </a:spcBef>
              <a:buClr>
                <a:srgbClr val="45CAE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b="1" spc="-5" dirty="0">
                <a:solidFill>
                  <a:srgbClr val="0D0D0D"/>
                </a:solidFill>
                <a:latin typeface="Gill Sans MT"/>
                <a:cs typeface="Gill Sans MT"/>
              </a:rPr>
              <a:t>Functions</a:t>
            </a:r>
            <a:r>
              <a:rPr b="1" spc="-15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b="1" spc="-5" dirty="0">
                <a:solidFill>
                  <a:srgbClr val="0D0D0D"/>
                </a:solidFill>
                <a:latin typeface="Gill Sans MT"/>
                <a:cs typeface="Gill Sans MT"/>
              </a:rPr>
              <a:t>of</a:t>
            </a:r>
            <a:r>
              <a:rPr b="1" spc="-15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b="1" dirty="0">
                <a:solidFill>
                  <a:srgbClr val="0D0D0D"/>
                </a:solidFill>
                <a:latin typeface="Gill Sans MT"/>
                <a:cs typeface="Gill Sans MT"/>
              </a:rPr>
              <a:t>a</a:t>
            </a:r>
            <a:r>
              <a:rPr b="1" spc="-20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b="1" dirty="0">
                <a:solidFill>
                  <a:srgbClr val="0D0D0D"/>
                </a:solidFill>
                <a:latin typeface="Gill Sans MT"/>
                <a:cs typeface="Gill Sans MT"/>
              </a:rPr>
              <a:t>DBMS</a:t>
            </a:r>
            <a:endParaRPr>
              <a:latin typeface="Gill Sans MT"/>
              <a:cs typeface="Gill Sans MT"/>
            </a:endParaRPr>
          </a:p>
          <a:p>
            <a:pPr marL="317500" indent="-304800">
              <a:spcBef>
                <a:spcPts val="1510"/>
              </a:spcBef>
              <a:buClr>
                <a:srgbClr val="45CAE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b="1" spc="-10" dirty="0">
                <a:solidFill>
                  <a:srgbClr val="0D0D0D"/>
                </a:solidFill>
                <a:latin typeface="Gill Sans MT"/>
                <a:cs typeface="Gill Sans MT"/>
              </a:rPr>
              <a:t>Advantages</a:t>
            </a:r>
            <a:r>
              <a:rPr b="1" spc="-35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b="1" dirty="0">
                <a:solidFill>
                  <a:srgbClr val="0D0D0D"/>
                </a:solidFill>
                <a:latin typeface="Gill Sans MT"/>
                <a:cs typeface="Gill Sans MT"/>
              </a:rPr>
              <a:t>and</a:t>
            </a:r>
            <a:r>
              <a:rPr b="1" spc="-5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b="1" spc="-10" dirty="0">
                <a:solidFill>
                  <a:srgbClr val="0D0D0D"/>
                </a:solidFill>
                <a:latin typeface="Gill Sans MT"/>
                <a:cs typeface="Gill Sans MT"/>
              </a:rPr>
              <a:t>Disadvantages</a:t>
            </a:r>
            <a:r>
              <a:rPr b="1" spc="-45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b="1" spc="-5" dirty="0">
                <a:solidFill>
                  <a:srgbClr val="0D0D0D"/>
                </a:solidFill>
                <a:latin typeface="Gill Sans MT"/>
                <a:cs typeface="Gill Sans MT"/>
              </a:rPr>
              <a:t>of</a:t>
            </a:r>
            <a:r>
              <a:rPr b="1" spc="5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b="1" spc="-5" dirty="0">
                <a:solidFill>
                  <a:srgbClr val="0D0D0D"/>
                </a:solidFill>
                <a:latin typeface="Gill Sans MT"/>
                <a:cs typeface="Gill Sans MT"/>
              </a:rPr>
              <a:t>DBMS</a:t>
            </a:r>
            <a:endParaRPr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2056" y="600455"/>
            <a:ext cx="8239125" cy="627736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73025" rIns="0" bIns="0" rtlCol="0">
            <a:spAutoFit/>
          </a:bodyPr>
          <a:lstStyle/>
          <a:p>
            <a:pPr marL="100330">
              <a:spcBef>
                <a:spcPts val="575"/>
              </a:spcBef>
            </a:pPr>
            <a:r>
              <a:rPr sz="3600" spc="-125" dirty="0">
                <a:latin typeface="Constantia"/>
                <a:cs typeface="Constantia"/>
              </a:rPr>
              <a:t>DATA</a:t>
            </a:r>
            <a:endParaRPr sz="36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9941" y="1872234"/>
            <a:ext cx="8074025" cy="4250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8255" indent="-304800">
              <a:spcBef>
                <a:spcPts val="1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  <a:tab pos="1079500" algn="l"/>
                <a:tab pos="1435735" algn="l"/>
                <a:tab pos="1734820" algn="l"/>
                <a:tab pos="2595880" algn="l"/>
                <a:tab pos="3364229" algn="l"/>
                <a:tab pos="3780154" algn="l"/>
                <a:tab pos="4850130" algn="l"/>
                <a:tab pos="5744845" algn="l"/>
                <a:tab pos="6696075" algn="l"/>
                <a:tab pos="6998334" algn="l"/>
                <a:tab pos="7813675" algn="l"/>
              </a:tabLst>
            </a:pP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Data	is	a	plural	</a:t>
            </a:r>
            <a:r>
              <a:rPr sz="2400" spc="-25" dirty="0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orm	</a:t>
            </a:r>
            <a:r>
              <a:rPr sz="2400" spc="-5" dirty="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f	</a:t>
            </a:r>
            <a:r>
              <a:rPr sz="2400" b="1" i="1" dirty="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sz="2400" b="1" i="1" spc="-1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400" b="1" i="1" spc="-5" dirty="0">
                <a:solidFill>
                  <a:srgbClr val="3C3C3C"/>
                </a:solidFill>
                <a:latin typeface="Gill Sans MT"/>
                <a:cs typeface="Gill Sans MT"/>
              </a:rPr>
              <a:t>tu</a:t>
            </a:r>
            <a:r>
              <a:rPr sz="2400" b="1" i="1" dirty="0">
                <a:solidFill>
                  <a:srgbClr val="3C3C3C"/>
                </a:solidFill>
                <a:latin typeface="Gill Sans MT"/>
                <a:cs typeface="Gill Sans MT"/>
              </a:rPr>
              <a:t>m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,	</a:t>
            </a:r>
            <a:r>
              <a:rPr sz="2400" spc="-5" dirty="0">
                <a:solidFill>
                  <a:srgbClr val="3C3C3C"/>
                </a:solidFill>
                <a:latin typeface="Gill Sans MT"/>
                <a:cs typeface="Gill Sans MT"/>
              </a:rPr>
              <a:t>whic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h	m</a:t>
            </a:r>
            <a:r>
              <a:rPr sz="2400" spc="-15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ans	a	pi</a:t>
            </a:r>
            <a:r>
              <a:rPr sz="2400" spc="-10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ce	</a:t>
            </a:r>
            <a:r>
              <a:rPr sz="2400" spc="-5" dirty="0">
                <a:solidFill>
                  <a:srgbClr val="3C3C3C"/>
                </a:solidFill>
                <a:latin typeface="Gill Sans MT"/>
                <a:cs typeface="Gill Sans MT"/>
              </a:rPr>
              <a:t>of  information.</a:t>
            </a:r>
            <a:endParaRPr sz="2400">
              <a:latin typeface="Gill Sans MT"/>
              <a:cs typeface="Gill Sans MT"/>
            </a:endParaRPr>
          </a:p>
          <a:p>
            <a:pPr marL="317500" indent="-304800">
              <a:spcBef>
                <a:spcPts val="117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  <a:tab pos="1087120" algn="l"/>
                <a:tab pos="1449705" algn="l"/>
                <a:tab pos="1757680" algn="l"/>
                <a:tab pos="3141980" algn="l"/>
                <a:tab pos="3563620" algn="l"/>
                <a:tab pos="4301490" algn="l"/>
                <a:tab pos="4670425" algn="l"/>
                <a:tab pos="5687060" algn="l"/>
                <a:tab pos="6421755" algn="l"/>
                <a:tab pos="6847205" algn="l"/>
                <a:tab pos="7770495" algn="l"/>
              </a:tabLst>
            </a:pP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Data	is	a	collection	</a:t>
            </a:r>
            <a:r>
              <a:rPr sz="2400" spc="-20" dirty="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f	facts	&amp;	</a:t>
            </a:r>
            <a:r>
              <a:rPr sz="2400" spc="-15" dirty="0">
                <a:solidFill>
                  <a:srgbClr val="3C3C3C"/>
                </a:solidFill>
                <a:latin typeface="Gill Sans MT"/>
                <a:cs typeface="Gill Sans MT"/>
              </a:rPr>
              <a:t>fi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gu</a:t>
            </a:r>
            <a:r>
              <a:rPr sz="2400" spc="-60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es,	such	</a:t>
            </a:r>
            <a:r>
              <a:rPr sz="2400" spc="-1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s	values	</a:t>
            </a:r>
            <a:r>
              <a:rPr sz="2400" spc="-10" dirty="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endParaRPr sz="2400">
              <a:latin typeface="Gill Sans MT"/>
              <a:cs typeface="Gill Sans MT"/>
            </a:endParaRPr>
          </a:p>
          <a:p>
            <a:pPr marL="317500"/>
            <a:r>
              <a:rPr sz="2400" spc="-5" dirty="0">
                <a:solidFill>
                  <a:srgbClr val="3C3C3C"/>
                </a:solidFill>
                <a:latin typeface="Gill Sans MT"/>
                <a:cs typeface="Gill Sans MT"/>
              </a:rPr>
              <a:t>measurements.</a:t>
            </a:r>
            <a:endParaRPr sz="2400">
              <a:latin typeface="Gill Sans MT"/>
              <a:cs typeface="Gill Sans MT"/>
            </a:endParaRPr>
          </a:p>
          <a:p>
            <a:pPr marL="317500" indent="-304800">
              <a:spcBef>
                <a:spcPts val="117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sz="2400" spc="-6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can</a:t>
            </a:r>
            <a:r>
              <a:rPr sz="2400" spc="-5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400" spc="15" dirty="0">
                <a:solidFill>
                  <a:srgbClr val="3C3C3C"/>
                </a:solidFill>
                <a:latin typeface="Gill Sans MT"/>
                <a:cs typeface="Gill Sans MT"/>
              </a:rPr>
              <a:t>be,</a:t>
            </a:r>
            <a:endParaRPr sz="2400">
              <a:latin typeface="Gill Sans MT"/>
              <a:cs typeface="Gill Sans MT"/>
            </a:endParaRPr>
          </a:p>
          <a:p>
            <a:pPr marL="911860" lvl="1" indent="-270510">
              <a:spcBef>
                <a:spcPts val="106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911860" algn="l"/>
                <a:tab pos="912494" algn="l"/>
              </a:tabLst>
            </a:pP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Numbers</a:t>
            </a:r>
            <a:endParaRPr>
              <a:latin typeface="Gill Sans MT"/>
              <a:cs typeface="Gill Sans MT"/>
            </a:endParaRPr>
          </a:p>
          <a:p>
            <a:pPr marL="911860" lvl="1" indent="-270510"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911860" algn="l"/>
                <a:tab pos="912494" algn="l"/>
              </a:tabLst>
            </a:pPr>
            <a:r>
              <a:rPr spc="-40" dirty="0">
                <a:solidFill>
                  <a:srgbClr val="3C3C3C"/>
                </a:solidFill>
                <a:latin typeface="Gill Sans MT"/>
                <a:cs typeface="Gill Sans MT"/>
              </a:rPr>
              <a:t>Words</a:t>
            </a:r>
            <a:endParaRPr>
              <a:latin typeface="Gill Sans MT"/>
              <a:cs typeface="Gill Sans MT"/>
            </a:endParaRPr>
          </a:p>
          <a:p>
            <a:pPr marL="911860" lvl="1" indent="-270510"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911860" algn="l"/>
                <a:tab pos="912494" algn="l"/>
              </a:tabLst>
            </a:pP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Measurements</a:t>
            </a:r>
            <a:endParaRPr>
              <a:latin typeface="Gill Sans MT"/>
              <a:cs typeface="Gill Sans MT"/>
            </a:endParaRPr>
          </a:p>
          <a:p>
            <a:pPr marL="317500" marR="5080" indent="-304800">
              <a:spcBef>
                <a:spcPts val="115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  <a:tab pos="657225" algn="l"/>
                <a:tab pos="1997075" algn="l"/>
                <a:tab pos="2378075" algn="l"/>
                <a:tab pos="3030220" algn="l"/>
                <a:tab pos="3890010" algn="l"/>
                <a:tab pos="4994910" algn="l"/>
                <a:tab pos="5798185" algn="l"/>
                <a:tab pos="7242175" algn="l"/>
                <a:tab pos="7875905" algn="l"/>
              </a:tabLst>
            </a:pP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A	collection	</a:t>
            </a:r>
            <a:r>
              <a:rPr sz="2400" spc="-5" dirty="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f	da</a:t>
            </a:r>
            <a:r>
              <a:rPr sz="2400" spc="5" dirty="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a	</a:t>
            </a:r>
            <a:r>
              <a:rPr sz="2400" spc="-5" dirty="0">
                <a:solidFill>
                  <a:srgbClr val="3C3C3C"/>
                </a:solidFill>
                <a:latin typeface="Gill Sans MT"/>
                <a:cs typeface="Gill Sans MT"/>
              </a:rPr>
              <a:t>w</a:t>
            </a:r>
            <a:r>
              <a:rPr sz="2400" spc="-15" dirty="0">
                <a:solidFill>
                  <a:srgbClr val="3C3C3C"/>
                </a:solidFill>
                <a:latin typeface="Gill Sans MT"/>
                <a:cs typeface="Gill Sans MT"/>
              </a:rPr>
              <a:t>h</a:t>
            </a:r>
            <a:r>
              <a:rPr sz="2400" spc="-5" dirty="0">
                <a:solidFill>
                  <a:srgbClr val="3C3C3C"/>
                </a:solidFill>
                <a:latin typeface="Gill Sans MT"/>
                <a:cs typeface="Gill Sans MT"/>
              </a:rPr>
              <a:t>ic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h	co</a:t>
            </a:r>
            <a:r>
              <a:rPr sz="2400" spc="-40" dirty="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sz="2400" spc="-60" dirty="0">
                <a:solidFill>
                  <a:srgbClr val="3C3C3C"/>
                </a:solidFill>
                <a:latin typeface="Gill Sans MT"/>
                <a:cs typeface="Gill Sans MT"/>
              </a:rPr>
              <a:t>v</a:t>
            </a:r>
            <a:r>
              <a:rPr sz="2400" spc="-35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ys	so</a:t>
            </a:r>
            <a:r>
              <a:rPr sz="2400" spc="-10" dirty="0">
                <a:solidFill>
                  <a:srgbClr val="3C3C3C"/>
                </a:solidFill>
                <a:latin typeface="Gill Sans MT"/>
                <a:cs typeface="Gill Sans MT"/>
              </a:rPr>
              <a:t>m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e	me</a:t>
            </a:r>
            <a:r>
              <a:rPr sz="2400" spc="-2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ningful	</a:t>
            </a:r>
            <a:r>
              <a:rPr sz="2400" spc="-5" dirty="0">
                <a:solidFill>
                  <a:srgbClr val="3C3C3C"/>
                </a:solidFill>
                <a:latin typeface="Gill Sans MT"/>
                <a:cs typeface="Gill Sans MT"/>
              </a:rPr>
              <a:t>ide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a	is  called</a:t>
            </a:r>
            <a:r>
              <a:rPr sz="24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Gill Sans MT"/>
                <a:cs typeface="Gill Sans MT"/>
              </a:rPr>
              <a:t>information.</a:t>
            </a:r>
            <a:endParaRPr sz="24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972056" y="441960"/>
          <a:ext cx="8237855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9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4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3600" b="1" spc="-12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D</a:t>
                      </a:r>
                      <a:r>
                        <a:rPr sz="3600" b="1" spc="-18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A</a:t>
                      </a:r>
                      <a:r>
                        <a:rPr sz="3600" b="1" spc="-19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</a:t>
                      </a:r>
                      <a:r>
                        <a:rPr sz="3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A</a:t>
                      </a:r>
                      <a:r>
                        <a:rPr sz="3600" b="1" spc="-6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(</a:t>
                      </a:r>
                      <a:r>
                        <a:rPr sz="3600" b="1" spc="-114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C</a:t>
                      </a:r>
                      <a:r>
                        <a:rPr sz="3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ON</a:t>
                      </a:r>
                      <a:r>
                        <a:rPr sz="3600" b="1" spc="10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</a:t>
                      </a:r>
                      <a:r>
                        <a:rPr sz="3600" b="1" spc="-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’D)</a:t>
                      </a:r>
                      <a:endParaRPr sz="3600">
                        <a:latin typeface="Constantia"/>
                        <a:cs typeface="Constantia"/>
                      </a:endParaRPr>
                    </a:p>
                  </a:txBody>
                  <a:tcPr marL="0" marR="0" marT="9906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070303" y="2016632"/>
            <a:ext cx="7645400" cy="392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00" marR="29209" indent="-304800" algn="just">
              <a:spcBef>
                <a:spcPts val="105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7500" algn="l"/>
              </a:tabLst>
            </a:pP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Another definition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of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data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can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be a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representations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of objects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and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events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that 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have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meaning and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importance in the 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user’s</a:t>
            </a:r>
            <a:r>
              <a:rPr sz="2000" spc="49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environment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stored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on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computer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media.</a:t>
            </a:r>
            <a:endParaRPr sz="2000">
              <a:latin typeface="Gill Sans MT"/>
              <a:cs typeface="Gill Sans MT"/>
            </a:endParaRPr>
          </a:p>
          <a:p>
            <a:pPr marL="317500" indent="-304800" algn="just"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7500" algn="l"/>
              </a:tabLst>
            </a:pP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sz="2000" spc="7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example,</a:t>
            </a:r>
            <a:r>
              <a:rPr sz="2000" spc="-114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sz="2000" spc="9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spc="7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salesperson’s</a:t>
            </a:r>
            <a:r>
              <a:rPr sz="2000" spc="8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database,</a:t>
            </a:r>
            <a:r>
              <a:rPr sz="2000" spc="-114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7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sz="2000" spc="8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would</a:t>
            </a:r>
            <a:r>
              <a:rPr sz="2000" spc="8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includes</a:t>
            </a:r>
            <a:r>
              <a:rPr sz="2000" spc="9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facts</a:t>
            </a:r>
            <a:endParaRPr sz="2000">
              <a:latin typeface="Gill Sans MT"/>
              <a:cs typeface="Gill Sans MT"/>
            </a:endParaRPr>
          </a:p>
          <a:p>
            <a:pPr marL="317500" algn="just"/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such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as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customer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name,</a:t>
            </a:r>
            <a:r>
              <a:rPr sz="2000" spc="-2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address</a:t>
            </a:r>
            <a:r>
              <a:rPr sz="200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telephone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number.</a:t>
            </a:r>
            <a:endParaRPr sz="2000">
              <a:latin typeface="Gill Sans MT"/>
              <a:cs typeface="Gill Sans MT"/>
            </a:endParaRPr>
          </a:p>
          <a:p>
            <a:pPr marL="317500" indent="-304800" algn="just"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7500" algn="l"/>
              </a:tabLst>
            </a:pP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This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type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called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1" i="1" spc="-5" dirty="0">
                <a:solidFill>
                  <a:srgbClr val="3C3C3C"/>
                </a:solidFill>
                <a:latin typeface="Gill Sans MT"/>
                <a:cs typeface="Gill Sans MT"/>
              </a:rPr>
              <a:t>Structured</a:t>
            </a:r>
            <a:r>
              <a:rPr sz="2000" b="1" i="1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1" i="1" dirty="0">
                <a:solidFill>
                  <a:srgbClr val="3C3C3C"/>
                </a:solidFill>
                <a:latin typeface="Gill Sans MT"/>
                <a:cs typeface="Gill Sans MT"/>
              </a:rPr>
              <a:t>Data.</a:t>
            </a:r>
            <a:endParaRPr sz="2000">
              <a:latin typeface="Gill Sans MT"/>
              <a:cs typeface="Gill Sans MT"/>
            </a:endParaRPr>
          </a:p>
          <a:p>
            <a:pPr marL="317500" indent="-304800" algn="just"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7500" algn="l"/>
              </a:tabLst>
            </a:pP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10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most</a:t>
            </a:r>
            <a:r>
              <a:rPr sz="2000" spc="1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important</a:t>
            </a:r>
            <a:r>
              <a:rPr sz="2000" spc="10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structured</a:t>
            </a:r>
            <a:r>
              <a:rPr sz="2000" spc="8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sz="2000" spc="9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types</a:t>
            </a:r>
            <a:r>
              <a:rPr sz="2000" spc="10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are</a:t>
            </a:r>
            <a:r>
              <a:rPr sz="2000" spc="1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numeric,</a:t>
            </a:r>
            <a:r>
              <a:rPr sz="2000" spc="-9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character</a:t>
            </a:r>
            <a:r>
              <a:rPr sz="2000" spc="1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endParaRPr sz="2000">
              <a:latin typeface="Gill Sans MT"/>
              <a:cs typeface="Gill Sans MT"/>
            </a:endParaRPr>
          </a:p>
          <a:p>
            <a:pPr marL="317500"/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dates.</a:t>
            </a:r>
            <a:endParaRPr sz="2000">
              <a:latin typeface="Gill Sans MT"/>
              <a:cs typeface="Gill Sans MT"/>
            </a:endParaRPr>
          </a:p>
          <a:p>
            <a:pPr marL="317500" marR="5080" indent="-304800" algn="just">
              <a:spcBef>
                <a:spcPts val="1085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7500" algn="l"/>
              </a:tabLst>
            </a:pP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Structured data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are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stored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in tabular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form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(in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tables,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relations, 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arrays,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spreadsheets,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etc)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are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most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commonly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found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traditional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databases.</a:t>
            </a:r>
            <a:endParaRPr sz="20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972056" y="441960"/>
          <a:ext cx="8237855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9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4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3600" b="1" spc="-12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D</a:t>
                      </a:r>
                      <a:r>
                        <a:rPr sz="3600" b="1" spc="-18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A</a:t>
                      </a:r>
                      <a:r>
                        <a:rPr sz="3600" b="1" spc="-19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</a:t>
                      </a:r>
                      <a:r>
                        <a:rPr sz="3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A</a:t>
                      </a:r>
                      <a:r>
                        <a:rPr sz="3600" b="1" spc="-6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(</a:t>
                      </a:r>
                      <a:r>
                        <a:rPr sz="3600" b="1" spc="-114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C</a:t>
                      </a:r>
                      <a:r>
                        <a:rPr sz="3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ON</a:t>
                      </a:r>
                      <a:r>
                        <a:rPr sz="3600" b="1" spc="10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</a:t>
                      </a:r>
                      <a:r>
                        <a:rPr sz="3600" b="1" spc="-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’D)</a:t>
                      </a:r>
                      <a:endParaRPr sz="3600">
                        <a:latin typeface="Constantia"/>
                        <a:cs typeface="Constantia"/>
                      </a:endParaRPr>
                    </a:p>
                  </a:txBody>
                  <a:tcPr marL="0" marR="0" marT="9906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926437" y="2545207"/>
            <a:ext cx="8096884" cy="34143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00" marR="5080" indent="-304800" algn="just">
              <a:spcBef>
                <a:spcPts val="105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7500" algn="l"/>
              </a:tabLst>
            </a:pPr>
            <a:r>
              <a:rPr sz="2000" spc="-80" dirty="0">
                <a:solidFill>
                  <a:srgbClr val="3C3C3C"/>
                </a:solidFill>
                <a:latin typeface="Gill Sans MT"/>
                <a:cs typeface="Gill Sans MT"/>
              </a:rPr>
              <a:t>Today’s</a:t>
            </a:r>
            <a:r>
              <a:rPr sz="2000" spc="-7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databases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are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used to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store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objects such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as documents,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maps,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photographic images, sound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and video segment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in addition to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structured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data.</a:t>
            </a:r>
            <a:endParaRPr sz="2000">
              <a:latin typeface="Gill Sans MT"/>
              <a:cs typeface="Gill Sans MT"/>
            </a:endParaRPr>
          </a:p>
          <a:p>
            <a:pPr>
              <a:spcBef>
                <a:spcPts val="20"/>
              </a:spcBef>
              <a:buClr>
                <a:srgbClr val="4590B8"/>
              </a:buClr>
              <a:buFont typeface="Wingdings 2"/>
              <a:buChar char=""/>
            </a:pPr>
            <a:endParaRPr sz="2050">
              <a:latin typeface="Gill Sans MT"/>
              <a:cs typeface="Gill Sans MT"/>
            </a:endParaRPr>
          </a:p>
          <a:p>
            <a:pPr marL="317500" marR="28575" indent="-304800" algn="just">
              <a:buClr>
                <a:srgbClr val="4590B8"/>
              </a:buClr>
              <a:buSzPct val="90000"/>
              <a:buFont typeface="Wingdings 2"/>
              <a:buChar char=""/>
              <a:tabLst>
                <a:tab pos="317500" algn="l"/>
              </a:tabLst>
            </a:pP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For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example,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salesperson’s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database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might include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photo image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of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000" spc="-5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customer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contact.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It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might also include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sound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recording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or video clip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about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most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recent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product.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This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type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data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referred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as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1" i="1" dirty="0">
                <a:solidFill>
                  <a:srgbClr val="3C3C3C"/>
                </a:solidFill>
                <a:latin typeface="Gill Sans MT"/>
                <a:cs typeface="Gill Sans MT"/>
              </a:rPr>
              <a:t>Unstruct</a:t>
            </a:r>
            <a:r>
              <a:rPr sz="2000" b="1" i="1" spc="-10" dirty="0">
                <a:solidFill>
                  <a:srgbClr val="3C3C3C"/>
                </a:solidFill>
                <a:latin typeface="Gill Sans MT"/>
                <a:cs typeface="Gill Sans MT"/>
              </a:rPr>
              <a:t>u</a:t>
            </a:r>
            <a:r>
              <a:rPr sz="2000" b="1" i="1" spc="-25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2000" b="1" i="1" dirty="0">
                <a:solidFill>
                  <a:srgbClr val="3C3C3C"/>
                </a:solidFill>
                <a:latin typeface="Gill Sans MT"/>
                <a:cs typeface="Gill Sans MT"/>
              </a:rPr>
              <a:t>ed</a:t>
            </a:r>
            <a:r>
              <a:rPr sz="2000" b="1" i="1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1" i="1" dirty="0">
                <a:solidFill>
                  <a:srgbClr val="3C3C3C"/>
                </a:solidFill>
                <a:latin typeface="Gill Sans MT"/>
                <a:cs typeface="Gill Sans MT"/>
              </a:rPr>
              <a:t>Dat</a:t>
            </a:r>
            <a:r>
              <a:rPr sz="2000" b="1" i="1" spc="-1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b="1" i="1" dirty="0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sz="2000" b="1" i="1" spc="-2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1" i="1" spc="-5" dirty="0">
                <a:solidFill>
                  <a:srgbClr val="3C3C3C"/>
                </a:solidFill>
                <a:latin typeface="Gill Sans MT"/>
                <a:cs typeface="Gill Sans MT"/>
              </a:rPr>
              <a:t>Mu</a:t>
            </a:r>
            <a:r>
              <a:rPr sz="2000" b="1" i="1" spc="-15" dirty="0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sz="2000" b="1" i="1" spc="-5" dirty="0">
                <a:solidFill>
                  <a:srgbClr val="3C3C3C"/>
                </a:solidFill>
                <a:latin typeface="Gill Sans MT"/>
                <a:cs typeface="Gill Sans MT"/>
              </a:rPr>
              <a:t>ti</a:t>
            </a:r>
            <a:r>
              <a:rPr sz="2000" b="1" i="1" spc="-15" dirty="0">
                <a:solidFill>
                  <a:srgbClr val="3C3C3C"/>
                </a:solidFill>
                <a:latin typeface="Gill Sans MT"/>
                <a:cs typeface="Gill Sans MT"/>
              </a:rPr>
              <a:t>m</a:t>
            </a:r>
            <a:r>
              <a:rPr sz="2000" b="1" i="1" dirty="0">
                <a:solidFill>
                  <a:srgbClr val="3C3C3C"/>
                </a:solidFill>
                <a:latin typeface="Gill Sans MT"/>
                <a:cs typeface="Gill Sans MT"/>
              </a:rPr>
              <a:t>edia</a:t>
            </a:r>
            <a:r>
              <a:rPr sz="2000" b="1" i="1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1" i="1" dirty="0">
                <a:solidFill>
                  <a:srgbClr val="3C3C3C"/>
                </a:solidFill>
                <a:latin typeface="Gill Sans MT"/>
                <a:cs typeface="Gill Sans MT"/>
              </a:rPr>
              <a:t>Dat</a:t>
            </a:r>
            <a:r>
              <a:rPr sz="2000" b="1" i="1" spc="-1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b="1" i="1" dirty="0">
                <a:solidFill>
                  <a:srgbClr val="3C3C3C"/>
                </a:solidFill>
                <a:latin typeface="Gill Sans MT"/>
                <a:cs typeface="Gill Sans MT"/>
              </a:rPr>
              <a:t>.</a:t>
            </a:r>
            <a:endParaRPr sz="2000">
              <a:latin typeface="Gill Sans MT"/>
              <a:cs typeface="Gill Sans MT"/>
            </a:endParaRPr>
          </a:p>
          <a:p>
            <a:pPr>
              <a:spcBef>
                <a:spcPts val="25"/>
              </a:spcBef>
              <a:buClr>
                <a:srgbClr val="4590B8"/>
              </a:buClr>
              <a:buFont typeface="Wingdings 2"/>
              <a:buChar char=""/>
            </a:pPr>
            <a:endParaRPr sz="2050">
              <a:latin typeface="Gill Sans MT"/>
              <a:cs typeface="Gill Sans MT"/>
            </a:endParaRPr>
          </a:p>
          <a:p>
            <a:pPr marL="317500" indent="-304800"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  <a:tab pos="1586865" algn="l"/>
                <a:tab pos="2152015" algn="l"/>
                <a:tab pos="2612390" algn="l"/>
                <a:tab pos="3266440" algn="l"/>
                <a:tab pos="3940175" algn="l"/>
                <a:tab pos="4660900" algn="l"/>
                <a:tab pos="5063490" algn="l"/>
                <a:tab pos="5691505" algn="l"/>
                <a:tab pos="6579870" algn="l"/>
                <a:tab pos="7081520" algn="l"/>
                <a:tab pos="7485380" algn="l"/>
              </a:tabLst>
            </a:pP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Multimedia	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data	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are	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most	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often	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found	on	</a:t>
            </a:r>
            <a:r>
              <a:rPr sz="2000" spc="-60" dirty="0">
                <a:solidFill>
                  <a:srgbClr val="3C3C3C"/>
                </a:solidFill>
                <a:latin typeface="Gill Sans MT"/>
                <a:cs typeface="Gill Sans MT"/>
              </a:rPr>
              <a:t>Web	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servers	and	on	</a:t>
            </a:r>
            <a:r>
              <a:rPr sz="2000" spc="-45" dirty="0">
                <a:solidFill>
                  <a:srgbClr val="3C3C3C"/>
                </a:solidFill>
                <a:latin typeface="Gill Sans MT"/>
                <a:cs typeface="Gill Sans MT"/>
              </a:rPr>
              <a:t>Web-</a:t>
            </a:r>
            <a:endParaRPr sz="2000">
              <a:latin typeface="Gill Sans MT"/>
              <a:cs typeface="Gill Sans MT"/>
            </a:endParaRPr>
          </a:p>
          <a:p>
            <a:pPr marL="317500"/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enabled</a:t>
            </a:r>
            <a:r>
              <a:rPr sz="2000" spc="-5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databases.</a:t>
            </a:r>
            <a:endParaRPr sz="20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972056" y="441960"/>
          <a:ext cx="8237855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9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4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3600" b="1" spc="-2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INFORMATION </a:t>
                      </a:r>
                      <a:r>
                        <a:rPr sz="3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&amp;</a:t>
                      </a:r>
                      <a:r>
                        <a:rPr sz="3600" b="1" spc="-2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600" b="1" spc="-9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METADATA</a:t>
                      </a:r>
                      <a:endParaRPr sz="3600">
                        <a:latin typeface="Constantia"/>
                        <a:cs typeface="Constantia"/>
                      </a:endParaRPr>
                    </a:p>
                  </a:txBody>
                  <a:tcPr marL="0" marR="0" marT="9906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059941" y="2026412"/>
            <a:ext cx="8072755" cy="1520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00" marR="5080" indent="-304800">
              <a:spcBef>
                <a:spcPts val="105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  <a:tab pos="1777364" algn="l"/>
                <a:tab pos="2063750" algn="l"/>
                <a:tab pos="2306320" algn="l"/>
                <a:tab pos="2872105" algn="l"/>
                <a:tab pos="3409950" algn="l"/>
                <a:tab pos="3999865" algn="l"/>
                <a:tab pos="4632325" algn="l"/>
                <a:tab pos="5807710" algn="l"/>
                <a:tab pos="6125845" algn="l"/>
                <a:tab pos="6726555" algn="l"/>
                <a:tab pos="6969125" algn="l"/>
                <a:tab pos="7494905" algn="l"/>
                <a:tab pos="7833359" algn="l"/>
              </a:tabLst>
            </a:pPr>
            <a:r>
              <a:rPr sz="2000" b="1" i="1" dirty="0">
                <a:solidFill>
                  <a:srgbClr val="3C3C3C"/>
                </a:solidFill>
                <a:latin typeface="Gill Sans MT"/>
                <a:cs typeface="Gill Sans MT"/>
              </a:rPr>
              <a:t>Information	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	a	data	t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h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	h</a:t>
            </a:r>
            <a:r>
              <a:rPr sz="2000" spc="-75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v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	been	p</a:t>
            </a:r>
            <a:r>
              <a:rPr sz="2000" spc="-60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oce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sed	in	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uch	a	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w</a:t>
            </a:r>
            <a:r>
              <a:rPr sz="2000" spc="-9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y	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	to 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sz="2000" spc="10" dirty="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ease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h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kn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wledg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h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pers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.</a:t>
            </a:r>
            <a:r>
              <a:rPr sz="2000" spc="-2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endParaRPr sz="2000">
              <a:latin typeface="Gill Sans MT"/>
              <a:cs typeface="Gill Sans MT"/>
            </a:endParaRPr>
          </a:p>
          <a:p>
            <a:pPr marL="317500" indent="-304800"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000" b="1" i="1" dirty="0">
                <a:solidFill>
                  <a:srgbClr val="3C3C3C"/>
                </a:solidFill>
                <a:latin typeface="Gill Sans MT"/>
                <a:cs typeface="Gill Sans MT"/>
              </a:rPr>
              <a:t>Info</a:t>
            </a:r>
            <a:r>
              <a:rPr sz="2000" b="1" i="1" spc="-5" dirty="0">
                <a:solidFill>
                  <a:srgbClr val="3C3C3C"/>
                </a:solidFill>
                <a:latin typeface="Gill Sans MT"/>
                <a:cs typeface="Gill Sans MT"/>
              </a:rPr>
              <a:t>rmatio</a:t>
            </a:r>
            <a:r>
              <a:rPr sz="2000" b="1" i="1" dirty="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sz="2000" b="1" i="1" spc="-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facts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b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u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situat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ion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sz="2000" spc="-25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pers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n,</a:t>
            </a:r>
            <a:r>
              <a:rPr sz="2000" spc="-204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ev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ent,</a:t>
            </a:r>
            <a:r>
              <a:rPr sz="2000" spc="-2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et</a:t>
            </a:r>
            <a:r>
              <a:rPr sz="2000" spc="35" dirty="0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.</a:t>
            </a:r>
            <a:endParaRPr sz="2000">
              <a:latin typeface="Gill Sans MT"/>
              <a:cs typeface="Gill Sans MT"/>
            </a:endParaRPr>
          </a:p>
          <a:p>
            <a:pPr marL="317500" indent="-304800"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  <a:tab pos="1141730" algn="l"/>
                <a:tab pos="1753235" algn="l"/>
                <a:tab pos="2086610" algn="l"/>
                <a:tab pos="3075940" algn="l"/>
                <a:tab pos="3496945" algn="l"/>
                <a:tab pos="4676775" algn="l"/>
                <a:tab pos="5263515" algn="l"/>
                <a:tab pos="6532880" algn="l"/>
                <a:tab pos="7242175" algn="l"/>
                <a:tab pos="7563484" algn="l"/>
              </a:tabLst>
            </a:pP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W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h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en	d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ta	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	coll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ted	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r	or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g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sz="2000" spc="10" dirty="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zed	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nto	me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ning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ul	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m,	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	g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ns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9940" y="3384103"/>
            <a:ext cx="8073390" cy="270764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317500" algn="just">
              <a:spcBef>
                <a:spcPts val="1175"/>
              </a:spcBef>
            </a:pP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significance,</a:t>
            </a:r>
            <a:r>
              <a:rPr sz="2000" spc="-25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that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meaningful</a:t>
            </a:r>
            <a:r>
              <a:rPr sz="2000" spc="-5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called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information.</a:t>
            </a:r>
            <a:endParaRPr sz="2000">
              <a:latin typeface="Gill Sans MT"/>
              <a:cs typeface="Gill Sans MT"/>
            </a:endParaRPr>
          </a:p>
          <a:p>
            <a:pPr marL="317500" indent="-304800" algn="just"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7500" algn="l"/>
              </a:tabLst>
            </a:pPr>
            <a:r>
              <a:rPr sz="2000" b="1" i="1" spc="-5" dirty="0">
                <a:solidFill>
                  <a:srgbClr val="3C3C3C"/>
                </a:solidFill>
                <a:latin typeface="Gill Sans MT"/>
                <a:cs typeface="Gill Sans MT"/>
              </a:rPr>
              <a:t>Metadata</a:t>
            </a:r>
            <a:r>
              <a:rPr sz="2000" b="1" i="1" spc="-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about</a:t>
            </a:r>
            <a:r>
              <a:rPr sz="2000" spc="-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data.</a:t>
            </a:r>
            <a:endParaRPr sz="2000">
              <a:latin typeface="Gill Sans MT"/>
              <a:cs typeface="Gill Sans MT"/>
            </a:endParaRPr>
          </a:p>
          <a:p>
            <a:pPr marL="317500" marR="5080" indent="-304800" algn="just"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7500" algn="l"/>
              </a:tabLst>
            </a:pPr>
            <a:r>
              <a:rPr sz="2000" b="1" i="1" spc="-5" dirty="0">
                <a:solidFill>
                  <a:srgbClr val="3C3C3C"/>
                </a:solidFill>
                <a:latin typeface="Gill Sans MT"/>
                <a:cs typeface="Gill Sans MT"/>
              </a:rPr>
              <a:t>Metadata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is data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that describe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properties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or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characteristics of end-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user data, and the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context of that data. Some of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properties that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are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typically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described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include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data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names,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definitions,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size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and</a:t>
            </a:r>
            <a:r>
              <a:rPr sz="2000" spc="55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allowable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values.</a:t>
            </a:r>
            <a:endParaRPr sz="2000">
              <a:latin typeface="Gill Sans MT"/>
              <a:cs typeface="Gill Sans MT"/>
            </a:endParaRPr>
          </a:p>
          <a:p>
            <a:pPr marL="317500" indent="-304800" algn="just"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7500" algn="l"/>
              </a:tabLst>
            </a:pP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For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example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if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1" i="1" spc="-5" dirty="0">
                <a:solidFill>
                  <a:srgbClr val="3C3C3C"/>
                </a:solidFill>
                <a:latin typeface="Gill Sans MT"/>
                <a:cs typeface="Gill Sans MT"/>
              </a:rPr>
              <a:t>ID</a:t>
            </a:r>
            <a:r>
              <a:rPr sz="2000" b="1" i="1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then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1" i="1" spc="-5" dirty="0">
                <a:solidFill>
                  <a:srgbClr val="3C3C3C"/>
                </a:solidFill>
                <a:latin typeface="Gill Sans MT"/>
                <a:cs typeface="Gill Sans MT"/>
              </a:rPr>
              <a:t>ID</a:t>
            </a:r>
            <a:r>
              <a:rPr sz="2000" b="1" i="1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must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have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10" dirty="0">
                <a:solidFill>
                  <a:srgbClr val="3C3C3C"/>
                </a:solidFill>
                <a:latin typeface="Gill Sans MT"/>
                <a:cs typeface="Gill Sans MT"/>
              </a:rPr>
              <a:t>type.</a:t>
            </a:r>
            <a:endParaRPr sz="20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2056" y="600456"/>
            <a:ext cx="8239125" cy="81945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62890" rIns="0" bIns="0" rtlCol="0">
            <a:spAutoFit/>
          </a:bodyPr>
          <a:lstStyle/>
          <a:p>
            <a:pPr marL="100330">
              <a:spcBef>
                <a:spcPts val="2070"/>
              </a:spcBef>
            </a:pPr>
            <a:r>
              <a:rPr sz="3600" spc="-125" dirty="0">
                <a:latin typeface="Constantia"/>
                <a:cs typeface="Constantia"/>
              </a:rPr>
              <a:t>D</a:t>
            </a:r>
            <a:r>
              <a:rPr sz="3600" spc="-180" dirty="0">
                <a:latin typeface="Constantia"/>
                <a:cs typeface="Constantia"/>
              </a:rPr>
              <a:t>A</a:t>
            </a:r>
            <a:r>
              <a:rPr sz="3600" spc="-200" dirty="0">
                <a:latin typeface="Constantia"/>
                <a:cs typeface="Constantia"/>
              </a:rPr>
              <a:t>T</a:t>
            </a:r>
            <a:r>
              <a:rPr sz="3600" dirty="0">
                <a:latin typeface="Constantia"/>
                <a:cs typeface="Constantia"/>
              </a:rPr>
              <a:t>A</a:t>
            </a:r>
            <a:r>
              <a:rPr sz="3600" spc="-140" dirty="0">
                <a:latin typeface="Constantia"/>
                <a:cs typeface="Constantia"/>
              </a:rPr>
              <a:t> </a:t>
            </a:r>
            <a:r>
              <a:rPr sz="3600" spc="-50" dirty="0">
                <a:latin typeface="Constantia"/>
                <a:cs typeface="Constantia"/>
              </a:rPr>
              <a:t>V</a:t>
            </a:r>
            <a:r>
              <a:rPr sz="3600" dirty="0">
                <a:latin typeface="Constantia"/>
                <a:cs typeface="Constantia"/>
              </a:rPr>
              <a:t>S IN</a:t>
            </a:r>
            <a:r>
              <a:rPr sz="3600" spc="-90" dirty="0">
                <a:latin typeface="Constantia"/>
                <a:cs typeface="Constantia"/>
              </a:rPr>
              <a:t>F</a:t>
            </a:r>
            <a:r>
              <a:rPr sz="3600" dirty="0">
                <a:latin typeface="Constantia"/>
                <a:cs typeface="Constantia"/>
              </a:rPr>
              <a:t>ORM</a:t>
            </a:r>
            <a:r>
              <a:rPr sz="3600" spc="-170" dirty="0">
                <a:latin typeface="Constantia"/>
                <a:cs typeface="Constantia"/>
              </a:rPr>
              <a:t>A</a:t>
            </a:r>
            <a:r>
              <a:rPr sz="3600" spc="-5" dirty="0">
                <a:latin typeface="Constantia"/>
                <a:cs typeface="Constantia"/>
              </a:rPr>
              <a:t>TION</a:t>
            </a:r>
            <a:endParaRPr sz="36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238586" y="1891666"/>
            <a:ext cx="10762827" cy="37164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5080" indent="-304800">
              <a:spcBef>
                <a:spcPts val="1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/>
              <a:t>The</a:t>
            </a:r>
            <a:r>
              <a:rPr spc="90" dirty="0"/>
              <a:t> </a:t>
            </a:r>
            <a:r>
              <a:rPr dirty="0"/>
              <a:t>terms</a:t>
            </a:r>
            <a:r>
              <a:rPr spc="85" dirty="0"/>
              <a:t> </a:t>
            </a:r>
            <a:r>
              <a:rPr dirty="0"/>
              <a:t>data</a:t>
            </a:r>
            <a:r>
              <a:rPr spc="90" dirty="0"/>
              <a:t> </a:t>
            </a:r>
            <a:r>
              <a:rPr dirty="0"/>
              <a:t>and</a:t>
            </a:r>
            <a:r>
              <a:rPr spc="90" dirty="0"/>
              <a:t> </a:t>
            </a:r>
            <a:r>
              <a:rPr spc="-5" dirty="0"/>
              <a:t>information</a:t>
            </a:r>
            <a:r>
              <a:rPr spc="90" dirty="0"/>
              <a:t> </a:t>
            </a:r>
            <a:r>
              <a:rPr spc="-20" dirty="0"/>
              <a:t>are</a:t>
            </a:r>
            <a:r>
              <a:rPr spc="100" dirty="0"/>
              <a:t> </a:t>
            </a:r>
            <a:r>
              <a:rPr spc="-5" dirty="0"/>
              <a:t>closely</a:t>
            </a:r>
            <a:r>
              <a:rPr spc="85" dirty="0"/>
              <a:t> </a:t>
            </a:r>
            <a:r>
              <a:rPr spc="-10" dirty="0"/>
              <a:t>related</a:t>
            </a:r>
            <a:r>
              <a:rPr spc="95" dirty="0"/>
              <a:t> </a:t>
            </a:r>
            <a:r>
              <a:rPr dirty="0"/>
              <a:t>and</a:t>
            </a:r>
            <a:r>
              <a:rPr spc="90" dirty="0"/>
              <a:t> </a:t>
            </a:r>
            <a:r>
              <a:rPr dirty="0"/>
              <a:t>in</a:t>
            </a:r>
            <a:r>
              <a:rPr spc="95" dirty="0"/>
              <a:t> </a:t>
            </a:r>
            <a:r>
              <a:rPr spc="-5" dirty="0"/>
              <a:t>fact </a:t>
            </a:r>
            <a:r>
              <a:rPr spc="-655" dirty="0"/>
              <a:t> </a:t>
            </a:r>
            <a:r>
              <a:rPr spc="-20" dirty="0"/>
              <a:t>are</a:t>
            </a:r>
            <a:r>
              <a:rPr spc="-5" dirty="0"/>
              <a:t> </a:t>
            </a:r>
            <a:r>
              <a:rPr dirty="0"/>
              <a:t>often</a:t>
            </a:r>
            <a:r>
              <a:rPr spc="-10" dirty="0"/>
              <a:t> </a:t>
            </a:r>
            <a:r>
              <a:rPr dirty="0"/>
              <a:t>used</a:t>
            </a:r>
            <a:r>
              <a:rPr spc="-5" dirty="0"/>
              <a:t> </a:t>
            </a:r>
            <a:r>
              <a:rPr spc="-20" dirty="0"/>
              <a:t>interchangeably.</a:t>
            </a:r>
          </a:p>
          <a:p>
            <a:pPr marL="317500" marR="6350" indent="-304800">
              <a:spcBef>
                <a:spcPts val="117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  <a:tab pos="1707514" algn="l"/>
                <a:tab pos="2121535" algn="l"/>
                <a:tab pos="2552065" algn="l"/>
                <a:tab pos="3509010" algn="l"/>
                <a:tab pos="4027170" algn="l"/>
                <a:tab pos="5553075" algn="l"/>
                <a:tab pos="6858000" algn="l"/>
                <a:tab pos="7621270" algn="l"/>
              </a:tabLst>
            </a:pPr>
            <a:r>
              <a:rPr dirty="0"/>
              <a:t>H</a:t>
            </a:r>
            <a:r>
              <a:rPr spc="-25" dirty="0"/>
              <a:t>o</a:t>
            </a:r>
            <a:r>
              <a:rPr spc="-45" dirty="0"/>
              <a:t>w</a:t>
            </a:r>
            <a:r>
              <a:rPr spc="-35" dirty="0"/>
              <a:t>e</a:t>
            </a:r>
            <a:r>
              <a:rPr spc="-45" dirty="0"/>
              <a:t>v</a:t>
            </a:r>
            <a:r>
              <a:rPr dirty="0"/>
              <a:t>e</a:t>
            </a:r>
            <a:r>
              <a:rPr spc="-240" dirty="0"/>
              <a:t>r</a:t>
            </a:r>
            <a:r>
              <a:rPr dirty="0"/>
              <a:t>,	</a:t>
            </a:r>
            <a:r>
              <a:rPr spc="-15" dirty="0"/>
              <a:t>i</a:t>
            </a:r>
            <a:r>
              <a:rPr dirty="0"/>
              <a:t>t	is	useful	to	di</a:t>
            </a:r>
            <a:r>
              <a:rPr spc="-10" dirty="0"/>
              <a:t>s</a:t>
            </a:r>
            <a:r>
              <a:rPr dirty="0"/>
              <a:t>tin</a:t>
            </a:r>
            <a:r>
              <a:rPr spc="-20" dirty="0"/>
              <a:t>g</a:t>
            </a:r>
            <a:r>
              <a:rPr dirty="0"/>
              <a:t>uish	</a:t>
            </a:r>
            <a:r>
              <a:rPr spc="-15" dirty="0"/>
              <a:t>b</a:t>
            </a:r>
            <a:r>
              <a:rPr dirty="0"/>
              <a:t>et</a:t>
            </a:r>
            <a:r>
              <a:rPr spc="-40" dirty="0"/>
              <a:t>w</a:t>
            </a:r>
            <a:r>
              <a:rPr spc="-10" dirty="0"/>
              <a:t>e</a:t>
            </a:r>
            <a:r>
              <a:rPr dirty="0"/>
              <a:t>en	data	</a:t>
            </a:r>
            <a:r>
              <a:rPr spc="-20" dirty="0"/>
              <a:t>a</a:t>
            </a:r>
            <a:r>
              <a:rPr dirty="0"/>
              <a:t>nd  </a:t>
            </a:r>
            <a:r>
              <a:rPr spc="-5" dirty="0"/>
              <a:t>information.</a:t>
            </a:r>
          </a:p>
          <a:p>
            <a:pPr marL="317500" indent="-304800">
              <a:spcBef>
                <a:spcPts val="118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pc="-15" dirty="0"/>
              <a:t>For</a:t>
            </a:r>
            <a:r>
              <a:rPr spc="-60" dirty="0"/>
              <a:t> </a:t>
            </a:r>
            <a:r>
              <a:rPr dirty="0"/>
              <a:t>example</a:t>
            </a:r>
          </a:p>
          <a:p>
            <a:pPr marL="641985" lvl="1" indent="-305435">
              <a:spcBef>
                <a:spcPts val="1135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221120</a:t>
            </a:r>
            <a:r>
              <a:rPr sz="22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is a</a:t>
            </a:r>
            <a:r>
              <a:rPr sz="22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data;</a:t>
            </a:r>
            <a:endParaRPr sz="2200">
              <a:latin typeface="Gill Sans MT"/>
              <a:cs typeface="Gill Sans MT"/>
            </a:endParaRPr>
          </a:p>
          <a:p>
            <a:pPr marL="641985" lvl="1" indent="-305435">
              <a:spcBef>
                <a:spcPts val="1125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it</a:t>
            </a:r>
            <a:r>
              <a:rPr sz="220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can</a:t>
            </a:r>
            <a:r>
              <a:rPr sz="220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be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 information</a:t>
            </a:r>
            <a:r>
              <a:rPr sz="2200" spc="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if</a:t>
            </a:r>
            <a:r>
              <a:rPr sz="2200" spc="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22/11/20</a:t>
            </a:r>
            <a:r>
              <a:rPr sz="22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date</a:t>
            </a:r>
            <a:r>
              <a:rPr sz="220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20" dirty="0">
                <a:solidFill>
                  <a:srgbClr val="3C3C3C"/>
                </a:solidFill>
                <a:latin typeface="Gill Sans MT"/>
                <a:cs typeface="Gill Sans MT"/>
              </a:rPr>
              <a:t>your</a:t>
            </a:r>
            <a:r>
              <a:rPr sz="220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exam.</a:t>
            </a:r>
            <a:endParaRPr sz="2200">
              <a:latin typeface="Gill Sans MT"/>
              <a:cs typeface="Gill Sans MT"/>
            </a:endParaRPr>
          </a:p>
          <a:p>
            <a:pPr marL="641985" lvl="1" indent="-305435">
              <a:spcBef>
                <a:spcPts val="1130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221120</a:t>
            </a:r>
            <a:r>
              <a:rPr sz="22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can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be</a:t>
            </a:r>
            <a:r>
              <a:rPr sz="22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zip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code of </a:t>
            </a:r>
            <a:r>
              <a:rPr sz="2200" spc="-20" dirty="0">
                <a:solidFill>
                  <a:srgbClr val="3C3C3C"/>
                </a:solidFill>
                <a:latin typeface="Gill Sans MT"/>
                <a:cs typeface="Gill Sans MT"/>
              </a:rPr>
              <a:t>any</a:t>
            </a:r>
            <a:r>
              <a:rPr sz="220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40" dirty="0">
                <a:solidFill>
                  <a:srgbClr val="3C3C3C"/>
                </a:solidFill>
                <a:latin typeface="Gill Sans MT"/>
                <a:cs typeface="Gill Sans MT"/>
              </a:rPr>
              <a:t>city.</a:t>
            </a:r>
            <a:endParaRPr sz="2200">
              <a:latin typeface="Gill Sans MT"/>
              <a:cs typeface="Gill Sans MT"/>
            </a:endParaRPr>
          </a:p>
          <a:p>
            <a:pPr marL="641985" lvl="1" indent="-305435">
              <a:spcBef>
                <a:spcPts val="1130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PKR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221,120</a:t>
            </a:r>
            <a:r>
              <a:rPr sz="22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can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be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Salary</a:t>
            </a:r>
            <a:r>
              <a:rPr sz="2200" spc="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of </a:t>
            </a:r>
            <a:r>
              <a:rPr sz="2200" spc="-20" dirty="0">
                <a:solidFill>
                  <a:srgbClr val="3C3C3C"/>
                </a:solidFill>
                <a:latin typeface="Gill Sans MT"/>
                <a:cs typeface="Gill Sans MT"/>
              </a:rPr>
              <a:t>any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5" dirty="0">
                <a:solidFill>
                  <a:srgbClr val="3C3C3C"/>
                </a:solidFill>
                <a:latin typeface="Gill Sans MT"/>
                <a:cs typeface="Gill Sans MT"/>
              </a:rPr>
              <a:t>Person</a:t>
            </a:r>
            <a:endParaRPr sz="22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2055" y="441959"/>
            <a:ext cx="2720340" cy="106680"/>
          </a:xfrm>
          <a:custGeom>
            <a:avLst/>
            <a:gdLst/>
            <a:ahLst/>
            <a:cxnLst/>
            <a:rect l="l" t="t" r="r" b="b"/>
            <a:pathLst>
              <a:path w="2720340" h="106679">
                <a:moveTo>
                  <a:pt x="2720340" y="0"/>
                </a:moveTo>
                <a:lnTo>
                  <a:pt x="0" y="0"/>
                </a:lnTo>
                <a:lnTo>
                  <a:pt x="0" y="106679"/>
                </a:lnTo>
                <a:lnTo>
                  <a:pt x="2720340" y="106679"/>
                </a:lnTo>
                <a:lnTo>
                  <a:pt x="272034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499603" y="441959"/>
            <a:ext cx="2711450" cy="106680"/>
          </a:xfrm>
          <a:custGeom>
            <a:avLst/>
            <a:gdLst/>
            <a:ahLst/>
            <a:cxnLst/>
            <a:rect l="l" t="t" r="r" b="b"/>
            <a:pathLst>
              <a:path w="2711450" h="106679">
                <a:moveTo>
                  <a:pt x="2711196" y="0"/>
                </a:moveTo>
                <a:lnTo>
                  <a:pt x="0" y="0"/>
                </a:lnTo>
                <a:lnTo>
                  <a:pt x="0" y="106679"/>
                </a:lnTo>
                <a:lnTo>
                  <a:pt x="2711196" y="106679"/>
                </a:lnTo>
                <a:lnTo>
                  <a:pt x="2711196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39639" y="441959"/>
            <a:ext cx="2712720" cy="106680"/>
          </a:xfrm>
          <a:custGeom>
            <a:avLst/>
            <a:gdLst/>
            <a:ahLst/>
            <a:cxnLst/>
            <a:rect l="l" t="t" r="r" b="b"/>
            <a:pathLst>
              <a:path w="2712720" h="106679">
                <a:moveTo>
                  <a:pt x="2712719" y="0"/>
                </a:moveTo>
                <a:lnTo>
                  <a:pt x="0" y="0"/>
                </a:lnTo>
                <a:lnTo>
                  <a:pt x="0" y="106679"/>
                </a:lnTo>
                <a:lnTo>
                  <a:pt x="2712719" y="106679"/>
                </a:lnTo>
                <a:lnTo>
                  <a:pt x="2712719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167629" y="5817819"/>
            <a:ext cx="2208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Data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context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8451" y="990600"/>
            <a:ext cx="7377447" cy="4273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6690" y="5499303"/>
            <a:ext cx="59112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 marR="5080" indent="-134620">
              <a:spcBef>
                <a:spcPts val="100"/>
              </a:spcBef>
              <a:tabLst>
                <a:tab pos="5782310" algn="l"/>
              </a:tabLst>
            </a:pPr>
            <a:r>
              <a:rPr sz="2400" b="1" dirty="0">
                <a:solidFill>
                  <a:srgbClr val="990000"/>
                </a:solidFill>
                <a:latin typeface="Book Antiqua"/>
                <a:cs typeface="Book Antiqua"/>
              </a:rPr>
              <a:t>Graphical displays turn data into useful </a:t>
            </a:r>
            <a:r>
              <a:rPr sz="2400" b="1" spc="5" dirty="0">
                <a:solidFill>
                  <a:srgbClr val="990000"/>
                </a:solidFill>
                <a:latin typeface="Book Antiqua"/>
                <a:cs typeface="Book Antiqua"/>
              </a:rPr>
              <a:t> </a:t>
            </a:r>
            <a:r>
              <a:rPr sz="2400" b="1" dirty="0">
                <a:solidFill>
                  <a:srgbClr val="990000"/>
                </a:solidFill>
                <a:latin typeface="Book Antiqua"/>
                <a:cs typeface="Book Antiqua"/>
              </a:rPr>
              <a:t>informat</a:t>
            </a:r>
            <a:r>
              <a:rPr sz="2400" b="1" spc="5" dirty="0">
                <a:solidFill>
                  <a:srgbClr val="990000"/>
                </a:solidFill>
                <a:latin typeface="Book Antiqua"/>
                <a:cs typeface="Book Antiqua"/>
              </a:rPr>
              <a:t>i</a:t>
            </a:r>
            <a:r>
              <a:rPr sz="2400" b="1" spc="-5" dirty="0">
                <a:solidFill>
                  <a:srgbClr val="990000"/>
                </a:solidFill>
                <a:latin typeface="Book Antiqua"/>
                <a:cs typeface="Book Antiqua"/>
              </a:rPr>
              <a:t>o</a:t>
            </a:r>
            <a:r>
              <a:rPr sz="2400" b="1" dirty="0">
                <a:solidFill>
                  <a:srgbClr val="990000"/>
                </a:solidFill>
                <a:latin typeface="Book Antiqua"/>
                <a:cs typeface="Book Antiqua"/>
              </a:rPr>
              <a:t>n</a:t>
            </a:r>
            <a:r>
              <a:rPr sz="2400" b="1" spc="-5" dirty="0">
                <a:solidFill>
                  <a:srgbClr val="990000"/>
                </a:solidFill>
                <a:latin typeface="Book Antiqua"/>
                <a:cs typeface="Book Antiqua"/>
              </a:rPr>
              <a:t> </a:t>
            </a:r>
            <a:r>
              <a:rPr sz="2400" b="1" dirty="0">
                <a:solidFill>
                  <a:srgbClr val="990000"/>
                </a:solidFill>
                <a:latin typeface="Book Antiqua"/>
                <a:cs typeface="Book Antiqua"/>
              </a:rPr>
              <a:t>that</a:t>
            </a:r>
            <a:r>
              <a:rPr sz="2400" b="1" spc="-10" dirty="0">
                <a:solidFill>
                  <a:srgbClr val="990000"/>
                </a:solidFill>
                <a:latin typeface="Book Antiqua"/>
                <a:cs typeface="Book Antiqua"/>
              </a:rPr>
              <a:t> </a:t>
            </a:r>
            <a:r>
              <a:rPr sz="2400" b="1" spc="-5" dirty="0">
                <a:solidFill>
                  <a:srgbClr val="990000"/>
                </a:solidFill>
                <a:latin typeface="Book Antiqua"/>
                <a:cs typeface="Book Antiqua"/>
              </a:rPr>
              <a:t>manager</a:t>
            </a:r>
            <a:r>
              <a:rPr sz="2400" b="1" dirty="0">
                <a:solidFill>
                  <a:srgbClr val="990000"/>
                </a:solidFill>
                <a:latin typeface="Book Antiqua"/>
                <a:cs typeface="Book Antiqua"/>
              </a:rPr>
              <a:t>s</a:t>
            </a:r>
            <a:r>
              <a:rPr sz="2400" b="1" spc="-5" dirty="0">
                <a:solidFill>
                  <a:srgbClr val="990000"/>
                </a:solidFill>
                <a:latin typeface="Book Antiqua"/>
                <a:cs typeface="Book Antiqua"/>
              </a:rPr>
              <a:t> </a:t>
            </a:r>
            <a:r>
              <a:rPr sz="2400" b="1" dirty="0">
                <a:solidFill>
                  <a:srgbClr val="990000"/>
                </a:solidFill>
                <a:latin typeface="Book Antiqua"/>
                <a:cs typeface="Book Antiqua"/>
              </a:rPr>
              <a:t>can use</a:t>
            </a:r>
            <a:r>
              <a:rPr sz="2400" b="1" spc="-10" dirty="0">
                <a:solidFill>
                  <a:srgbClr val="990000"/>
                </a:solidFill>
                <a:latin typeface="Book Antiqua"/>
                <a:cs typeface="Book Antiqua"/>
              </a:rPr>
              <a:t> </a:t>
            </a:r>
            <a:r>
              <a:rPr sz="2400" b="1" spc="-5" dirty="0">
                <a:solidFill>
                  <a:srgbClr val="990000"/>
                </a:solidFill>
                <a:latin typeface="Book Antiqua"/>
                <a:cs typeface="Book Antiqua"/>
              </a:rPr>
              <a:t>fo</a:t>
            </a:r>
            <a:r>
              <a:rPr sz="2400" b="1" dirty="0">
                <a:solidFill>
                  <a:srgbClr val="990000"/>
                </a:solidFill>
                <a:latin typeface="Book Antiqua"/>
                <a:cs typeface="Book Antiqua"/>
              </a:rPr>
              <a:t>r	</a:t>
            </a: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10</a:t>
            </a:r>
            <a:endParaRPr sz="900">
              <a:latin typeface="Gill Sans MT"/>
              <a:cs typeface="Gill Sans MT"/>
            </a:endParaRPr>
          </a:p>
          <a:p>
            <a:pPr marL="334010"/>
            <a:r>
              <a:rPr sz="2400" b="1" dirty="0">
                <a:solidFill>
                  <a:srgbClr val="990000"/>
                </a:solidFill>
                <a:latin typeface="Book Antiqua"/>
                <a:cs typeface="Book Antiqua"/>
              </a:rPr>
              <a:t>decision</a:t>
            </a:r>
            <a:r>
              <a:rPr sz="2400" b="1" spc="-25" dirty="0">
                <a:solidFill>
                  <a:srgbClr val="990000"/>
                </a:solidFill>
                <a:latin typeface="Book Antiqua"/>
                <a:cs typeface="Book Antiqua"/>
              </a:rPr>
              <a:t> </a:t>
            </a:r>
            <a:r>
              <a:rPr sz="2400" b="1" spc="-5" dirty="0">
                <a:solidFill>
                  <a:srgbClr val="990000"/>
                </a:solidFill>
                <a:latin typeface="Book Antiqua"/>
                <a:cs typeface="Book Antiqua"/>
              </a:rPr>
              <a:t>making</a:t>
            </a:r>
            <a:r>
              <a:rPr sz="2400" b="1" spc="-10" dirty="0">
                <a:solidFill>
                  <a:srgbClr val="990000"/>
                </a:solidFill>
                <a:latin typeface="Book Antiqua"/>
                <a:cs typeface="Book Antiqua"/>
              </a:rPr>
              <a:t> </a:t>
            </a:r>
            <a:r>
              <a:rPr sz="2400" b="1" dirty="0">
                <a:solidFill>
                  <a:srgbClr val="990000"/>
                </a:solidFill>
                <a:latin typeface="Book Antiqua"/>
                <a:cs typeface="Book Antiqua"/>
              </a:rPr>
              <a:t>and</a:t>
            </a:r>
            <a:r>
              <a:rPr sz="2400" b="1" spc="-25" dirty="0">
                <a:solidFill>
                  <a:srgbClr val="990000"/>
                </a:solidFill>
                <a:latin typeface="Book Antiqua"/>
                <a:cs typeface="Book Antiqua"/>
              </a:rPr>
              <a:t> </a:t>
            </a:r>
            <a:r>
              <a:rPr sz="2400" b="1" spc="-5" dirty="0">
                <a:solidFill>
                  <a:srgbClr val="990000"/>
                </a:solidFill>
                <a:latin typeface="Book Antiqua"/>
                <a:cs typeface="Book Antiqua"/>
              </a:rPr>
              <a:t>interpretation</a:t>
            </a:r>
            <a:endParaRPr sz="2400">
              <a:latin typeface="Book Antiqua"/>
              <a:cs typeface="Book Antiqu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3827" y="1691958"/>
            <a:ext cx="7528373" cy="36871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27199" y="940053"/>
            <a:ext cx="2549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solidFill>
                  <a:srgbClr val="000000"/>
                </a:solidFill>
                <a:latin typeface="Arial"/>
                <a:cs typeface="Arial"/>
              </a:rPr>
              <a:t>Summarized</a:t>
            </a:r>
            <a:r>
              <a:rPr sz="240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2055" y="441959"/>
            <a:ext cx="2720340" cy="106680"/>
          </a:xfrm>
          <a:custGeom>
            <a:avLst/>
            <a:gdLst/>
            <a:ahLst/>
            <a:cxnLst/>
            <a:rect l="l" t="t" r="r" b="b"/>
            <a:pathLst>
              <a:path w="2720340" h="106679">
                <a:moveTo>
                  <a:pt x="2720340" y="0"/>
                </a:moveTo>
                <a:lnTo>
                  <a:pt x="0" y="0"/>
                </a:lnTo>
                <a:lnTo>
                  <a:pt x="0" y="106679"/>
                </a:lnTo>
                <a:lnTo>
                  <a:pt x="2720340" y="106679"/>
                </a:lnTo>
                <a:lnTo>
                  <a:pt x="272034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499603" y="441959"/>
            <a:ext cx="2711450" cy="106680"/>
          </a:xfrm>
          <a:custGeom>
            <a:avLst/>
            <a:gdLst/>
            <a:ahLst/>
            <a:cxnLst/>
            <a:rect l="l" t="t" r="r" b="b"/>
            <a:pathLst>
              <a:path w="2711450" h="106679">
                <a:moveTo>
                  <a:pt x="2711196" y="0"/>
                </a:moveTo>
                <a:lnTo>
                  <a:pt x="0" y="0"/>
                </a:lnTo>
                <a:lnTo>
                  <a:pt x="0" y="106679"/>
                </a:lnTo>
                <a:lnTo>
                  <a:pt x="2711196" y="106679"/>
                </a:lnTo>
                <a:lnTo>
                  <a:pt x="2711196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39639" y="441959"/>
            <a:ext cx="2712720" cy="106680"/>
          </a:xfrm>
          <a:custGeom>
            <a:avLst/>
            <a:gdLst/>
            <a:ahLst/>
            <a:cxnLst/>
            <a:rect l="l" t="t" r="r" b="b"/>
            <a:pathLst>
              <a:path w="2712720" h="106679">
                <a:moveTo>
                  <a:pt x="2712719" y="0"/>
                </a:moveTo>
                <a:lnTo>
                  <a:pt x="0" y="0"/>
                </a:lnTo>
                <a:lnTo>
                  <a:pt x="0" y="106679"/>
                </a:lnTo>
                <a:lnTo>
                  <a:pt x="2712719" y="106679"/>
                </a:lnTo>
                <a:lnTo>
                  <a:pt x="2712719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996554" y="6054345"/>
            <a:ext cx="14160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11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15007" y="4845178"/>
            <a:ext cx="74644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spcBef>
                <a:spcPts val="100"/>
              </a:spcBef>
            </a:pPr>
            <a:r>
              <a:rPr sz="2400" b="1" dirty="0">
                <a:solidFill>
                  <a:srgbClr val="990000"/>
                </a:solidFill>
                <a:latin typeface="Book Antiqua"/>
                <a:cs typeface="Book Antiqua"/>
              </a:rPr>
              <a:t>Descriptions</a:t>
            </a:r>
            <a:r>
              <a:rPr sz="2400" b="1" spc="-40" dirty="0">
                <a:solidFill>
                  <a:srgbClr val="990000"/>
                </a:solidFill>
                <a:latin typeface="Book Antiqua"/>
                <a:cs typeface="Book Antiqua"/>
              </a:rPr>
              <a:t> </a:t>
            </a:r>
            <a:r>
              <a:rPr sz="2400" b="1" spc="-5" dirty="0">
                <a:solidFill>
                  <a:srgbClr val="990000"/>
                </a:solidFill>
                <a:latin typeface="Book Antiqua"/>
                <a:cs typeface="Book Antiqua"/>
              </a:rPr>
              <a:t>of</a:t>
            </a:r>
            <a:r>
              <a:rPr sz="2400" b="1" spc="-15" dirty="0">
                <a:solidFill>
                  <a:srgbClr val="990000"/>
                </a:solidFill>
                <a:latin typeface="Book Antiqua"/>
                <a:cs typeface="Book Antiqua"/>
              </a:rPr>
              <a:t> </a:t>
            </a:r>
            <a:r>
              <a:rPr sz="2400" b="1" dirty="0">
                <a:solidFill>
                  <a:srgbClr val="990000"/>
                </a:solidFill>
                <a:latin typeface="Book Antiqua"/>
                <a:cs typeface="Book Antiqua"/>
              </a:rPr>
              <a:t>the</a:t>
            </a:r>
            <a:r>
              <a:rPr sz="2400" b="1" spc="-10" dirty="0">
                <a:solidFill>
                  <a:srgbClr val="990000"/>
                </a:solidFill>
                <a:latin typeface="Book Antiqua"/>
                <a:cs typeface="Book Antiqua"/>
              </a:rPr>
              <a:t> </a:t>
            </a:r>
            <a:r>
              <a:rPr sz="2400" b="1" dirty="0">
                <a:solidFill>
                  <a:srgbClr val="990000"/>
                </a:solidFill>
                <a:latin typeface="Book Antiqua"/>
                <a:cs typeface="Book Antiqua"/>
              </a:rPr>
              <a:t>properties</a:t>
            </a:r>
            <a:r>
              <a:rPr sz="2400" b="1" spc="-20" dirty="0">
                <a:solidFill>
                  <a:srgbClr val="990000"/>
                </a:solidFill>
                <a:latin typeface="Book Antiqua"/>
                <a:cs typeface="Book Antiqua"/>
              </a:rPr>
              <a:t> </a:t>
            </a:r>
            <a:r>
              <a:rPr sz="2400" b="1" spc="-5" dirty="0">
                <a:solidFill>
                  <a:srgbClr val="990000"/>
                </a:solidFill>
                <a:latin typeface="Book Antiqua"/>
                <a:cs typeface="Book Antiqua"/>
              </a:rPr>
              <a:t>or </a:t>
            </a:r>
            <a:r>
              <a:rPr sz="2400" b="1" dirty="0">
                <a:solidFill>
                  <a:srgbClr val="990000"/>
                </a:solidFill>
                <a:latin typeface="Book Antiqua"/>
                <a:cs typeface="Book Antiqua"/>
              </a:rPr>
              <a:t>characteristics</a:t>
            </a:r>
            <a:r>
              <a:rPr sz="2400" b="1" spc="-50" dirty="0">
                <a:solidFill>
                  <a:srgbClr val="990000"/>
                </a:solidFill>
                <a:latin typeface="Book Antiqua"/>
                <a:cs typeface="Book Antiqua"/>
              </a:rPr>
              <a:t> </a:t>
            </a:r>
            <a:r>
              <a:rPr sz="2400" b="1" spc="-5" dirty="0">
                <a:solidFill>
                  <a:srgbClr val="990000"/>
                </a:solidFill>
                <a:latin typeface="Book Antiqua"/>
                <a:cs typeface="Book Antiqua"/>
              </a:rPr>
              <a:t>of </a:t>
            </a:r>
            <a:r>
              <a:rPr sz="2400" b="1" dirty="0">
                <a:solidFill>
                  <a:srgbClr val="990000"/>
                </a:solidFill>
                <a:latin typeface="Book Antiqua"/>
                <a:cs typeface="Book Antiqua"/>
              </a:rPr>
              <a:t>the </a:t>
            </a:r>
            <a:r>
              <a:rPr sz="2400" b="1" spc="-585" dirty="0">
                <a:solidFill>
                  <a:srgbClr val="990000"/>
                </a:solidFill>
                <a:latin typeface="Book Antiqua"/>
                <a:cs typeface="Book Antiqua"/>
              </a:rPr>
              <a:t> </a:t>
            </a:r>
            <a:r>
              <a:rPr sz="2400" b="1" dirty="0">
                <a:solidFill>
                  <a:srgbClr val="990000"/>
                </a:solidFill>
                <a:latin typeface="Book Antiqua"/>
                <a:cs typeface="Book Antiqua"/>
              </a:rPr>
              <a:t>data, including data </a:t>
            </a:r>
            <a:r>
              <a:rPr sz="2400" b="1" spc="-5" dirty="0">
                <a:solidFill>
                  <a:srgbClr val="990000"/>
                </a:solidFill>
                <a:latin typeface="Book Antiqua"/>
                <a:cs typeface="Book Antiqua"/>
              </a:rPr>
              <a:t>types, field </a:t>
            </a:r>
            <a:r>
              <a:rPr sz="2400" b="1" dirty="0">
                <a:solidFill>
                  <a:srgbClr val="990000"/>
                </a:solidFill>
                <a:latin typeface="Book Antiqua"/>
                <a:cs typeface="Book Antiqua"/>
              </a:rPr>
              <a:t>sizes, </a:t>
            </a:r>
            <a:r>
              <a:rPr sz="2400" b="1" spc="-5" dirty="0">
                <a:solidFill>
                  <a:srgbClr val="990000"/>
                </a:solidFill>
                <a:latin typeface="Book Antiqua"/>
                <a:cs typeface="Book Antiqua"/>
              </a:rPr>
              <a:t>allowable </a:t>
            </a:r>
            <a:r>
              <a:rPr sz="2400" b="1" dirty="0">
                <a:solidFill>
                  <a:srgbClr val="990000"/>
                </a:solidFill>
                <a:latin typeface="Book Antiqua"/>
                <a:cs typeface="Book Antiqua"/>
              </a:rPr>
              <a:t> </a:t>
            </a:r>
            <a:r>
              <a:rPr sz="2400" b="1" spc="-5" dirty="0">
                <a:solidFill>
                  <a:srgbClr val="990000"/>
                </a:solidFill>
                <a:latin typeface="Book Antiqua"/>
                <a:cs typeface="Book Antiqua"/>
              </a:rPr>
              <a:t>values,</a:t>
            </a:r>
            <a:r>
              <a:rPr sz="2400" b="1" spc="-10" dirty="0">
                <a:solidFill>
                  <a:srgbClr val="990000"/>
                </a:solidFill>
                <a:latin typeface="Book Antiqua"/>
                <a:cs typeface="Book Antiqua"/>
              </a:rPr>
              <a:t> </a:t>
            </a:r>
            <a:r>
              <a:rPr sz="2400" b="1" dirty="0">
                <a:solidFill>
                  <a:srgbClr val="990000"/>
                </a:solidFill>
                <a:latin typeface="Book Antiqua"/>
                <a:cs typeface="Book Antiqua"/>
              </a:rPr>
              <a:t>and</a:t>
            </a:r>
            <a:r>
              <a:rPr sz="2400" b="1" spc="-15" dirty="0">
                <a:solidFill>
                  <a:srgbClr val="990000"/>
                </a:solidFill>
                <a:latin typeface="Book Antiqua"/>
                <a:cs typeface="Book Antiqua"/>
              </a:rPr>
              <a:t> </a:t>
            </a:r>
            <a:r>
              <a:rPr sz="2400" b="1" dirty="0">
                <a:solidFill>
                  <a:srgbClr val="990000"/>
                </a:solidFill>
                <a:latin typeface="Book Antiqua"/>
                <a:cs typeface="Book Antiqua"/>
              </a:rPr>
              <a:t>data context</a:t>
            </a:r>
            <a:endParaRPr sz="2400">
              <a:latin typeface="Book Antiqua"/>
              <a:cs typeface="Book Antiqu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7544" y="990601"/>
            <a:ext cx="7400653" cy="33419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6438" y="1081532"/>
            <a:ext cx="2622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b="1" spc="-5" dirty="0">
                <a:solidFill>
                  <a:srgbClr val="FFFFFF"/>
                </a:solidFill>
                <a:latin typeface="Constantia"/>
                <a:cs typeface="Constantia"/>
              </a:rPr>
              <a:t>T</a:t>
            </a:r>
            <a:endParaRPr sz="3000">
              <a:latin typeface="Constantia"/>
              <a:cs typeface="Constant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896936"/>
              </p:ext>
            </p:extLst>
          </p:nvPr>
        </p:nvGraphicFramePr>
        <p:xfrm>
          <a:off x="1972056" y="441960"/>
          <a:ext cx="8237855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9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4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3550" dirty="0">
                        <a:latin typeface="Times New Roman"/>
                        <a:cs typeface="Times New Roman"/>
                      </a:endParaRPr>
                    </a:p>
                    <a:p>
                      <a:pPr marL="2032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3000" b="1" spc="-5" dirty="0" smtClean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</a:t>
                      </a:r>
                      <a:r>
                        <a:rPr sz="3000" b="1" spc="-5" dirty="0" smtClean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RADITIONAL</a:t>
                      </a:r>
                      <a:r>
                        <a:rPr sz="3000" b="1" spc="-60" dirty="0" smtClean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0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FILE</a:t>
                      </a:r>
                      <a:r>
                        <a:rPr sz="3000" b="1" spc="-4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000" b="1" spc="-1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PROCESSING</a:t>
                      </a:r>
                      <a:r>
                        <a:rPr sz="3000" b="1" spc="-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000" b="1" spc="-2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SYSTEM</a:t>
                      </a:r>
                      <a:endParaRPr sz="3000" dirty="0">
                        <a:latin typeface="Constantia"/>
                        <a:cs typeface="Constantia"/>
                      </a:endParaRPr>
                    </a:p>
                  </a:txBody>
                  <a:tcPr marL="0" marR="0" marT="635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059940" y="2260220"/>
            <a:ext cx="8058784" cy="2906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34925" indent="-304800">
              <a:spcBef>
                <a:spcPts val="1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pc="-20" dirty="0">
                <a:solidFill>
                  <a:srgbClr val="3C3C3C"/>
                </a:solidFill>
                <a:latin typeface="Gill Sans MT"/>
                <a:cs typeface="Gill Sans MT"/>
              </a:rPr>
              <a:t>Traditional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file 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processing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system or simple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file 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processing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system 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refers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to the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first </a:t>
            </a:r>
            <a:r>
              <a:rPr spc="-49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15" dirty="0">
                <a:solidFill>
                  <a:srgbClr val="3C3C3C"/>
                </a:solidFill>
                <a:latin typeface="Gill Sans MT"/>
                <a:cs typeface="Gill Sans MT"/>
              </a:rPr>
              <a:t>computer-based</a:t>
            </a:r>
            <a:r>
              <a:rPr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approach</a:t>
            </a:r>
            <a:r>
              <a:rPr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handling</a:t>
            </a:r>
            <a:r>
              <a:rPr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commercial</a:t>
            </a:r>
            <a:r>
              <a:rPr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business</a:t>
            </a:r>
            <a:r>
              <a:rPr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applications.</a:t>
            </a:r>
            <a:endParaRPr>
              <a:latin typeface="Gill Sans MT"/>
              <a:cs typeface="Gill Sans MT"/>
            </a:endParaRPr>
          </a:p>
          <a:p>
            <a:pPr marL="317500" indent="-304800">
              <a:spcBef>
                <a:spcPts val="18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That</a:t>
            </a:r>
            <a:r>
              <a:rPr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is </a:t>
            </a:r>
            <a:r>
              <a:rPr spc="-25" dirty="0">
                <a:solidFill>
                  <a:srgbClr val="3C3C3C"/>
                </a:solidFill>
                <a:latin typeface="Gill Sans MT"/>
                <a:cs typeface="Gill Sans MT"/>
              </a:rPr>
              <a:t>why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it is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 also</a:t>
            </a:r>
            <a:r>
              <a:rPr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called</a:t>
            </a:r>
            <a:r>
              <a:rPr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replacement</a:t>
            </a:r>
            <a:r>
              <a:rPr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manual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file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system.</a:t>
            </a:r>
            <a:endParaRPr>
              <a:latin typeface="Gill Sans MT"/>
              <a:cs typeface="Gill Sans MT"/>
            </a:endParaRPr>
          </a:p>
          <a:p>
            <a:pPr marL="317500" marR="31750" indent="-304800">
              <a:spcBef>
                <a:spcPts val="18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While computers</a:t>
            </a:r>
            <a:r>
              <a:rPr spc="-20" dirty="0">
                <a:solidFill>
                  <a:srgbClr val="3C3C3C"/>
                </a:solidFill>
                <a:latin typeface="Gill Sans MT"/>
                <a:cs typeface="Gill Sans MT"/>
              </a:rPr>
              <a:t> were</a:t>
            </a:r>
            <a:r>
              <a:rPr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introduced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into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business</a:t>
            </a:r>
            <a:r>
              <a:rPr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world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there</a:t>
            </a:r>
            <a:r>
              <a:rPr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 no </a:t>
            </a:r>
            <a:r>
              <a:rPr spc="-15" dirty="0">
                <a:solidFill>
                  <a:srgbClr val="3C3C3C"/>
                </a:solidFill>
                <a:latin typeface="Gill Sans MT"/>
                <a:cs typeface="Gill Sans MT"/>
              </a:rPr>
              <a:t>any</a:t>
            </a:r>
            <a:r>
              <a:rPr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concept </a:t>
            </a:r>
            <a:r>
              <a:rPr spc="-484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of DBMS, 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therefore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computer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file processing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systems </a:t>
            </a:r>
            <a:r>
              <a:rPr spc="-20" dirty="0">
                <a:solidFill>
                  <a:srgbClr val="3C3C3C"/>
                </a:solidFill>
                <a:latin typeface="Gill Sans MT"/>
                <a:cs typeface="Gill Sans MT"/>
              </a:rPr>
              <a:t>were 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developed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to store, </a:t>
            </a:r>
            <a:r>
              <a:rPr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maintain</a:t>
            </a:r>
            <a:r>
              <a:rPr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15" dirty="0">
                <a:solidFill>
                  <a:srgbClr val="3C3C3C"/>
                </a:solidFill>
                <a:latin typeface="Gill Sans MT"/>
                <a:cs typeface="Gill Sans MT"/>
              </a:rPr>
              <a:t>retrieve</a:t>
            </a:r>
            <a:r>
              <a:rPr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large files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of data.</a:t>
            </a:r>
            <a:endParaRPr>
              <a:latin typeface="Gill Sans MT"/>
              <a:cs typeface="Gill Sans MT"/>
            </a:endParaRPr>
          </a:p>
          <a:p>
            <a:pPr marL="317500" marR="5080" indent="-304800">
              <a:spcBef>
                <a:spcPts val="18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spc="-2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20" dirty="0">
                <a:solidFill>
                  <a:srgbClr val="3C3C3C"/>
                </a:solidFill>
                <a:latin typeface="Gill Sans MT"/>
                <a:cs typeface="Gill Sans MT"/>
              </a:rPr>
              <a:t>Traditional</a:t>
            </a:r>
            <a:r>
              <a:rPr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File</a:t>
            </a:r>
            <a:r>
              <a:rPr spc="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Processing</a:t>
            </a:r>
            <a:r>
              <a:rPr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System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each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 application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designed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with</a:t>
            </a:r>
            <a:r>
              <a:rPr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its</a:t>
            </a:r>
            <a:r>
              <a:rPr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own set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of </a:t>
            </a:r>
            <a:r>
              <a:rPr spc="-484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files.</a:t>
            </a:r>
            <a:endParaRPr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74378" y="6054345"/>
            <a:ext cx="14160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12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972056" y="441960"/>
          <a:ext cx="8237855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9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4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224154">
                        <a:lnSpc>
                          <a:spcPct val="100000"/>
                        </a:lnSpc>
                        <a:spcBef>
                          <a:spcPts val="2315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TRADITIONAL</a:t>
                      </a:r>
                      <a:r>
                        <a:rPr sz="2800" b="1" spc="-2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FILE</a:t>
                      </a:r>
                      <a:r>
                        <a:rPr sz="2800" b="1" spc="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b="1" spc="-2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PROCESSING</a:t>
                      </a:r>
                      <a:r>
                        <a:rPr sz="2800" b="1" spc="4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b="1" spc="-1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SYSTEM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059940" y="2452243"/>
            <a:ext cx="7971790" cy="2677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5080" indent="-304800">
              <a:spcBef>
                <a:spcPts val="1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The data </a:t>
            </a:r>
            <a:r>
              <a:rPr spc="-25" dirty="0">
                <a:solidFill>
                  <a:srgbClr val="3C3C3C"/>
                </a:solidFill>
                <a:latin typeface="Gill Sans MT"/>
                <a:cs typeface="Gill Sans MT"/>
              </a:rPr>
              <a:t>may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already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be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present in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files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for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other applications but 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would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need to </a:t>
            </a:r>
            <a:r>
              <a:rPr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be</a:t>
            </a:r>
            <a:r>
              <a:rPr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restructured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meet</a:t>
            </a:r>
            <a:r>
              <a:rPr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needs</a:t>
            </a:r>
            <a:r>
              <a:rPr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new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5" dirty="0">
                <a:solidFill>
                  <a:srgbClr val="3C3C3C"/>
                </a:solidFill>
                <a:latin typeface="Gill Sans MT"/>
                <a:cs typeface="Gill Sans MT"/>
              </a:rPr>
              <a:t>application.When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new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 application </a:t>
            </a:r>
            <a:r>
              <a:rPr spc="-484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is 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required</a:t>
            </a:r>
            <a:r>
              <a:rPr spc="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it</a:t>
            </a:r>
            <a:r>
              <a:rPr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is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simpler to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develop</a:t>
            </a:r>
            <a:r>
              <a:rPr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new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file structures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along</a:t>
            </a:r>
            <a:r>
              <a:rPr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with</a:t>
            </a:r>
            <a:r>
              <a:rPr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new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application.</a:t>
            </a:r>
            <a:endParaRPr>
              <a:latin typeface="Gill Sans MT"/>
              <a:cs typeface="Gill Sans MT"/>
            </a:endParaRPr>
          </a:p>
          <a:p>
            <a:pPr marL="317500" marR="130175" indent="-304800">
              <a:spcBef>
                <a:spcPts val="18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Different</a:t>
            </a:r>
            <a:r>
              <a:rPr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application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 programs</a:t>
            </a:r>
            <a:r>
              <a:rPr spc="-15" dirty="0">
                <a:solidFill>
                  <a:srgbClr val="3C3C3C"/>
                </a:solidFill>
                <a:latin typeface="Gill Sans MT"/>
                <a:cs typeface="Gill Sans MT"/>
              </a:rPr>
              <a:t> are</a:t>
            </a:r>
            <a:r>
              <a:rPr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written</a:t>
            </a:r>
            <a:r>
              <a:rPr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to extract</a:t>
            </a:r>
            <a:r>
              <a:rPr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15" dirty="0">
                <a:solidFill>
                  <a:srgbClr val="3C3C3C"/>
                </a:solidFill>
                <a:latin typeface="Gill Sans MT"/>
                <a:cs typeface="Gill Sans MT"/>
              </a:rPr>
              <a:t>from</a:t>
            </a:r>
            <a:r>
              <a:rPr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these</a:t>
            </a:r>
            <a:r>
              <a:rPr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files and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to </a:t>
            </a:r>
            <a:r>
              <a:rPr spc="-484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add</a:t>
            </a:r>
            <a:r>
              <a:rPr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record</a:t>
            </a:r>
            <a:r>
              <a:rPr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these files.</a:t>
            </a:r>
            <a:endParaRPr>
              <a:latin typeface="Gill Sans MT"/>
              <a:cs typeface="Gill Sans MT"/>
            </a:endParaRPr>
          </a:p>
          <a:p>
            <a:pPr marL="317500" marR="219075" indent="-304800">
              <a:spcBef>
                <a:spcPts val="18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pc="5" dirty="0">
                <a:solidFill>
                  <a:srgbClr val="3C3C3C"/>
                </a:solidFill>
                <a:latin typeface="Gill Sans MT"/>
                <a:cs typeface="Gill Sans MT"/>
              </a:rPr>
              <a:t>But,There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15" dirty="0">
                <a:solidFill>
                  <a:srgbClr val="3C3C3C"/>
                </a:solidFill>
                <a:latin typeface="Gill Sans MT"/>
                <a:cs typeface="Gill Sans MT"/>
              </a:rPr>
              <a:t>are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 Number of</a:t>
            </a:r>
            <a:r>
              <a:rPr spc="-5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disadvantages</a:t>
            </a:r>
            <a:r>
              <a:rPr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 using</a:t>
            </a:r>
            <a:r>
              <a:rPr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5" dirty="0">
                <a:solidFill>
                  <a:srgbClr val="3C3C3C"/>
                </a:solidFill>
                <a:latin typeface="Gill Sans MT"/>
                <a:cs typeface="Gill Sans MT"/>
              </a:rPr>
              <a:t>File</a:t>
            </a:r>
            <a:r>
              <a:rPr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Processing</a:t>
            </a:r>
            <a:r>
              <a:rPr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System,</a:t>
            </a:r>
            <a:r>
              <a:rPr spc="-19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spc="-10" dirty="0">
                <a:solidFill>
                  <a:srgbClr val="3C3C3C"/>
                </a:solidFill>
                <a:latin typeface="Gill Sans MT"/>
                <a:cs typeface="Gill Sans MT"/>
              </a:rPr>
              <a:t> store </a:t>
            </a:r>
            <a:r>
              <a:rPr spc="-49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>
                <a:solidFill>
                  <a:srgbClr val="3C3C3C"/>
                </a:solidFill>
                <a:latin typeface="Gill Sans MT"/>
                <a:cs typeface="Gill Sans MT"/>
              </a:rPr>
              <a:t>the data.</a:t>
            </a:r>
            <a:endParaRPr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74378" y="6054345"/>
            <a:ext cx="14160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13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70415" y="6450889"/>
            <a:ext cx="14160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14</a:t>
            </a:r>
            <a:endParaRPr sz="900">
              <a:latin typeface="Gill Sans MT"/>
              <a:cs typeface="Gill Sans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57400" y="685801"/>
            <a:ext cx="8458200" cy="5001895"/>
            <a:chOff x="533400" y="685800"/>
            <a:chExt cx="8458200" cy="50018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" y="685800"/>
              <a:ext cx="8458200" cy="500176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3241" y="3922014"/>
              <a:ext cx="5669280" cy="1473835"/>
            </a:xfrm>
            <a:custGeom>
              <a:avLst/>
              <a:gdLst/>
              <a:ahLst/>
              <a:cxnLst/>
              <a:rect l="l" t="t" r="r" b="b"/>
              <a:pathLst>
                <a:path w="5669280" h="1473835">
                  <a:moveTo>
                    <a:pt x="0" y="736092"/>
                  </a:moveTo>
                  <a:lnTo>
                    <a:pt x="1511" y="681157"/>
                  </a:lnTo>
                  <a:lnTo>
                    <a:pt x="5973" y="627318"/>
                  </a:lnTo>
                  <a:lnTo>
                    <a:pt x="13280" y="574719"/>
                  </a:lnTo>
                  <a:lnTo>
                    <a:pt x="23325" y="523500"/>
                  </a:lnTo>
                  <a:lnTo>
                    <a:pt x="36002" y="473805"/>
                  </a:lnTo>
                  <a:lnTo>
                    <a:pt x="51204" y="425776"/>
                  </a:lnTo>
                  <a:lnTo>
                    <a:pt x="68825" y="379555"/>
                  </a:lnTo>
                  <a:lnTo>
                    <a:pt x="88757" y="335284"/>
                  </a:lnTo>
                  <a:lnTo>
                    <a:pt x="110896" y="293106"/>
                  </a:lnTo>
                  <a:lnTo>
                    <a:pt x="135133" y="253163"/>
                  </a:lnTo>
                  <a:lnTo>
                    <a:pt x="161363" y="215598"/>
                  </a:lnTo>
                  <a:lnTo>
                    <a:pt x="189478" y="180552"/>
                  </a:lnTo>
                  <a:lnTo>
                    <a:pt x="219373" y="148169"/>
                  </a:lnTo>
                  <a:lnTo>
                    <a:pt x="250941" y="118590"/>
                  </a:lnTo>
                  <a:lnTo>
                    <a:pt x="284075" y="91958"/>
                  </a:lnTo>
                  <a:lnTo>
                    <a:pt x="318670" y="68415"/>
                  </a:lnTo>
                  <a:lnTo>
                    <a:pt x="354617" y="48103"/>
                  </a:lnTo>
                  <a:lnTo>
                    <a:pt x="391811" y="31165"/>
                  </a:lnTo>
                  <a:lnTo>
                    <a:pt x="430146" y="17744"/>
                  </a:lnTo>
                  <a:lnTo>
                    <a:pt x="469514" y="7981"/>
                  </a:lnTo>
                  <a:lnTo>
                    <a:pt x="509809" y="2019"/>
                  </a:lnTo>
                  <a:lnTo>
                    <a:pt x="550926" y="0"/>
                  </a:lnTo>
                  <a:lnTo>
                    <a:pt x="592045" y="2019"/>
                  </a:lnTo>
                  <a:lnTo>
                    <a:pt x="632343" y="7981"/>
                  </a:lnTo>
                  <a:lnTo>
                    <a:pt x="671713" y="17744"/>
                  </a:lnTo>
                  <a:lnTo>
                    <a:pt x="710049" y="31165"/>
                  </a:lnTo>
                  <a:lnTo>
                    <a:pt x="747244" y="48103"/>
                  </a:lnTo>
                  <a:lnTo>
                    <a:pt x="783192" y="68415"/>
                  </a:lnTo>
                  <a:lnTo>
                    <a:pt x="817787" y="91958"/>
                  </a:lnTo>
                  <a:lnTo>
                    <a:pt x="850921" y="118590"/>
                  </a:lnTo>
                  <a:lnTo>
                    <a:pt x="882489" y="148169"/>
                  </a:lnTo>
                  <a:lnTo>
                    <a:pt x="912383" y="180552"/>
                  </a:lnTo>
                  <a:lnTo>
                    <a:pt x="940498" y="215598"/>
                  </a:lnTo>
                  <a:lnTo>
                    <a:pt x="966727" y="253163"/>
                  </a:lnTo>
                  <a:lnTo>
                    <a:pt x="990963" y="293106"/>
                  </a:lnTo>
                  <a:lnTo>
                    <a:pt x="1013100" y="335284"/>
                  </a:lnTo>
                  <a:lnTo>
                    <a:pt x="1033031" y="379555"/>
                  </a:lnTo>
                  <a:lnTo>
                    <a:pt x="1050651" y="425776"/>
                  </a:lnTo>
                  <a:lnTo>
                    <a:pt x="1065852" y="473805"/>
                  </a:lnTo>
                  <a:lnTo>
                    <a:pt x="1078528" y="523500"/>
                  </a:lnTo>
                  <a:lnTo>
                    <a:pt x="1088572" y="574719"/>
                  </a:lnTo>
                  <a:lnTo>
                    <a:pt x="1095879" y="627318"/>
                  </a:lnTo>
                  <a:lnTo>
                    <a:pt x="1100341" y="681157"/>
                  </a:lnTo>
                  <a:lnTo>
                    <a:pt x="1101852" y="736092"/>
                  </a:lnTo>
                  <a:lnTo>
                    <a:pt x="1100341" y="791026"/>
                  </a:lnTo>
                  <a:lnTo>
                    <a:pt x="1095879" y="844865"/>
                  </a:lnTo>
                  <a:lnTo>
                    <a:pt x="1088572" y="897464"/>
                  </a:lnTo>
                  <a:lnTo>
                    <a:pt x="1078528" y="948683"/>
                  </a:lnTo>
                  <a:lnTo>
                    <a:pt x="1065852" y="998378"/>
                  </a:lnTo>
                  <a:lnTo>
                    <a:pt x="1050651" y="1046407"/>
                  </a:lnTo>
                  <a:lnTo>
                    <a:pt x="1033031" y="1092628"/>
                  </a:lnTo>
                  <a:lnTo>
                    <a:pt x="1013100" y="1136899"/>
                  </a:lnTo>
                  <a:lnTo>
                    <a:pt x="990963" y="1179077"/>
                  </a:lnTo>
                  <a:lnTo>
                    <a:pt x="966727" y="1219020"/>
                  </a:lnTo>
                  <a:lnTo>
                    <a:pt x="940498" y="1256585"/>
                  </a:lnTo>
                  <a:lnTo>
                    <a:pt x="912383" y="1291631"/>
                  </a:lnTo>
                  <a:lnTo>
                    <a:pt x="882489" y="1324014"/>
                  </a:lnTo>
                  <a:lnTo>
                    <a:pt x="850921" y="1353593"/>
                  </a:lnTo>
                  <a:lnTo>
                    <a:pt x="817787" y="1380225"/>
                  </a:lnTo>
                  <a:lnTo>
                    <a:pt x="783192" y="1403768"/>
                  </a:lnTo>
                  <a:lnTo>
                    <a:pt x="747244" y="1424080"/>
                  </a:lnTo>
                  <a:lnTo>
                    <a:pt x="710049" y="1441018"/>
                  </a:lnTo>
                  <a:lnTo>
                    <a:pt x="671713" y="1454439"/>
                  </a:lnTo>
                  <a:lnTo>
                    <a:pt x="632343" y="1464202"/>
                  </a:lnTo>
                  <a:lnTo>
                    <a:pt x="592045" y="1470164"/>
                  </a:lnTo>
                  <a:lnTo>
                    <a:pt x="550926" y="1472184"/>
                  </a:lnTo>
                  <a:lnTo>
                    <a:pt x="509809" y="1470164"/>
                  </a:lnTo>
                  <a:lnTo>
                    <a:pt x="469514" y="1464202"/>
                  </a:lnTo>
                  <a:lnTo>
                    <a:pt x="430146" y="1454439"/>
                  </a:lnTo>
                  <a:lnTo>
                    <a:pt x="391811" y="1441018"/>
                  </a:lnTo>
                  <a:lnTo>
                    <a:pt x="354617" y="1424080"/>
                  </a:lnTo>
                  <a:lnTo>
                    <a:pt x="318670" y="1403768"/>
                  </a:lnTo>
                  <a:lnTo>
                    <a:pt x="284075" y="1380225"/>
                  </a:lnTo>
                  <a:lnTo>
                    <a:pt x="250941" y="1353593"/>
                  </a:lnTo>
                  <a:lnTo>
                    <a:pt x="219373" y="1324014"/>
                  </a:lnTo>
                  <a:lnTo>
                    <a:pt x="189478" y="1291631"/>
                  </a:lnTo>
                  <a:lnTo>
                    <a:pt x="161363" y="1256585"/>
                  </a:lnTo>
                  <a:lnTo>
                    <a:pt x="135133" y="1219020"/>
                  </a:lnTo>
                  <a:lnTo>
                    <a:pt x="110896" y="1179077"/>
                  </a:lnTo>
                  <a:lnTo>
                    <a:pt x="88757" y="1136899"/>
                  </a:lnTo>
                  <a:lnTo>
                    <a:pt x="68825" y="1092628"/>
                  </a:lnTo>
                  <a:lnTo>
                    <a:pt x="51204" y="1046407"/>
                  </a:lnTo>
                  <a:lnTo>
                    <a:pt x="36002" y="998378"/>
                  </a:lnTo>
                  <a:lnTo>
                    <a:pt x="23325" y="948683"/>
                  </a:lnTo>
                  <a:lnTo>
                    <a:pt x="13280" y="897464"/>
                  </a:lnTo>
                  <a:lnTo>
                    <a:pt x="5973" y="844865"/>
                  </a:lnTo>
                  <a:lnTo>
                    <a:pt x="1511" y="791026"/>
                  </a:lnTo>
                  <a:lnTo>
                    <a:pt x="0" y="736092"/>
                  </a:lnTo>
                  <a:close/>
                </a:path>
                <a:path w="5669280" h="1473835">
                  <a:moveTo>
                    <a:pt x="4579620" y="774192"/>
                  </a:moveTo>
                  <a:lnTo>
                    <a:pt x="4581259" y="719524"/>
                  </a:lnTo>
                  <a:lnTo>
                    <a:pt x="4586096" y="666008"/>
                  </a:lnTo>
                  <a:lnTo>
                    <a:pt x="4594011" y="613798"/>
                  </a:lnTo>
                  <a:lnTo>
                    <a:pt x="4604881" y="563050"/>
                  </a:lnTo>
                  <a:lnTo>
                    <a:pt x="4618586" y="513919"/>
                  </a:lnTo>
                  <a:lnTo>
                    <a:pt x="4635003" y="466561"/>
                  </a:lnTo>
                  <a:lnTo>
                    <a:pt x="4654013" y="421132"/>
                  </a:lnTo>
                  <a:lnTo>
                    <a:pt x="4675494" y="377786"/>
                  </a:lnTo>
                  <a:lnTo>
                    <a:pt x="4699325" y="336679"/>
                  </a:lnTo>
                  <a:lnTo>
                    <a:pt x="4725384" y="297967"/>
                  </a:lnTo>
                  <a:lnTo>
                    <a:pt x="4753550" y="261806"/>
                  </a:lnTo>
                  <a:lnTo>
                    <a:pt x="4783702" y="228351"/>
                  </a:lnTo>
                  <a:lnTo>
                    <a:pt x="4815719" y="197757"/>
                  </a:lnTo>
                  <a:lnTo>
                    <a:pt x="4849480" y="170180"/>
                  </a:lnTo>
                  <a:lnTo>
                    <a:pt x="4884864" y="145775"/>
                  </a:lnTo>
                  <a:lnTo>
                    <a:pt x="4921749" y="124698"/>
                  </a:lnTo>
                  <a:lnTo>
                    <a:pt x="4960013" y="107105"/>
                  </a:lnTo>
                  <a:lnTo>
                    <a:pt x="4999537" y="93150"/>
                  </a:lnTo>
                  <a:lnTo>
                    <a:pt x="5040198" y="82990"/>
                  </a:lnTo>
                  <a:lnTo>
                    <a:pt x="5081876" y="76780"/>
                  </a:lnTo>
                  <a:lnTo>
                    <a:pt x="5124450" y="74675"/>
                  </a:lnTo>
                  <a:lnTo>
                    <a:pt x="5167023" y="76780"/>
                  </a:lnTo>
                  <a:lnTo>
                    <a:pt x="5208701" y="82990"/>
                  </a:lnTo>
                  <a:lnTo>
                    <a:pt x="5249362" y="93150"/>
                  </a:lnTo>
                  <a:lnTo>
                    <a:pt x="5288886" y="107105"/>
                  </a:lnTo>
                  <a:lnTo>
                    <a:pt x="5327150" y="124698"/>
                  </a:lnTo>
                  <a:lnTo>
                    <a:pt x="5364035" y="145775"/>
                  </a:lnTo>
                  <a:lnTo>
                    <a:pt x="5399419" y="170180"/>
                  </a:lnTo>
                  <a:lnTo>
                    <a:pt x="5433180" y="197757"/>
                  </a:lnTo>
                  <a:lnTo>
                    <a:pt x="5465197" y="228351"/>
                  </a:lnTo>
                  <a:lnTo>
                    <a:pt x="5495349" y="261806"/>
                  </a:lnTo>
                  <a:lnTo>
                    <a:pt x="5523515" y="297967"/>
                  </a:lnTo>
                  <a:lnTo>
                    <a:pt x="5549574" y="336679"/>
                  </a:lnTo>
                  <a:lnTo>
                    <a:pt x="5573405" y="377786"/>
                  </a:lnTo>
                  <a:lnTo>
                    <a:pt x="5594886" y="421132"/>
                  </a:lnTo>
                  <a:lnTo>
                    <a:pt x="5613896" y="466561"/>
                  </a:lnTo>
                  <a:lnTo>
                    <a:pt x="5630313" y="513919"/>
                  </a:lnTo>
                  <a:lnTo>
                    <a:pt x="5644018" y="563050"/>
                  </a:lnTo>
                  <a:lnTo>
                    <a:pt x="5654888" y="613798"/>
                  </a:lnTo>
                  <a:lnTo>
                    <a:pt x="5662803" y="666008"/>
                  </a:lnTo>
                  <a:lnTo>
                    <a:pt x="5667640" y="719524"/>
                  </a:lnTo>
                  <a:lnTo>
                    <a:pt x="5669280" y="774192"/>
                  </a:lnTo>
                  <a:lnTo>
                    <a:pt x="5667640" y="828859"/>
                  </a:lnTo>
                  <a:lnTo>
                    <a:pt x="5662803" y="882375"/>
                  </a:lnTo>
                  <a:lnTo>
                    <a:pt x="5654888" y="934585"/>
                  </a:lnTo>
                  <a:lnTo>
                    <a:pt x="5644018" y="985333"/>
                  </a:lnTo>
                  <a:lnTo>
                    <a:pt x="5630313" y="1034464"/>
                  </a:lnTo>
                  <a:lnTo>
                    <a:pt x="5613896" y="1081822"/>
                  </a:lnTo>
                  <a:lnTo>
                    <a:pt x="5594886" y="1127252"/>
                  </a:lnTo>
                  <a:lnTo>
                    <a:pt x="5573405" y="1170597"/>
                  </a:lnTo>
                  <a:lnTo>
                    <a:pt x="5549574" y="1211704"/>
                  </a:lnTo>
                  <a:lnTo>
                    <a:pt x="5523515" y="1250416"/>
                  </a:lnTo>
                  <a:lnTo>
                    <a:pt x="5495349" y="1286577"/>
                  </a:lnTo>
                  <a:lnTo>
                    <a:pt x="5465197" y="1320032"/>
                  </a:lnTo>
                  <a:lnTo>
                    <a:pt x="5433180" y="1350626"/>
                  </a:lnTo>
                  <a:lnTo>
                    <a:pt x="5399419" y="1378204"/>
                  </a:lnTo>
                  <a:lnTo>
                    <a:pt x="5364035" y="1402608"/>
                  </a:lnTo>
                  <a:lnTo>
                    <a:pt x="5327150" y="1423685"/>
                  </a:lnTo>
                  <a:lnTo>
                    <a:pt x="5288886" y="1441278"/>
                  </a:lnTo>
                  <a:lnTo>
                    <a:pt x="5249362" y="1455233"/>
                  </a:lnTo>
                  <a:lnTo>
                    <a:pt x="5208701" y="1465393"/>
                  </a:lnTo>
                  <a:lnTo>
                    <a:pt x="5167023" y="1471603"/>
                  </a:lnTo>
                  <a:lnTo>
                    <a:pt x="5124450" y="1473708"/>
                  </a:lnTo>
                  <a:lnTo>
                    <a:pt x="5081876" y="1471603"/>
                  </a:lnTo>
                  <a:lnTo>
                    <a:pt x="5040198" y="1465393"/>
                  </a:lnTo>
                  <a:lnTo>
                    <a:pt x="4999537" y="1455233"/>
                  </a:lnTo>
                  <a:lnTo>
                    <a:pt x="4960013" y="1441278"/>
                  </a:lnTo>
                  <a:lnTo>
                    <a:pt x="4921749" y="1423685"/>
                  </a:lnTo>
                  <a:lnTo>
                    <a:pt x="4884864" y="1402608"/>
                  </a:lnTo>
                  <a:lnTo>
                    <a:pt x="4849480" y="1378204"/>
                  </a:lnTo>
                  <a:lnTo>
                    <a:pt x="4815719" y="1350626"/>
                  </a:lnTo>
                  <a:lnTo>
                    <a:pt x="4783702" y="1320032"/>
                  </a:lnTo>
                  <a:lnTo>
                    <a:pt x="4753550" y="1286577"/>
                  </a:lnTo>
                  <a:lnTo>
                    <a:pt x="4725384" y="1250416"/>
                  </a:lnTo>
                  <a:lnTo>
                    <a:pt x="4699325" y="1211704"/>
                  </a:lnTo>
                  <a:lnTo>
                    <a:pt x="4675494" y="1170597"/>
                  </a:lnTo>
                  <a:lnTo>
                    <a:pt x="4654013" y="1127252"/>
                  </a:lnTo>
                  <a:lnTo>
                    <a:pt x="4635003" y="1081822"/>
                  </a:lnTo>
                  <a:lnTo>
                    <a:pt x="4618586" y="1034464"/>
                  </a:lnTo>
                  <a:lnTo>
                    <a:pt x="4604881" y="985333"/>
                  </a:lnTo>
                  <a:lnTo>
                    <a:pt x="4594011" y="934585"/>
                  </a:lnTo>
                  <a:lnTo>
                    <a:pt x="4586096" y="882375"/>
                  </a:lnTo>
                  <a:lnTo>
                    <a:pt x="4581259" y="828859"/>
                  </a:lnTo>
                  <a:lnTo>
                    <a:pt x="4579620" y="774192"/>
                  </a:lnTo>
                  <a:close/>
                </a:path>
              </a:pathLst>
            </a:custGeom>
            <a:ln w="25908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1344" y="972820"/>
              <a:ext cx="6059170" cy="3765550"/>
            </a:xfrm>
            <a:custGeom>
              <a:avLst/>
              <a:gdLst/>
              <a:ahLst/>
              <a:cxnLst/>
              <a:rect l="l" t="t" r="r" b="b"/>
              <a:pathLst>
                <a:path w="6059170" h="3765550">
                  <a:moveTo>
                    <a:pt x="164464" y="3644137"/>
                  </a:moveTo>
                  <a:lnTo>
                    <a:pt x="0" y="3644137"/>
                  </a:lnTo>
                  <a:lnTo>
                    <a:pt x="0" y="0"/>
                  </a:lnTo>
                  <a:lnTo>
                    <a:pt x="6058661" y="0"/>
                  </a:lnTo>
                  <a:lnTo>
                    <a:pt x="6058661" y="3765423"/>
                  </a:lnTo>
                  <a:lnTo>
                    <a:pt x="5857113" y="3765423"/>
                  </a:lnTo>
                </a:path>
              </a:pathLst>
            </a:custGeom>
            <a:ln w="25908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520945" y="632205"/>
            <a:ext cx="1859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990000"/>
                </a:solidFill>
                <a:latin typeface="Times New Roman"/>
                <a:cs typeface="Times New Roman"/>
              </a:rPr>
              <a:t>Duplicate</a:t>
            </a:r>
            <a:r>
              <a:rPr sz="2400" spc="-1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0000"/>
                </a:solidFill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29252" y="6041847"/>
            <a:ext cx="4180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30" dirty="0">
                <a:latin typeface="Gill Sans MT"/>
                <a:cs typeface="Gill Sans MT"/>
              </a:rPr>
              <a:t>Traditional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File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Processing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System</a:t>
            </a:r>
            <a:endParaRPr sz="24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2056" y="600456"/>
            <a:ext cx="8239125" cy="1168269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42570" rIns="0" bIns="0" rtlCol="0">
            <a:spAutoFit/>
          </a:bodyPr>
          <a:lstStyle/>
          <a:p>
            <a:pPr marL="100330" marR="730885">
              <a:lnSpc>
                <a:spcPct val="100299"/>
              </a:lnSpc>
              <a:spcBef>
                <a:spcPts val="1910"/>
              </a:spcBef>
            </a:pPr>
            <a:r>
              <a:rPr sz="3000" spc="-55" dirty="0">
                <a:latin typeface="Constantia"/>
                <a:cs typeface="Constantia"/>
              </a:rPr>
              <a:t>DISADVANTAGES</a:t>
            </a:r>
            <a:r>
              <a:rPr sz="3000" spc="-5" dirty="0">
                <a:latin typeface="Constantia"/>
                <a:cs typeface="Constantia"/>
              </a:rPr>
              <a:t> </a:t>
            </a:r>
            <a:r>
              <a:rPr sz="3000" dirty="0">
                <a:latin typeface="Constantia"/>
                <a:cs typeface="Constantia"/>
              </a:rPr>
              <a:t>OF</a:t>
            </a:r>
            <a:r>
              <a:rPr sz="3000" spc="-80" dirty="0">
                <a:latin typeface="Constantia"/>
                <a:cs typeface="Constantia"/>
              </a:rPr>
              <a:t> </a:t>
            </a:r>
            <a:r>
              <a:rPr sz="3000" spc="-5" dirty="0">
                <a:latin typeface="Constantia"/>
                <a:cs typeface="Constantia"/>
              </a:rPr>
              <a:t>TRADITIONAL</a:t>
            </a:r>
            <a:r>
              <a:rPr sz="3000" spc="-65" dirty="0">
                <a:latin typeface="Constantia"/>
                <a:cs typeface="Constantia"/>
              </a:rPr>
              <a:t> </a:t>
            </a:r>
            <a:r>
              <a:rPr sz="3000" dirty="0">
                <a:latin typeface="Constantia"/>
                <a:cs typeface="Constantia"/>
              </a:rPr>
              <a:t>FILE </a:t>
            </a:r>
            <a:r>
              <a:rPr sz="3000" spc="-705" dirty="0">
                <a:latin typeface="Constantia"/>
                <a:cs typeface="Constantia"/>
              </a:rPr>
              <a:t> </a:t>
            </a:r>
            <a:r>
              <a:rPr sz="3000" spc="-15" dirty="0">
                <a:latin typeface="Constantia"/>
                <a:cs typeface="Constantia"/>
              </a:rPr>
              <a:t>PROCESSING</a:t>
            </a:r>
            <a:r>
              <a:rPr sz="3000" spc="-5" dirty="0">
                <a:latin typeface="Constantia"/>
                <a:cs typeface="Constantia"/>
              </a:rPr>
              <a:t> </a:t>
            </a:r>
            <a:r>
              <a:rPr sz="3000" spc="-20" dirty="0">
                <a:latin typeface="Constantia"/>
                <a:cs typeface="Constantia"/>
              </a:rPr>
              <a:t>SYSTEM</a:t>
            </a:r>
            <a:endParaRPr sz="30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9941" y="2025523"/>
            <a:ext cx="8095615" cy="3279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26670" indent="-457834" algn="just">
              <a:spcBef>
                <a:spcPts val="95"/>
              </a:spcBef>
            </a:pPr>
            <a:r>
              <a:rPr sz="2200" b="1" i="1" spc="-15" dirty="0">
                <a:latin typeface="Gill Sans MT"/>
                <a:cs typeface="Gill Sans MT"/>
              </a:rPr>
              <a:t>Program-Data </a:t>
            </a:r>
            <a:r>
              <a:rPr sz="2200" b="1" i="1" dirty="0">
                <a:latin typeface="Gill Sans MT"/>
                <a:cs typeface="Gill Sans MT"/>
              </a:rPr>
              <a:t>Dependence,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reports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produced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by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file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processing </a:t>
            </a:r>
            <a:r>
              <a:rPr sz="2000" spc="-5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system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are program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dependent,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which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means if 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any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change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in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format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or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structure of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data and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records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in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file is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to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be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made,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programs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have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to modified 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correspondingly.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Also,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new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program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will 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have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to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be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developed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produce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new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report.</a:t>
            </a:r>
            <a:endParaRPr sz="2000">
              <a:latin typeface="Gill Sans MT"/>
              <a:cs typeface="Gill Sans MT"/>
            </a:endParaRPr>
          </a:p>
          <a:p>
            <a:pPr marL="469900" marR="5080" indent="-457834" algn="just">
              <a:spcBef>
                <a:spcPts val="1130"/>
              </a:spcBef>
            </a:pPr>
            <a:r>
              <a:rPr sz="2200" b="1" i="1" spc="-5" dirty="0">
                <a:latin typeface="Gill Sans MT"/>
                <a:cs typeface="Gill Sans MT"/>
              </a:rPr>
              <a:t>Duplication of Data,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Since each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application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has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its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own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data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file,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the same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data 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may have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to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be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recorded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and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stored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in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many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files.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For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example,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personal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file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payroll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file,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both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contain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on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employee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name,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designation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etc. The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result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is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unnecessary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duplicate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or redundant data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items.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74378" y="6054345"/>
            <a:ext cx="14160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15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9941" y="2517775"/>
            <a:ext cx="8074025" cy="287972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469900" marR="5080" indent="-457834" algn="just">
              <a:lnSpc>
                <a:spcPct val="101099"/>
              </a:lnSpc>
              <a:spcBef>
                <a:spcPts val="65"/>
              </a:spcBef>
            </a:pPr>
            <a:r>
              <a:rPr sz="2200" b="1" i="1" spc="-5" dirty="0">
                <a:latin typeface="Gill Sans MT"/>
                <a:cs typeface="Gill Sans MT"/>
              </a:rPr>
              <a:t>Limited Data Sharing,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There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is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limited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data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sharing possibilities with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traditional file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system.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Each application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has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its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own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private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files and users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have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little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choice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share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outside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their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own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applications.</a:t>
            </a:r>
            <a:endParaRPr sz="2000">
              <a:latin typeface="Gill Sans MT"/>
              <a:cs typeface="Gill Sans MT"/>
            </a:endParaRPr>
          </a:p>
          <a:p>
            <a:pPr marL="469900" marR="5715" indent="-457834" algn="just">
              <a:lnSpc>
                <a:spcPct val="104200"/>
              </a:lnSpc>
              <a:spcBef>
                <a:spcPts val="1010"/>
              </a:spcBef>
            </a:pPr>
            <a:r>
              <a:rPr sz="2200" b="1" i="1" spc="-10" dirty="0">
                <a:latin typeface="Gill Sans MT"/>
                <a:cs typeface="Gill Sans MT"/>
              </a:rPr>
              <a:t>Lengthy Development </a:t>
            </a:r>
            <a:r>
              <a:rPr sz="2200" b="1" i="1" dirty="0">
                <a:latin typeface="Gill Sans MT"/>
                <a:cs typeface="Gill Sans MT"/>
              </a:rPr>
              <a:t>Times, </a:t>
            </a:r>
            <a:r>
              <a:rPr sz="2000" dirty="0">
                <a:latin typeface="Gill Sans MT"/>
                <a:cs typeface="Gill Sans MT"/>
              </a:rPr>
              <a:t>each </a:t>
            </a:r>
            <a:r>
              <a:rPr sz="2000" spc="-10" dirty="0">
                <a:latin typeface="Gill Sans MT"/>
                <a:cs typeface="Gill Sans MT"/>
              </a:rPr>
              <a:t>new </a:t>
            </a:r>
            <a:r>
              <a:rPr sz="2000" spc="-5" dirty="0">
                <a:latin typeface="Gill Sans MT"/>
                <a:cs typeface="Gill Sans MT"/>
              </a:rPr>
              <a:t>application </a:t>
            </a:r>
            <a:r>
              <a:rPr sz="2000" spc="-15" dirty="0">
                <a:latin typeface="Gill Sans MT"/>
                <a:cs typeface="Gill Sans MT"/>
              </a:rPr>
              <a:t>requires </a:t>
            </a:r>
            <a:r>
              <a:rPr sz="2000" spc="-5" dirty="0">
                <a:latin typeface="Gill Sans MT"/>
                <a:cs typeface="Gill Sans MT"/>
              </a:rPr>
              <a:t>that </a:t>
            </a:r>
            <a:r>
              <a:rPr sz="2000" dirty="0">
                <a:latin typeface="Gill Sans MT"/>
                <a:cs typeface="Gill Sans MT"/>
              </a:rPr>
              <a:t>the </a:t>
            </a:r>
            <a:r>
              <a:rPr sz="2000" spc="5" dirty="0">
                <a:latin typeface="Gill Sans MT"/>
                <a:cs typeface="Gill Sans MT"/>
              </a:rPr>
              <a:t> </a:t>
            </a:r>
            <a:r>
              <a:rPr sz="2000" spc="-10" dirty="0">
                <a:latin typeface="Gill Sans MT"/>
                <a:cs typeface="Gill Sans MT"/>
              </a:rPr>
              <a:t>developer </a:t>
            </a:r>
            <a:r>
              <a:rPr sz="2000" spc="-5" dirty="0">
                <a:latin typeface="Gill Sans MT"/>
                <a:cs typeface="Gill Sans MT"/>
              </a:rPr>
              <a:t>essentially </a:t>
            </a:r>
            <a:r>
              <a:rPr sz="2000" dirty="0">
                <a:latin typeface="Gill Sans MT"/>
                <a:cs typeface="Gill Sans MT"/>
              </a:rPr>
              <a:t>start </a:t>
            </a:r>
            <a:r>
              <a:rPr sz="2000" spc="-20" dirty="0">
                <a:latin typeface="Gill Sans MT"/>
                <a:cs typeface="Gill Sans MT"/>
              </a:rPr>
              <a:t>from </a:t>
            </a:r>
            <a:r>
              <a:rPr sz="2000" spc="-5" dirty="0">
                <a:latin typeface="Gill Sans MT"/>
                <a:cs typeface="Gill Sans MT"/>
              </a:rPr>
              <a:t>scratch </a:t>
            </a:r>
            <a:r>
              <a:rPr sz="2000" spc="-10" dirty="0">
                <a:latin typeface="Gill Sans MT"/>
                <a:cs typeface="Gill Sans MT"/>
              </a:rPr>
              <a:t>by </a:t>
            </a:r>
            <a:r>
              <a:rPr sz="2000" dirty="0">
                <a:latin typeface="Gill Sans MT"/>
                <a:cs typeface="Gill Sans MT"/>
              </a:rPr>
              <a:t>designing </a:t>
            </a:r>
            <a:r>
              <a:rPr sz="2000" spc="-10" dirty="0">
                <a:latin typeface="Gill Sans MT"/>
                <a:cs typeface="Gill Sans MT"/>
              </a:rPr>
              <a:t>new </a:t>
            </a:r>
            <a:r>
              <a:rPr sz="2000" spc="-5" dirty="0">
                <a:latin typeface="Gill Sans MT"/>
                <a:cs typeface="Gill Sans MT"/>
              </a:rPr>
              <a:t>file formats and </a:t>
            </a:r>
            <a:r>
              <a:rPr sz="2000" dirty="0">
                <a:latin typeface="Gill Sans MT"/>
                <a:cs typeface="Gill Sans MT"/>
              </a:rPr>
              <a:t> descriptions</a:t>
            </a:r>
            <a:r>
              <a:rPr sz="2000" spc="-3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and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then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writing</a:t>
            </a:r>
            <a:r>
              <a:rPr sz="2000" spc="-4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the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file</a:t>
            </a:r>
            <a:r>
              <a:rPr sz="2000" spc="-1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access</a:t>
            </a:r>
            <a:r>
              <a:rPr sz="2000" spc="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logic</a:t>
            </a:r>
            <a:r>
              <a:rPr sz="2000" spc="-25" dirty="0">
                <a:latin typeface="Gill Sans MT"/>
                <a:cs typeface="Gill Sans MT"/>
              </a:rPr>
              <a:t> </a:t>
            </a:r>
            <a:r>
              <a:rPr sz="2000" spc="-10" dirty="0">
                <a:latin typeface="Gill Sans MT"/>
                <a:cs typeface="Gill Sans MT"/>
              </a:rPr>
              <a:t>for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each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spc="-10" dirty="0">
                <a:latin typeface="Gill Sans MT"/>
                <a:cs typeface="Gill Sans MT"/>
              </a:rPr>
              <a:t>new</a:t>
            </a:r>
            <a:r>
              <a:rPr sz="2000" spc="-5" dirty="0">
                <a:latin typeface="Gill Sans MT"/>
                <a:cs typeface="Gill Sans MT"/>
              </a:rPr>
              <a:t> </a:t>
            </a:r>
            <a:r>
              <a:rPr sz="2000" spc="-10" dirty="0">
                <a:latin typeface="Gill Sans MT"/>
                <a:cs typeface="Gill Sans MT"/>
              </a:rPr>
              <a:t>program.</a:t>
            </a:r>
            <a:endParaRPr sz="2000">
              <a:latin typeface="Gill Sans MT"/>
              <a:cs typeface="Gill Sans MT"/>
            </a:endParaRPr>
          </a:p>
          <a:p>
            <a:pPr marL="12700" algn="just">
              <a:spcBef>
                <a:spcPts val="1170"/>
              </a:spcBef>
            </a:pPr>
            <a:r>
              <a:rPr sz="2200" b="1" i="1" spc="-5" dirty="0">
                <a:latin typeface="Gill Sans MT"/>
                <a:cs typeface="Gill Sans MT"/>
              </a:rPr>
              <a:t>Excessive</a:t>
            </a:r>
            <a:r>
              <a:rPr sz="2200" b="1" i="1" spc="60" dirty="0">
                <a:latin typeface="Gill Sans MT"/>
                <a:cs typeface="Gill Sans MT"/>
              </a:rPr>
              <a:t> </a:t>
            </a:r>
            <a:r>
              <a:rPr sz="2200" b="1" i="1" spc="-20" dirty="0">
                <a:latin typeface="Gill Sans MT"/>
                <a:cs typeface="Gill Sans MT"/>
              </a:rPr>
              <a:t>Program</a:t>
            </a:r>
            <a:r>
              <a:rPr sz="2200" b="1" i="1" spc="75" dirty="0">
                <a:latin typeface="Gill Sans MT"/>
                <a:cs typeface="Gill Sans MT"/>
              </a:rPr>
              <a:t> </a:t>
            </a:r>
            <a:r>
              <a:rPr sz="2200" b="1" i="1" dirty="0">
                <a:latin typeface="Gill Sans MT"/>
                <a:cs typeface="Gill Sans MT"/>
              </a:rPr>
              <a:t>Maintenance,</a:t>
            </a:r>
            <a:r>
              <a:rPr sz="2200" b="1" i="1" spc="-13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all</a:t>
            </a:r>
            <a:r>
              <a:rPr sz="2000" spc="30" dirty="0">
                <a:latin typeface="Gill Sans MT"/>
                <a:cs typeface="Gill Sans MT"/>
              </a:rPr>
              <a:t> </a:t>
            </a:r>
            <a:r>
              <a:rPr sz="2000" spc="-15" dirty="0">
                <a:latin typeface="Gill Sans MT"/>
                <a:cs typeface="Gill Sans MT"/>
              </a:rPr>
              <a:t>above</a:t>
            </a:r>
            <a:r>
              <a:rPr sz="2000" spc="20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factors</a:t>
            </a:r>
            <a:r>
              <a:rPr sz="2000" spc="20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combined</a:t>
            </a:r>
            <a:r>
              <a:rPr sz="2000" spc="2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to</a:t>
            </a:r>
            <a:r>
              <a:rPr sz="2000" spc="10" dirty="0">
                <a:latin typeface="Gill Sans MT"/>
                <a:cs typeface="Gill Sans MT"/>
              </a:rPr>
              <a:t> </a:t>
            </a:r>
            <a:r>
              <a:rPr sz="2000" spc="-10" dirty="0">
                <a:latin typeface="Gill Sans MT"/>
                <a:cs typeface="Gill Sans MT"/>
              </a:rPr>
              <a:t>create</a:t>
            </a:r>
            <a:r>
              <a:rPr sz="2000" spc="2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a</a:t>
            </a:r>
            <a:endParaRPr sz="2000">
              <a:latin typeface="Gill Sans MT"/>
              <a:cs typeface="Gill Sans MT"/>
            </a:endParaRPr>
          </a:p>
          <a:p>
            <a:pPr marL="469900" algn="just">
              <a:spcBef>
                <a:spcPts val="10"/>
              </a:spcBef>
            </a:pPr>
            <a:r>
              <a:rPr sz="2000" spc="-15" dirty="0">
                <a:latin typeface="Gill Sans MT"/>
                <a:cs typeface="Gill Sans MT"/>
              </a:rPr>
              <a:t>heavy</a:t>
            </a:r>
            <a:r>
              <a:rPr sz="2000" spc="-30" dirty="0">
                <a:latin typeface="Gill Sans MT"/>
                <a:cs typeface="Gill Sans MT"/>
              </a:rPr>
              <a:t> </a:t>
            </a:r>
            <a:r>
              <a:rPr sz="2000" spc="-10" dirty="0">
                <a:latin typeface="Gill Sans MT"/>
                <a:cs typeface="Gill Sans MT"/>
              </a:rPr>
              <a:t>program</a:t>
            </a:r>
            <a:r>
              <a:rPr sz="2000" spc="-4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maintenance</a:t>
            </a:r>
            <a:r>
              <a:rPr sz="2000" spc="-3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load</a:t>
            </a:r>
            <a:r>
              <a:rPr sz="2000" spc="-3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in</a:t>
            </a:r>
            <a:r>
              <a:rPr sz="2000" spc="-3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organization.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874378" y="6054345"/>
            <a:ext cx="14160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16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72056" y="600456"/>
            <a:ext cx="8239125" cy="1108637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83515" rIns="0" bIns="0" rtlCol="0">
            <a:spAutoFit/>
          </a:bodyPr>
          <a:lstStyle/>
          <a:p>
            <a:pPr marL="224154" marR="606425">
              <a:lnSpc>
                <a:spcPct val="100299"/>
              </a:lnSpc>
              <a:spcBef>
                <a:spcPts val="1445"/>
              </a:spcBef>
            </a:pPr>
            <a:r>
              <a:rPr sz="3000" spc="-55" dirty="0">
                <a:latin typeface="Constantia"/>
                <a:cs typeface="Constantia"/>
              </a:rPr>
              <a:t>DISADVANTAGES</a:t>
            </a:r>
            <a:r>
              <a:rPr sz="3000" spc="-5" dirty="0">
                <a:latin typeface="Constantia"/>
                <a:cs typeface="Constantia"/>
              </a:rPr>
              <a:t> </a:t>
            </a:r>
            <a:r>
              <a:rPr sz="3000" dirty="0">
                <a:latin typeface="Constantia"/>
                <a:cs typeface="Constantia"/>
              </a:rPr>
              <a:t>OF</a:t>
            </a:r>
            <a:r>
              <a:rPr sz="3000" spc="-80" dirty="0">
                <a:latin typeface="Constantia"/>
                <a:cs typeface="Constantia"/>
              </a:rPr>
              <a:t> </a:t>
            </a:r>
            <a:r>
              <a:rPr sz="3000" spc="-5" dirty="0">
                <a:latin typeface="Constantia"/>
                <a:cs typeface="Constantia"/>
              </a:rPr>
              <a:t>TRADITIONAL</a:t>
            </a:r>
            <a:r>
              <a:rPr sz="3000" spc="-65" dirty="0">
                <a:latin typeface="Constantia"/>
                <a:cs typeface="Constantia"/>
              </a:rPr>
              <a:t> </a:t>
            </a:r>
            <a:r>
              <a:rPr sz="3000" dirty="0">
                <a:latin typeface="Constantia"/>
                <a:cs typeface="Constantia"/>
              </a:rPr>
              <a:t>FILE </a:t>
            </a:r>
            <a:r>
              <a:rPr sz="3000" spc="-705" dirty="0">
                <a:latin typeface="Constantia"/>
                <a:cs typeface="Constantia"/>
              </a:rPr>
              <a:t> </a:t>
            </a:r>
            <a:r>
              <a:rPr sz="3000" spc="-15" dirty="0">
                <a:latin typeface="Constantia"/>
                <a:cs typeface="Constantia"/>
              </a:rPr>
              <a:t>PROCESSING SYSTEM</a:t>
            </a:r>
            <a:endParaRPr sz="30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90582" y="6422543"/>
            <a:ext cx="14160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17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72056" y="600455"/>
            <a:ext cx="8239125" cy="794448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329565" rIns="0" bIns="0" rtlCol="0">
            <a:spAutoFit/>
          </a:bodyPr>
          <a:lstStyle/>
          <a:p>
            <a:pPr marL="252729">
              <a:spcBef>
                <a:spcPts val="2595"/>
              </a:spcBef>
            </a:pPr>
            <a:r>
              <a:rPr sz="3000" dirty="0">
                <a:latin typeface="Gill Sans MT"/>
                <a:cs typeface="Gill Sans MT"/>
              </a:rPr>
              <a:t>P</a:t>
            </a:r>
            <a:r>
              <a:rPr sz="3000" spc="-55" dirty="0">
                <a:latin typeface="Gill Sans MT"/>
                <a:cs typeface="Gill Sans MT"/>
              </a:rPr>
              <a:t>R</a:t>
            </a:r>
            <a:r>
              <a:rPr sz="3000" dirty="0">
                <a:latin typeface="Gill Sans MT"/>
                <a:cs typeface="Gill Sans MT"/>
              </a:rPr>
              <a:t>O</a:t>
            </a:r>
            <a:r>
              <a:rPr sz="3000" spc="5" dirty="0">
                <a:latin typeface="Gill Sans MT"/>
                <a:cs typeface="Gill Sans MT"/>
              </a:rPr>
              <a:t>B</a:t>
            </a:r>
            <a:r>
              <a:rPr sz="3000" spc="-5" dirty="0">
                <a:latin typeface="Gill Sans MT"/>
                <a:cs typeface="Gill Sans MT"/>
              </a:rPr>
              <a:t>LEM</a:t>
            </a:r>
            <a:r>
              <a:rPr sz="3000" dirty="0">
                <a:latin typeface="Gill Sans MT"/>
                <a:cs typeface="Gill Sans MT"/>
              </a:rPr>
              <a:t>S</a:t>
            </a:r>
            <a:r>
              <a:rPr sz="3000" spc="-385" dirty="0">
                <a:latin typeface="Gill Sans MT"/>
                <a:cs typeface="Gill Sans MT"/>
              </a:rPr>
              <a:t> </a:t>
            </a:r>
            <a:r>
              <a:rPr sz="3000" dirty="0">
                <a:latin typeface="Gill Sans MT"/>
                <a:cs typeface="Gill Sans MT"/>
              </a:rPr>
              <a:t>WITH</a:t>
            </a:r>
            <a:r>
              <a:rPr sz="3000" spc="15" dirty="0">
                <a:latin typeface="Gill Sans MT"/>
                <a:cs typeface="Gill Sans MT"/>
              </a:rPr>
              <a:t> </a:t>
            </a:r>
            <a:r>
              <a:rPr sz="3000" spc="-175" dirty="0">
                <a:latin typeface="Gill Sans MT"/>
                <a:cs typeface="Gill Sans MT"/>
              </a:rPr>
              <a:t>D</a:t>
            </a:r>
            <a:r>
              <a:rPr sz="3000" spc="-365" dirty="0">
                <a:latin typeface="Gill Sans MT"/>
                <a:cs typeface="Gill Sans MT"/>
              </a:rPr>
              <a:t>A</a:t>
            </a:r>
            <a:r>
              <a:rPr sz="3000" spc="-360" dirty="0">
                <a:latin typeface="Gill Sans MT"/>
                <a:cs typeface="Gill Sans MT"/>
              </a:rPr>
              <a:t>T</a:t>
            </a:r>
            <a:r>
              <a:rPr sz="3000" dirty="0">
                <a:latin typeface="Gill Sans MT"/>
                <a:cs typeface="Gill Sans MT"/>
              </a:rPr>
              <a:t>A</a:t>
            </a:r>
            <a:r>
              <a:rPr sz="3000" spc="-10" dirty="0">
                <a:latin typeface="Gill Sans MT"/>
                <a:cs typeface="Gill Sans MT"/>
              </a:rPr>
              <a:t> </a:t>
            </a:r>
            <a:r>
              <a:rPr sz="3000" dirty="0">
                <a:latin typeface="Gill Sans MT"/>
                <a:cs typeface="Gill Sans MT"/>
              </a:rPr>
              <a:t>DEPENDENCY</a:t>
            </a:r>
            <a:endParaRPr sz="30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9941" y="2264156"/>
            <a:ext cx="7846059" cy="329374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546100" marR="8890" indent="-534035">
              <a:lnSpc>
                <a:spcPts val="2590"/>
              </a:lnSpc>
              <a:spcBef>
                <a:spcPts val="42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546100" algn="l"/>
                <a:tab pos="546735" algn="l"/>
                <a:tab pos="1252855" algn="l"/>
                <a:tab pos="2708910" algn="l"/>
                <a:tab pos="4397375" algn="l"/>
                <a:tab pos="5139690" algn="l"/>
                <a:tab pos="6313170" algn="l"/>
                <a:tab pos="7292340" algn="l"/>
              </a:tabLst>
            </a:pPr>
            <a:r>
              <a:rPr sz="2400" dirty="0">
                <a:latin typeface="Gill Sans MT"/>
                <a:cs typeface="Gill Sans MT"/>
              </a:rPr>
              <a:t>Each	</a:t>
            </a:r>
            <a:r>
              <a:rPr sz="2400" spc="-30" dirty="0">
                <a:latin typeface="Gill Sans MT"/>
                <a:cs typeface="Gill Sans MT"/>
              </a:rPr>
              <a:t>a</a:t>
            </a:r>
            <a:r>
              <a:rPr sz="2400" dirty="0">
                <a:latin typeface="Gill Sans MT"/>
                <a:cs typeface="Gill Sans MT"/>
              </a:rPr>
              <a:t>ppli</a:t>
            </a:r>
            <a:r>
              <a:rPr sz="2400" spc="5" dirty="0">
                <a:latin typeface="Gill Sans MT"/>
                <a:cs typeface="Gill Sans MT"/>
              </a:rPr>
              <a:t>c</a:t>
            </a:r>
            <a:r>
              <a:rPr sz="2400" spc="-20" dirty="0">
                <a:latin typeface="Gill Sans MT"/>
                <a:cs typeface="Gill Sans MT"/>
              </a:rPr>
              <a:t>a</a:t>
            </a:r>
            <a:r>
              <a:rPr sz="2400" dirty="0">
                <a:latin typeface="Gill Sans MT"/>
                <a:cs typeface="Gill Sans MT"/>
              </a:rPr>
              <a:t>tion	p</a:t>
            </a:r>
            <a:r>
              <a:rPr sz="2400" spc="-65" dirty="0">
                <a:latin typeface="Gill Sans MT"/>
                <a:cs typeface="Gill Sans MT"/>
              </a:rPr>
              <a:t>r</a:t>
            </a:r>
            <a:r>
              <a:rPr sz="2400" dirty="0">
                <a:latin typeface="Gill Sans MT"/>
                <a:cs typeface="Gill Sans MT"/>
              </a:rPr>
              <a:t>o</a:t>
            </a:r>
            <a:r>
              <a:rPr sz="2400" spc="-10" dirty="0">
                <a:latin typeface="Gill Sans MT"/>
                <a:cs typeface="Gill Sans MT"/>
              </a:rPr>
              <a:t>g</a:t>
            </a:r>
            <a:r>
              <a:rPr sz="2400" dirty="0">
                <a:latin typeface="Gill Sans MT"/>
                <a:cs typeface="Gill Sans MT"/>
              </a:rPr>
              <a:t>rammer	</a:t>
            </a:r>
            <a:r>
              <a:rPr sz="2400" spc="-25" dirty="0">
                <a:latin typeface="Gill Sans MT"/>
                <a:cs typeface="Gill Sans MT"/>
              </a:rPr>
              <a:t>m</a:t>
            </a:r>
            <a:r>
              <a:rPr sz="2400" dirty="0">
                <a:latin typeface="Gill Sans MT"/>
                <a:cs typeface="Gill Sans MT"/>
              </a:rPr>
              <a:t>ust	m</a:t>
            </a:r>
            <a:r>
              <a:rPr sz="2400" spc="-10" dirty="0">
                <a:latin typeface="Gill Sans MT"/>
                <a:cs typeface="Gill Sans MT"/>
              </a:rPr>
              <a:t>a</a:t>
            </a:r>
            <a:r>
              <a:rPr sz="2400" spc="-5" dirty="0">
                <a:latin typeface="Gill Sans MT"/>
                <a:cs typeface="Gill Sans MT"/>
              </a:rPr>
              <a:t>intai</a:t>
            </a:r>
            <a:r>
              <a:rPr sz="2400" dirty="0">
                <a:latin typeface="Gill Sans MT"/>
                <a:cs typeface="Gill Sans MT"/>
              </a:rPr>
              <a:t>n	h</a:t>
            </a:r>
            <a:r>
              <a:rPr sz="2400" spc="-10" dirty="0">
                <a:latin typeface="Gill Sans MT"/>
                <a:cs typeface="Gill Sans MT"/>
              </a:rPr>
              <a:t>i</a:t>
            </a:r>
            <a:r>
              <a:rPr sz="2400" dirty="0">
                <a:latin typeface="Gill Sans MT"/>
                <a:cs typeface="Gill Sans MT"/>
              </a:rPr>
              <a:t>s/her	</a:t>
            </a:r>
            <a:r>
              <a:rPr sz="2400" spc="-30" dirty="0">
                <a:latin typeface="Gill Sans MT"/>
                <a:cs typeface="Gill Sans MT"/>
              </a:rPr>
              <a:t>o</a:t>
            </a:r>
            <a:r>
              <a:rPr sz="2400" spc="-5" dirty="0">
                <a:latin typeface="Gill Sans MT"/>
                <a:cs typeface="Gill Sans MT"/>
              </a:rPr>
              <a:t>wn  </a:t>
            </a:r>
            <a:r>
              <a:rPr sz="2400" dirty="0">
                <a:latin typeface="Gill Sans MT"/>
                <a:cs typeface="Gill Sans MT"/>
              </a:rPr>
              <a:t>data</a:t>
            </a:r>
            <a:endParaRPr sz="2400">
              <a:latin typeface="Gill Sans MT"/>
              <a:cs typeface="Gill Sans MT"/>
            </a:endParaRPr>
          </a:p>
          <a:p>
            <a:pPr marL="546100" marR="6350" indent="-534035">
              <a:lnSpc>
                <a:spcPts val="2590"/>
              </a:lnSpc>
              <a:spcBef>
                <a:spcPts val="118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546100" algn="l"/>
                <a:tab pos="546735" algn="l"/>
                <a:tab pos="1256030" algn="l"/>
                <a:tab pos="2715260" algn="l"/>
                <a:tab pos="3903979" algn="l"/>
                <a:tab pos="4761865" algn="l"/>
                <a:tab pos="5172075" algn="l"/>
                <a:tab pos="6183630" algn="l"/>
                <a:tab pos="6929755" algn="l"/>
                <a:tab pos="7430770" algn="l"/>
              </a:tabLst>
            </a:pPr>
            <a:r>
              <a:rPr sz="2400" dirty="0">
                <a:latin typeface="Gill Sans MT"/>
                <a:cs typeface="Gill Sans MT"/>
              </a:rPr>
              <a:t>Each	</a:t>
            </a:r>
            <a:r>
              <a:rPr sz="2400" spc="-30" dirty="0">
                <a:latin typeface="Gill Sans MT"/>
                <a:cs typeface="Gill Sans MT"/>
              </a:rPr>
              <a:t>a</a:t>
            </a:r>
            <a:r>
              <a:rPr sz="2400" dirty="0">
                <a:latin typeface="Gill Sans MT"/>
                <a:cs typeface="Gill Sans MT"/>
              </a:rPr>
              <a:t>pplic</a:t>
            </a:r>
            <a:r>
              <a:rPr sz="2400" spc="-10" dirty="0">
                <a:latin typeface="Gill Sans MT"/>
                <a:cs typeface="Gill Sans MT"/>
              </a:rPr>
              <a:t>a</a:t>
            </a:r>
            <a:r>
              <a:rPr sz="2400" dirty="0">
                <a:latin typeface="Gill Sans MT"/>
                <a:cs typeface="Gill Sans MT"/>
              </a:rPr>
              <a:t>tion	p</a:t>
            </a:r>
            <a:r>
              <a:rPr sz="2400" spc="-65" dirty="0">
                <a:latin typeface="Gill Sans MT"/>
                <a:cs typeface="Gill Sans MT"/>
              </a:rPr>
              <a:t>r</a:t>
            </a:r>
            <a:r>
              <a:rPr sz="2400" dirty="0">
                <a:latin typeface="Gill Sans MT"/>
                <a:cs typeface="Gill Sans MT"/>
              </a:rPr>
              <a:t>o</a:t>
            </a:r>
            <a:r>
              <a:rPr sz="2400" spc="-10" dirty="0">
                <a:latin typeface="Gill Sans MT"/>
                <a:cs typeface="Gill Sans MT"/>
              </a:rPr>
              <a:t>g</a:t>
            </a:r>
            <a:r>
              <a:rPr sz="2400" dirty="0">
                <a:latin typeface="Gill Sans MT"/>
                <a:cs typeface="Gill Sans MT"/>
              </a:rPr>
              <a:t>r</a:t>
            </a:r>
            <a:r>
              <a:rPr sz="2400" spc="-10" dirty="0">
                <a:latin typeface="Gill Sans MT"/>
                <a:cs typeface="Gill Sans MT"/>
              </a:rPr>
              <a:t>a</a:t>
            </a:r>
            <a:r>
              <a:rPr sz="2400" dirty="0">
                <a:latin typeface="Gill Sans MT"/>
                <a:cs typeface="Gill Sans MT"/>
              </a:rPr>
              <a:t>m	needs	to	</a:t>
            </a:r>
            <a:r>
              <a:rPr sz="2400" spc="-5" dirty="0">
                <a:latin typeface="Gill Sans MT"/>
                <a:cs typeface="Gill Sans MT"/>
              </a:rPr>
              <a:t>i</a:t>
            </a:r>
            <a:r>
              <a:rPr sz="2400" spc="-15" dirty="0">
                <a:latin typeface="Gill Sans MT"/>
                <a:cs typeface="Gill Sans MT"/>
              </a:rPr>
              <a:t>n</a:t>
            </a:r>
            <a:r>
              <a:rPr sz="2400" dirty="0">
                <a:latin typeface="Gill Sans MT"/>
                <a:cs typeface="Gill Sans MT"/>
              </a:rPr>
              <a:t>clude	code	</a:t>
            </a:r>
            <a:r>
              <a:rPr sz="2400" spc="-25" dirty="0">
                <a:latin typeface="Gill Sans MT"/>
                <a:cs typeface="Gill Sans MT"/>
              </a:rPr>
              <a:t>f</a:t>
            </a:r>
            <a:r>
              <a:rPr sz="2400" dirty="0">
                <a:latin typeface="Gill Sans MT"/>
                <a:cs typeface="Gill Sans MT"/>
              </a:rPr>
              <a:t>or	the  metadata</a:t>
            </a:r>
            <a:r>
              <a:rPr sz="2400" spc="-5" dirty="0">
                <a:latin typeface="Gill Sans MT"/>
                <a:cs typeface="Gill Sans MT"/>
              </a:rPr>
              <a:t> of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each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file</a:t>
            </a:r>
            <a:endParaRPr sz="2400">
              <a:latin typeface="Gill Sans MT"/>
              <a:cs typeface="Gill Sans MT"/>
            </a:endParaRPr>
          </a:p>
          <a:p>
            <a:pPr marL="546100" indent="-534035">
              <a:lnSpc>
                <a:spcPts val="2735"/>
              </a:lnSpc>
              <a:spcBef>
                <a:spcPts val="85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546100" algn="l"/>
                <a:tab pos="546735" algn="l"/>
                <a:tab pos="1270000" algn="l"/>
                <a:tab pos="2742565" algn="l"/>
                <a:tab pos="3946525" algn="l"/>
                <a:tab pos="4704080" algn="l"/>
                <a:tab pos="5403850" algn="l"/>
                <a:tab pos="5843905" algn="l"/>
                <a:tab pos="6532880" algn="l"/>
              </a:tabLst>
            </a:pPr>
            <a:r>
              <a:rPr sz="2400" dirty="0">
                <a:latin typeface="Gill Sans MT"/>
                <a:cs typeface="Gill Sans MT"/>
              </a:rPr>
              <a:t>Each	</a:t>
            </a:r>
            <a:r>
              <a:rPr sz="2400" spc="-30" dirty="0">
                <a:latin typeface="Gill Sans MT"/>
                <a:cs typeface="Gill Sans MT"/>
              </a:rPr>
              <a:t>a</a:t>
            </a:r>
            <a:r>
              <a:rPr sz="2400" dirty="0">
                <a:latin typeface="Gill Sans MT"/>
                <a:cs typeface="Gill Sans MT"/>
              </a:rPr>
              <a:t>pplic</a:t>
            </a:r>
            <a:r>
              <a:rPr sz="2400" spc="-15" dirty="0">
                <a:latin typeface="Gill Sans MT"/>
                <a:cs typeface="Gill Sans MT"/>
              </a:rPr>
              <a:t>a</a:t>
            </a:r>
            <a:r>
              <a:rPr sz="2400" dirty="0">
                <a:latin typeface="Gill Sans MT"/>
                <a:cs typeface="Gill Sans MT"/>
              </a:rPr>
              <a:t>tion	p</a:t>
            </a:r>
            <a:r>
              <a:rPr sz="2400" spc="-65" dirty="0">
                <a:latin typeface="Gill Sans MT"/>
                <a:cs typeface="Gill Sans MT"/>
              </a:rPr>
              <a:t>r</a:t>
            </a:r>
            <a:r>
              <a:rPr sz="2400" dirty="0">
                <a:latin typeface="Gill Sans MT"/>
                <a:cs typeface="Gill Sans MT"/>
              </a:rPr>
              <a:t>o</a:t>
            </a:r>
            <a:r>
              <a:rPr sz="2400" spc="-15" dirty="0">
                <a:latin typeface="Gill Sans MT"/>
                <a:cs typeface="Gill Sans MT"/>
              </a:rPr>
              <a:t>g</a:t>
            </a:r>
            <a:r>
              <a:rPr sz="2400" dirty="0">
                <a:latin typeface="Gill Sans MT"/>
                <a:cs typeface="Gill Sans MT"/>
              </a:rPr>
              <a:t>ram	</a:t>
            </a:r>
            <a:r>
              <a:rPr sz="2400" spc="-30" dirty="0">
                <a:latin typeface="Gill Sans MT"/>
                <a:cs typeface="Gill Sans MT"/>
              </a:rPr>
              <a:t>m</a:t>
            </a:r>
            <a:r>
              <a:rPr sz="2400" dirty="0">
                <a:latin typeface="Gill Sans MT"/>
                <a:cs typeface="Gill Sans MT"/>
              </a:rPr>
              <a:t>ust	h</a:t>
            </a:r>
            <a:r>
              <a:rPr sz="2400" spc="-95" dirty="0">
                <a:latin typeface="Gill Sans MT"/>
                <a:cs typeface="Gill Sans MT"/>
              </a:rPr>
              <a:t>a</a:t>
            </a:r>
            <a:r>
              <a:rPr sz="2400" spc="-60" dirty="0">
                <a:latin typeface="Gill Sans MT"/>
                <a:cs typeface="Gill Sans MT"/>
              </a:rPr>
              <a:t>v</a:t>
            </a:r>
            <a:r>
              <a:rPr sz="2400" dirty="0">
                <a:latin typeface="Gill Sans MT"/>
                <a:cs typeface="Gill Sans MT"/>
              </a:rPr>
              <a:t>e	</a:t>
            </a:r>
            <a:r>
              <a:rPr sz="2400" spc="-15" dirty="0">
                <a:latin typeface="Gill Sans MT"/>
                <a:cs typeface="Gill Sans MT"/>
              </a:rPr>
              <a:t>i</a:t>
            </a:r>
            <a:r>
              <a:rPr sz="2400" dirty="0">
                <a:latin typeface="Gill Sans MT"/>
                <a:cs typeface="Gill Sans MT"/>
              </a:rPr>
              <a:t>ts	</a:t>
            </a:r>
            <a:r>
              <a:rPr sz="2400" spc="-35" dirty="0">
                <a:latin typeface="Gill Sans MT"/>
                <a:cs typeface="Gill Sans MT"/>
              </a:rPr>
              <a:t>o</a:t>
            </a:r>
            <a:r>
              <a:rPr sz="2400" spc="-5" dirty="0">
                <a:latin typeface="Gill Sans MT"/>
                <a:cs typeface="Gill Sans MT"/>
              </a:rPr>
              <a:t>w</a:t>
            </a:r>
            <a:r>
              <a:rPr sz="2400" dirty="0">
                <a:latin typeface="Gill Sans MT"/>
                <a:cs typeface="Gill Sans MT"/>
              </a:rPr>
              <a:t>n	p</a:t>
            </a:r>
            <a:r>
              <a:rPr sz="2400" spc="-65" dirty="0">
                <a:latin typeface="Gill Sans MT"/>
                <a:cs typeface="Gill Sans MT"/>
              </a:rPr>
              <a:t>r</a:t>
            </a:r>
            <a:r>
              <a:rPr sz="2400" dirty="0">
                <a:latin typeface="Gill Sans MT"/>
                <a:cs typeface="Gill Sans MT"/>
              </a:rPr>
              <a:t>oce</a:t>
            </a:r>
            <a:r>
              <a:rPr sz="2400" spc="5" dirty="0">
                <a:latin typeface="Gill Sans MT"/>
                <a:cs typeface="Gill Sans MT"/>
              </a:rPr>
              <a:t>s</a:t>
            </a:r>
            <a:r>
              <a:rPr sz="2400" dirty="0">
                <a:latin typeface="Gill Sans MT"/>
                <a:cs typeface="Gill Sans MT"/>
              </a:rPr>
              <a:t>sing</a:t>
            </a:r>
            <a:endParaRPr sz="2400">
              <a:latin typeface="Gill Sans MT"/>
              <a:cs typeface="Gill Sans MT"/>
            </a:endParaRPr>
          </a:p>
          <a:p>
            <a:pPr marL="546100">
              <a:lnSpc>
                <a:spcPts val="2735"/>
              </a:lnSpc>
            </a:pPr>
            <a:r>
              <a:rPr sz="2400" spc="-65" dirty="0">
                <a:latin typeface="Gill Sans MT"/>
                <a:cs typeface="Gill Sans MT"/>
              </a:rPr>
              <a:t>r</a:t>
            </a:r>
            <a:r>
              <a:rPr sz="2400" dirty="0">
                <a:latin typeface="Gill Sans MT"/>
                <a:cs typeface="Gill Sans MT"/>
              </a:rPr>
              <a:t>outines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spc="-25" dirty="0">
                <a:latin typeface="Gill Sans MT"/>
                <a:cs typeface="Gill Sans MT"/>
              </a:rPr>
              <a:t>f</a:t>
            </a:r>
            <a:r>
              <a:rPr sz="2400" dirty="0">
                <a:latin typeface="Gill Sans MT"/>
                <a:cs typeface="Gill Sans MT"/>
              </a:rPr>
              <a:t>or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spc="-55" dirty="0">
                <a:latin typeface="Gill Sans MT"/>
                <a:cs typeface="Gill Sans MT"/>
              </a:rPr>
              <a:t>r</a:t>
            </a:r>
            <a:r>
              <a:rPr sz="2400" dirty="0">
                <a:latin typeface="Gill Sans MT"/>
                <a:cs typeface="Gill Sans MT"/>
              </a:rPr>
              <a:t>eading,</a:t>
            </a:r>
            <a:r>
              <a:rPr sz="2400" spc="-23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inse</a:t>
            </a:r>
            <a:r>
              <a:rPr sz="2400" spc="45" dirty="0">
                <a:latin typeface="Gill Sans MT"/>
                <a:cs typeface="Gill Sans MT"/>
              </a:rPr>
              <a:t>r</a:t>
            </a:r>
            <a:r>
              <a:rPr sz="2400" dirty="0">
                <a:latin typeface="Gill Sans MT"/>
                <a:cs typeface="Gill Sans MT"/>
              </a:rPr>
              <a:t>ting,</a:t>
            </a:r>
            <a:r>
              <a:rPr sz="2400" spc="-254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updating,</a:t>
            </a:r>
            <a:r>
              <a:rPr sz="2400" spc="-23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and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del</a:t>
            </a:r>
            <a:r>
              <a:rPr sz="2400" spc="5" dirty="0">
                <a:latin typeface="Gill Sans MT"/>
                <a:cs typeface="Gill Sans MT"/>
              </a:rPr>
              <a:t>e</a:t>
            </a:r>
            <a:r>
              <a:rPr sz="2400" dirty="0">
                <a:latin typeface="Gill Sans MT"/>
                <a:cs typeface="Gill Sans MT"/>
              </a:rPr>
              <a:t>ting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data</a:t>
            </a:r>
            <a:endParaRPr sz="2400">
              <a:latin typeface="Gill Sans MT"/>
              <a:cs typeface="Gill Sans MT"/>
            </a:endParaRPr>
          </a:p>
          <a:p>
            <a:pPr marL="546100" indent="-534035">
              <a:spcBef>
                <a:spcPts val="89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546100" algn="l"/>
                <a:tab pos="546735" algn="l"/>
              </a:tabLst>
            </a:pPr>
            <a:r>
              <a:rPr sz="2400" spc="-5" dirty="0">
                <a:latin typeface="Gill Sans MT"/>
                <a:cs typeface="Gill Sans MT"/>
              </a:rPr>
              <a:t>Lack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of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coordination</a:t>
            </a:r>
            <a:r>
              <a:rPr sz="2400" dirty="0">
                <a:latin typeface="Gill Sans MT"/>
                <a:cs typeface="Gill Sans MT"/>
              </a:rPr>
              <a:t> and</a:t>
            </a:r>
            <a:r>
              <a:rPr sz="2400" spc="-5" dirty="0">
                <a:latin typeface="Gill Sans MT"/>
                <a:cs typeface="Gill Sans MT"/>
              </a:rPr>
              <a:t> central</a:t>
            </a:r>
            <a:r>
              <a:rPr sz="2400" spc="-10" dirty="0">
                <a:latin typeface="Gill Sans MT"/>
                <a:cs typeface="Gill Sans MT"/>
              </a:rPr>
              <a:t> control</a:t>
            </a:r>
            <a:endParaRPr sz="2400">
              <a:latin typeface="Gill Sans MT"/>
              <a:cs typeface="Gill Sans MT"/>
            </a:endParaRPr>
          </a:p>
          <a:p>
            <a:pPr marL="546100" indent="-534035">
              <a:spcBef>
                <a:spcPts val="88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546100" algn="l"/>
                <a:tab pos="546735" algn="l"/>
              </a:tabLst>
            </a:pPr>
            <a:r>
              <a:rPr sz="2400" spc="-5" dirty="0">
                <a:latin typeface="Gill Sans MT"/>
                <a:cs typeface="Gill Sans MT"/>
              </a:rPr>
              <a:t>Non-standard</a:t>
            </a:r>
            <a:r>
              <a:rPr sz="2400" spc="-3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file</a:t>
            </a:r>
            <a:r>
              <a:rPr sz="2400" spc="-30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formats</a:t>
            </a:r>
            <a:endParaRPr sz="24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96554" y="6054345"/>
            <a:ext cx="14160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18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72056" y="600456"/>
            <a:ext cx="8239125" cy="1074653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spcBef>
                <a:spcPts val="40"/>
              </a:spcBef>
            </a:pPr>
            <a:endParaRPr sz="3950">
              <a:latin typeface="Times New Roman"/>
              <a:cs typeface="Times New Roman"/>
            </a:endParaRPr>
          </a:p>
          <a:p>
            <a:pPr marL="100330"/>
            <a:r>
              <a:rPr sz="3000" dirty="0">
                <a:latin typeface="Gill Sans MT"/>
                <a:cs typeface="Gill Sans MT"/>
              </a:rPr>
              <a:t>P</a:t>
            </a:r>
            <a:r>
              <a:rPr sz="3000" spc="-55" dirty="0">
                <a:latin typeface="Gill Sans MT"/>
                <a:cs typeface="Gill Sans MT"/>
              </a:rPr>
              <a:t>R</a:t>
            </a:r>
            <a:r>
              <a:rPr sz="3000" dirty="0">
                <a:latin typeface="Gill Sans MT"/>
                <a:cs typeface="Gill Sans MT"/>
              </a:rPr>
              <a:t>O</a:t>
            </a:r>
            <a:r>
              <a:rPr sz="3000" spc="5" dirty="0">
                <a:latin typeface="Gill Sans MT"/>
                <a:cs typeface="Gill Sans MT"/>
              </a:rPr>
              <a:t>B</a:t>
            </a:r>
            <a:r>
              <a:rPr sz="3000" spc="-5" dirty="0">
                <a:latin typeface="Gill Sans MT"/>
                <a:cs typeface="Gill Sans MT"/>
              </a:rPr>
              <a:t>LEM</a:t>
            </a:r>
            <a:r>
              <a:rPr sz="3000" dirty="0">
                <a:latin typeface="Gill Sans MT"/>
                <a:cs typeface="Gill Sans MT"/>
              </a:rPr>
              <a:t>S</a:t>
            </a:r>
            <a:r>
              <a:rPr sz="3000" spc="-390" dirty="0">
                <a:latin typeface="Gill Sans MT"/>
                <a:cs typeface="Gill Sans MT"/>
              </a:rPr>
              <a:t> </a:t>
            </a:r>
            <a:r>
              <a:rPr sz="3000" dirty="0">
                <a:latin typeface="Gill Sans MT"/>
                <a:cs typeface="Gill Sans MT"/>
              </a:rPr>
              <a:t>WITH</a:t>
            </a:r>
            <a:r>
              <a:rPr sz="3000" spc="15" dirty="0">
                <a:latin typeface="Gill Sans MT"/>
                <a:cs typeface="Gill Sans MT"/>
              </a:rPr>
              <a:t> </a:t>
            </a:r>
            <a:r>
              <a:rPr sz="3000" spc="-175" dirty="0">
                <a:latin typeface="Gill Sans MT"/>
                <a:cs typeface="Gill Sans MT"/>
              </a:rPr>
              <a:t>D</a:t>
            </a:r>
            <a:r>
              <a:rPr sz="3000" spc="-365" dirty="0">
                <a:latin typeface="Gill Sans MT"/>
                <a:cs typeface="Gill Sans MT"/>
              </a:rPr>
              <a:t>A</a:t>
            </a:r>
            <a:r>
              <a:rPr sz="3000" spc="-360" dirty="0">
                <a:latin typeface="Gill Sans MT"/>
                <a:cs typeface="Gill Sans MT"/>
              </a:rPr>
              <a:t>T</a:t>
            </a:r>
            <a:r>
              <a:rPr sz="3000" dirty="0">
                <a:latin typeface="Gill Sans MT"/>
                <a:cs typeface="Gill Sans MT"/>
              </a:rPr>
              <a:t>A</a:t>
            </a:r>
            <a:r>
              <a:rPr sz="3000" spc="-10" dirty="0">
                <a:latin typeface="Gill Sans MT"/>
                <a:cs typeface="Gill Sans MT"/>
              </a:rPr>
              <a:t> </a:t>
            </a:r>
            <a:r>
              <a:rPr sz="3000" dirty="0">
                <a:latin typeface="Gill Sans MT"/>
                <a:cs typeface="Gill Sans MT"/>
              </a:rPr>
              <a:t>REDUN</a:t>
            </a:r>
            <a:r>
              <a:rPr sz="3000" spc="-180" dirty="0">
                <a:latin typeface="Gill Sans MT"/>
                <a:cs typeface="Gill Sans MT"/>
              </a:rPr>
              <a:t>D</a:t>
            </a:r>
            <a:r>
              <a:rPr sz="3000" dirty="0">
                <a:latin typeface="Gill Sans MT"/>
                <a:cs typeface="Gill Sans MT"/>
              </a:rPr>
              <a:t>ANCY</a:t>
            </a:r>
            <a:endParaRPr sz="3000">
              <a:latin typeface="Gill Sans MT"/>
              <a:cs typeface="Gill Sans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17192" y="2682240"/>
            <a:ext cx="5813425" cy="2376805"/>
            <a:chOff x="393191" y="2682239"/>
            <a:chExt cx="5813425" cy="23768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217" y="2920383"/>
              <a:ext cx="132378" cy="12714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939" y="2682239"/>
              <a:ext cx="1197102" cy="67741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2288" y="2682239"/>
              <a:ext cx="646938" cy="67741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69947" y="2682239"/>
              <a:ext cx="1082802" cy="67741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33471" y="2682239"/>
              <a:ext cx="672846" cy="67741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88563" y="2682239"/>
              <a:ext cx="948689" cy="67741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16452" y="2682239"/>
              <a:ext cx="1509522" cy="67741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06695" y="2682239"/>
              <a:ext cx="919734" cy="67741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3191" y="3272027"/>
              <a:ext cx="488429" cy="5539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2939" y="3197351"/>
              <a:ext cx="1282446" cy="67741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26108" y="3197351"/>
              <a:ext cx="1066038" cy="67741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74391" y="3197351"/>
              <a:ext cx="1949958" cy="67741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05071" y="3197351"/>
              <a:ext cx="1666494" cy="67741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3191" y="3787139"/>
              <a:ext cx="488429" cy="55397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62939" y="3712463"/>
              <a:ext cx="886206" cy="67741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29867" y="3712463"/>
              <a:ext cx="1247394" cy="67741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157984" y="3712463"/>
              <a:ext cx="1436370" cy="67741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191256" y="3712463"/>
              <a:ext cx="439686" cy="67741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68095" y="4283976"/>
              <a:ext cx="329958" cy="37412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50036" y="4235195"/>
              <a:ext cx="733806" cy="45491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569719" y="4235195"/>
              <a:ext cx="1024890" cy="45491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380487" y="4235195"/>
              <a:ext cx="445769" cy="45491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612136" y="4235195"/>
              <a:ext cx="622554" cy="45491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022091" y="4235195"/>
              <a:ext cx="553973" cy="45491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364991" y="4235195"/>
              <a:ext cx="787146" cy="45491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938015" y="4235195"/>
              <a:ext cx="799338" cy="45491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523232" y="4235195"/>
              <a:ext cx="1683258" cy="45491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68095" y="4652784"/>
              <a:ext cx="329958" cy="37412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50036" y="4604004"/>
              <a:ext cx="1427226" cy="45491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266187" y="4604004"/>
              <a:ext cx="418338" cy="45491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468880" y="4604004"/>
              <a:ext cx="678942" cy="45491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935224" y="4604004"/>
              <a:ext cx="1015746" cy="454913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2059941" y="2608144"/>
            <a:ext cx="5539105" cy="2312670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317500" indent="-304800">
              <a:spcBef>
                <a:spcPts val="127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400" spc="-30" dirty="0">
                <a:latin typeface="Gill Sans MT"/>
                <a:cs typeface="Gill Sans MT"/>
              </a:rPr>
              <a:t>Waste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of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space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to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spc="-35" dirty="0">
                <a:latin typeface="Gill Sans MT"/>
                <a:cs typeface="Gill Sans MT"/>
              </a:rPr>
              <a:t>have</a:t>
            </a:r>
            <a:r>
              <a:rPr sz="2400" spc="-3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duplicate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data</a:t>
            </a:r>
            <a:endParaRPr sz="2400">
              <a:latin typeface="Gill Sans MT"/>
              <a:cs typeface="Gill Sans MT"/>
            </a:endParaRPr>
          </a:p>
          <a:p>
            <a:pPr marL="317500" indent="-304800">
              <a:spcBef>
                <a:spcPts val="117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400" dirty="0">
                <a:latin typeface="Gill Sans MT"/>
                <a:cs typeface="Gill Sans MT"/>
              </a:rPr>
              <a:t>Causes</a:t>
            </a:r>
            <a:r>
              <a:rPr sz="2400" spc="-25" dirty="0">
                <a:latin typeface="Gill Sans MT"/>
                <a:cs typeface="Gill Sans MT"/>
              </a:rPr>
              <a:t> </a:t>
            </a:r>
            <a:r>
              <a:rPr sz="2400" spc="-15" dirty="0">
                <a:latin typeface="Gill Sans MT"/>
                <a:cs typeface="Gill Sans MT"/>
              </a:rPr>
              <a:t>more</a:t>
            </a:r>
            <a:r>
              <a:rPr sz="2400" spc="-5" dirty="0">
                <a:latin typeface="Gill Sans MT"/>
                <a:cs typeface="Gill Sans MT"/>
              </a:rPr>
              <a:t> maintenance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headaches</a:t>
            </a:r>
            <a:endParaRPr sz="2400">
              <a:latin typeface="Gill Sans MT"/>
              <a:cs typeface="Gill Sans MT"/>
            </a:endParaRPr>
          </a:p>
          <a:p>
            <a:pPr marL="317500" indent="-304800">
              <a:spcBef>
                <a:spcPts val="118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400" dirty="0">
                <a:latin typeface="Gill Sans MT"/>
                <a:cs typeface="Gill Sans MT"/>
              </a:rPr>
              <a:t>The</a:t>
            </a:r>
            <a:r>
              <a:rPr sz="2400" spc="-30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biggest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problem:</a:t>
            </a:r>
            <a:endParaRPr sz="2400">
              <a:latin typeface="Gill Sans MT"/>
              <a:cs typeface="Gill Sans MT"/>
            </a:endParaRPr>
          </a:p>
          <a:p>
            <a:pPr marL="641985" lvl="1" indent="-305435">
              <a:spcBef>
                <a:spcPts val="1015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600" b="1" spc="-5" dirty="0">
                <a:latin typeface="Gill Sans MT"/>
                <a:cs typeface="Gill Sans MT"/>
              </a:rPr>
              <a:t>Data</a:t>
            </a:r>
            <a:r>
              <a:rPr sz="1600" b="1" spc="15" dirty="0">
                <a:latin typeface="Gill Sans MT"/>
                <a:cs typeface="Gill Sans MT"/>
              </a:rPr>
              <a:t> </a:t>
            </a:r>
            <a:r>
              <a:rPr sz="1600" b="1" spc="-10" dirty="0">
                <a:latin typeface="Gill Sans MT"/>
                <a:cs typeface="Gill Sans MT"/>
              </a:rPr>
              <a:t>changes</a:t>
            </a:r>
            <a:r>
              <a:rPr sz="1600" b="1" spc="20" dirty="0">
                <a:latin typeface="Gill Sans MT"/>
                <a:cs typeface="Gill Sans MT"/>
              </a:rPr>
              <a:t> </a:t>
            </a:r>
            <a:r>
              <a:rPr sz="1600" b="1" spc="-5" dirty="0">
                <a:latin typeface="Gill Sans MT"/>
                <a:cs typeface="Gill Sans MT"/>
              </a:rPr>
              <a:t>in</a:t>
            </a:r>
            <a:r>
              <a:rPr sz="1600" b="1" spc="20" dirty="0">
                <a:latin typeface="Gill Sans MT"/>
                <a:cs typeface="Gill Sans MT"/>
              </a:rPr>
              <a:t> </a:t>
            </a:r>
            <a:r>
              <a:rPr sz="1600" b="1" spc="-5" dirty="0">
                <a:latin typeface="Gill Sans MT"/>
                <a:cs typeface="Gill Sans MT"/>
              </a:rPr>
              <a:t>one</a:t>
            </a:r>
            <a:r>
              <a:rPr sz="1600" b="1" spc="20" dirty="0">
                <a:latin typeface="Gill Sans MT"/>
                <a:cs typeface="Gill Sans MT"/>
              </a:rPr>
              <a:t> </a:t>
            </a:r>
            <a:r>
              <a:rPr sz="1600" b="1" spc="-5" dirty="0">
                <a:latin typeface="Gill Sans MT"/>
                <a:cs typeface="Gill Sans MT"/>
              </a:rPr>
              <a:t>file</a:t>
            </a:r>
            <a:r>
              <a:rPr sz="1600" b="1" spc="30" dirty="0">
                <a:latin typeface="Gill Sans MT"/>
                <a:cs typeface="Gill Sans MT"/>
              </a:rPr>
              <a:t> </a:t>
            </a:r>
            <a:r>
              <a:rPr sz="1600" b="1" spc="-5" dirty="0">
                <a:latin typeface="Gill Sans MT"/>
                <a:cs typeface="Gill Sans MT"/>
              </a:rPr>
              <a:t>could</a:t>
            </a:r>
            <a:r>
              <a:rPr sz="1600" b="1" spc="25" dirty="0">
                <a:latin typeface="Gill Sans MT"/>
                <a:cs typeface="Gill Sans MT"/>
              </a:rPr>
              <a:t> </a:t>
            </a:r>
            <a:r>
              <a:rPr sz="1600" b="1" spc="-5" dirty="0">
                <a:latin typeface="Gill Sans MT"/>
                <a:cs typeface="Gill Sans MT"/>
              </a:rPr>
              <a:t>cause</a:t>
            </a:r>
            <a:r>
              <a:rPr sz="1600" b="1" spc="15" dirty="0">
                <a:latin typeface="Gill Sans MT"/>
                <a:cs typeface="Gill Sans MT"/>
              </a:rPr>
              <a:t> </a:t>
            </a:r>
            <a:r>
              <a:rPr sz="1600" b="1" spc="-5" dirty="0">
                <a:latin typeface="Gill Sans MT"/>
                <a:cs typeface="Gill Sans MT"/>
              </a:rPr>
              <a:t>inconsistencies</a:t>
            </a:r>
            <a:endParaRPr sz="1600">
              <a:latin typeface="Gill Sans MT"/>
              <a:cs typeface="Gill Sans MT"/>
            </a:endParaRPr>
          </a:p>
          <a:p>
            <a:pPr marL="641985" lvl="1" indent="-305435">
              <a:spcBef>
                <a:spcPts val="985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600" spc="-10" dirty="0">
                <a:latin typeface="Gill Sans MT"/>
                <a:cs typeface="Gill Sans MT"/>
              </a:rPr>
              <a:t>Compromises</a:t>
            </a:r>
            <a:r>
              <a:rPr sz="1600" spc="2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in </a:t>
            </a:r>
            <a:r>
              <a:rPr sz="1600" b="1" i="1" spc="-5" dirty="0">
                <a:latin typeface="Gill Sans MT"/>
                <a:cs typeface="Gill Sans MT"/>
              </a:rPr>
              <a:t>data</a:t>
            </a:r>
            <a:r>
              <a:rPr sz="1600" b="1" i="1" spc="10" dirty="0">
                <a:latin typeface="Gill Sans MT"/>
                <a:cs typeface="Gill Sans MT"/>
              </a:rPr>
              <a:t> </a:t>
            </a:r>
            <a:r>
              <a:rPr sz="1600" b="1" i="1" spc="-5" dirty="0">
                <a:latin typeface="Gill Sans MT"/>
                <a:cs typeface="Gill Sans MT"/>
              </a:rPr>
              <a:t>integrity</a:t>
            </a:r>
            <a:endParaRPr sz="16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96554" y="6054345"/>
            <a:ext cx="14160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19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72056" y="600455"/>
            <a:ext cx="8239125" cy="1149674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spcBef>
                <a:spcPts val="25"/>
              </a:spcBef>
            </a:pPr>
            <a:endParaRPr sz="4450">
              <a:latin typeface="Times New Roman"/>
              <a:cs typeface="Times New Roman"/>
            </a:endParaRPr>
          </a:p>
          <a:p>
            <a:pPr marL="303530"/>
            <a:r>
              <a:rPr sz="3000" dirty="0">
                <a:latin typeface="Gill Sans MT"/>
                <a:cs typeface="Gill Sans MT"/>
              </a:rPr>
              <a:t>SOL</a:t>
            </a:r>
            <a:r>
              <a:rPr sz="3000" spc="5" dirty="0">
                <a:latin typeface="Gill Sans MT"/>
                <a:cs typeface="Gill Sans MT"/>
              </a:rPr>
              <a:t>U</a:t>
            </a:r>
            <a:r>
              <a:rPr sz="3000" spc="-5" dirty="0">
                <a:latin typeface="Gill Sans MT"/>
                <a:cs typeface="Gill Sans MT"/>
              </a:rPr>
              <a:t>TION</a:t>
            </a:r>
            <a:r>
              <a:rPr sz="3000" spc="100" dirty="0">
                <a:latin typeface="Gill Sans MT"/>
                <a:cs typeface="Gill Sans MT"/>
              </a:rPr>
              <a:t>:</a:t>
            </a:r>
            <a:r>
              <a:rPr sz="3000" spc="-5" dirty="0">
                <a:latin typeface="Gill Sans MT"/>
                <a:cs typeface="Gill Sans MT"/>
              </a:rPr>
              <a:t>TH</a:t>
            </a:r>
            <a:r>
              <a:rPr sz="3000" dirty="0">
                <a:latin typeface="Gill Sans MT"/>
                <a:cs typeface="Gill Sans MT"/>
              </a:rPr>
              <a:t>E</a:t>
            </a:r>
            <a:r>
              <a:rPr sz="3000" spc="-5" dirty="0">
                <a:latin typeface="Gill Sans MT"/>
                <a:cs typeface="Gill Sans MT"/>
              </a:rPr>
              <a:t> </a:t>
            </a:r>
            <a:r>
              <a:rPr sz="3000" spc="-165" dirty="0">
                <a:latin typeface="Gill Sans MT"/>
                <a:cs typeface="Gill Sans MT"/>
              </a:rPr>
              <a:t>D</a:t>
            </a:r>
            <a:r>
              <a:rPr sz="3000" spc="-365" dirty="0">
                <a:latin typeface="Gill Sans MT"/>
                <a:cs typeface="Gill Sans MT"/>
              </a:rPr>
              <a:t>A</a:t>
            </a:r>
            <a:r>
              <a:rPr sz="3000" spc="-360" dirty="0">
                <a:latin typeface="Gill Sans MT"/>
                <a:cs typeface="Gill Sans MT"/>
              </a:rPr>
              <a:t>T</a:t>
            </a:r>
            <a:r>
              <a:rPr sz="3000" dirty="0">
                <a:latin typeface="Gill Sans MT"/>
                <a:cs typeface="Gill Sans MT"/>
              </a:rPr>
              <a:t>ABASE</a:t>
            </a:r>
            <a:r>
              <a:rPr sz="3000" spc="-315" dirty="0">
                <a:latin typeface="Gill Sans MT"/>
                <a:cs typeface="Gill Sans MT"/>
              </a:rPr>
              <a:t> </a:t>
            </a:r>
            <a:r>
              <a:rPr sz="3000" dirty="0">
                <a:latin typeface="Gill Sans MT"/>
                <a:cs typeface="Gill Sans MT"/>
              </a:rPr>
              <a:t>APP</a:t>
            </a:r>
            <a:r>
              <a:rPr sz="3000" spc="-55" dirty="0">
                <a:latin typeface="Gill Sans MT"/>
                <a:cs typeface="Gill Sans MT"/>
              </a:rPr>
              <a:t>R</a:t>
            </a:r>
            <a:r>
              <a:rPr sz="3000" spc="-120" dirty="0">
                <a:latin typeface="Gill Sans MT"/>
                <a:cs typeface="Gill Sans MT"/>
              </a:rPr>
              <a:t>O</a:t>
            </a:r>
            <a:r>
              <a:rPr sz="3000" spc="-125" dirty="0">
                <a:latin typeface="Gill Sans MT"/>
                <a:cs typeface="Gill Sans MT"/>
              </a:rPr>
              <a:t>A</a:t>
            </a:r>
            <a:r>
              <a:rPr sz="3000" dirty="0">
                <a:latin typeface="Gill Sans MT"/>
                <a:cs typeface="Gill Sans MT"/>
              </a:rPr>
              <a:t>CH</a:t>
            </a:r>
            <a:endParaRPr sz="3000">
              <a:latin typeface="Gill Sans MT"/>
              <a:cs typeface="Gill Sans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15669" y="2377439"/>
            <a:ext cx="5796915" cy="1708150"/>
            <a:chOff x="391668" y="2377439"/>
            <a:chExt cx="5796915" cy="17081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4258" y="2614509"/>
              <a:ext cx="127813" cy="1274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1415" y="2377439"/>
              <a:ext cx="4548378" cy="67741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1668" y="2965703"/>
              <a:ext cx="488429" cy="55549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1415" y="2892551"/>
              <a:ext cx="5154930" cy="67741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1668" y="3480815"/>
              <a:ext cx="488429" cy="55549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1415" y="3407663"/>
              <a:ext cx="5526786" cy="67741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059026" y="2302256"/>
            <a:ext cx="5455285" cy="157099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317500" indent="-304800">
              <a:spcBef>
                <a:spcPts val="127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400" spc="-5" dirty="0">
                <a:latin typeface="Gill Sans MT"/>
                <a:cs typeface="Gill Sans MT"/>
              </a:rPr>
              <a:t>Central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repository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of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spc="-15" dirty="0">
                <a:latin typeface="Gill Sans MT"/>
                <a:cs typeface="Gill Sans MT"/>
              </a:rPr>
              <a:t>shared</a:t>
            </a:r>
            <a:r>
              <a:rPr sz="2400" spc="-5" dirty="0">
                <a:latin typeface="Gill Sans MT"/>
                <a:cs typeface="Gill Sans MT"/>
              </a:rPr>
              <a:t> data</a:t>
            </a:r>
            <a:endParaRPr sz="2400">
              <a:latin typeface="Gill Sans MT"/>
              <a:cs typeface="Gill Sans MT"/>
            </a:endParaRPr>
          </a:p>
          <a:p>
            <a:pPr marL="317500" indent="-304800">
              <a:spcBef>
                <a:spcPts val="117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400" dirty="0">
                <a:latin typeface="Gill Sans MT"/>
                <a:cs typeface="Gill Sans MT"/>
              </a:rPr>
              <a:t>Data</a:t>
            </a:r>
            <a:r>
              <a:rPr sz="2400" spc="-5" dirty="0">
                <a:latin typeface="Gill Sans MT"/>
                <a:cs typeface="Gill Sans MT"/>
              </a:rPr>
              <a:t> is managed</a:t>
            </a:r>
            <a:r>
              <a:rPr sz="2400" dirty="0">
                <a:latin typeface="Gill Sans MT"/>
                <a:cs typeface="Gill Sans MT"/>
              </a:rPr>
              <a:t> </a:t>
            </a:r>
            <a:r>
              <a:rPr sz="2400" spc="-15" dirty="0">
                <a:latin typeface="Gill Sans MT"/>
                <a:cs typeface="Gill Sans MT"/>
              </a:rPr>
              <a:t>by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a </a:t>
            </a:r>
            <a:r>
              <a:rPr sz="2400" spc="-10" dirty="0">
                <a:latin typeface="Gill Sans MT"/>
                <a:cs typeface="Gill Sans MT"/>
              </a:rPr>
              <a:t>controlling </a:t>
            </a:r>
            <a:r>
              <a:rPr sz="2400" spc="-5" dirty="0">
                <a:latin typeface="Gill Sans MT"/>
                <a:cs typeface="Gill Sans MT"/>
              </a:rPr>
              <a:t>agent</a:t>
            </a:r>
            <a:endParaRPr sz="2400">
              <a:latin typeface="Gill Sans MT"/>
              <a:cs typeface="Gill Sans MT"/>
            </a:endParaRPr>
          </a:p>
          <a:p>
            <a:pPr marL="317500" indent="-304800">
              <a:spcBef>
                <a:spcPts val="117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400" dirty="0">
                <a:latin typeface="Gill Sans MT"/>
                <a:cs typeface="Gill Sans MT"/>
              </a:rPr>
              <a:t>S</a:t>
            </a:r>
            <a:r>
              <a:rPr sz="2400" spc="5" dirty="0">
                <a:latin typeface="Gill Sans MT"/>
                <a:cs typeface="Gill Sans MT"/>
              </a:rPr>
              <a:t>t</a:t>
            </a:r>
            <a:r>
              <a:rPr sz="2400" dirty="0">
                <a:latin typeface="Gill Sans MT"/>
                <a:cs typeface="Gill Sans MT"/>
              </a:rPr>
              <a:t>o</a:t>
            </a:r>
            <a:r>
              <a:rPr sz="2400" spc="-55" dirty="0">
                <a:latin typeface="Gill Sans MT"/>
                <a:cs typeface="Gill Sans MT"/>
              </a:rPr>
              <a:t>r</a:t>
            </a:r>
            <a:r>
              <a:rPr sz="2400" dirty="0">
                <a:latin typeface="Gill Sans MT"/>
                <a:cs typeface="Gill Sans MT"/>
              </a:rPr>
              <a:t>ed </a:t>
            </a:r>
            <a:r>
              <a:rPr sz="2400" spc="-5" dirty="0">
                <a:latin typeface="Gill Sans MT"/>
                <a:cs typeface="Gill Sans MT"/>
              </a:rPr>
              <a:t>i</a:t>
            </a:r>
            <a:r>
              <a:rPr sz="2400" dirty="0">
                <a:latin typeface="Gill Sans MT"/>
                <a:cs typeface="Gill Sans MT"/>
              </a:rPr>
              <a:t>n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a standa</a:t>
            </a:r>
            <a:r>
              <a:rPr sz="2400" spc="-45" dirty="0">
                <a:latin typeface="Gill Sans MT"/>
                <a:cs typeface="Gill Sans MT"/>
              </a:rPr>
              <a:t>r</a:t>
            </a:r>
            <a:r>
              <a:rPr sz="2400" dirty="0">
                <a:latin typeface="Gill Sans MT"/>
                <a:cs typeface="Gill Sans MT"/>
              </a:rPr>
              <a:t>dized,</a:t>
            </a:r>
            <a:r>
              <a:rPr sz="2400" spc="-24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co</a:t>
            </a:r>
            <a:r>
              <a:rPr sz="2400" spc="-45" dirty="0">
                <a:latin typeface="Gill Sans MT"/>
                <a:cs typeface="Gill Sans MT"/>
              </a:rPr>
              <a:t>nv</a:t>
            </a:r>
            <a:r>
              <a:rPr sz="2400" dirty="0">
                <a:latin typeface="Gill Sans MT"/>
                <a:cs typeface="Gill Sans MT"/>
              </a:rPr>
              <a:t>enient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spc="-25" dirty="0">
                <a:latin typeface="Gill Sans MT"/>
                <a:cs typeface="Gill Sans MT"/>
              </a:rPr>
              <a:t>f</a:t>
            </a:r>
            <a:r>
              <a:rPr sz="2400" dirty="0">
                <a:latin typeface="Gill Sans MT"/>
                <a:cs typeface="Gill Sans MT"/>
              </a:rPr>
              <a:t>orm</a:t>
            </a:r>
            <a:endParaRPr sz="2400">
              <a:latin typeface="Gill Sans MT"/>
              <a:cs typeface="Gill Sans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12341" y="5202173"/>
            <a:ext cx="72307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0" dirty="0">
                <a:solidFill>
                  <a:srgbClr val="990000"/>
                </a:solidFill>
                <a:latin typeface="Gill Sans MT"/>
                <a:cs typeface="Gill Sans MT"/>
              </a:rPr>
              <a:t>Requires</a:t>
            </a:r>
            <a:r>
              <a:rPr sz="2800" spc="-15" dirty="0">
                <a:solidFill>
                  <a:srgbClr val="990000"/>
                </a:solidFill>
                <a:latin typeface="Gill Sans MT"/>
                <a:cs typeface="Gill Sans MT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Gill Sans MT"/>
                <a:cs typeface="Gill Sans MT"/>
              </a:rPr>
              <a:t>a</a:t>
            </a:r>
            <a:r>
              <a:rPr sz="2800" spc="5" dirty="0">
                <a:solidFill>
                  <a:srgbClr val="990000"/>
                </a:solidFill>
                <a:latin typeface="Gill Sans MT"/>
                <a:cs typeface="Gill Sans MT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Gill Sans MT"/>
                <a:cs typeface="Gill Sans MT"/>
              </a:rPr>
              <a:t>Database</a:t>
            </a:r>
            <a:r>
              <a:rPr sz="2800" spc="20" dirty="0">
                <a:solidFill>
                  <a:srgbClr val="990000"/>
                </a:solidFill>
                <a:latin typeface="Gill Sans MT"/>
                <a:cs typeface="Gill Sans MT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Gill Sans MT"/>
                <a:cs typeface="Gill Sans MT"/>
              </a:rPr>
              <a:t>Management</a:t>
            </a:r>
            <a:r>
              <a:rPr sz="2800" spc="25" dirty="0">
                <a:solidFill>
                  <a:srgbClr val="990000"/>
                </a:solidFill>
                <a:latin typeface="Gill Sans MT"/>
                <a:cs typeface="Gill Sans MT"/>
              </a:rPr>
              <a:t> </a:t>
            </a:r>
            <a:r>
              <a:rPr sz="2800" spc="-5" dirty="0">
                <a:solidFill>
                  <a:srgbClr val="990000"/>
                </a:solidFill>
                <a:latin typeface="Gill Sans MT"/>
                <a:cs typeface="Gill Sans MT"/>
              </a:rPr>
              <a:t>System </a:t>
            </a:r>
            <a:r>
              <a:rPr sz="2800" spc="-10" dirty="0">
                <a:solidFill>
                  <a:srgbClr val="990000"/>
                </a:solidFill>
                <a:latin typeface="Gill Sans MT"/>
                <a:cs typeface="Gill Sans MT"/>
              </a:rPr>
              <a:t>(DBMS)</a:t>
            </a:r>
            <a:endParaRPr sz="28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2056" y="600455"/>
            <a:ext cx="8239125" cy="1143262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spcBef>
                <a:spcPts val="35"/>
              </a:spcBef>
            </a:pPr>
            <a:endParaRPr sz="3600">
              <a:latin typeface="Times New Roman"/>
              <a:cs typeface="Times New Roman"/>
            </a:endParaRPr>
          </a:p>
          <a:p>
            <a:pPr marL="224154">
              <a:tabLst>
                <a:tab pos="3437254" algn="l"/>
              </a:tabLst>
            </a:pPr>
            <a:r>
              <a:rPr sz="3800" spc="-5" dirty="0"/>
              <a:t>EXAMPLES</a:t>
            </a:r>
            <a:r>
              <a:rPr sz="3800" dirty="0"/>
              <a:t> OF	</a:t>
            </a:r>
            <a:r>
              <a:rPr sz="3800" spc="-90" dirty="0"/>
              <a:t>DATABASE</a:t>
            </a:r>
            <a:r>
              <a:rPr sz="3800" spc="-55" dirty="0"/>
              <a:t> </a:t>
            </a:r>
            <a:r>
              <a:rPr sz="3800" spc="-5" dirty="0"/>
              <a:t>SYSTEMS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2503119" y="2672677"/>
            <a:ext cx="4359910" cy="2459355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317500" indent="-305435">
              <a:spcBef>
                <a:spcPts val="11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8135" algn="l"/>
              </a:tabLst>
            </a:pP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Purchases</a:t>
            </a:r>
            <a:r>
              <a:rPr b="1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from</a:t>
            </a:r>
            <a:r>
              <a:rPr b="1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b="1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supermarket</a:t>
            </a:r>
            <a:endParaRPr>
              <a:latin typeface="Trebuchet MS"/>
              <a:cs typeface="Trebuchet MS"/>
            </a:endParaRPr>
          </a:p>
          <a:p>
            <a:pPr marL="317500" indent="-305435"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8135" algn="l"/>
              </a:tabLst>
            </a:pP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Purchases</a:t>
            </a:r>
            <a:r>
              <a:rPr b="1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using</a:t>
            </a:r>
            <a:r>
              <a:rPr b="1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your</a:t>
            </a:r>
            <a:r>
              <a:rPr b="1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credit</a:t>
            </a:r>
            <a:r>
              <a:rPr b="1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card</a:t>
            </a:r>
            <a:endParaRPr>
              <a:latin typeface="Trebuchet MS"/>
              <a:cs typeface="Trebuchet MS"/>
            </a:endParaRPr>
          </a:p>
          <a:p>
            <a:pPr marL="317500" indent="-305435"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8135" algn="l"/>
              </a:tabLst>
            </a:pP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Booking</a:t>
            </a:r>
            <a:r>
              <a:rPr b="1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b="1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holiday</a:t>
            </a:r>
            <a:r>
              <a:rPr b="1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at</a:t>
            </a:r>
            <a:r>
              <a:rPr b="1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b="1" spc="-15" dirty="0">
                <a:solidFill>
                  <a:srgbClr val="3C3C3C"/>
                </a:solidFill>
                <a:latin typeface="Trebuchet MS"/>
                <a:cs typeface="Trebuchet MS"/>
              </a:rPr>
              <a:t> travel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agents</a:t>
            </a:r>
            <a:endParaRPr>
              <a:latin typeface="Trebuchet MS"/>
              <a:cs typeface="Trebuchet MS"/>
            </a:endParaRPr>
          </a:p>
          <a:p>
            <a:pPr marL="317500" indent="-305435"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8135" algn="l"/>
              </a:tabLst>
            </a:pP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Using</a:t>
            </a:r>
            <a:r>
              <a:rPr b="1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b="1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local</a:t>
            </a:r>
            <a:r>
              <a:rPr b="1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10" dirty="0">
                <a:solidFill>
                  <a:srgbClr val="3C3C3C"/>
                </a:solidFill>
                <a:latin typeface="Trebuchet MS"/>
                <a:cs typeface="Trebuchet MS"/>
              </a:rPr>
              <a:t>library</a:t>
            </a:r>
            <a:endParaRPr>
              <a:latin typeface="Trebuchet MS"/>
              <a:cs typeface="Trebuchet MS"/>
            </a:endParaRPr>
          </a:p>
          <a:p>
            <a:pPr marL="317500" indent="-305435"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8135" algn="l"/>
              </a:tabLst>
            </a:pP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Renting</a:t>
            </a:r>
            <a:r>
              <a:rPr b="1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b="1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5" dirty="0">
                <a:solidFill>
                  <a:srgbClr val="3C3C3C"/>
                </a:solidFill>
                <a:latin typeface="Trebuchet MS"/>
                <a:cs typeface="Trebuchet MS"/>
              </a:rPr>
              <a:t>video</a:t>
            </a:r>
            <a:endParaRPr>
              <a:latin typeface="Trebuchet MS"/>
              <a:cs typeface="Trebuchet MS"/>
            </a:endParaRPr>
          </a:p>
          <a:p>
            <a:pPr marL="317500" indent="-305435"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8135" algn="l"/>
              </a:tabLst>
            </a:pP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Using</a:t>
            </a:r>
            <a:r>
              <a:rPr b="1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b="1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Internet</a:t>
            </a:r>
            <a:endParaRPr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972056" y="441960"/>
          <a:ext cx="8237855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9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4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24154">
                        <a:lnSpc>
                          <a:spcPct val="100000"/>
                        </a:lnSpc>
                        <a:spcBef>
                          <a:spcPts val="1925"/>
                        </a:spcBef>
                      </a:pPr>
                      <a:r>
                        <a:rPr sz="2800" b="1" spc="-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DATABASE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429967" y="3719322"/>
            <a:ext cx="7836534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17500" marR="5080" indent="-304800">
              <a:lnSpc>
                <a:spcPts val="1939"/>
              </a:lnSpc>
              <a:spcBef>
                <a:spcPts val="34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Shared</a:t>
            </a:r>
            <a:r>
              <a:rPr b="1" spc="2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collection</a:t>
            </a:r>
            <a:r>
              <a:rPr b="1" spc="2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b="1" spc="229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logically</a:t>
            </a:r>
            <a:r>
              <a:rPr b="1" spc="2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related</a:t>
            </a:r>
            <a:r>
              <a:rPr b="1" spc="2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data</a:t>
            </a:r>
            <a:r>
              <a:rPr b="1" spc="2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(and</a:t>
            </a:r>
            <a:r>
              <a:rPr b="1" spc="2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b="1" spc="2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description</a:t>
            </a:r>
            <a:r>
              <a:rPr b="1" spc="2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b="1" spc="2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10" dirty="0">
                <a:solidFill>
                  <a:srgbClr val="3C3C3C"/>
                </a:solidFill>
                <a:latin typeface="Trebuchet MS"/>
                <a:cs typeface="Trebuchet MS"/>
              </a:rPr>
              <a:t>this </a:t>
            </a:r>
            <a:r>
              <a:rPr b="1" spc="-5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data),</a:t>
            </a:r>
            <a:r>
              <a:rPr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designed</a:t>
            </a:r>
            <a:r>
              <a:rPr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to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meet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the information needs</a:t>
            </a:r>
            <a:r>
              <a:rPr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b="1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an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 organization.</a:t>
            </a:r>
            <a:endParaRPr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972056" y="441960"/>
          <a:ext cx="8237855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9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4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24154">
                        <a:lnSpc>
                          <a:spcPct val="100000"/>
                        </a:lnSpc>
                        <a:spcBef>
                          <a:spcPts val="1925"/>
                        </a:spcBef>
                      </a:pPr>
                      <a:r>
                        <a:rPr sz="2800" b="1" spc="-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DATABASE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429967" y="3118866"/>
            <a:ext cx="7837170" cy="2202526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17500" marR="6350" indent="-304800">
              <a:lnSpc>
                <a:spcPts val="2160"/>
              </a:lnSpc>
              <a:spcBef>
                <a:spcPts val="375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  <a:tab pos="1318895" algn="l"/>
                <a:tab pos="2673350" algn="l"/>
                <a:tab pos="2949575" algn="l"/>
                <a:tab pos="3547110" algn="l"/>
                <a:tab pos="4023995" algn="l"/>
                <a:tab pos="4759960" algn="l"/>
                <a:tab pos="6718934" algn="l"/>
                <a:tab pos="7185659" algn="l"/>
              </a:tabLst>
            </a:pP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Sha</a:t>
            </a:r>
            <a:r>
              <a:rPr sz="2000" b="1" spc="-10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ed	</a:t>
            </a:r>
            <a:r>
              <a:rPr sz="2000" b="1" spc="-10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olle</a:t>
            </a:r>
            <a:r>
              <a:rPr sz="2000" b="1" spc="-10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ti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on	–	c</a:t>
            </a:r>
            <a:r>
              <a:rPr sz="2000" b="1" spc="-1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n	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b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e	us</a:t>
            </a:r>
            <a:r>
              <a:rPr sz="2000" b="1" spc="-10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d	si</a:t>
            </a:r>
            <a:r>
              <a:rPr sz="2000" b="1" spc="5" dirty="0">
                <a:solidFill>
                  <a:srgbClr val="3C3C3C"/>
                </a:solidFill>
                <a:latin typeface="Trebuchet MS"/>
                <a:cs typeface="Trebuchet MS"/>
              </a:rPr>
              <a:t>m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ult</a:t>
            </a:r>
            <a:r>
              <a:rPr sz="2000" b="1" spc="-1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000" b="1" spc="-10" dirty="0">
                <a:solidFill>
                  <a:srgbClr val="3C3C3C"/>
                </a:solidFill>
                <a:latin typeface="Trebuchet MS"/>
                <a:cs typeface="Trebuchet MS"/>
              </a:rPr>
              <a:t>n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eously	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b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y	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m</a:t>
            </a:r>
            <a:r>
              <a:rPr sz="2000" b="1" spc="-2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000" b="1" spc="-10" dirty="0">
                <a:solidFill>
                  <a:srgbClr val="3C3C3C"/>
                </a:solidFill>
                <a:latin typeface="Trebuchet MS"/>
                <a:cs typeface="Trebuchet MS"/>
              </a:rPr>
              <a:t>n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y  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departments</a:t>
            </a:r>
            <a:r>
              <a:rPr sz="2000" b="1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and</a:t>
            </a:r>
            <a:r>
              <a:rPr sz="2000" b="1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users.</a:t>
            </a:r>
            <a:endParaRPr sz="2000">
              <a:latin typeface="Trebuchet MS"/>
              <a:cs typeface="Trebuchet MS"/>
            </a:endParaRPr>
          </a:p>
          <a:p>
            <a:pPr marL="317500" marR="5080" indent="-304800">
              <a:lnSpc>
                <a:spcPts val="2160"/>
              </a:lnSpc>
              <a:spcBef>
                <a:spcPts val="180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  <a:tab pos="1486535" algn="l"/>
                <a:tab pos="2475230" algn="l"/>
                <a:tab pos="2699385" algn="l"/>
                <a:tab pos="4020820" algn="l"/>
                <a:tab pos="4549775" algn="l"/>
                <a:tab pos="5861050" algn="l"/>
                <a:tab pos="6861809" algn="l"/>
                <a:tab pos="7426325" algn="l"/>
              </a:tabLst>
            </a:pP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Logi</a:t>
            </a:r>
            <a:r>
              <a:rPr sz="2000" b="1" spc="-10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al</a:t>
            </a:r>
            <a:r>
              <a:rPr sz="2000" b="1" spc="-20" dirty="0">
                <a:solidFill>
                  <a:srgbClr val="3C3C3C"/>
                </a:solidFill>
                <a:latin typeface="Trebuchet MS"/>
                <a:cs typeface="Trebuchet MS"/>
              </a:rPr>
              <a:t>l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y	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re</a:t>
            </a:r>
            <a:r>
              <a:rPr sz="2000" b="1" spc="-25" dirty="0">
                <a:solidFill>
                  <a:srgbClr val="3C3C3C"/>
                </a:solidFill>
                <a:latin typeface="Trebuchet MS"/>
                <a:cs typeface="Trebuchet MS"/>
              </a:rPr>
              <a:t>l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ated	-	</a:t>
            </a:r>
            <a:r>
              <a:rPr sz="2000" b="1" spc="-10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o</a:t>
            </a:r>
            <a:r>
              <a:rPr sz="2000" b="1" spc="10" dirty="0">
                <a:solidFill>
                  <a:srgbClr val="3C3C3C"/>
                </a:solidFill>
                <a:latin typeface="Trebuchet MS"/>
                <a:cs typeface="Trebuchet MS"/>
              </a:rPr>
              <a:t>m</a:t>
            </a:r>
            <a:r>
              <a:rPr sz="2000" b="1" spc="-20" dirty="0">
                <a:solidFill>
                  <a:srgbClr val="3C3C3C"/>
                </a:solidFill>
                <a:latin typeface="Trebuchet MS"/>
                <a:cs typeface="Trebuchet MS"/>
              </a:rPr>
              <a:t>p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rise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s	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th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e	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im</a:t>
            </a:r>
            <a:r>
              <a:rPr sz="2000" b="1" spc="-10" dirty="0">
                <a:solidFill>
                  <a:srgbClr val="3C3C3C"/>
                </a:solidFill>
                <a:latin typeface="Trebuchet MS"/>
                <a:cs typeface="Trebuchet MS"/>
              </a:rPr>
              <a:t>p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ort</a:t>
            </a:r>
            <a:r>
              <a:rPr sz="2000" b="1" spc="-1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000" b="1" spc="-10" dirty="0">
                <a:solidFill>
                  <a:srgbClr val="3C3C3C"/>
                </a:solidFill>
                <a:latin typeface="Trebuchet MS"/>
                <a:cs typeface="Trebuchet MS"/>
              </a:rPr>
              <a:t>n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t	obj</a:t>
            </a:r>
            <a:r>
              <a:rPr sz="2000" b="1" spc="-15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2000" b="1" spc="-10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t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s	</a:t>
            </a:r>
            <a:r>
              <a:rPr sz="2000" b="1" spc="-1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n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d	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the  relationships</a:t>
            </a:r>
            <a:r>
              <a:rPr sz="2000" b="1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between</a:t>
            </a:r>
            <a:r>
              <a:rPr sz="2000" b="1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these</a:t>
            </a:r>
            <a:r>
              <a:rPr sz="2000" b="1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objects.</a:t>
            </a:r>
            <a:endParaRPr sz="2000">
              <a:latin typeface="Trebuchet MS"/>
              <a:cs typeface="Trebuchet MS"/>
            </a:endParaRPr>
          </a:p>
          <a:p>
            <a:pPr marL="317500" marR="7620" indent="-304800">
              <a:lnSpc>
                <a:spcPts val="2160"/>
              </a:lnSpc>
              <a:spcBef>
                <a:spcPts val="180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  <a:tab pos="1849120" algn="l"/>
                <a:tab pos="2268220" algn="l"/>
                <a:tab pos="2847340" algn="l"/>
                <a:tab pos="3216275" algn="l"/>
                <a:tab pos="3543935" algn="l"/>
                <a:tab pos="3818254" algn="l"/>
                <a:tab pos="4397375" algn="l"/>
                <a:tab pos="5397500" algn="l"/>
                <a:tab pos="6423025" algn="l"/>
              </a:tabLst>
            </a:pP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Des</a:t>
            </a:r>
            <a:r>
              <a:rPr sz="2000" b="1" spc="-10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rip</a:t>
            </a:r>
            <a:r>
              <a:rPr sz="2000" b="1" spc="-10" dirty="0">
                <a:solidFill>
                  <a:srgbClr val="3C3C3C"/>
                </a:solidFill>
                <a:latin typeface="Trebuchet MS"/>
                <a:cs typeface="Trebuchet MS"/>
              </a:rPr>
              <a:t>t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io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n	</a:t>
            </a:r>
            <a:r>
              <a:rPr sz="2000" b="1" spc="5" dirty="0">
                <a:solidFill>
                  <a:srgbClr val="3C3C3C"/>
                </a:solidFill>
                <a:latin typeface="Trebuchet MS"/>
                <a:cs typeface="Trebuchet MS"/>
              </a:rPr>
              <a:t>o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f	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th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e	</a:t>
            </a:r>
            <a:r>
              <a:rPr sz="2000" b="1" spc="-15" dirty="0">
                <a:solidFill>
                  <a:srgbClr val="3C3C3C"/>
                </a:solidFill>
                <a:latin typeface="Trebuchet MS"/>
                <a:cs typeface="Trebuchet MS"/>
              </a:rPr>
              <a:t>d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000" b="1" spc="-15" dirty="0">
                <a:solidFill>
                  <a:srgbClr val="3C3C3C"/>
                </a:solidFill>
                <a:latin typeface="Trebuchet MS"/>
                <a:cs typeface="Trebuchet MS"/>
              </a:rPr>
              <a:t>t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a	–	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th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e	</a:t>
            </a:r>
            <a:r>
              <a:rPr sz="2000" b="1" spc="-15" dirty="0">
                <a:solidFill>
                  <a:srgbClr val="3C3C3C"/>
                </a:solidFill>
                <a:latin typeface="Trebuchet MS"/>
                <a:cs typeface="Trebuchet MS"/>
              </a:rPr>
              <a:t>s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ys</a:t>
            </a:r>
            <a:r>
              <a:rPr sz="2000" b="1" spc="-20" dirty="0">
                <a:solidFill>
                  <a:srgbClr val="3C3C3C"/>
                </a:solidFill>
                <a:latin typeface="Trebuchet MS"/>
                <a:cs typeface="Trebuchet MS"/>
              </a:rPr>
              <a:t>t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em	</a:t>
            </a:r>
            <a:r>
              <a:rPr sz="2000" b="1" spc="-10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000" b="1" spc="-15" dirty="0">
                <a:solidFill>
                  <a:srgbClr val="3C3C3C"/>
                </a:solidFill>
                <a:latin typeface="Trebuchet MS"/>
                <a:cs typeface="Trebuchet MS"/>
              </a:rPr>
              <a:t>t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al</a:t>
            </a:r>
            <a:r>
              <a:rPr sz="2000" b="1" spc="-10" dirty="0">
                <a:solidFill>
                  <a:srgbClr val="3C3C3C"/>
                </a:solidFill>
                <a:latin typeface="Trebuchet MS"/>
                <a:cs typeface="Trebuchet MS"/>
              </a:rPr>
              <a:t>o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g	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(met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-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d</a:t>
            </a:r>
            <a:r>
              <a:rPr sz="2000" b="1" spc="-1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t</a:t>
            </a:r>
            <a:r>
              <a:rPr sz="2000" b="1" spc="-1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)  </a:t>
            </a:r>
            <a:r>
              <a:rPr sz="2000" b="1" spc="5" dirty="0">
                <a:solidFill>
                  <a:srgbClr val="3C3C3C"/>
                </a:solidFill>
                <a:latin typeface="Trebuchet MS"/>
                <a:cs typeface="Trebuchet MS"/>
              </a:rPr>
              <a:t>provides 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description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of	data</a:t>
            </a:r>
            <a:r>
              <a:rPr sz="2000" b="1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Trebuchet MS"/>
                <a:cs typeface="Trebuchet MS"/>
              </a:rPr>
              <a:t>to</a:t>
            </a:r>
            <a:r>
              <a:rPr sz="2000" b="1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enable</a:t>
            </a:r>
            <a:r>
              <a:rPr sz="2000" b="1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data</a:t>
            </a:r>
            <a:r>
              <a:rPr sz="2000" b="1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independence.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2056" y="600456"/>
            <a:ext cx="8239125" cy="115031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3810" rIns="0" bIns="0" rtlCol="0">
            <a:spAutoFit/>
          </a:bodyPr>
          <a:lstStyle/>
          <a:p>
            <a:pPr>
              <a:spcBef>
                <a:spcPts val="30"/>
              </a:spcBef>
            </a:pPr>
            <a:endParaRPr sz="4650">
              <a:latin typeface="Times New Roman"/>
              <a:cs typeface="Times New Roman"/>
            </a:endParaRPr>
          </a:p>
          <a:p>
            <a:pPr marL="224154"/>
            <a:r>
              <a:rPr b="0" spc="-85" dirty="0">
                <a:latin typeface="Gill Sans MT"/>
                <a:cs typeface="Gill Sans MT"/>
              </a:rPr>
              <a:t>DATABASE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3993" y="2062099"/>
            <a:ext cx="7834630" cy="3535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7620" indent="-304800" algn="just">
              <a:spcBef>
                <a:spcPts val="1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7500" algn="l"/>
              </a:tabLst>
            </a:pP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In computing, </a:t>
            </a:r>
            <a:r>
              <a:rPr sz="2400" spc="-5" dirty="0">
                <a:solidFill>
                  <a:srgbClr val="3C3C3C"/>
                </a:solidFill>
                <a:latin typeface="Gill Sans MT"/>
                <a:cs typeface="Gill Sans MT"/>
              </a:rPr>
              <a:t>databases </a:t>
            </a:r>
            <a:r>
              <a:rPr sz="2400" spc="-20" dirty="0">
                <a:solidFill>
                  <a:srgbClr val="3C3C3C"/>
                </a:solidFill>
                <a:latin typeface="Gill Sans MT"/>
                <a:cs typeface="Gill Sans MT"/>
              </a:rPr>
              <a:t>are </a:t>
            </a:r>
            <a:r>
              <a:rPr sz="2400" spc="-5" dirty="0">
                <a:solidFill>
                  <a:srgbClr val="3C3C3C"/>
                </a:solidFill>
                <a:latin typeface="Gill Sans MT"/>
                <a:cs typeface="Gill Sans MT"/>
              </a:rPr>
              <a:t>sometimes 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classified </a:t>
            </a:r>
            <a:r>
              <a:rPr sz="2400" spc="-10" dirty="0">
                <a:solidFill>
                  <a:srgbClr val="3C3C3C"/>
                </a:solidFill>
                <a:latin typeface="Gill Sans MT"/>
                <a:cs typeface="Gill Sans MT"/>
              </a:rPr>
              <a:t>according </a:t>
            </a:r>
            <a:r>
              <a:rPr sz="24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sz="24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their</a:t>
            </a:r>
            <a:r>
              <a:rPr sz="24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Gill Sans MT"/>
                <a:cs typeface="Gill Sans MT"/>
              </a:rPr>
              <a:t>organizational</a:t>
            </a:r>
            <a:r>
              <a:rPr sz="2400" spc="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400" spc="-15" dirty="0">
                <a:solidFill>
                  <a:srgbClr val="3C3C3C"/>
                </a:solidFill>
                <a:latin typeface="Gill Sans MT"/>
                <a:cs typeface="Gill Sans MT"/>
              </a:rPr>
              <a:t>approach.</a:t>
            </a:r>
            <a:endParaRPr sz="2400">
              <a:latin typeface="Gill Sans MT"/>
              <a:cs typeface="Gill Sans MT"/>
            </a:endParaRPr>
          </a:p>
          <a:p>
            <a:pPr marL="641985" marR="5080" lvl="1" indent="-305435" algn="just">
              <a:spcBef>
                <a:spcPts val="1135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642620" algn="l"/>
              </a:tabLst>
            </a:pP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most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prevalent </a:t>
            </a:r>
            <a:r>
              <a:rPr sz="2200" spc="-15" dirty="0">
                <a:solidFill>
                  <a:srgbClr val="3C3C3C"/>
                </a:solidFill>
                <a:latin typeface="Gill Sans MT"/>
                <a:cs typeface="Gill Sans MT"/>
              </a:rPr>
              <a:t>approach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is the </a:t>
            </a:r>
            <a:r>
              <a:rPr sz="2200" b="1" i="1" spc="-5" dirty="0">
                <a:solidFill>
                  <a:srgbClr val="3C3C3C"/>
                </a:solidFill>
                <a:latin typeface="Gill Sans MT"/>
                <a:cs typeface="Gill Sans MT"/>
              </a:rPr>
              <a:t>Relational Database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, a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 tabular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database in which data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is defined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so that it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can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be 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reorganized</a:t>
            </a:r>
            <a:r>
              <a:rPr sz="2200" spc="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accessed</a:t>
            </a:r>
            <a:r>
              <a:rPr sz="220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sz="2200" spc="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a number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different</a:t>
            </a:r>
            <a:r>
              <a:rPr sz="220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25" dirty="0">
                <a:solidFill>
                  <a:srgbClr val="3C3C3C"/>
                </a:solidFill>
                <a:latin typeface="Gill Sans MT"/>
                <a:cs typeface="Gill Sans MT"/>
              </a:rPr>
              <a:t>ways.</a:t>
            </a:r>
            <a:endParaRPr sz="2200">
              <a:latin typeface="Gill Sans MT"/>
              <a:cs typeface="Gill Sans MT"/>
            </a:endParaRPr>
          </a:p>
          <a:p>
            <a:pPr marL="641985" marR="5715" lvl="1" indent="-305435" algn="just">
              <a:spcBef>
                <a:spcPts val="1135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642620" algn="l"/>
              </a:tabLst>
            </a:pP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b="1" i="1" spc="-5" dirty="0">
                <a:solidFill>
                  <a:srgbClr val="3C3C3C"/>
                </a:solidFill>
                <a:latin typeface="Gill Sans MT"/>
                <a:cs typeface="Gill Sans MT"/>
              </a:rPr>
              <a:t>Distributed</a:t>
            </a:r>
            <a:r>
              <a:rPr sz="2200" b="1" i="1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b="1" i="1" spc="-5" dirty="0">
                <a:solidFill>
                  <a:srgbClr val="3C3C3C"/>
                </a:solidFill>
                <a:latin typeface="Gill Sans MT"/>
                <a:cs typeface="Gill Sans MT"/>
              </a:rPr>
              <a:t>Database</a:t>
            </a:r>
            <a:r>
              <a:rPr sz="2200" b="1" i="1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one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that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can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be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dispersed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or </a:t>
            </a:r>
            <a:r>
              <a:rPr sz="2200" spc="-6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replicated</a:t>
            </a:r>
            <a:r>
              <a:rPr sz="220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among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different</a:t>
            </a:r>
            <a:r>
              <a:rPr sz="220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points</a:t>
            </a:r>
            <a:r>
              <a:rPr sz="220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sz="2200" spc="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network.</a:t>
            </a:r>
            <a:endParaRPr sz="2200">
              <a:latin typeface="Gill Sans MT"/>
              <a:cs typeface="Gill Sans MT"/>
            </a:endParaRPr>
          </a:p>
          <a:p>
            <a:pPr marL="641985" lvl="1" indent="-305435" algn="just">
              <a:spcBef>
                <a:spcPts val="1125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642620" algn="l"/>
              </a:tabLst>
            </a:pP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An</a:t>
            </a:r>
            <a:r>
              <a:rPr sz="2200" spc="17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b="1" i="1" spc="-5" dirty="0">
                <a:solidFill>
                  <a:srgbClr val="3C3C3C"/>
                </a:solidFill>
                <a:latin typeface="Gill Sans MT"/>
                <a:cs typeface="Gill Sans MT"/>
              </a:rPr>
              <a:t>Object-Oriented</a:t>
            </a:r>
            <a:r>
              <a:rPr sz="2200" b="1" i="1" spc="17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b="1" i="1" spc="-5" dirty="0">
                <a:solidFill>
                  <a:srgbClr val="3C3C3C"/>
                </a:solidFill>
                <a:latin typeface="Gill Sans MT"/>
                <a:cs typeface="Gill Sans MT"/>
              </a:rPr>
              <a:t>Database</a:t>
            </a:r>
            <a:r>
              <a:rPr sz="2200" b="1" i="1" spc="17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200" spc="17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one</a:t>
            </a:r>
            <a:r>
              <a:rPr sz="2200" spc="18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that</a:t>
            </a:r>
            <a:r>
              <a:rPr sz="2200" spc="18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200" spc="17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congruent</a:t>
            </a:r>
            <a:r>
              <a:rPr sz="2200" spc="19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with</a:t>
            </a:r>
            <a:endParaRPr sz="2200">
              <a:latin typeface="Gill Sans MT"/>
              <a:cs typeface="Gill Sans MT"/>
            </a:endParaRPr>
          </a:p>
          <a:p>
            <a:pPr marL="641985" algn="just"/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sz="220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defined</a:t>
            </a:r>
            <a:r>
              <a:rPr sz="220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object</a:t>
            </a:r>
            <a:r>
              <a:rPr sz="220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classes</a:t>
            </a:r>
            <a:r>
              <a:rPr sz="2200" spc="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subclasses.</a:t>
            </a:r>
            <a:endParaRPr sz="22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972056" y="441960"/>
          <a:ext cx="8237855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9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4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24154">
                        <a:lnSpc>
                          <a:spcPct val="100000"/>
                        </a:lnSpc>
                        <a:spcBef>
                          <a:spcPts val="1925"/>
                        </a:spcBef>
                      </a:pPr>
                      <a:r>
                        <a:rPr sz="2800" b="1" spc="-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DATABASE</a:t>
                      </a:r>
                      <a:r>
                        <a:rPr sz="280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MANAGEMENT</a:t>
                      </a:r>
                      <a:r>
                        <a:rPr sz="2800" b="1" spc="-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SYSTEMS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429968" y="3544061"/>
            <a:ext cx="75723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5080" indent="-304800" algn="just">
              <a:spcBef>
                <a:spcPts val="1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7500" algn="l"/>
              </a:tabLst>
            </a:pP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software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system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that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 enables</a:t>
            </a:r>
            <a:r>
              <a:rPr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users</a:t>
            </a:r>
            <a:r>
              <a:rPr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to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define,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create,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 and </a:t>
            </a:r>
            <a:r>
              <a:rPr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maintain the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database and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that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provides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controlled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access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to this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database.</a:t>
            </a:r>
            <a:endParaRPr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972056" y="441960"/>
          <a:ext cx="8237855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9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4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1970"/>
                        </a:spcBef>
                      </a:pPr>
                      <a:r>
                        <a:rPr sz="2800" b="1" spc="-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DATABASE</a:t>
                      </a:r>
                      <a:r>
                        <a:rPr sz="280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MANAGEMENT</a:t>
                      </a:r>
                      <a:r>
                        <a:rPr sz="2800" b="1" spc="-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SYSTEMS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367788" y="5930900"/>
            <a:ext cx="7421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5" dirty="0">
                <a:latin typeface="Gill Sans MT"/>
                <a:cs typeface="Gill Sans MT"/>
              </a:rPr>
              <a:t>DBMS</a:t>
            </a:r>
            <a:r>
              <a:rPr i="1" spc="5" dirty="0">
                <a:latin typeface="Gill Sans MT"/>
                <a:cs typeface="Gill Sans MT"/>
              </a:rPr>
              <a:t> </a:t>
            </a:r>
            <a:r>
              <a:rPr i="1" spc="-10" dirty="0">
                <a:latin typeface="Gill Sans MT"/>
                <a:cs typeface="Gill Sans MT"/>
              </a:rPr>
              <a:t>manages</a:t>
            </a:r>
            <a:r>
              <a:rPr i="1" spc="35" dirty="0">
                <a:latin typeface="Gill Sans MT"/>
                <a:cs typeface="Gill Sans MT"/>
              </a:rPr>
              <a:t> </a:t>
            </a:r>
            <a:r>
              <a:rPr i="1" spc="-5" dirty="0">
                <a:latin typeface="Gill Sans MT"/>
                <a:cs typeface="Gill Sans MT"/>
              </a:rPr>
              <a:t>data</a:t>
            </a:r>
            <a:r>
              <a:rPr i="1" spc="25" dirty="0">
                <a:latin typeface="Gill Sans MT"/>
                <a:cs typeface="Gill Sans MT"/>
              </a:rPr>
              <a:t> </a:t>
            </a:r>
            <a:r>
              <a:rPr i="1" spc="-5" dirty="0">
                <a:latin typeface="Gill Sans MT"/>
                <a:cs typeface="Gill Sans MT"/>
              </a:rPr>
              <a:t>resources</a:t>
            </a:r>
            <a:r>
              <a:rPr i="1" dirty="0">
                <a:latin typeface="Gill Sans MT"/>
                <a:cs typeface="Gill Sans MT"/>
              </a:rPr>
              <a:t> </a:t>
            </a:r>
            <a:r>
              <a:rPr i="1" spc="-25" dirty="0">
                <a:latin typeface="Gill Sans MT"/>
                <a:cs typeface="Gill Sans MT"/>
              </a:rPr>
              <a:t>like</a:t>
            </a:r>
            <a:r>
              <a:rPr i="1" spc="10" dirty="0">
                <a:latin typeface="Gill Sans MT"/>
                <a:cs typeface="Gill Sans MT"/>
              </a:rPr>
              <a:t> </a:t>
            </a:r>
            <a:r>
              <a:rPr i="1" spc="-5" dirty="0">
                <a:latin typeface="Gill Sans MT"/>
                <a:cs typeface="Gill Sans MT"/>
              </a:rPr>
              <a:t>an</a:t>
            </a:r>
            <a:r>
              <a:rPr i="1" spc="10" dirty="0">
                <a:latin typeface="Gill Sans MT"/>
                <a:cs typeface="Gill Sans MT"/>
              </a:rPr>
              <a:t> </a:t>
            </a:r>
            <a:r>
              <a:rPr i="1" spc="-10" dirty="0">
                <a:latin typeface="Gill Sans MT"/>
                <a:cs typeface="Gill Sans MT"/>
              </a:rPr>
              <a:t>operating</a:t>
            </a:r>
            <a:r>
              <a:rPr i="1" spc="20" dirty="0">
                <a:latin typeface="Gill Sans MT"/>
                <a:cs typeface="Gill Sans MT"/>
              </a:rPr>
              <a:t> </a:t>
            </a:r>
            <a:r>
              <a:rPr i="1" spc="-5" dirty="0">
                <a:latin typeface="Gill Sans MT"/>
                <a:cs typeface="Gill Sans MT"/>
              </a:rPr>
              <a:t>system</a:t>
            </a:r>
            <a:r>
              <a:rPr i="1" spc="10" dirty="0">
                <a:latin typeface="Gill Sans MT"/>
                <a:cs typeface="Gill Sans MT"/>
              </a:rPr>
              <a:t> </a:t>
            </a:r>
            <a:r>
              <a:rPr i="1" spc="-10" dirty="0">
                <a:latin typeface="Gill Sans MT"/>
                <a:cs typeface="Gill Sans MT"/>
              </a:rPr>
              <a:t>manages</a:t>
            </a:r>
            <a:r>
              <a:rPr i="1" spc="35" dirty="0">
                <a:latin typeface="Gill Sans MT"/>
                <a:cs typeface="Gill Sans MT"/>
              </a:rPr>
              <a:t> </a:t>
            </a:r>
            <a:r>
              <a:rPr i="1" spc="-20" dirty="0">
                <a:latin typeface="Gill Sans MT"/>
                <a:cs typeface="Gill Sans MT"/>
              </a:rPr>
              <a:t>hardware</a:t>
            </a:r>
            <a:r>
              <a:rPr i="1" spc="35" dirty="0">
                <a:latin typeface="Gill Sans MT"/>
                <a:cs typeface="Gill Sans MT"/>
              </a:rPr>
              <a:t> </a:t>
            </a:r>
            <a:r>
              <a:rPr i="1" spc="-5" dirty="0">
                <a:latin typeface="Gill Sans MT"/>
                <a:cs typeface="Gill Sans MT"/>
              </a:rPr>
              <a:t>resources</a:t>
            </a:r>
            <a:endParaRPr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97405" y="2164843"/>
            <a:ext cx="759777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spcBef>
                <a:spcPts val="105"/>
              </a:spcBef>
            </a:pPr>
            <a:r>
              <a:rPr sz="2000" b="0" dirty="0">
                <a:solidFill>
                  <a:srgbClr val="000000"/>
                </a:solidFill>
                <a:latin typeface="Gill Sans MT"/>
                <a:cs typeface="Gill Sans MT"/>
              </a:rPr>
              <a:t>A</a:t>
            </a:r>
            <a:r>
              <a:rPr sz="2000" b="0" spc="-1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Gill Sans MT"/>
                <a:cs typeface="Gill Sans MT"/>
              </a:rPr>
              <a:t>softwa</a:t>
            </a:r>
            <a:r>
              <a:rPr sz="2000" b="0" spc="-40" dirty="0">
                <a:solidFill>
                  <a:srgbClr val="000000"/>
                </a:solidFill>
                <a:latin typeface="Gill Sans MT"/>
                <a:cs typeface="Gill Sans MT"/>
              </a:rPr>
              <a:t>r</a:t>
            </a:r>
            <a:r>
              <a:rPr sz="2000" b="0" dirty="0">
                <a:solidFill>
                  <a:srgbClr val="000000"/>
                </a:solidFill>
                <a:latin typeface="Gill Sans MT"/>
                <a:cs typeface="Gill Sans MT"/>
              </a:rPr>
              <a:t>e</a:t>
            </a:r>
            <a:r>
              <a:rPr sz="2000" b="0" spc="-3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Gill Sans MT"/>
                <a:cs typeface="Gill Sans MT"/>
              </a:rPr>
              <a:t>sy</a:t>
            </a:r>
            <a:r>
              <a:rPr sz="2000" b="0" spc="-10" dirty="0">
                <a:solidFill>
                  <a:srgbClr val="000000"/>
                </a:solidFill>
                <a:latin typeface="Gill Sans MT"/>
                <a:cs typeface="Gill Sans MT"/>
              </a:rPr>
              <a:t>s</a:t>
            </a:r>
            <a:r>
              <a:rPr sz="2000" b="0" dirty="0">
                <a:solidFill>
                  <a:srgbClr val="000000"/>
                </a:solidFill>
                <a:latin typeface="Gill Sans MT"/>
                <a:cs typeface="Gill Sans MT"/>
              </a:rPr>
              <a:t>tem</a:t>
            </a:r>
            <a:r>
              <a:rPr sz="2000" b="0" spc="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Gill Sans MT"/>
                <a:cs typeface="Gill Sans MT"/>
              </a:rPr>
              <a:t>that</a:t>
            </a:r>
            <a:r>
              <a:rPr sz="2000" b="0" spc="-4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2000" b="0" spc="-5" dirty="0">
                <a:solidFill>
                  <a:srgbClr val="000000"/>
                </a:solidFill>
                <a:latin typeface="Gill Sans MT"/>
                <a:cs typeface="Gill Sans MT"/>
              </a:rPr>
              <a:t>i</a:t>
            </a:r>
            <a:r>
              <a:rPr sz="2000" b="0" dirty="0">
                <a:solidFill>
                  <a:srgbClr val="000000"/>
                </a:solidFill>
                <a:latin typeface="Gill Sans MT"/>
                <a:cs typeface="Gill Sans MT"/>
              </a:rPr>
              <a:t>s used </a:t>
            </a:r>
            <a:r>
              <a:rPr sz="2000" b="0" spc="5" dirty="0">
                <a:solidFill>
                  <a:srgbClr val="000000"/>
                </a:solidFill>
                <a:latin typeface="Gill Sans MT"/>
                <a:cs typeface="Gill Sans MT"/>
              </a:rPr>
              <a:t>t</a:t>
            </a:r>
            <a:r>
              <a:rPr sz="2000" b="0" dirty="0">
                <a:solidFill>
                  <a:srgbClr val="000000"/>
                </a:solidFill>
                <a:latin typeface="Gill Sans MT"/>
                <a:cs typeface="Gill Sans MT"/>
              </a:rPr>
              <a:t>o</a:t>
            </a:r>
            <a:r>
              <a:rPr sz="2000" b="0" spc="-3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Gill Sans MT"/>
                <a:cs typeface="Gill Sans MT"/>
              </a:rPr>
              <a:t>c</a:t>
            </a:r>
            <a:r>
              <a:rPr sz="2000" b="0" spc="-45" dirty="0">
                <a:solidFill>
                  <a:srgbClr val="000000"/>
                </a:solidFill>
                <a:latin typeface="Gill Sans MT"/>
                <a:cs typeface="Gill Sans MT"/>
              </a:rPr>
              <a:t>r</a:t>
            </a:r>
            <a:r>
              <a:rPr sz="2000" b="0" dirty="0">
                <a:solidFill>
                  <a:srgbClr val="000000"/>
                </a:solidFill>
                <a:latin typeface="Gill Sans MT"/>
                <a:cs typeface="Gill Sans MT"/>
              </a:rPr>
              <a:t>eat</a:t>
            </a:r>
            <a:r>
              <a:rPr sz="2000" b="0" spc="35" dirty="0">
                <a:solidFill>
                  <a:srgbClr val="000000"/>
                </a:solidFill>
                <a:latin typeface="Gill Sans MT"/>
                <a:cs typeface="Gill Sans MT"/>
              </a:rPr>
              <a:t>e</a:t>
            </a:r>
            <a:r>
              <a:rPr sz="2000" b="0" dirty="0">
                <a:solidFill>
                  <a:srgbClr val="000000"/>
                </a:solidFill>
                <a:latin typeface="Gill Sans MT"/>
                <a:cs typeface="Gill Sans MT"/>
              </a:rPr>
              <a:t>,</a:t>
            </a:r>
            <a:r>
              <a:rPr sz="2000" b="0" spc="-22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Gill Sans MT"/>
                <a:cs typeface="Gill Sans MT"/>
              </a:rPr>
              <a:t>mai</a:t>
            </a:r>
            <a:r>
              <a:rPr sz="2000" b="0" spc="5" dirty="0">
                <a:solidFill>
                  <a:srgbClr val="000000"/>
                </a:solidFill>
                <a:latin typeface="Gill Sans MT"/>
                <a:cs typeface="Gill Sans MT"/>
              </a:rPr>
              <a:t>n</a:t>
            </a:r>
            <a:r>
              <a:rPr sz="2000" b="0" dirty="0">
                <a:solidFill>
                  <a:srgbClr val="000000"/>
                </a:solidFill>
                <a:latin typeface="Gill Sans MT"/>
                <a:cs typeface="Gill Sans MT"/>
              </a:rPr>
              <a:t>tai</a:t>
            </a:r>
            <a:r>
              <a:rPr sz="2000" b="0" spc="-15" dirty="0">
                <a:solidFill>
                  <a:srgbClr val="000000"/>
                </a:solidFill>
                <a:latin typeface="Gill Sans MT"/>
                <a:cs typeface="Gill Sans MT"/>
              </a:rPr>
              <a:t>n</a:t>
            </a:r>
            <a:r>
              <a:rPr sz="2000" b="0" dirty="0">
                <a:solidFill>
                  <a:srgbClr val="000000"/>
                </a:solidFill>
                <a:latin typeface="Gill Sans MT"/>
                <a:cs typeface="Gill Sans MT"/>
              </a:rPr>
              <a:t>,</a:t>
            </a:r>
            <a:r>
              <a:rPr sz="2000" b="0" spc="-24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Gill Sans MT"/>
                <a:cs typeface="Gill Sans MT"/>
              </a:rPr>
              <a:t>and</a:t>
            </a:r>
            <a:r>
              <a:rPr sz="2000" b="0" spc="-1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Gill Sans MT"/>
                <a:cs typeface="Gill Sans MT"/>
              </a:rPr>
              <a:t>p</a:t>
            </a:r>
            <a:r>
              <a:rPr sz="2000" b="0" spc="-45" dirty="0">
                <a:solidFill>
                  <a:srgbClr val="000000"/>
                </a:solidFill>
                <a:latin typeface="Gill Sans MT"/>
                <a:cs typeface="Gill Sans MT"/>
              </a:rPr>
              <a:t>r</a:t>
            </a:r>
            <a:r>
              <a:rPr sz="2000" b="0" spc="-30" dirty="0">
                <a:solidFill>
                  <a:srgbClr val="000000"/>
                </a:solidFill>
                <a:latin typeface="Gill Sans MT"/>
                <a:cs typeface="Gill Sans MT"/>
              </a:rPr>
              <a:t>o</a:t>
            </a:r>
            <a:r>
              <a:rPr sz="2000" b="0" dirty="0">
                <a:solidFill>
                  <a:srgbClr val="000000"/>
                </a:solidFill>
                <a:latin typeface="Gill Sans MT"/>
                <a:cs typeface="Gill Sans MT"/>
              </a:rPr>
              <a:t>vide</a:t>
            </a:r>
            <a:r>
              <a:rPr sz="2000" b="0" spc="-1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Gill Sans MT"/>
                <a:cs typeface="Gill Sans MT"/>
              </a:rPr>
              <a:t>cont</a:t>
            </a:r>
            <a:r>
              <a:rPr sz="2000" b="0" spc="-55" dirty="0">
                <a:solidFill>
                  <a:srgbClr val="000000"/>
                </a:solidFill>
                <a:latin typeface="Gill Sans MT"/>
                <a:cs typeface="Gill Sans MT"/>
              </a:rPr>
              <a:t>r</a:t>
            </a:r>
            <a:r>
              <a:rPr sz="2000" b="0" dirty="0">
                <a:solidFill>
                  <a:srgbClr val="000000"/>
                </a:solidFill>
                <a:latin typeface="Gill Sans MT"/>
                <a:cs typeface="Gill Sans MT"/>
              </a:rPr>
              <a:t>olled  access</a:t>
            </a:r>
            <a:r>
              <a:rPr sz="2000" b="0" spc="-1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Gill Sans MT"/>
                <a:cs typeface="Gill Sans MT"/>
              </a:rPr>
              <a:t>to</a:t>
            </a:r>
            <a:r>
              <a:rPr sz="2000" b="0" spc="-1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Gill Sans MT"/>
                <a:cs typeface="Gill Sans MT"/>
              </a:rPr>
              <a:t>user</a:t>
            </a:r>
            <a:r>
              <a:rPr sz="2000" b="0" spc="-1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Gill Sans MT"/>
                <a:cs typeface="Gill Sans MT"/>
              </a:rPr>
              <a:t>databases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80666" y="2932938"/>
            <a:ext cx="1506220" cy="682238"/>
          </a:xfrm>
          <a:prstGeom prst="rect">
            <a:avLst/>
          </a:prstGeom>
          <a:solidFill>
            <a:srgbClr val="959595"/>
          </a:solidFill>
          <a:ln w="25908">
            <a:solidFill>
              <a:srgbClr val="990000"/>
            </a:solidFill>
          </a:ln>
        </p:spPr>
        <p:txBody>
          <a:bodyPr vert="horz" wrap="square" lIns="0" tIns="127000" rIns="0" bIns="0" rtlCol="0">
            <a:spAutoFit/>
          </a:bodyPr>
          <a:lstStyle/>
          <a:p>
            <a:pPr marL="455295" marR="182880" indent="-265430">
              <a:spcBef>
                <a:spcPts val="1000"/>
              </a:spcBef>
            </a:pPr>
            <a:r>
              <a:rPr spc="-10" dirty="0">
                <a:latin typeface="Gill Sans MT"/>
                <a:cs typeface="Gill Sans MT"/>
              </a:rPr>
              <a:t>Order</a:t>
            </a:r>
            <a:r>
              <a:rPr spc="-80" dirty="0">
                <a:latin typeface="Gill Sans MT"/>
                <a:cs typeface="Gill Sans MT"/>
              </a:rPr>
              <a:t> </a:t>
            </a:r>
            <a:r>
              <a:rPr spc="-5" dirty="0">
                <a:latin typeface="Gill Sans MT"/>
                <a:cs typeface="Gill Sans MT"/>
              </a:rPr>
              <a:t>Filing </a:t>
            </a:r>
            <a:r>
              <a:rPr spc="-484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System</a:t>
            </a:r>
            <a:endParaRPr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80666" y="3960115"/>
            <a:ext cx="1506220" cy="682879"/>
          </a:xfrm>
          <a:prstGeom prst="rect">
            <a:avLst/>
          </a:prstGeom>
          <a:solidFill>
            <a:srgbClr val="959595"/>
          </a:solidFill>
          <a:ln w="25908">
            <a:solidFill>
              <a:srgbClr val="990000"/>
            </a:solidFill>
          </a:ln>
        </p:spPr>
        <p:txBody>
          <a:bodyPr vert="horz" wrap="square" lIns="0" tIns="127635" rIns="0" bIns="0" rtlCol="0">
            <a:spAutoFit/>
          </a:bodyPr>
          <a:lstStyle/>
          <a:p>
            <a:pPr marL="455295" marR="343535" indent="-105410">
              <a:spcBef>
                <a:spcPts val="1005"/>
              </a:spcBef>
            </a:pPr>
            <a:r>
              <a:rPr dirty="0">
                <a:latin typeface="Gill Sans MT"/>
                <a:cs typeface="Gill Sans MT"/>
              </a:rPr>
              <a:t>I</a:t>
            </a:r>
            <a:r>
              <a:rPr spc="-25" dirty="0">
                <a:latin typeface="Gill Sans MT"/>
                <a:cs typeface="Gill Sans MT"/>
              </a:rPr>
              <a:t>n</a:t>
            </a:r>
            <a:r>
              <a:rPr spc="-35" dirty="0">
                <a:latin typeface="Gill Sans MT"/>
                <a:cs typeface="Gill Sans MT"/>
              </a:rPr>
              <a:t>v</a:t>
            </a:r>
            <a:r>
              <a:rPr dirty="0">
                <a:latin typeface="Gill Sans MT"/>
                <a:cs typeface="Gill Sans MT"/>
              </a:rPr>
              <a:t>oi</a:t>
            </a:r>
            <a:r>
              <a:rPr spc="5" dirty="0">
                <a:latin typeface="Gill Sans MT"/>
                <a:cs typeface="Gill Sans MT"/>
              </a:rPr>
              <a:t>c</a:t>
            </a:r>
            <a:r>
              <a:rPr spc="-5" dirty="0">
                <a:latin typeface="Gill Sans MT"/>
                <a:cs typeface="Gill Sans MT"/>
              </a:rPr>
              <a:t>ing  </a:t>
            </a:r>
            <a:r>
              <a:rPr dirty="0">
                <a:latin typeface="Gill Sans MT"/>
                <a:cs typeface="Gill Sans MT"/>
              </a:rPr>
              <a:t>System</a:t>
            </a:r>
            <a:endParaRPr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80666" y="4987290"/>
            <a:ext cx="1506220" cy="683520"/>
          </a:xfrm>
          <a:prstGeom prst="rect">
            <a:avLst/>
          </a:prstGeom>
          <a:solidFill>
            <a:srgbClr val="959595"/>
          </a:solidFill>
          <a:ln w="25908">
            <a:solidFill>
              <a:srgbClr val="990000"/>
            </a:solidFill>
          </a:ln>
        </p:spPr>
        <p:txBody>
          <a:bodyPr vert="horz" wrap="square" lIns="0" tIns="128270" rIns="0" bIns="0" rtlCol="0">
            <a:spAutoFit/>
          </a:bodyPr>
          <a:lstStyle/>
          <a:p>
            <a:pPr marL="455295" marR="386080" indent="-10795">
              <a:spcBef>
                <a:spcPts val="1010"/>
              </a:spcBef>
            </a:pPr>
            <a:r>
              <a:rPr spc="-20" dirty="0">
                <a:latin typeface="Gill Sans MT"/>
                <a:cs typeface="Gill Sans MT"/>
              </a:rPr>
              <a:t>Payroll </a:t>
            </a:r>
            <a:r>
              <a:rPr spc="-49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S</a:t>
            </a:r>
            <a:r>
              <a:rPr spc="5" dirty="0">
                <a:latin typeface="Gill Sans MT"/>
                <a:cs typeface="Gill Sans MT"/>
              </a:rPr>
              <a:t>y</a:t>
            </a:r>
            <a:r>
              <a:rPr dirty="0">
                <a:latin typeface="Gill Sans MT"/>
                <a:cs typeface="Gill Sans MT"/>
              </a:rPr>
              <a:t>stem</a:t>
            </a:r>
            <a:endParaRPr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19294" y="3960114"/>
            <a:ext cx="1507490" cy="555280"/>
          </a:xfrm>
          <a:prstGeom prst="rect">
            <a:avLst/>
          </a:prstGeom>
          <a:solidFill>
            <a:srgbClr val="959595"/>
          </a:solidFill>
          <a:ln w="25907">
            <a:solidFill>
              <a:srgbClr val="99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spcBef>
                <a:spcPts val="10"/>
              </a:spcBef>
            </a:pPr>
            <a:endParaRPr>
              <a:latin typeface="Times New Roman"/>
              <a:cs typeface="Times New Roman"/>
            </a:endParaRPr>
          </a:p>
          <a:p>
            <a:pPr marL="460375">
              <a:spcBef>
                <a:spcPts val="5"/>
              </a:spcBef>
            </a:pPr>
            <a:r>
              <a:rPr spc="-5" dirty="0">
                <a:latin typeface="Gill Sans MT"/>
                <a:cs typeface="Gill Sans MT"/>
              </a:rPr>
              <a:t>DBMS</a:t>
            </a:r>
            <a:endParaRPr>
              <a:latin typeface="Gill Sans MT"/>
              <a:cs typeface="Gill Sans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86377" y="3274314"/>
            <a:ext cx="1233170" cy="754380"/>
          </a:xfrm>
          <a:custGeom>
            <a:avLst/>
            <a:gdLst/>
            <a:ahLst/>
            <a:cxnLst/>
            <a:rect l="l" t="t" r="r" b="b"/>
            <a:pathLst>
              <a:path w="1233170" h="754379">
                <a:moveTo>
                  <a:pt x="0" y="0"/>
                </a:moveTo>
                <a:lnTo>
                  <a:pt x="1232916" y="754380"/>
                </a:lnTo>
              </a:path>
            </a:pathLst>
          </a:custGeom>
          <a:ln w="25908">
            <a:solidFill>
              <a:srgbClr val="99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86377" y="4371594"/>
            <a:ext cx="1233170" cy="0"/>
          </a:xfrm>
          <a:custGeom>
            <a:avLst/>
            <a:gdLst/>
            <a:ahLst/>
            <a:cxnLst/>
            <a:rect l="l" t="t" r="r" b="b"/>
            <a:pathLst>
              <a:path w="1233170">
                <a:moveTo>
                  <a:pt x="0" y="0"/>
                </a:moveTo>
                <a:lnTo>
                  <a:pt x="1232916" y="0"/>
                </a:lnTo>
              </a:path>
            </a:pathLst>
          </a:custGeom>
          <a:ln w="25908">
            <a:solidFill>
              <a:srgbClr val="99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86377" y="4644390"/>
            <a:ext cx="1233170" cy="754380"/>
          </a:xfrm>
          <a:custGeom>
            <a:avLst/>
            <a:gdLst/>
            <a:ahLst/>
            <a:cxnLst/>
            <a:rect l="l" t="t" r="r" b="b"/>
            <a:pathLst>
              <a:path w="1233170" h="754379">
                <a:moveTo>
                  <a:pt x="0" y="754380"/>
                </a:moveTo>
                <a:lnTo>
                  <a:pt x="1232916" y="0"/>
                </a:lnTo>
              </a:path>
            </a:pathLst>
          </a:custGeom>
          <a:ln w="25908">
            <a:solidFill>
              <a:srgbClr val="99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7266368" y="2988500"/>
            <a:ext cx="2012314" cy="2901950"/>
            <a:chOff x="5742368" y="2988500"/>
            <a:chExt cx="2012314" cy="2901950"/>
          </a:xfrm>
        </p:grpSpPr>
        <p:sp>
          <p:nvSpPr>
            <p:cNvPr id="13" name="object 13"/>
            <p:cNvSpPr/>
            <p:nvPr/>
          </p:nvSpPr>
          <p:spPr>
            <a:xfrm>
              <a:off x="5755385" y="3001518"/>
              <a:ext cx="1986280" cy="2875915"/>
            </a:xfrm>
            <a:custGeom>
              <a:avLst/>
              <a:gdLst/>
              <a:ahLst/>
              <a:cxnLst/>
              <a:rect l="l" t="t" r="r" b="b"/>
              <a:pathLst>
                <a:path w="1986279" h="2875915">
                  <a:moveTo>
                    <a:pt x="992886" y="0"/>
                  </a:moveTo>
                  <a:lnTo>
                    <a:pt x="930091" y="943"/>
                  </a:lnTo>
                  <a:lnTo>
                    <a:pt x="868334" y="3735"/>
                  </a:lnTo>
                  <a:lnTo>
                    <a:pt x="807732" y="8319"/>
                  </a:lnTo>
                  <a:lnTo>
                    <a:pt x="748401" y="14640"/>
                  </a:lnTo>
                  <a:lnTo>
                    <a:pt x="690457" y="22641"/>
                  </a:lnTo>
                  <a:lnTo>
                    <a:pt x="634017" y="32267"/>
                  </a:lnTo>
                  <a:lnTo>
                    <a:pt x="579196" y="43460"/>
                  </a:lnTo>
                  <a:lnTo>
                    <a:pt x="526111" y="56165"/>
                  </a:lnTo>
                  <a:lnTo>
                    <a:pt x="474879" y="70325"/>
                  </a:lnTo>
                  <a:lnTo>
                    <a:pt x="425615" y="85885"/>
                  </a:lnTo>
                  <a:lnTo>
                    <a:pt x="378436" y="102788"/>
                  </a:lnTo>
                  <a:lnTo>
                    <a:pt x="333458" y="120977"/>
                  </a:lnTo>
                  <a:lnTo>
                    <a:pt x="290798" y="140398"/>
                  </a:lnTo>
                  <a:lnTo>
                    <a:pt x="250571" y="160993"/>
                  </a:lnTo>
                  <a:lnTo>
                    <a:pt x="212894" y="182707"/>
                  </a:lnTo>
                  <a:lnTo>
                    <a:pt x="177883" y="205482"/>
                  </a:lnTo>
                  <a:lnTo>
                    <a:pt x="145655" y="229264"/>
                  </a:lnTo>
                  <a:lnTo>
                    <a:pt x="116326" y="253995"/>
                  </a:lnTo>
                  <a:lnTo>
                    <a:pt x="66828" y="306083"/>
                  </a:lnTo>
                  <a:lnTo>
                    <a:pt x="30321" y="361295"/>
                  </a:lnTo>
                  <a:lnTo>
                    <a:pt x="7735" y="419183"/>
                  </a:lnTo>
                  <a:lnTo>
                    <a:pt x="0" y="479298"/>
                  </a:lnTo>
                  <a:lnTo>
                    <a:pt x="0" y="2396490"/>
                  </a:lnTo>
                  <a:lnTo>
                    <a:pt x="7735" y="2456611"/>
                  </a:lnTo>
                  <a:lnTo>
                    <a:pt x="30321" y="2514504"/>
                  </a:lnTo>
                  <a:lnTo>
                    <a:pt x="66828" y="2569720"/>
                  </a:lnTo>
                  <a:lnTo>
                    <a:pt x="116326" y="2621809"/>
                  </a:lnTo>
                  <a:lnTo>
                    <a:pt x="145655" y="2646540"/>
                  </a:lnTo>
                  <a:lnTo>
                    <a:pt x="177883" y="2670322"/>
                  </a:lnTo>
                  <a:lnTo>
                    <a:pt x="212894" y="2693097"/>
                  </a:lnTo>
                  <a:lnTo>
                    <a:pt x="250571" y="2714809"/>
                  </a:lnTo>
                  <a:lnTo>
                    <a:pt x="290798" y="2735403"/>
                  </a:lnTo>
                  <a:lnTo>
                    <a:pt x="333458" y="2754823"/>
                  </a:lnTo>
                  <a:lnTo>
                    <a:pt x="378436" y="2773011"/>
                  </a:lnTo>
                  <a:lnTo>
                    <a:pt x="425615" y="2789912"/>
                  </a:lnTo>
                  <a:lnTo>
                    <a:pt x="474879" y="2805471"/>
                  </a:lnTo>
                  <a:lnTo>
                    <a:pt x="526111" y="2819630"/>
                  </a:lnTo>
                  <a:lnTo>
                    <a:pt x="579196" y="2832333"/>
                  </a:lnTo>
                  <a:lnTo>
                    <a:pt x="634017" y="2843525"/>
                  </a:lnTo>
                  <a:lnTo>
                    <a:pt x="690457" y="2853149"/>
                  </a:lnTo>
                  <a:lnTo>
                    <a:pt x="748401" y="2861149"/>
                  </a:lnTo>
                  <a:lnTo>
                    <a:pt x="807732" y="2867469"/>
                  </a:lnTo>
                  <a:lnTo>
                    <a:pt x="868334" y="2872053"/>
                  </a:lnTo>
                  <a:lnTo>
                    <a:pt x="930091" y="2874845"/>
                  </a:lnTo>
                  <a:lnTo>
                    <a:pt x="992886" y="2875788"/>
                  </a:lnTo>
                  <a:lnTo>
                    <a:pt x="1055680" y="2874845"/>
                  </a:lnTo>
                  <a:lnTo>
                    <a:pt x="1117437" y="2872053"/>
                  </a:lnTo>
                  <a:lnTo>
                    <a:pt x="1178039" y="2867469"/>
                  </a:lnTo>
                  <a:lnTo>
                    <a:pt x="1237370" y="2861149"/>
                  </a:lnTo>
                  <a:lnTo>
                    <a:pt x="1295314" y="2853149"/>
                  </a:lnTo>
                  <a:lnTo>
                    <a:pt x="1351754" y="2843525"/>
                  </a:lnTo>
                  <a:lnTo>
                    <a:pt x="1406575" y="2832333"/>
                  </a:lnTo>
                  <a:lnTo>
                    <a:pt x="1459660" y="2819630"/>
                  </a:lnTo>
                  <a:lnTo>
                    <a:pt x="1510892" y="2805471"/>
                  </a:lnTo>
                  <a:lnTo>
                    <a:pt x="1560156" y="2789912"/>
                  </a:lnTo>
                  <a:lnTo>
                    <a:pt x="1607335" y="2773011"/>
                  </a:lnTo>
                  <a:lnTo>
                    <a:pt x="1652313" y="2754823"/>
                  </a:lnTo>
                  <a:lnTo>
                    <a:pt x="1694973" y="2735403"/>
                  </a:lnTo>
                  <a:lnTo>
                    <a:pt x="1735200" y="2714809"/>
                  </a:lnTo>
                  <a:lnTo>
                    <a:pt x="1772877" y="2693097"/>
                  </a:lnTo>
                  <a:lnTo>
                    <a:pt x="1807888" y="2670322"/>
                  </a:lnTo>
                  <a:lnTo>
                    <a:pt x="1840116" y="2646540"/>
                  </a:lnTo>
                  <a:lnTo>
                    <a:pt x="1869445" y="2621809"/>
                  </a:lnTo>
                  <a:lnTo>
                    <a:pt x="1918943" y="2569720"/>
                  </a:lnTo>
                  <a:lnTo>
                    <a:pt x="1955450" y="2514504"/>
                  </a:lnTo>
                  <a:lnTo>
                    <a:pt x="1978036" y="2456611"/>
                  </a:lnTo>
                  <a:lnTo>
                    <a:pt x="1985771" y="2396490"/>
                  </a:lnTo>
                  <a:lnTo>
                    <a:pt x="1985771" y="479298"/>
                  </a:lnTo>
                  <a:lnTo>
                    <a:pt x="1978036" y="419183"/>
                  </a:lnTo>
                  <a:lnTo>
                    <a:pt x="1955450" y="361295"/>
                  </a:lnTo>
                  <a:lnTo>
                    <a:pt x="1918943" y="306083"/>
                  </a:lnTo>
                  <a:lnTo>
                    <a:pt x="1869445" y="253995"/>
                  </a:lnTo>
                  <a:lnTo>
                    <a:pt x="1840116" y="229264"/>
                  </a:lnTo>
                  <a:lnTo>
                    <a:pt x="1807888" y="205482"/>
                  </a:lnTo>
                  <a:lnTo>
                    <a:pt x="1772877" y="182707"/>
                  </a:lnTo>
                  <a:lnTo>
                    <a:pt x="1735200" y="160993"/>
                  </a:lnTo>
                  <a:lnTo>
                    <a:pt x="1694973" y="140398"/>
                  </a:lnTo>
                  <a:lnTo>
                    <a:pt x="1652313" y="120977"/>
                  </a:lnTo>
                  <a:lnTo>
                    <a:pt x="1607335" y="102788"/>
                  </a:lnTo>
                  <a:lnTo>
                    <a:pt x="1560156" y="85885"/>
                  </a:lnTo>
                  <a:lnTo>
                    <a:pt x="1510892" y="70325"/>
                  </a:lnTo>
                  <a:lnTo>
                    <a:pt x="1459660" y="56165"/>
                  </a:lnTo>
                  <a:lnTo>
                    <a:pt x="1406575" y="43460"/>
                  </a:lnTo>
                  <a:lnTo>
                    <a:pt x="1351754" y="32267"/>
                  </a:lnTo>
                  <a:lnTo>
                    <a:pt x="1295314" y="22641"/>
                  </a:lnTo>
                  <a:lnTo>
                    <a:pt x="1237370" y="14640"/>
                  </a:lnTo>
                  <a:lnTo>
                    <a:pt x="1178039" y="8319"/>
                  </a:lnTo>
                  <a:lnTo>
                    <a:pt x="1117437" y="3735"/>
                  </a:lnTo>
                  <a:lnTo>
                    <a:pt x="1055680" y="943"/>
                  </a:lnTo>
                  <a:lnTo>
                    <a:pt x="992886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55385" y="3001518"/>
              <a:ext cx="1986280" cy="2875915"/>
            </a:xfrm>
            <a:custGeom>
              <a:avLst/>
              <a:gdLst/>
              <a:ahLst/>
              <a:cxnLst/>
              <a:rect l="l" t="t" r="r" b="b"/>
              <a:pathLst>
                <a:path w="1986279" h="2875915">
                  <a:moveTo>
                    <a:pt x="1985771" y="479298"/>
                  </a:moveTo>
                  <a:lnTo>
                    <a:pt x="1978036" y="539412"/>
                  </a:lnTo>
                  <a:lnTo>
                    <a:pt x="1955450" y="597300"/>
                  </a:lnTo>
                  <a:lnTo>
                    <a:pt x="1918943" y="652512"/>
                  </a:lnTo>
                  <a:lnTo>
                    <a:pt x="1869445" y="704600"/>
                  </a:lnTo>
                  <a:lnTo>
                    <a:pt x="1840116" y="729331"/>
                  </a:lnTo>
                  <a:lnTo>
                    <a:pt x="1807888" y="753113"/>
                  </a:lnTo>
                  <a:lnTo>
                    <a:pt x="1772877" y="775888"/>
                  </a:lnTo>
                  <a:lnTo>
                    <a:pt x="1735200" y="797602"/>
                  </a:lnTo>
                  <a:lnTo>
                    <a:pt x="1694973" y="818197"/>
                  </a:lnTo>
                  <a:lnTo>
                    <a:pt x="1652313" y="837618"/>
                  </a:lnTo>
                  <a:lnTo>
                    <a:pt x="1607335" y="855807"/>
                  </a:lnTo>
                  <a:lnTo>
                    <a:pt x="1560156" y="872710"/>
                  </a:lnTo>
                  <a:lnTo>
                    <a:pt x="1510892" y="888270"/>
                  </a:lnTo>
                  <a:lnTo>
                    <a:pt x="1459660" y="902430"/>
                  </a:lnTo>
                  <a:lnTo>
                    <a:pt x="1406575" y="915135"/>
                  </a:lnTo>
                  <a:lnTo>
                    <a:pt x="1351754" y="926328"/>
                  </a:lnTo>
                  <a:lnTo>
                    <a:pt x="1295314" y="935954"/>
                  </a:lnTo>
                  <a:lnTo>
                    <a:pt x="1237370" y="943955"/>
                  </a:lnTo>
                  <a:lnTo>
                    <a:pt x="1178039" y="950276"/>
                  </a:lnTo>
                  <a:lnTo>
                    <a:pt x="1117437" y="954860"/>
                  </a:lnTo>
                  <a:lnTo>
                    <a:pt x="1055680" y="957652"/>
                  </a:lnTo>
                  <a:lnTo>
                    <a:pt x="992886" y="958596"/>
                  </a:lnTo>
                  <a:lnTo>
                    <a:pt x="930091" y="957652"/>
                  </a:lnTo>
                  <a:lnTo>
                    <a:pt x="868334" y="954860"/>
                  </a:lnTo>
                  <a:lnTo>
                    <a:pt x="807732" y="950276"/>
                  </a:lnTo>
                  <a:lnTo>
                    <a:pt x="748401" y="943955"/>
                  </a:lnTo>
                  <a:lnTo>
                    <a:pt x="690457" y="935954"/>
                  </a:lnTo>
                  <a:lnTo>
                    <a:pt x="634017" y="926328"/>
                  </a:lnTo>
                  <a:lnTo>
                    <a:pt x="579196" y="915135"/>
                  </a:lnTo>
                  <a:lnTo>
                    <a:pt x="526111" y="902430"/>
                  </a:lnTo>
                  <a:lnTo>
                    <a:pt x="474879" y="888270"/>
                  </a:lnTo>
                  <a:lnTo>
                    <a:pt x="425615" y="872710"/>
                  </a:lnTo>
                  <a:lnTo>
                    <a:pt x="378436" y="855807"/>
                  </a:lnTo>
                  <a:lnTo>
                    <a:pt x="333458" y="837618"/>
                  </a:lnTo>
                  <a:lnTo>
                    <a:pt x="290798" y="818197"/>
                  </a:lnTo>
                  <a:lnTo>
                    <a:pt x="250571" y="797602"/>
                  </a:lnTo>
                  <a:lnTo>
                    <a:pt x="212894" y="775888"/>
                  </a:lnTo>
                  <a:lnTo>
                    <a:pt x="177883" y="753113"/>
                  </a:lnTo>
                  <a:lnTo>
                    <a:pt x="145655" y="729331"/>
                  </a:lnTo>
                  <a:lnTo>
                    <a:pt x="116326" y="704600"/>
                  </a:lnTo>
                  <a:lnTo>
                    <a:pt x="66828" y="652512"/>
                  </a:lnTo>
                  <a:lnTo>
                    <a:pt x="30321" y="597300"/>
                  </a:lnTo>
                  <a:lnTo>
                    <a:pt x="7735" y="539412"/>
                  </a:lnTo>
                  <a:lnTo>
                    <a:pt x="1953" y="509605"/>
                  </a:lnTo>
                  <a:lnTo>
                    <a:pt x="0" y="479298"/>
                  </a:lnTo>
                </a:path>
                <a:path w="1986279" h="2875915">
                  <a:moveTo>
                    <a:pt x="0" y="479298"/>
                  </a:moveTo>
                  <a:lnTo>
                    <a:pt x="7735" y="419183"/>
                  </a:lnTo>
                  <a:lnTo>
                    <a:pt x="30321" y="361295"/>
                  </a:lnTo>
                  <a:lnTo>
                    <a:pt x="66828" y="306083"/>
                  </a:lnTo>
                  <a:lnTo>
                    <a:pt x="116326" y="253995"/>
                  </a:lnTo>
                  <a:lnTo>
                    <a:pt x="145655" y="229264"/>
                  </a:lnTo>
                  <a:lnTo>
                    <a:pt x="177883" y="205482"/>
                  </a:lnTo>
                  <a:lnTo>
                    <a:pt x="212894" y="182707"/>
                  </a:lnTo>
                  <a:lnTo>
                    <a:pt x="250571" y="160993"/>
                  </a:lnTo>
                  <a:lnTo>
                    <a:pt x="290798" y="140398"/>
                  </a:lnTo>
                  <a:lnTo>
                    <a:pt x="333458" y="120977"/>
                  </a:lnTo>
                  <a:lnTo>
                    <a:pt x="378436" y="102788"/>
                  </a:lnTo>
                  <a:lnTo>
                    <a:pt x="425615" y="85885"/>
                  </a:lnTo>
                  <a:lnTo>
                    <a:pt x="474879" y="70325"/>
                  </a:lnTo>
                  <a:lnTo>
                    <a:pt x="526111" y="56165"/>
                  </a:lnTo>
                  <a:lnTo>
                    <a:pt x="579196" y="43460"/>
                  </a:lnTo>
                  <a:lnTo>
                    <a:pt x="634017" y="32267"/>
                  </a:lnTo>
                  <a:lnTo>
                    <a:pt x="690457" y="22641"/>
                  </a:lnTo>
                  <a:lnTo>
                    <a:pt x="748401" y="14640"/>
                  </a:lnTo>
                  <a:lnTo>
                    <a:pt x="807732" y="8319"/>
                  </a:lnTo>
                  <a:lnTo>
                    <a:pt x="868334" y="3735"/>
                  </a:lnTo>
                  <a:lnTo>
                    <a:pt x="930091" y="943"/>
                  </a:lnTo>
                  <a:lnTo>
                    <a:pt x="992886" y="0"/>
                  </a:lnTo>
                  <a:lnTo>
                    <a:pt x="1055680" y="943"/>
                  </a:lnTo>
                  <a:lnTo>
                    <a:pt x="1117437" y="3735"/>
                  </a:lnTo>
                  <a:lnTo>
                    <a:pt x="1178039" y="8319"/>
                  </a:lnTo>
                  <a:lnTo>
                    <a:pt x="1237370" y="14640"/>
                  </a:lnTo>
                  <a:lnTo>
                    <a:pt x="1295314" y="22641"/>
                  </a:lnTo>
                  <a:lnTo>
                    <a:pt x="1351754" y="32267"/>
                  </a:lnTo>
                  <a:lnTo>
                    <a:pt x="1406575" y="43460"/>
                  </a:lnTo>
                  <a:lnTo>
                    <a:pt x="1459660" y="56165"/>
                  </a:lnTo>
                  <a:lnTo>
                    <a:pt x="1510892" y="70325"/>
                  </a:lnTo>
                  <a:lnTo>
                    <a:pt x="1560156" y="85885"/>
                  </a:lnTo>
                  <a:lnTo>
                    <a:pt x="1607335" y="102788"/>
                  </a:lnTo>
                  <a:lnTo>
                    <a:pt x="1652313" y="120977"/>
                  </a:lnTo>
                  <a:lnTo>
                    <a:pt x="1694973" y="140398"/>
                  </a:lnTo>
                  <a:lnTo>
                    <a:pt x="1735200" y="160993"/>
                  </a:lnTo>
                  <a:lnTo>
                    <a:pt x="1772877" y="182707"/>
                  </a:lnTo>
                  <a:lnTo>
                    <a:pt x="1807888" y="205482"/>
                  </a:lnTo>
                  <a:lnTo>
                    <a:pt x="1840116" y="229264"/>
                  </a:lnTo>
                  <a:lnTo>
                    <a:pt x="1869445" y="253995"/>
                  </a:lnTo>
                  <a:lnTo>
                    <a:pt x="1918943" y="306083"/>
                  </a:lnTo>
                  <a:lnTo>
                    <a:pt x="1955450" y="361295"/>
                  </a:lnTo>
                  <a:lnTo>
                    <a:pt x="1978036" y="419183"/>
                  </a:lnTo>
                  <a:lnTo>
                    <a:pt x="1985771" y="479298"/>
                  </a:lnTo>
                  <a:lnTo>
                    <a:pt x="1985771" y="2396490"/>
                  </a:lnTo>
                  <a:lnTo>
                    <a:pt x="1978036" y="2456611"/>
                  </a:lnTo>
                  <a:lnTo>
                    <a:pt x="1955450" y="2514504"/>
                  </a:lnTo>
                  <a:lnTo>
                    <a:pt x="1918943" y="2569720"/>
                  </a:lnTo>
                  <a:lnTo>
                    <a:pt x="1869445" y="2621809"/>
                  </a:lnTo>
                  <a:lnTo>
                    <a:pt x="1840116" y="2646540"/>
                  </a:lnTo>
                  <a:lnTo>
                    <a:pt x="1807888" y="2670322"/>
                  </a:lnTo>
                  <a:lnTo>
                    <a:pt x="1772877" y="2693097"/>
                  </a:lnTo>
                  <a:lnTo>
                    <a:pt x="1735200" y="2714809"/>
                  </a:lnTo>
                  <a:lnTo>
                    <a:pt x="1694973" y="2735403"/>
                  </a:lnTo>
                  <a:lnTo>
                    <a:pt x="1652313" y="2754823"/>
                  </a:lnTo>
                  <a:lnTo>
                    <a:pt x="1607335" y="2773011"/>
                  </a:lnTo>
                  <a:lnTo>
                    <a:pt x="1560156" y="2789912"/>
                  </a:lnTo>
                  <a:lnTo>
                    <a:pt x="1510892" y="2805471"/>
                  </a:lnTo>
                  <a:lnTo>
                    <a:pt x="1459660" y="2819630"/>
                  </a:lnTo>
                  <a:lnTo>
                    <a:pt x="1406575" y="2832333"/>
                  </a:lnTo>
                  <a:lnTo>
                    <a:pt x="1351754" y="2843525"/>
                  </a:lnTo>
                  <a:lnTo>
                    <a:pt x="1295314" y="2853149"/>
                  </a:lnTo>
                  <a:lnTo>
                    <a:pt x="1237370" y="2861149"/>
                  </a:lnTo>
                  <a:lnTo>
                    <a:pt x="1178039" y="2867469"/>
                  </a:lnTo>
                  <a:lnTo>
                    <a:pt x="1117437" y="2872053"/>
                  </a:lnTo>
                  <a:lnTo>
                    <a:pt x="1055680" y="2874845"/>
                  </a:lnTo>
                  <a:lnTo>
                    <a:pt x="992886" y="2875788"/>
                  </a:lnTo>
                  <a:lnTo>
                    <a:pt x="930091" y="2874845"/>
                  </a:lnTo>
                  <a:lnTo>
                    <a:pt x="868334" y="2872053"/>
                  </a:lnTo>
                  <a:lnTo>
                    <a:pt x="807732" y="2867469"/>
                  </a:lnTo>
                  <a:lnTo>
                    <a:pt x="748401" y="2861149"/>
                  </a:lnTo>
                  <a:lnTo>
                    <a:pt x="690457" y="2853149"/>
                  </a:lnTo>
                  <a:lnTo>
                    <a:pt x="634017" y="2843525"/>
                  </a:lnTo>
                  <a:lnTo>
                    <a:pt x="579196" y="2832333"/>
                  </a:lnTo>
                  <a:lnTo>
                    <a:pt x="526111" y="2819630"/>
                  </a:lnTo>
                  <a:lnTo>
                    <a:pt x="474879" y="2805471"/>
                  </a:lnTo>
                  <a:lnTo>
                    <a:pt x="425615" y="2789912"/>
                  </a:lnTo>
                  <a:lnTo>
                    <a:pt x="378436" y="2773011"/>
                  </a:lnTo>
                  <a:lnTo>
                    <a:pt x="333458" y="2754823"/>
                  </a:lnTo>
                  <a:lnTo>
                    <a:pt x="290798" y="2735403"/>
                  </a:lnTo>
                  <a:lnTo>
                    <a:pt x="250571" y="2714809"/>
                  </a:lnTo>
                  <a:lnTo>
                    <a:pt x="212894" y="2693097"/>
                  </a:lnTo>
                  <a:lnTo>
                    <a:pt x="177883" y="2670322"/>
                  </a:lnTo>
                  <a:lnTo>
                    <a:pt x="145655" y="2646540"/>
                  </a:lnTo>
                  <a:lnTo>
                    <a:pt x="116326" y="2621809"/>
                  </a:lnTo>
                  <a:lnTo>
                    <a:pt x="66828" y="2569720"/>
                  </a:lnTo>
                  <a:lnTo>
                    <a:pt x="30321" y="2514504"/>
                  </a:lnTo>
                  <a:lnTo>
                    <a:pt x="7735" y="2456611"/>
                  </a:lnTo>
                  <a:lnTo>
                    <a:pt x="0" y="2396490"/>
                  </a:lnTo>
                  <a:lnTo>
                    <a:pt x="0" y="479298"/>
                  </a:lnTo>
                  <a:close/>
                </a:path>
              </a:pathLst>
            </a:custGeom>
            <a:ln w="25908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479029" y="3971670"/>
            <a:ext cx="1586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Gill Sans MT"/>
                <a:cs typeface="Gill Sans MT"/>
              </a:rPr>
              <a:t>Central</a:t>
            </a:r>
            <a:r>
              <a:rPr spc="-55" dirty="0">
                <a:latin typeface="Gill Sans MT"/>
                <a:cs typeface="Gill Sans MT"/>
              </a:rPr>
              <a:t> </a:t>
            </a:r>
            <a:r>
              <a:rPr spc="-5" dirty="0">
                <a:latin typeface="Gill Sans MT"/>
                <a:cs typeface="Gill Sans MT"/>
              </a:rPr>
              <a:t>database</a:t>
            </a:r>
            <a:endParaRPr>
              <a:latin typeface="Gill Sans MT"/>
              <a:cs typeface="Gill Sans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43394" y="4520311"/>
            <a:ext cx="18580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spcBef>
                <a:spcPts val="100"/>
              </a:spcBef>
            </a:pPr>
            <a:r>
              <a:rPr dirty="0">
                <a:latin typeface="Gill Sans MT"/>
                <a:cs typeface="Gill Sans MT"/>
              </a:rPr>
              <a:t>Contains</a:t>
            </a:r>
            <a:r>
              <a:rPr spc="-110" dirty="0">
                <a:latin typeface="Gill Sans MT"/>
                <a:cs typeface="Gill Sans MT"/>
              </a:rPr>
              <a:t> </a:t>
            </a:r>
            <a:r>
              <a:rPr spc="-5" dirty="0">
                <a:latin typeface="Gill Sans MT"/>
                <a:cs typeface="Gill Sans MT"/>
              </a:rPr>
              <a:t>employee, </a:t>
            </a:r>
            <a:r>
              <a:rPr spc="-484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o</a:t>
            </a:r>
            <a:r>
              <a:rPr spc="-30" dirty="0">
                <a:latin typeface="Gill Sans MT"/>
                <a:cs typeface="Gill Sans MT"/>
              </a:rPr>
              <a:t>r</a:t>
            </a:r>
            <a:r>
              <a:rPr spc="-10" dirty="0">
                <a:latin typeface="Gill Sans MT"/>
                <a:cs typeface="Gill Sans MT"/>
              </a:rPr>
              <a:t>d</a:t>
            </a:r>
            <a:r>
              <a:rPr dirty="0">
                <a:latin typeface="Gill Sans MT"/>
                <a:cs typeface="Gill Sans MT"/>
              </a:rPr>
              <a:t>e</a:t>
            </a:r>
            <a:r>
              <a:rPr spc="-190" dirty="0">
                <a:latin typeface="Gill Sans MT"/>
                <a:cs typeface="Gill Sans MT"/>
              </a:rPr>
              <a:t>r</a:t>
            </a:r>
            <a:r>
              <a:rPr dirty="0">
                <a:latin typeface="Gill Sans MT"/>
                <a:cs typeface="Gill Sans MT"/>
              </a:rPr>
              <a:t>,</a:t>
            </a:r>
            <a:r>
              <a:rPr spc="-180" dirty="0">
                <a:latin typeface="Gill Sans MT"/>
                <a:cs typeface="Gill Sans MT"/>
              </a:rPr>
              <a:t> </a:t>
            </a:r>
            <a:r>
              <a:rPr spc="-5" dirty="0">
                <a:latin typeface="Gill Sans MT"/>
                <a:cs typeface="Gill Sans MT"/>
              </a:rPr>
              <a:t>i</a:t>
            </a:r>
            <a:r>
              <a:rPr spc="-25" dirty="0">
                <a:latin typeface="Gill Sans MT"/>
                <a:cs typeface="Gill Sans MT"/>
              </a:rPr>
              <a:t>n</a:t>
            </a:r>
            <a:r>
              <a:rPr spc="-35" dirty="0">
                <a:latin typeface="Gill Sans MT"/>
                <a:cs typeface="Gill Sans MT"/>
              </a:rPr>
              <a:t>v</a:t>
            </a:r>
            <a:r>
              <a:rPr dirty="0">
                <a:latin typeface="Gill Sans MT"/>
                <a:cs typeface="Gill Sans MT"/>
              </a:rPr>
              <a:t>ento</a:t>
            </a:r>
            <a:r>
              <a:rPr spc="40" dirty="0">
                <a:latin typeface="Gill Sans MT"/>
                <a:cs typeface="Gill Sans MT"/>
              </a:rPr>
              <a:t>r</a:t>
            </a:r>
            <a:r>
              <a:rPr spc="-145" dirty="0">
                <a:latin typeface="Gill Sans MT"/>
                <a:cs typeface="Gill Sans MT"/>
              </a:rPr>
              <a:t>y</a:t>
            </a:r>
            <a:r>
              <a:rPr dirty="0">
                <a:latin typeface="Gill Sans MT"/>
                <a:cs typeface="Gill Sans MT"/>
              </a:rPr>
              <a:t>,  pricing,</a:t>
            </a:r>
            <a:r>
              <a:rPr spc="-18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and  customer</a:t>
            </a:r>
            <a:r>
              <a:rPr spc="-3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data</a:t>
            </a:r>
            <a:endParaRPr>
              <a:latin typeface="Gill Sans MT"/>
              <a:cs typeface="Gill Sans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526529" y="4371594"/>
            <a:ext cx="753110" cy="0"/>
          </a:xfrm>
          <a:custGeom>
            <a:avLst/>
            <a:gdLst/>
            <a:ahLst/>
            <a:cxnLst/>
            <a:rect l="l" t="t" r="r" b="b"/>
            <a:pathLst>
              <a:path w="753110">
                <a:moveTo>
                  <a:pt x="0" y="0"/>
                </a:moveTo>
                <a:lnTo>
                  <a:pt x="752856" y="0"/>
                </a:lnTo>
              </a:path>
            </a:pathLst>
          </a:custGeom>
          <a:ln w="25908">
            <a:solidFill>
              <a:srgbClr val="99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2056" y="600455"/>
            <a:ext cx="8239125" cy="1143262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spcBef>
                <a:spcPts val="35"/>
              </a:spcBef>
            </a:pPr>
            <a:endParaRPr sz="3600">
              <a:latin typeface="Times New Roman"/>
              <a:cs typeface="Times New Roman"/>
            </a:endParaRPr>
          </a:p>
          <a:p>
            <a:pPr marL="224154"/>
            <a:r>
              <a:rPr sz="3800" dirty="0"/>
              <a:t>D</a:t>
            </a:r>
            <a:r>
              <a:rPr sz="3800" spc="-360" dirty="0"/>
              <a:t>A</a:t>
            </a:r>
            <a:r>
              <a:rPr sz="3800" spc="-365" dirty="0"/>
              <a:t>T</a:t>
            </a:r>
            <a:r>
              <a:rPr sz="3800" spc="-5" dirty="0"/>
              <a:t>ABAS</a:t>
            </a:r>
            <a:r>
              <a:rPr sz="3800" dirty="0"/>
              <a:t>E</a:t>
            </a:r>
            <a:r>
              <a:rPr sz="3800" spc="-225" dirty="0"/>
              <a:t> </a:t>
            </a:r>
            <a:r>
              <a:rPr sz="3800" spc="-5" dirty="0"/>
              <a:t>APPLIC</a:t>
            </a:r>
            <a:r>
              <a:rPr sz="3800" spc="-375" dirty="0"/>
              <a:t>A</a:t>
            </a:r>
            <a:r>
              <a:rPr sz="3800" dirty="0"/>
              <a:t>TION</a:t>
            </a:r>
            <a:r>
              <a:rPr sz="3800" spc="-15" dirty="0"/>
              <a:t> </a:t>
            </a:r>
            <a:r>
              <a:rPr sz="3800" dirty="0"/>
              <a:t>PROGRAM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2429967" y="3681221"/>
            <a:ext cx="7571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5080" indent="-304800">
              <a:spcBef>
                <a:spcPts val="1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b="1" spc="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software</a:t>
            </a:r>
            <a:r>
              <a:rPr b="1" spc="1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10" dirty="0">
                <a:solidFill>
                  <a:srgbClr val="3C3C3C"/>
                </a:solidFill>
                <a:latin typeface="Trebuchet MS"/>
                <a:cs typeface="Trebuchet MS"/>
              </a:rPr>
              <a:t>program</a:t>
            </a:r>
            <a:r>
              <a:rPr b="1" spc="1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that</a:t>
            </a:r>
            <a:r>
              <a:rPr b="1" spc="1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10" dirty="0">
                <a:solidFill>
                  <a:srgbClr val="3C3C3C"/>
                </a:solidFill>
                <a:latin typeface="Trebuchet MS"/>
                <a:cs typeface="Trebuchet MS"/>
              </a:rPr>
              <a:t>interacts</a:t>
            </a:r>
            <a:r>
              <a:rPr b="1" spc="1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with</a:t>
            </a:r>
            <a:r>
              <a:rPr b="1" spc="1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b="1" spc="1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database</a:t>
            </a:r>
            <a:r>
              <a:rPr b="1" spc="1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by</a:t>
            </a:r>
            <a:r>
              <a:rPr b="1" spc="1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issuing</a:t>
            </a:r>
            <a:r>
              <a:rPr b="1" spc="1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an </a:t>
            </a:r>
            <a:r>
              <a:rPr b="1" spc="-5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appropriate</a:t>
            </a:r>
            <a:r>
              <a:rPr b="1" spc="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request (typically</a:t>
            </a:r>
            <a:r>
              <a:rPr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an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 SQL</a:t>
            </a:r>
            <a:r>
              <a:rPr b="1" spc="-7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statement)</a:t>
            </a:r>
            <a:r>
              <a:rPr b="1" spc="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to</a:t>
            </a:r>
            <a:r>
              <a:rPr b="1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b="1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DBMS.</a:t>
            </a:r>
            <a:endParaRPr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972056" y="441960"/>
          <a:ext cx="8237855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9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4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24154">
                        <a:lnSpc>
                          <a:spcPct val="100000"/>
                        </a:lnSpc>
                        <a:spcBef>
                          <a:spcPts val="1925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VIEWS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503119" y="3412998"/>
            <a:ext cx="6979920" cy="1110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indent="-305435">
              <a:spcBef>
                <a:spcPts val="1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8135" algn="l"/>
              </a:tabLst>
            </a:pP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Allows</a:t>
            </a:r>
            <a:r>
              <a:rPr b="1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each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user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 to</a:t>
            </a:r>
            <a:r>
              <a:rPr b="1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have</a:t>
            </a:r>
            <a:r>
              <a:rPr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his</a:t>
            </a:r>
            <a:r>
              <a:rPr b="1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or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her</a:t>
            </a:r>
            <a:r>
              <a:rPr b="1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own</a:t>
            </a:r>
            <a:r>
              <a:rPr b="1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10" dirty="0">
                <a:solidFill>
                  <a:srgbClr val="3C3C3C"/>
                </a:solidFill>
                <a:latin typeface="Trebuchet MS"/>
                <a:cs typeface="Trebuchet MS"/>
              </a:rPr>
              <a:t>view</a:t>
            </a:r>
            <a:r>
              <a:rPr b="1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b="1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b="1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database.</a:t>
            </a:r>
            <a:endParaRPr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4590B8"/>
              </a:buClr>
              <a:buFont typeface="Wingdings 2"/>
              <a:buChar char=""/>
            </a:pPr>
            <a:endParaRPr sz="2100">
              <a:latin typeface="Trebuchet MS"/>
              <a:cs typeface="Trebuchet MS"/>
            </a:endParaRPr>
          </a:p>
          <a:p>
            <a:pPr marL="317500" indent="-305435">
              <a:spcBef>
                <a:spcPts val="178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8135" algn="l"/>
              </a:tabLst>
            </a:pP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b="1" spc="-1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10" dirty="0">
                <a:solidFill>
                  <a:srgbClr val="3C3C3C"/>
                </a:solidFill>
                <a:latin typeface="Trebuchet MS"/>
                <a:cs typeface="Trebuchet MS"/>
              </a:rPr>
              <a:t>view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 is</a:t>
            </a:r>
            <a:r>
              <a:rPr b="1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essentially</a:t>
            </a:r>
            <a:r>
              <a:rPr b="1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some</a:t>
            </a:r>
            <a:r>
              <a:rPr b="1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subset</a:t>
            </a:r>
            <a:r>
              <a:rPr b="1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b="1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b="1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database.</a:t>
            </a:r>
            <a:endParaRPr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972056" y="441960"/>
          <a:ext cx="8237855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9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4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24154">
                        <a:lnSpc>
                          <a:spcPct val="100000"/>
                        </a:lnSpc>
                        <a:spcBef>
                          <a:spcPts val="1925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VIEWS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574443" y="2702585"/>
            <a:ext cx="7126605" cy="2078355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316865" indent="-304800">
              <a:spcBef>
                <a:spcPts val="202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7500" algn="l"/>
              </a:tabLst>
            </a:pPr>
            <a:r>
              <a:rPr sz="3600" b="1" spc="-5" dirty="0">
                <a:solidFill>
                  <a:srgbClr val="3C3C3C"/>
                </a:solidFill>
                <a:latin typeface="Trebuchet MS"/>
                <a:cs typeface="Trebuchet MS"/>
              </a:rPr>
              <a:t>Benefits</a:t>
            </a:r>
            <a:r>
              <a:rPr sz="3600" b="1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3600" b="1" spc="-5" dirty="0">
                <a:solidFill>
                  <a:srgbClr val="3C3C3C"/>
                </a:solidFill>
                <a:latin typeface="Trebuchet MS"/>
                <a:cs typeface="Trebuchet MS"/>
              </a:rPr>
              <a:t>include:</a:t>
            </a:r>
            <a:endParaRPr sz="3600">
              <a:latin typeface="Trebuchet MS"/>
              <a:cs typeface="Trebuchet MS"/>
            </a:endParaRPr>
          </a:p>
          <a:p>
            <a:pPr marL="641985" lvl="1" indent="-305435">
              <a:spcBef>
                <a:spcPts val="850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600" b="1" dirty="0">
                <a:solidFill>
                  <a:srgbClr val="3C3C3C"/>
                </a:solidFill>
                <a:latin typeface="Trebuchet MS"/>
                <a:cs typeface="Trebuchet MS"/>
              </a:rPr>
              <a:t>Provide</a:t>
            </a:r>
            <a:r>
              <a:rPr sz="1600" b="1" spc="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 level</a:t>
            </a:r>
            <a:r>
              <a:rPr sz="1600" b="1" spc="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of security;</a:t>
            </a:r>
            <a:endParaRPr sz="1600">
              <a:latin typeface="Trebuchet MS"/>
              <a:cs typeface="Trebuchet MS"/>
            </a:endParaRPr>
          </a:p>
          <a:p>
            <a:pPr marL="641985" lvl="1" indent="-305435">
              <a:spcBef>
                <a:spcPts val="790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600" b="1" dirty="0">
                <a:solidFill>
                  <a:srgbClr val="3C3C3C"/>
                </a:solidFill>
                <a:latin typeface="Trebuchet MS"/>
                <a:cs typeface="Trebuchet MS"/>
              </a:rPr>
              <a:t>Provide</a:t>
            </a:r>
            <a:r>
              <a:rPr sz="1600" b="1" spc="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a mechanism</a:t>
            </a:r>
            <a:r>
              <a:rPr sz="1600" b="1" spc="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to</a:t>
            </a:r>
            <a:r>
              <a:rPr sz="1600"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customize</a:t>
            </a:r>
            <a:r>
              <a:rPr sz="1600" b="1" spc="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600"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appearance</a:t>
            </a:r>
            <a:r>
              <a:rPr sz="1600" b="1" spc="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of the</a:t>
            </a:r>
            <a:r>
              <a:rPr sz="1600"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database;</a:t>
            </a:r>
            <a:endParaRPr sz="1600">
              <a:latin typeface="Trebuchet MS"/>
              <a:cs typeface="Trebuchet MS"/>
            </a:endParaRPr>
          </a:p>
          <a:p>
            <a:pPr marL="641985" marR="363220" lvl="1" indent="-304800">
              <a:lnSpc>
                <a:spcPts val="1730"/>
              </a:lnSpc>
              <a:spcBef>
                <a:spcPts val="1010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Present</a:t>
            </a:r>
            <a:r>
              <a:rPr sz="1600" b="1" spc="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600" b="1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consistent,</a:t>
            </a:r>
            <a:r>
              <a:rPr sz="1600" b="1" spc="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unchanging</a:t>
            </a:r>
            <a:r>
              <a:rPr sz="1600" b="1" spc="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picture</a:t>
            </a:r>
            <a:r>
              <a:rPr sz="1600" b="1" spc="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600"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600" b="1" spc="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structure</a:t>
            </a:r>
            <a:r>
              <a:rPr sz="1600" b="1" spc="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of the </a:t>
            </a:r>
            <a:r>
              <a:rPr sz="1600" b="1" spc="-4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database,</a:t>
            </a:r>
            <a:r>
              <a:rPr sz="1600" b="1" spc="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3C3C3C"/>
                </a:solidFill>
                <a:latin typeface="Trebuchet MS"/>
                <a:cs typeface="Trebuchet MS"/>
              </a:rPr>
              <a:t>even</a:t>
            </a:r>
            <a:r>
              <a:rPr sz="1600" b="1" spc="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if the</a:t>
            </a:r>
            <a:r>
              <a:rPr sz="1600" b="1" spc="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underlying</a:t>
            </a:r>
            <a:r>
              <a:rPr sz="1600" b="1" spc="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database</a:t>
            </a:r>
            <a:r>
              <a:rPr sz="1600"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3C3C3C"/>
                </a:solidFill>
                <a:latin typeface="Trebuchet MS"/>
                <a:cs typeface="Trebuchet MS"/>
              </a:rPr>
              <a:t>is </a:t>
            </a:r>
            <a:r>
              <a:rPr sz="1600" b="1" dirty="0">
                <a:solidFill>
                  <a:srgbClr val="3C3C3C"/>
                </a:solidFill>
                <a:latin typeface="Trebuchet MS"/>
                <a:cs typeface="Trebuchet MS"/>
              </a:rPr>
              <a:t>changed</a:t>
            </a:r>
            <a:r>
              <a:rPr sz="1600" dirty="0">
                <a:solidFill>
                  <a:srgbClr val="3C3C3C"/>
                </a:solidFill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2056" y="600456"/>
            <a:ext cx="8239125" cy="1153521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6985" rIns="0" bIns="0" rtlCol="0">
            <a:spAutoFit/>
          </a:bodyPr>
          <a:lstStyle/>
          <a:p>
            <a:pPr>
              <a:spcBef>
                <a:spcPts val="55"/>
              </a:spcBef>
            </a:pPr>
            <a:endParaRPr sz="4650">
              <a:latin typeface="Times New Roman"/>
              <a:cs typeface="Times New Roman"/>
            </a:endParaRPr>
          </a:p>
          <a:p>
            <a:pPr marL="224154"/>
            <a:r>
              <a:rPr spc="-5" dirty="0"/>
              <a:t>DBMS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1443" y="2276598"/>
            <a:ext cx="3629158" cy="35139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972056" y="441960"/>
          <a:ext cx="8237855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9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4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24154">
                        <a:lnSpc>
                          <a:spcPct val="100000"/>
                        </a:lnSpc>
                        <a:spcBef>
                          <a:spcPts val="1925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COMPONENTS</a:t>
                      </a:r>
                      <a:r>
                        <a:rPr sz="28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2800" b="1" spc="-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DBMS</a:t>
                      </a:r>
                      <a:r>
                        <a:rPr sz="2800" b="1" spc="-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ENVIRONMENT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063902" y="2074139"/>
            <a:ext cx="8223884" cy="41878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17500" indent="-304800">
              <a:spcBef>
                <a:spcPts val="70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000" b="1" dirty="0">
                <a:latin typeface="Gill Sans MT"/>
                <a:cs typeface="Gill Sans MT"/>
              </a:rPr>
              <a:t>CASE</a:t>
            </a:r>
            <a:r>
              <a:rPr sz="2000" b="1" spc="-320" dirty="0">
                <a:latin typeface="Gill Sans MT"/>
                <a:cs typeface="Gill Sans MT"/>
              </a:rPr>
              <a:t> </a:t>
            </a:r>
            <a:r>
              <a:rPr sz="2000" b="1" spc="-330" dirty="0">
                <a:latin typeface="Gill Sans MT"/>
                <a:cs typeface="Gill Sans MT"/>
              </a:rPr>
              <a:t>T</a:t>
            </a:r>
            <a:r>
              <a:rPr sz="2000" b="1" spc="-5" dirty="0">
                <a:latin typeface="Gill Sans MT"/>
                <a:cs typeface="Gill Sans MT"/>
              </a:rPr>
              <a:t>oo</a:t>
            </a:r>
            <a:r>
              <a:rPr sz="2000" b="1" spc="-10" dirty="0">
                <a:latin typeface="Gill Sans MT"/>
                <a:cs typeface="Gill Sans MT"/>
              </a:rPr>
              <a:t>l</a:t>
            </a:r>
            <a:r>
              <a:rPr sz="2000" b="1" dirty="0">
                <a:latin typeface="Gill Sans MT"/>
                <a:cs typeface="Gill Sans MT"/>
              </a:rPr>
              <a:t>s</a:t>
            </a:r>
            <a:r>
              <a:rPr sz="2000" spc="5" dirty="0">
                <a:latin typeface="Gill Sans MT"/>
                <a:cs typeface="Gill Sans MT"/>
              </a:rPr>
              <a:t>–</a:t>
            </a:r>
            <a:r>
              <a:rPr sz="2000" dirty="0">
                <a:latin typeface="Gill Sans MT"/>
                <a:cs typeface="Gill Sans MT"/>
              </a:rPr>
              <a:t>compu</a:t>
            </a:r>
            <a:r>
              <a:rPr sz="2000" spc="-10" dirty="0">
                <a:latin typeface="Gill Sans MT"/>
                <a:cs typeface="Gill Sans MT"/>
              </a:rPr>
              <a:t>t</a:t>
            </a:r>
            <a:r>
              <a:rPr sz="2000" dirty="0">
                <a:latin typeface="Gill Sans MT"/>
                <a:cs typeface="Gill Sans MT"/>
              </a:rPr>
              <a:t>e</a:t>
            </a:r>
            <a:r>
              <a:rPr sz="2000" spc="-160" dirty="0">
                <a:latin typeface="Gill Sans MT"/>
                <a:cs typeface="Gill Sans MT"/>
              </a:rPr>
              <a:t>r</a:t>
            </a:r>
            <a:r>
              <a:rPr sz="2000" dirty="0">
                <a:latin typeface="Gill Sans MT"/>
                <a:cs typeface="Gill Sans MT"/>
              </a:rPr>
              <a:t>-a</a:t>
            </a:r>
            <a:r>
              <a:rPr sz="2000" spc="-10" dirty="0">
                <a:latin typeface="Gill Sans MT"/>
                <a:cs typeface="Gill Sans MT"/>
              </a:rPr>
              <a:t>i</a:t>
            </a:r>
            <a:r>
              <a:rPr sz="2000" dirty="0">
                <a:latin typeface="Gill Sans MT"/>
                <a:cs typeface="Gill Sans MT"/>
              </a:rPr>
              <a:t>ded</a:t>
            </a:r>
            <a:r>
              <a:rPr sz="2000" spc="-3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sof</a:t>
            </a:r>
            <a:r>
              <a:rPr sz="2000" spc="5" dirty="0">
                <a:latin typeface="Gill Sans MT"/>
                <a:cs typeface="Gill Sans MT"/>
              </a:rPr>
              <a:t>t</a:t>
            </a:r>
            <a:r>
              <a:rPr sz="2000" spc="-5" dirty="0">
                <a:latin typeface="Gill Sans MT"/>
                <a:cs typeface="Gill Sans MT"/>
              </a:rPr>
              <a:t>wa</a:t>
            </a:r>
            <a:r>
              <a:rPr sz="2000" spc="-35" dirty="0">
                <a:latin typeface="Gill Sans MT"/>
                <a:cs typeface="Gill Sans MT"/>
              </a:rPr>
              <a:t>r</a:t>
            </a:r>
            <a:r>
              <a:rPr sz="2000" dirty="0">
                <a:latin typeface="Gill Sans MT"/>
                <a:cs typeface="Gill Sans MT"/>
              </a:rPr>
              <a:t>e</a:t>
            </a:r>
            <a:r>
              <a:rPr sz="2000" spc="-4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engi</a:t>
            </a:r>
            <a:r>
              <a:rPr sz="2000" spc="5" dirty="0">
                <a:latin typeface="Gill Sans MT"/>
                <a:cs typeface="Gill Sans MT"/>
              </a:rPr>
              <a:t>n</a:t>
            </a:r>
            <a:r>
              <a:rPr sz="2000" dirty="0">
                <a:latin typeface="Gill Sans MT"/>
                <a:cs typeface="Gill Sans MT"/>
              </a:rPr>
              <a:t>eeri</a:t>
            </a:r>
            <a:r>
              <a:rPr sz="2000" spc="5" dirty="0">
                <a:latin typeface="Gill Sans MT"/>
                <a:cs typeface="Gill Sans MT"/>
              </a:rPr>
              <a:t>n</a:t>
            </a:r>
            <a:r>
              <a:rPr sz="2000" dirty="0">
                <a:latin typeface="Gill Sans MT"/>
                <a:cs typeface="Gill Sans MT"/>
              </a:rPr>
              <a:t>g</a:t>
            </a:r>
            <a:endParaRPr sz="2000">
              <a:latin typeface="Gill Sans MT"/>
              <a:cs typeface="Gill Sans MT"/>
            </a:endParaRPr>
          </a:p>
          <a:p>
            <a:pPr marL="317500" indent="-304800">
              <a:spcBef>
                <a:spcPts val="605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000" b="1" dirty="0">
                <a:latin typeface="Gill Sans MT"/>
                <a:cs typeface="Gill Sans MT"/>
              </a:rPr>
              <a:t>Repository</a:t>
            </a:r>
            <a:r>
              <a:rPr sz="2000" dirty="0">
                <a:latin typeface="Gill Sans MT"/>
                <a:cs typeface="Gill Sans MT"/>
              </a:rPr>
              <a:t>–centralized</a:t>
            </a:r>
            <a:r>
              <a:rPr sz="2000" spc="-4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storehouse</a:t>
            </a:r>
            <a:r>
              <a:rPr sz="2000" spc="-2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of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metadata</a:t>
            </a:r>
            <a:endParaRPr sz="2000">
              <a:latin typeface="Gill Sans MT"/>
              <a:cs typeface="Gill Sans MT"/>
            </a:endParaRPr>
          </a:p>
          <a:p>
            <a:pPr marL="317500" marR="6350" indent="-304800">
              <a:lnSpc>
                <a:spcPts val="1920"/>
              </a:lnSpc>
              <a:spcBef>
                <a:spcPts val="1065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000" b="1" dirty="0">
                <a:latin typeface="Gill Sans MT"/>
                <a:cs typeface="Gill Sans MT"/>
              </a:rPr>
              <a:t>Database</a:t>
            </a:r>
            <a:r>
              <a:rPr sz="2000" b="1" spc="355" dirty="0">
                <a:latin typeface="Gill Sans MT"/>
                <a:cs typeface="Gill Sans MT"/>
              </a:rPr>
              <a:t> </a:t>
            </a:r>
            <a:r>
              <a:rPr sz="2000" b="1" spc="-10" dirty="0">
                <a:latin typeface="Gill Sans MT"/>
                <a:cs typeface="Gill Sans MT"/>
              </a:rPr>
              <a:t>Management</a:t>
            </a:r>
            <a:r>
              <a:rPr sz="2000" b="1" spc="345" dirty="0">
                <a:latin typeface="Gill Sans MT"/>
                <a:cs typeface="Gill Sans MT"/>
              </a:rPr>
              <a:t> </a:t>
            </a:r>
            <a:r>
              <a:rPr sz="2000" b="1" dirty="0">
                <a:latin typeface="Gill Sans MT"/>
                <a:cs typeface="Gill Sans MT"/>
              </a:rPr>
              <a:t>System</a:t>
            </a:r>
            <a:r>
              <a:rPr sz="2000" b="1" spc="360" dirty="0">
                <a:latin typeface="Gill Sans MT"/>
                <a:cs typeface="Gill Sans MT"/>
              </a:rPr>
              <a:t> </a:t>
            </a:r>
            <a:r>
              <a:rPr sz="2000" b="1" dirty="0">
                <a:latin typeface="Gill Sans MT"/>
                <a:cs typeface="Gill Sans MT"/>
              </a:rPr>
              <a:t>(DBMS)</a:t>
            </a:r>
            <a:r>
              <a:rPr sz="2000" b="1" spc="360" dirty="0">
                <a:latin typeface="Gill Sans MT"/>
                <a:cs typeface="Gill Sans MT"/>
              </a:rPr>
              <a:t> </a:t>
            </a:r>
            <a:r>
              <a:rPr sz="2000" spc="-10" dirty="0">
                <a:latin typeface="Gill Sans MT"/>
                <a:cs typeface="Gill Sans MT"/>
              </a:rPr>
              <a:t>–software</a:t>
            </a:r>
            <a:r>
              <a:rPr sz="2000" spc="360" dirty="0">
                <a:latin typeface="Gill Sans MT"/>
                <a:cs typeface="Gill Sans MT"/>
              </a:rPr>
              <a:t> </a:t>
            </a:r>
            <a:r>
              <a:rPr sz="2000" spc="-10" dirty="0">
                <a:latin typeface="Gill Sans MT"/>
                <a:cs typeface="Gill Sans MT"/>
              </a:rPr>
              <a:t>for</a:t>
            </a:r>
            <a:r>
              <a:rPr sz="2000" spc="35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managing</a:t>
            </a:r>
            <a:r>
              <a:rPr sz="2000" spc="350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the </a:t>
            </a:r>
            <a:r>
              <a:rPr sz="2000" spc="-54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database</a:t>
            </a:r>
            <a:endParaRPr sz="2000">
              <a:latin typeface="Gill Sans MT"/>
              <a:cs typeface="Gill Sans MT"/>
            </a:endParaRPr>
          </a:p>
          <a:p>
            <a:pPr marL="317500" indent="-304800">
              <a:spcBef>
                <a:spcPts val="615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000" b="1" spc="-5" dirty="0">
                <a:latin typeface="Gill Sans MT"/>
                <a:cs typeface="Gill Sans MT"/>
              </a:rPr>
              <a:t>Database</a:t>
            </a:r>
            <a:r>
              <a:rPr sz="2000" spc="-5" dirty="0">
                <a:latin typeface="Gill Sans MT"/>
                <a:cs typeface="Gill Sans MT"/>
              </a:rPr>
              <a:t>–storehouse</a:t>
            </a:r>
            <a:r>
              <a:rPr sz="2000" spc="-4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of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the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data</a:t>
            </a:r>
            <a:endParaRPr sz="2000">
              <a:latin typeface="Gill Sans MT"/>
              <a:cs typeface="Gill Sans MT"/>
            </a:endParaRPr>
          </a:p>
          <a:p>
            <a:pPr marL="317500" indent="-304800">
              <a:spcBef>
                <a:spcPts val="60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000" b="1" spc="-5" dirty="0">
                <a:latin typeface="Gill Sans MT"/>
                <a:cs typeface="Gill Sans MT"/>
              </a:rPr>
              <a:t>Application</a:t>
            </a:r>
            <a:r>
              <a:rPr sz="2000" b="1" spc="-30" dirty="0">
                <a:latin typeface="Gill Sans MT"/>
                <a:cs typeface="Gill Sans MT"/>
              </a:rPr>
              <a:t> </a:t>
            </a:r>
            <a:r>
              <a:rPr sz="2000" b="1" spc="-10" dirty="0">
                <a:latin typeface="Gill Sans MT"/>
                <a:cs typeface="Gill Sans MT"/>
              </a:rPr>
              <a:t>Programs</a:t>
            </a:r>
            <a:r>
              <a:rPr sz="2000" spc="-10" dirty="0">
                <a:latin typeface="Gill Sans MT"/>
                <a:cs typeface="Gill Sans MT"/>
              </a:rPr>
              <a:t>–software</a:t>
            </a:r>
            <a:r>
              <a:rPr sz="2000" spc="-3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using</a:t>
            </a:r>
            <a:r>
              <a:rPr sz="2000" spc="-3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the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data</a:t>
            </a:r>
            <a:endParaRPr sz="2000">
              <a:latin typeface="Gill Sans MT"/>
              <a:cs typeface="Gill Sans MT"/>
            </a:endParaRPr>
          </a:p>
          <a:p>
            <a:pPr marL="317500" indent="-304800">
              <a:spcBef>
                <a:spcPts val="60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000" b="1" spc="-5" dirty="0">
                <a:latin typeface="Gill Sans MT"/>
                <a:cs typeface="Gill Sans MT"/>
              </a:rPr>
              <a:t>User</a:t>
            </a:r>
            <a:r>
              <a:rPr sz="2000" b="1" spc="-10" dirty="0">
                <a:latin typeface="Gill Sans MT"/>
                <a:cs typeface="Gill Sans MT"/>
              </a:rPr>
              <a:t> </a:t>
            </a:r>
            <a:r>
              <a:rPr sz="2000" b="1" dirty="0">
                <a:latin typeface="Gill Sans MT"/>
                <a:cs typeface="Gill Sans MT"/>
              </a:rPr>
              <a:t>Interface</a:t>
            </a:r>
            <a:r>
              <a:rPr sz="2000" dirty="0">
                <a:latin typeface="Gill Sans MT"/>
                <a:cs typeface="Gill Sans MT"/>
              </a:rPr>
              <a:t>–text</a:t>
            </a:r>
            <a:r>
              <a:rPr sz="2000" spc="-5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and</a:t>
            </a:r>
            <a:r>
              <a:rPr sz="2000" spc="-2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graphical</a:t>
            </a:r>
            <a:r>
              <a:rPr sz="2000" spc="-40" dirty="0">
                <a:latin typeface="Gill Sans MT"/>
                <a:cs typeface="Gill Sans MT"/>
              </a:rPr>
              <a:t> </a:t>
            </a:r>
            <a:r>
              <a:rPr sz="2000" spc="-10" dirty="0">
                <a:latin typeface="Gill Sans MT"/>
                <a:cs typeface="Gill Sans MT"/>
              </a:rPr>
              <a:t>displays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to</a:t>
            </a:r>
            <a:r>
              <a:rPr sz="2000" spc="-2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users</a:t>
            </a:r>
            <a:endParaRPr sz="2000">
              <a:latin typeface="Gill Sans MT"/>
              <a:cs typeface="Gill Sans MT"/>
            </a:endParaRPr>
          </a:p>
          <a:p>
            <a:pPr marL="317500" marR="5080" indent="-304800">
              <a:lnSpc>
                <a:spcPct val="80000"/>
              </a:lnSpc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  <a:tab pos="2213610" algn="l"/>
                <a:tab pos="5308600" algn="l"/>
                <a:tab pos="6619875" algn="l"/>
                <a:tab pos="7058659" algn="l"/>
              </a:tabLst>
            </a:pPr>
            <a:r>
              <a:rPr sz="2000" b="1" dirty="0">
                <a:latin typeface="Gill Sans MT"/>
                <a:cs typeface="Gill Sans MT"/>
              </a:rPr>
              <a:t>Data</a:t>
            </a:r>
            <a:r>
              <a:rPr sz="2000" b="1" spc="-15" dirty="0">
                <a:latin typeface="Gill Sans MT"/>
                <a:cs typeface="Gill Sans MT"/>
              </a:rPr>
              <a:t>/</a:t>
            </a:r>
            <a:r>
              <a:rPr sz="2000" b="1" dirty="0">
                <a:latin typeface="Gill Sans MT"/>
                <a:cs typeface="Gill Sans MT"/>
              </a:rPr>
              <a:t>Datab</a:t>
            </a:r>
            <a:r>
              <a:rPr sz="2000" b="1" spc="-15" dirty="0">
                <a:latin typeface="Gill Sans MT"/>
                <a:cs typeface="Gill Sans MT"/>
              </a:rPr>
              <a:t>a</a:t>
            </a:r>
            <a:r>
              <a:rPr sz="2000" b="1" dirty="0">
                <a:latin typeface="Gill Sans MT"/>
                <a:cs typeface="Gill Sans MT"/>
              </a:rPr>
              <a:t>se	A</a:t>
            </a:r>
            <a:r>
              <a:rPr sz="2000" b="1" spc="-10" dirty="0">
                <a:latin typeface="Gill Sans MT"/>
                <a:cs typeface="Gill Sans MT"/>
              </a:rPr>
              <a:t>d</a:t>
            </a:r>
            <a:r>
              <a:rPr sz="2000" b="1" dirty="0">
                <a:latin typeface="Gill Sans MT"/>
                <a:cs typeface="Gill Sans MT"/>
              </a:rPr>
              <a:t>m</a:t>
            </a:r>
            <a:r>
              <a:rPr sz="2000" b="1" spc="-15" dirty="0">
                <a:latin typeface="Gill Sans MT"/>
                <a:cs typeface="Gill Sans MT"/>
              </a:rPr>
              <a:t>i</a:t>
            </a:r>
            <a:r>
              <a:rPr sz="2000" b="1" dirty="0">
                <a:latin typeface="Gill Sans MT"/>
                <a:cs typeface="Gill Sans MT"/>
              </a:rPr>
              <a:t>n</a:t>
            </a:r>
            <a:r>
              <a:rPr sz="2000" b="1" spc="-10" dirty="0">
                <a:latin typeface="Gill Sans MT"/>
                <a:cs typeface="Gill Sans MT"/>
              </a:rPr>
              <a:t>i</a:t>
            </a:r>
            <a:r>
              <a:rPr sz="2000" b="1" dirty="0">
                <a:latin typeface="Gill Sans MT"/>
                <a:cs typeface="Gill Sans MT"/>
              </a:rPr>
              <a:t>s</a:t>
            </a:r>
            <a:r>
              <a:rPr sz="2000" b="1" spc="-15" dirty="0">
                <a:latin typeface="Gill Sans MT"/>
                <a:cs typeface="Gill Sans MT"/>
              </a:rPr>
              <a:t>t</a:t>
            </a:r>
            <a:r>
              <a:rPr sz="2000" b="1" spc="-5" dirty="0">
                <a:latin typeface="Gill Sans MT"/>
                <a:cs typeface="Gill Sans MT"/>
              </a:rPr>
              <a:t>r</a:t>
            </a:r>
            <a:r>
              <a:rPr sz="2000" b="1" dirty="0">
                <a:latin typeface="Gill Sans MT"/>
                <a:cs typeface="Gill Sans MT"/>
              </a:rPr>
              <a:t>ator</a:t>
            </a:r>
            <a:r>
              <a:rPr sz="2000" b="1" spc="-10" dirty="0">
                <a:latin typeface="Gill Sans MT"/>
                <a:cs typeface="Gill Sans MT"/>
              </a:rPr>
              <a:t>s</a:t>
            </a:r>
            <a:r>
              <a:rPr sz="2000" spc="5" dirty="0">
                <a:latin typeface="Gill Sans MT"/>
                <a:cs typeface="Gill Sans MT"/>
              </a:rPr>
              <a:t>–</a:t>
            </a:r>
            <a:r>
              <a:rPr sz="2000" dirty="0">
                <a:latin typeface="Gill Sans MT"/>
                <a:cs typeface="Gill Sans MT"/>
              </a:rPr>
              <a:t>pers</a:t>
            </a:r>
            <a:r>
              <a:rPr sz="2000" spc="-20" dirty="0">
                <a:latin typeface="Gill Sans MT"/>
                <a:cs typeface="Gill Sans MT"/>
              </a:rPr>
              <a:t>o</a:t>
            </a:r>
            <a:r>
              <a:rPr sz="2000" dirty="0">
                <a:latin typeface="Gill Sans MT"/>
                <a:cs typeface="Gill Sans MT"/>
              </a:rPr>
              <a:t>n</a:t>
            </a:r>
            <a:r>
              <a:rPr sz="2000" spc="10" dirty="0">
                <a:latin typeface="Gill Sans MT"/>
                <a:cs typeface="Gill Sans MT"/>
              </a:rPr>
              <a:t>n</a:t>
            </a:r>
            <a:r>
              <a:rPr sz="2000" spc="-15" dirty="0">
                <a:latin typeface="Gill Sans MT"/>
                <a:cs typeface="Gill Sans MT"/>
              </a:rPr>
              <a:t>e</a:t>
            </a:r>
            <a:r>
              <a:rPr sz="2000" dirty="0">
                <a:latin typeface="Gill Sans MT"/>
                <a:cs typeface="Gill Sans MT"/>
              </a:rPr>
              <a:t>l	</a:t>
            </a:r>
            <a:r>
              <a:rPr sz="2000" spc="-40" dirty="0">
                <a:latin typeface="Gill Sans MT"/>
                <a:cs typeface="Gill Sans MT"/>
              </a:rPr>
              <a:t>r</a:t>
            </a:r>
            <a:r>
              <a:rPr sz="2000" dirty="0">
                <a:latin typeface="Gill Sans MT"/>
                <a:cs typeface="Gill Sans MT"/>
              </a:rPr>
              <a:t>espons</a:t>
            </a:r>
            <a:r>
              <a:rPr sz="2000" spc="-10" dirty="0">
                <a:latin typeface="Gill Sans MT"/>
                <a:cs typeface="Gill Sans MT"/>
              </a:rPr>
              <a:t>i</a:t>
            </a:r>
            <a:r>
              <a:rPr sz="2000" dirty="0">
                <a:latin typeface="Gill Sans MT"/>
                <a:cs typeface="Gill Sans MT"/>
              </a:rPr>
              <a:t>b</a:t>
            </a:r>
            <a:r>
              <a:rPr sz="2000" spc="10" dirty="0">
                <a:latin typeface="Gill Sans MT"/>
                <a:cs typeface="Gill Sans MT"/>
              </a:rPr>
              <a:t>l</a:t>
            </a:r>
            <a:r>
              <a:rPr sz="2000" dirty="0">
                <a:latin typeface="Gill Sans MT"/>
                <a:cs typeface="Gill Sans MT"/>
              </a:rPr>
              <a:t>e	</a:t>
            </a:r>
            <a:r>
              <a:rPr sz="2000" spc="-20" dirty="0">
                <a:latin typeface="Gill Sans MT"/>
                <a:cs typeface="Gill Sans MT"/>
              </a:rPr>
              <a:t>f</a:t>
            </a:r>
            <a:r>
              <a:rPr sz="2000" spc="-15" dirty="0">
                <a:latin typeface="Gill Sans MT"/>
                <a:cs typeface="Gill Sans MT"/>
              </a:rPr>
              <a:t>o</a:t>
            </a:r>
            <a:r>
              <a:rPr sz="2000" dirty="0">
                <a:latin typeface="Gill Sans MT"/>
                <a:cs typeface="Gill Sans MT"/>
              </a:rPr>
              <a:t>r	m</a:t>
            </a:r>
            <a:r>
              <a:rPr sz="2000" spc="-15" dirty="0">
                <a:latin typeface="Gill Sans MT"/>
                <a:cs typeface="Gill Sans MT"/>
              </a:rPr>
              <a:t>a</a:t>
            </a:r>
            <a:r>
              <a:rPr sz="2000" spc="-5" dirty="0">
                <a:latin typeface="Gill Sans MT"/>
                <a:cs typeface="Gill Sans MT"/>
              </a:rPr>
              <a:t>in</a:t>
            </a:r>
            <a:r>
              <a:rPr sz="2000" spc="-10" dirty="0">
                <a:latin typeface="Gill Sans MT"/>
                <a:cs typeface="Gill Sans MT"/>
              </a:rPr>
              <a:t>t</a:t>
            </a:r>
            <a:r>
              <a:rPr sz="2000" dirty="0">
                <a:latin typeface="Gill Sans MT"/>
                <a:cs typeface="Gill Sans MT"/>
              </a:rPr>
              <a:t>ain</a:t>
            </a:r>
            <a:r>
              <a:rPr sz="2000" spc="-15" dirty="0">
                <a:latin typeface="Gill Sans MT"/>
                <a:cs typeface="Gill Sans MT"/>
              </a:rPr>
              <a:t>i</a:t>
            </a:r>
            <a:r>
              <a:rPr sz="2000" dirty="0">
                <a:latin typeface="Gill Sans MT"/>
                <a:cs typeface="Gill Sans MT"/>
              </a:rPr>
              <a:t>ng  the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database</a:t>
            </a:r>
            <a:endParaRPr sz="2000">
              <a:latin typeface="Gill Sans MT"/>
              <a:cs typeface="Gill Sans MT"/>
            </a:endParaRPr>
          </a:p>
          <a:p>
            <a:pPr marL="317500" indent="-304800">
              <a:lnSpc>
                <a:spcPts val="2160"/>
              </a:lnSpc>
              <a:spcBef>
                <a:spcPts val="60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  <a:tab pos="1325880" algn="l"/>
                <a:tab pos="3932554" algn="l"/>
                <a:tab pos="5232400" algn="l"/>
                <a:tab pos="5665470" algn="l"/>
                <a:tab pos="6727825" algn="l"/>
                <a:tab pos="7842250" algn="l"/>
              </a:tabLst>
            </a:pPr>
            <a:r>
              <a:rPr sz="2000" b="1" dirty="0">
                <a:latin typeface="Gill Sans MT"/>
                <a:cs typeface="Gill Sans MT"/>
              </a:rPr>
              <a:t>System	D</a:t>
            </a:r>
            <a:r>
              <a:rPr sz="2000" b="1" spc="-60" dirty="0">
                <a:latin typeface="Gill Sans MT"/>
                <a:cs typeface="Gill Sans MT"/>
              </a:rPr>
              <a:t>e</a:t>
            </a:r>
            <a:r>
              <a:rPr sz="2000" b="1" spc="-50" dirty="0">
                <a:latin typeface="Gill Sans MT"/>
                <a:cs typeface="Gill Sans MT"/>
              </a:rPr>
              <a:t>v</a:t>
            </a:r>
            <a:r>
              <a:rPr sz="2000" b="1" dirty="0">
                <a:latin typeface="Gill Sans MT"/>
                <a:cs typeface="Gill Sans MT"/>
              </a:rPr>
              <a:t>eloper</a:t>
            </a:r>
            <a:r>
              <a:rPr sz="2000" b="1" spc="-35" dirty="0">
                <a:latin typeface="Gill Sans MT"/>
                <a:cs typeface="Gill Sans MT"/>
              </a:rPr>
              <a:t>s</a:t>
            </a:r>
            <a:r>
              <a:rPr sz="2000" spc="-10" dirty="0">
                <a:latin typeface="Gill Sans MT"/>
                <a:cs typeface="Gill Sans MT"/>
              </a:rPr>
              <a:t>–</a:t>
            </a:r>
            <a:r>
              <a:rPr sz="2000" dirty="0">
                <a:latin typeface="Gill Sans MT"/>
                <a:cs typeface="Gill Sans MT"/>
              </a:rPr>
              <a:t>pers</a:t>
            </a:r>
            <a:r>
              <a:rPr sz="2000" spc="-10" dirty="0">
                <a:latin typeface="Gill Sans MT"/>
                <a:cs typeface="Gill Sans MT"/>
              </a:rPr>
              <a:t>o</a:t>
            </a:r>
            <a:r>
              <a:rPr sz="2000" dirty="0">
                <a:latin typeface="Gill Sans MT"/>
                <a:cs typeface="Gill Sans MT"/>
              </a:rPr>
              <a:t>nnel	</a:t>
            </a:r>
            <a:r>
              <a:rPr sz="2000" spc="-40" dirty="0">
                <a:latin typeface="Gill Sans MT"/>
                <a:cs typeface="Gill Sans MT"/>
              </a:rPr>
              <a:t>r</a:t>
            </a:r>
            <a:r>
              <a:rPr sz="2000" dirty="0">
                <a:latin typeface="Gill Sans MT"/>
                <a:cs typeface="Gill Sans MT"/>
              </a:rPr>
              <a:t>esp</a:t>
            </a:r>
            <a:r>
              <a:rPr sz="2000" spc="-15" dirty="0">
                <a:latin typeface="Gill Sans MT"/>
                <a:cs typeface="Gill Sans MT"/>
              </a:rPr>
              <a:t>o</a:t>
            </a:r>
            <a:r>
              <a:rPr sz="2000" dirty="0">
                <a:latin typeface="Gill Sans MT"/>
                <a:cs typeface="Gill Sans MT"/>
              </a:rPr>
              <a:t>ns</a:t>
            </a:r>
            <a:r>
              <a:rPr sz="2000" spc="5" dirty="0">
                <a:latin typeface="Gill Sans MT"/>
                <a:cs typeface="Gill Sans MT"/>
              </a:rPr>
              <a:t>i</a:t>
            </a:r>
            <a:r>
              <a:rPr sz="2000" dirty="0">
                <a:latin typeface="Gill Sans MT"/>
                <a:cs typeface="Gill Sans MT"/>
              </a:rPr>
              <a:t>ble	</a:t>
            </a:r>
            <a:r>
              <a:rPr sz="2000" spc="-20" dirty="0">
                <a:latin typeface="Gill Sans MT"/>
                <a:cs typeface="Gill Sans MT"/>
              </a:rPr>
              <a:t>f</a:t>
            </a:r>
            <a:r>
              <a:rPr sz="2000" dirty="0">
                <a:latin typeface="Gill Sans MT"/>
                <a:cs typeface="Gill Sans MT"/>
              </a:rPr>
              <a:t>or	desi</a:t>
            </a:r>
            <a:r>
              <a:rPr sz="2000" spc="-20" dirty="0">
                <a:latin typeface="Gill Sans MT"/>
                <a:cs typeface="Gill Sans MT"/>
              </a:rPr>
              <a:t>g</a:t>
            </a:r>
            <a:r>
              <a:rPr sz="2000" dirty="0">
                <a:latin typeface="Gill Sans MT"/>
                <a:cs typeface="Gill Sans MT"/>
              </a:rPr>
              <a:t>ning	d</a:t>
            </a:r>
            <a:r>
              <a:rPr sz="2000" spc="-20" dirty="0">
                <a:latin typeface="Gill Sans MT"/>
                <a:cs typeface="Gill Sans MT"/>
              </a:rPr>
              <a:t>a</a:t>
            </a:r>
            <a:r>
              <a:rPr sz="2000" dirty="0">
                <a:latin typeface="Gill Sans MT"/>
                <a:cs typeface="Gill Sans MT"/>
              </a:rPr>
              <a:t>tab</a:t>
            </a:r>
            <a:r>
              <a:rPr sz="2000" spc="-10" dirty="0">
                <a:latin typeface="Gill Sans MT"/>
                <a:cs typeface="Gill Sans MT"/>
              </a:rPr>
              <a:t>a</a:t>
            </a:r>
            <a:r>
              <a:rPr sz="2000" dirty="0">
                <a:latin typeface="Gill Sans MT"/>
                <a:cs typeface="Gill Sans MT"/>
              </a:rPr>
              <a:t>ses	and</a:t>
            </a:r>
            <a:endParaRPr sz="2000">
              <a:latin typeface="Gill Sans MT"/>
              <a:cs typeface="Gill Sans MT"/>
            </a:endParaRPr>
          </a:p>
          <a:p>
            <a:pPr marL="317500">
              <a:lnSpc>
                <a:spcPts val="2160"/>
              </a:lnSpc>
            </a:pPr>
            <a:r>
              <a:rPr sz="2000" spc="-10" dirty="0">
                <a:latin typeface="Gill Sans MT"/>
                <a:cs typeface="Gill Sans MT"/>
              </a:rPr>
              <a:t>software</a:t>
            </a:r>
            <a:endParaRPr sz="2000">
              <a:latin typeface="Gill Sans MT"/>
              <a:cs typeface="Gill Sans MT"/>
            </a:endParaRPr>
          </a:p>
          <a:p>
            <a:pPr marL="317500" indent="-304800">
              <a:spcBef>
                <a:spcPts val="605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000" b="1" dirty="0">
                <a:latin typeface="Gill Sans MT"/>
                <a:cs typeface="Gill Sans MT"/>
              </a:rPr>
              <a:t>End</a:t>
            </a:r>
            <a:r>
              <a:rPr sz="2000" b="1" spc="-15" dirty="0">
                <a:latin typeface="Gill Sans MT"/>
                <a:cs typeface="Gill Sans MT"/>
              </a:rPr>
              <a:t> </a:t>
            </a:r>
            <a:r>
              <a:rPr sz="2000" b="1" dirty="0">
                <a:latin typeface="Gill Sans MT"/>
                <a:cs typeface="Gill Sans MT"/>
              </a:rPr>
              <a:t>Users</a:t>
            </a:r>
            <a:r>
              <a:rPr sz="2000" dirty="0">
                <a:latin typeface="Gill Sans MT"/>
                <a:cs typeface="Gill Sans MT"/>
              </a:rPr>
              <a:t>–people</a:t>
            </a:r>
            <a:r>
              <a:rPr sz="2000" spc="-40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who</a:t>
            </a:r>
            <a:r>
              <a:rPr sz="2000" spc="-1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use</a:t>
            </a:r>
            <a:r>
              <a:rPr sz="2000" spc="-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the</a:t>
            </a:r>
            <a:r>
              <a:rPr sz="2000" spc="-2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applications</a:t>
            </a:r>
            <a:r>
              <a:rPr sz="2000" spc="-2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and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databases</a:t>
            </a:r>
            <a:endParaRPr sz="2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2055" y="441959"/>
            <a:ext cx="2720340" cy="106680"/>
          </a:xfrm>
          <a:custGeom>
            <a:avLst/>
            <a:gdLst/>
            <a:ahLst/>
            <a:cxnLst/>
            <a:rect l="l" t="t" r="r" b="b"/>
            <a:pathLst>
              <a:path w="2720340" h="106679">
                <a:moveTo>
                  <a:pt x="2720340" y="0"/>
                </a:moveTo>
                <a:lnTo>
                  <a:pt x="0" y="0"/>
                </a:lnTo>
                <a:lnTo>
                  <a:pt x="0" y="106679"/>
                </a:lnTo>
                <a:lnTo>
                  <a:pt x="2720340" y="106679"/>
                </a:lnTo>
                <a:lnTo>
                  <a:pt x="272034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499603" y="441959"/>
            <a:ext cx="2711450" cy="106680"/>
          </a:xfrm>
          <a:custGeom>
            <a:avLst/>
            <a:gdLst/>
            <a:ahLst/>
            <a:cxnLst/>
            <a:rect l="l" t="t" r="r" b="b"/>
            <a:pathLst>
              <a:path w="2711450" h="106679">
                <a:moveTo>
                  <a:pt x="2711196" y="0"/>
                </a:moveTo>
                <a:lnTo>
                  <a:pt x="0" y="0"/>
                </a:lnTo>
                <a:lnTo>
                  <a:pt x="0" y="106679"/>
                </a:lnTo>
                <a:lnTo>
                  <a:pt x="2711196" y="106679"/>
                </a:lnTo>
                <a:lnTo>
                  <a:pt x="2711196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39639" y="441959"/>
            <a:ext cx="2712720" cy="106680"/>
          </a:xfrm>
          <a:custGeom>
            <a:avLst/>
            <a:gdLst/>
            <a:ahLst/>
            <a:cxnLst/>
            <a:rect l="l" t="t" r="r" b="b"/>
            <a:pathLst>
              <a:path w="2712720" h="106679">
                <a:moveTo>
                  <a:pt x="2712719" y="0"/>
                </a:moveTo>
                <a:lnTo>
                  <a:pt x="0" y="0"/>
                </a:lnTo>
                <a:lnTo>
                  <a:pt x="0" y="106679"/>
                </a:lnTo>
                <a:lnTo>
                  <a:pt x="2712719" y="106679"/>
                </a:lnTo>
                <a:lnTo>
                  <a:pt x="2712719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74378" y="6054345"/>
            <a:ext cx="14160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31</a:t>
            </a:r>
            <a:endParaRPr sz="900">
              <a:latin typeface="Gill Sans MT"/>
              <a:cs typeface="Gill Sans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914400"/>
            <a:ext cx="7696200" cy="463143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586353" y="5889447"/>
            <a:ext cx="5321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Gill Sans MT"/>
                <a:cs typeface="Gill Sans MT"/>
              </a:rPr>
              <a:t>Components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of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the</a:t>
            </a:r>
            <a:r>
              <a:rPr sz="2400" spc="-5" dirty="0">
                <a:latin typeface="Gill Sans MT"/>
                <a:cs typeface="Gill Sans MT"/>
              </a:rPr>
              <a:t> Database </a:t>
            </a:r>
            <a:r>
              <a:rPr sz="2400" spc="-10" dirty="0">
                <a:latin typeface="Gill Sans MT"/>
                <a:cs typeface="Gill Sans MT"/>
              </a:rPr>
              <a:t>Environment</a:t>
            </a:r>
            <a:endParaRPr sz="24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2056" y="600456"/>
            <a:ext cx="8239125" cy="1153521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6985" rIns="0" bIns="0" rtlCol="0">
            <a:spAutoFit/>
          </a:bodyPr>
          <a:lstStyle/>
          <a:p>
            <a:pPr>
              <a:spcBef>
                <a:spcPts val="55"/>
              </a:spcBef>
            </a:pPr>
            <a:endParaRPr sz="4650">
              <a:latin typeface="Times New Roman"/>
              <a:cs typeface="Times New Roman"/>
            </a:endParaRPr>
          </a:p>
          <a:p>
            <a:pPr marL="224154"/>
            <a:r>
              <a:rPr spc="-5" dirty="0"/>
              <a:t>FUNCTIONS</a:t>
            </a:r>
            <a:r>
              <a:rPr spc="-10" dirty="0"/>
              <a:t> </a:t>
            </a:r>
            <a:r>
              <a:rPr spc="-5" dirty="0"/>
              <a:t>OF</a:t>
            </a:r>
            <a:r>
              <a:rPr spc="-165" dirty="0"/>
              <a:t> </a:t>
            </a:r>
            <a:r>
              <a:rPr spc="-5" dirty="0"/>
              <a:t>A</a:t>
            </a:r>
            <a:r>
              <a:rPr spc="-170" dirty="0"/>
              <a:t> </a:t>
            </a:r>
            <a:r>
              <a:rPr spc="-5" dirty="0"/>
              <a:t>DBMS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7017" y="2380310"/>
            <a:ext cx="6880225" cy="3531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indent="-304800">
              <a:spcBef>
                <a:spcPts val="1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7500" algn="l"/>
              </a:tabLst>
            </a:pPr>
            <a:r>
              <a:rPr sz="3000" b="1" dirty="0">
                <a:solidFill>
                  <a:srgbClr val="3C3C3C"/>
                </a:solidFill>
                <a:latin typeface="Trebuchet MS"/>
                <a:cs typeface="Trebuchet MS"/>
              </a:rPr>
              <a:t>Data</a:t>
            </a:r>
            <a:r>
              <a:rPr sz="3000" b="1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3000" b="1" spc="-20" dirty="0">
                <a:solidFill>
                  <a:srgbClr val="3C3C3C"/>
                </a:solidFill>
                <a:latin typeface="Trebuchet MS"/>
                <a:cs typeface="Trebuchet MS"/>
              </a:rPr>
              <a:t>Storage,</a:t>
            </a:r>
            <a:r>
              <a:rPr sz="3000"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3000" b="1" dirty="0">
                <a:solidFill>
                  <a:srgbClr val="3C3C3C"/>
                </a:solidFill>
                <a:latin typeface="Trebuchet MS"/>
                <a:cs typeface="Trebuchet MS"/>
              </a:rPr>
              <a:t>Retrieval, and</a:t>
            </a:r>
            <a:r>
              <a:rPr sz="3000" b="1" spc="-5" dirty="0">
                <a:solidFill>
                  <a:srgbClr val="3C3C3C"/>
                </a:solidFill>
                <a:latin typeface="Trebuchet MS"/>
                <a:cs typeface="Trebuchet MS"/>
              </a:rPr>
              <a:t> Update.</a:t>
            </a:r>
            <a:endParaRPr sz="3000">
              <a:latin typeface="Trebuchet MS"/>
              <a:cs typeface="Trebuchet MS"/>
            </a:endParaRPr>
          </a:p>
          <a:p>
            <a:pPr marL="317500" indent="-304800">
              <a:spcBef>
                <a:spcPts val="240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7500" algn="l"/>
              </a:tabLst>
            </a:pPr>
            <a:r>
              <a:rPr sz="3000" b="1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3000" b="1" spc="-18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3000" b="1" spc="-5" dirty="0">
                <a:solidFill>
                  <a:srgbClr val="3C3C3C"/>
                </a:solidFill>
                <a:latin typeface="Trebuchet MS"/>
                <a:cs typeface="Trebuchet MS"/>
              </a:rPr>
              <a:t>User-Accessible</a:t>
            </a:r>
            <a:r>
              <a:rPr sz="3000" b="1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3000" b="1" spc="-5" dirty="0">
                <a:solidFill>
                  <a:srgbClr val="3C3C3C"/>
                </a:solidFill>
                <a:latin typeface="Trebuchet MS"/>
                <a:cs typeface="Trebuchet MS"/>
              </a:rPr>
              <a:t>Catalog.</a:t>
            </a:r>
            <a:endParaRPr sz="3000">
              <a:latin typeface="Trebuchet MS"/>
              <a:cs typeface="Trebuchet MS"/>
            </a:endParaRPr>
          </a:p>
          <a:p>
            <a:pPr marL="317500" indent="-304800">
              <a:spcBef>
                <a:spcPts val="24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7500" algn="l"/>
              </a:tabLst>
            </a:pPr>
            <a:r>
              <a:rPr sz="3000" b="1" spc="-40" dirty="0">
                <a:solidFill>
                  <a:srgbClr val="3C3C3C"/>
                </a:solidFill>
                <a:latin typeface="Trebuchet MS"/>
                <a:cs typeface="Trebuchet MS"/>
              </a:rPr>
              <a:t>Transaction</a:t>
            </a:r>
            <a:r>
              <a:rPr sz="3000" b="1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3000" b="1" spc="-5" dirty="0">
                <a:solidFill>
                  <a:srgbClr val="3C3C3C"/>
                </a:solidFill>
                <a:latin typeface="Trebuchet MS"/>
                <a:cs typeface="Trebuchet MS"/>
              </a:rPr>
              <a:t>Support.</a:t>
            </a:r>
            <a:endParaRPr sz="3000">
              <a:latin typeface="Trebuchet MS"/>
              <a:cs typeface="Trebuchet MS"/>
            </a:endParaRPr>
          </a:p>
          <a:p>
            <a:pPr marL="317500" indent="-304800">
              <a:spcBef>
                <a:spcPts val="24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7500" algn="l"/>
              </a:tabLst>
            </a:pPr>
            <a:r>
              <a:rPr sz="3000" b="1" dirty="0">
                <a:solidFill>
                  <a:srgbClr val="3C3C3C"/>
                </a:solidFill>
                <a:latin typeface="Trebuchet MS"/>
                <a:cs typeface="Trebuchet MS"/>
              </a:rPr>
              <a:t>Concurrency</a:t>
            </a:r>
            <a:r>
              <a:rPr sz="3000" b="1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3000" b="1" dirty="0">
                <a:solidFill>
                  <a:srgbClr val="3C3C3C"/>
                </a:solidFill>
                <a:latin typeface="Trebuchet MS"/>
                <a:cs typeface="Trebuchet MS"/>
              </a:rPr>
              <a:t>Control</a:t>
            </a:r>
            <a:r>
              <a:rPr sz="3000" b="1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3000" b="1" spc="10" dirty="0">
                <a:solidFill>
                  <a:srgbClr val="3C3C3C"/>
                </a:solidFill>
                <a:latin typeface="Trebuchet MS"/>
                <a:cs typeface="Trebuchet MS"/>
              </a:rPr>
              <a:t>Services.</a:t>
            </a:r>
            <a:endParaRPr sz="3000">
              <a:latin typeface="Trebuchet MS"/>
              <a:cs typeface="Trebuchet MS"/>
            </a:endParaRPr>
          </a:p>
          <a:p>
            <a:pPr marL="317500" indent="-304800">
              <a:spcBef>
                <a:spcPts val="24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7500" algn="l"/>
              </a:tabLst>
            </a:pPr>
            <a:r>
              <a:rPr sz="3000" b="1" dirty="0">
                <a:solidFill>
                  <a:srgbClr val="3C3C3C"/>
                </a:solidFill>
                <a:latin typeface="Trebuchet MS"/>
                <a:cs typeface="Trebuchet MS"/>
              </a:rPr>
              <a:t>Recovery</a:t>
            </a:r>
            <a:r>
              <a:rPr sz="3000" b="1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3000" b="1" spc="10" dirty="0">
                <a:solidFill>
                  <a:srgbClr val="3C3C3C"/>
                </a:solidFill>
                <a:latin typeface="Trebuchet MS"/>
                <a:cs typeface="Trebuchet MS"/>
              </a:rPr>
              <a:t>Services.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2056" y="600456"/>
            <a:ext cx="8239125" cy="1153521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6985" rIns="0" bIns="0" rtlCol="0">
            <a:spAutoFit/>
          </a:bodyPr>
          <a:lstStyle/>
          <a:p>
            <a:pPr>
              <a:spcBef>
                <a:spcPts val="55"/>
              </a:spcBef>
            </a:pPr>
            <a:endParaRPr sz="4650">
              <a:latin typeface="Times New Roman"/>
              <a:cs typeface="Times New Roman"/>
            </a:endParaRPr>
          </a:p>
          <a:p>
            <a:pPr marL="224154"/>
            <a:r>
              <a:rPr spc="-5" dirty="0"/>
              <a:t>FUNCTIONS</a:t>
            </a:r>
            <a:r>
              <a:rPr spc="-10" dirty="0"/>
              <a:t> </a:t>
            </a:r>
            <a:r>
              <a:rPr spc="-5" dirty="0"/>
              <a:t>OF</a:t>
            </a:r>
            <a:r>
              <a:rPr spc="-165" dirty="0"/>
              <a:t> </a:t>
            </a:r>
            <a:r>
              <a:rPr spc="-5" dirty="0"/>
              <a:t>A</a:t>
            </a:r>
            <a:r>
              <a:rPr spc="-170" dirty="0"/>
              <a:t> </a:t>
            </a:r>
            <a:r>
              <a:rPr spc="-5" dirty="0"/>
              <a:t>DBMS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58645" y="2309241"/>
            <a:ext cx="7613015" cy="3531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indent="-304800">
              <a:spcBef>
                <a:spcPts val="1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7500" algn="l"/>
              </a:tabLst>
            </a:pPr>
            <a:r>
              <a:rPr sz="3000" b="1" spc="-5" dirty="0">
                <a:solidFill>
                  <a:srgbClr val="3C3C3C"/>
                </a:solidFill>
                <a:latin typeface="Trebuchet MS"/>
                <a:cs typeface="Trebuchet MS"/>
              </a:rPr>
              <a:t>Authorization </a:t>
            </a:r>
            <a:r>
              <a:rPr sz="3000" b="1" spc="10" dirty="0">
                <a:solidFill>
                  <a:srgbClr val="3C3C3C"/>
                </a:solidFill>
                <a:latin typeface="Trebuchet MS"/>
                <a:cs typeface="Trebuchet MS"/>
              </a:rPr>
              <a:t>Services.</a:t>
            </a:r>
            <a:endParaRPr sz="3000">
              <a:latin typeface="Trebuchet MS"/>
              <a:cs typeface="Trebuchet MS"/>
            </a:endParaRPr>
          </a:p>
          <a:p>
            <a:pPr marL="317500" indent="-304800">
              <a:spcBef>
                <a:spcPts val="24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7500" algn="l"/>
              </a:tabLst>
            </a:pPr>
            <a:r>
              <a:rPr sz="3000" b="1" spc="-5" dirty="0">
                <a:solidFill>
                  <a:srgbClr val="3C3C3C"/>
                </a:solidFill>
                <a:latin typeface="Trebuchet MS"/>
                <a:cs typeface="Trebuchet MS"/>
              </a:rPr>
              <a:t>Support</a:t>
            </a:r>
            <a:r>
              <a:rPr sz="3000" b="1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3000" b="1" spc="-5" dirty="0">
                <a:solidFill>
                  <a:srgbClr val="3C3C3C"/>
                </a:solidFill>
                <a:latin typeface="Trebuchet MS"/>
                <a:cs typeface="Trebuchet MS"/>
              </a:rPr>
              <a:t>for</a:t>
            </a:r>
            <a:r>
              <a:rPr sz="3000" b="1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3000" b="1" dirty="0">
                <a:solidFill>
                  <a:srgbClr val="3C3C3C"/>
                </a:solidFill>
                <a:latin typeface="Trebuchet MS"/>
                <a:cs typeface="Trebuchet MS"/>
              </a:rPr>
              <a:t>Data</a:t>
            </a:r>
            <a:r>
              <a:rPr sz="3000" b="1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3000" b="1" dirty="0">
                <a:solidFill>
                  <a:srgbClr val="3C3C3C"/>
                </a:solidFill>
                <a:latin typeface="Trebuchet MS"/>
                <a:cs typeface="Trebuchet MS"/>
              </a:rPr>
              <a:t>Communication.</a:t>
            </a:r>
            <a:endParaRPr sz="3000">
              <a:latin typeface="Trebuchet MS"/>
              <a:cs typeface="Trebuchet MS"/>
            </a:endParaRPr>
          </a:p>
          <a:p>
            <a:pPr marL="317500" indent="-304800">
              <a:spcBef>
                <a:spcPts val="24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7500" algn="l"/>
              </a:tabLst>
            </a:pPr>
            <a:r>
              <a:rPr sz="3000" b="1" spc="-5" dirty="0">
                <a:solidFill>
                  <a:srgbClr val="3C3C3C"/>
                </a:solidFill>
                <a:latin typeface="Trebuchet MS"/>
                <a:cs typeface="Trebuchet MS"/>
              </a:rPr>
              <a:t>Integrity</a:t>
            </a:r>
            <a:r>
              <a:rPr sz="3000" b="1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3000" b="1" spc="10" dirty="0">
                <a:solidFill>
                  <a:srgbClr val="3C3C3C"/>
                </a:solidFill>
                <a:latin typeface="Trebuchet MS"/>
                <a:cs typeface="Trebuchet MS"/>
              </a:rPr>
              <a:t>Services.</a:t>
            </a:r>
            <a:endParaRPr sz="3000">
              <a:latin typeface="Trebuchet MS"/>
              <a:cs typeface="Trebuchet MS"/>
            </a:endParaRPr>
          </a:p>
          <a:p>
            <a:pPr marL="317500" indent="-304800">
              <a:spcBef>
                <a:spcPts val="24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7500" algn="l"/>
              </a:tabLst>
            </a:pPr>
            <a:r>
              <a:rPr sz="3000" b="1" spc="5" dirty="0">
                <a:solidFill>
                  <a:srgbClr val="3C3C3C"/>
                </a:solidFill>
                <a:latin typeface="Trebuchet MS"/>
                <a:cs typeface="Trebuchet MS"/>
              </a:rPr>
              <a:t>Services</a:t>
            </a:r>
            <a:r>
              <a:rPr sz="3000" b="1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3000" b="1" spc="-10" dirty="0">
                <a:solidFill>
                  <a:srgbClr val="3C3C3C"/>
                </a:solidFill>
                <a:latin typeface="Trebuchet MS"/>
                <a:cs typeface="Trebuchet MS"/>
              </a:rPr>
              <a:t>to</a:t>
            </a:r>
            <a:r>
              <a:rPr sz="3000"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3000" b="1" spc="-5" dirty="0">
                <a:solidFill>
                  <a:srgbClr val="3C3C3C"/>
                </a:solidFill>
                <a:latin typeface="Trebuchet MS"/>
                <a:cs typeface="Trebuchet MS"/>
              </a:rPr>
              <a:t>Promote</a:t>
            </a:r>
            <a:r>
              <a:rPr sz="3000"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3000" b="1" dirty="0">
                <a:solidFill>
                  <a:srgbClr val="3C3C3C"/>
                </a:solidFill>
                <a:latin typeface="Trebuchet MS"/>
                <a:cs typeface="Trebuchet MS"/>
              </a:rPr>
              <a:t>Data </a:t>
            </a:r>
            <a:r>
              <a:rPr sz="3000" b="1" spc="-5" dirty="0">
                <a:solidFill>
                  <a:srgbClr val="3C3C3C"/>
                </a:solidFill>
                <a:latin typeface="Trebuchet MS"/>
                <a:cs typeface="Trebuchet MS"/>
              </a:rPr>
              <a:t>Independence.</a:t>
            </a:r>
            <a:endParaRPr sz="3000">
              <a:latin typeface="Trebuchet MS"/>
              <a:cs typeface="Trebuchet MS"/>
            </a:endParaRPr>
          </a:p>
          <a:p>
            <a:pPr marL="317500" indent="-304800">
              <a:spcBef>
                <a:spcPts val="240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7500" algn="l"/>
              </a:tabLst>
            </a:pPr>
            <a:r>
              <a:rPr sz="3000" b="1" dirty="0">
                <a:solidFill>
                  <a:srgbClr val="3C3C3C"/>
                </a:solidFill>
                <a:latin typeface="Trebuchet MS"/>
                <a:cs typeface="Trebuchet MS"/>
              </a:rPr>
              <a:t>Utility</a:t>
            </a:r>
            <a:r>
              <a:rPr sz="3000" b="1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3000" b="1" spc="10" dirty="0">
                <a:solidFill>
                  <a:srgbClr val="3C3C3C"/>
                </a:solidFill>
                <a:latin typeface="Trebuchet MS"/>
                <a:cs typeface="Trebuchet MS"/>
              </a:rPr>
              <a:t>Services.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972056" y="441960"/>
          <a:ext cx="8237855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9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4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24154">
                        <a:lnSpc>
                          <a:spcPct val="100000"/>
                        </a:lnSpc>
                        <a:spcBef>
                          <a:spcPts val="1925"/>
                        </a:spcBef>
                      </a:pPr>
                      <a:r>
                        <a:rPr sz="2800" b="1" spc="-5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ADVANTAGES</a:t>
                      </a:r>
                      <a:r>
                        <a:rPr sz="2800" b="1" spc="-4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28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DBMSS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429967" y="3036825"/>
            <a:ext cx="5897880" cy="205295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317500" indent="-304800">
              <a:spcBef>
                <a:spcPts val="11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Control</a:t>
            </a:r>
            <a:r>
              <a:rPr b="1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b="1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data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redundancy</a:t>
            </a:r>
            <a:endParaRPr>
              <a:latin typeface="Trebuchet MS"/>
              <a:cs typeface="Trebuchet MS"/>
            </a:endParaRPr>
          </a:p>
          <a:p>
            <a:pPr marL="317500" indent="-304800"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Data</a:t>
            </a:r>
            <a:r>
              <a:rPr b="1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consistency</a:t>
            </a:r>
            <a:endParaRPr>
              <a:latin typeface="Trebuchet MS"/>
              <a:cs typeface="Trebuchet MS"/>
            </a:endParaRPr>
          </a:p>
          <a:p>
            <a:pPr marL="317500" indent="-304800"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Sharing</a:t>
            </a:r>
            <a:r>
              <a:rPr b="1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b="1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data</a:t>
            </a:r>
            <a:endParaRPr>
              <a:latin typeface="Trebuchet MS"/>
              <a:cs typeface="Trebuchet MS"/>
            </a:endParaRPr>
          </a:p>
          <a:p>
            <a:pPr marL="317500" indent="-304800"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Improved</a:t>
            </a:r>
            <a:r>
              <a:rPr b="1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data</a:t>
            </a:r>
            <a:r>
              <a:rPr b="1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integrity</a:t>
            </a:r>
            <a:endParaRPr>
              <a:latin typeface="Trebuchet MS"/>
              <a:cs typeface="Trebuchet MS"/>
            </a:endParaRPr>
          </a:p>
          <a:p>
            <a:pPr marL="317500" indent="-304800"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Improved</a:t>
            </a:r>
            <a:r>
              <a:rPr b="1" spc="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maintenance</a:t>
            </a:r>
            <a:r>
              <a:rPr b="1" spc="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through data</a:t>
            </a:r>
            <a:r>
              <a:rPr b="1" spc="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independence.</a:t>
            </a:r>
            <a:endParaRPr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972056" y="441960"/>
          <a:ext cx="8237855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9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4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24154">
                        <a:lnSpc>
                          <a:spcPct val="100000"/>
                        </a:lnSpc>
                        <a:spcBef>
                          <a:spcPts val="1925"/>
                        </a:spcBef>
                      </a:pPr>
                      <a:r>
                        <a:rPr sz="2800" b="1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DISADVANTAGES</a:t>
                      </a:r>
                      <a:r>
                        <a:rPr sz="28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28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DBMSS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429967" y="2907762"/>
            <a:ext cx="3077210" cy="2052320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317500" indent="-304800">
              <a:spcBef>
                <a:spcPts val="112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Complexity</a:t>
            </a:r>
            <a:endParaRPr>
              <a:latin typeface="Trebuchet MS"/>
              <a:cs typeface="Trebuchet MS"/>
            </a:endParaRPr>
          </a:p>
          <a:p>
            <a:pPr marL="317500" indent="-304800"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Cost</a:t>
            </a:r>
            <a:r>
              <a:rPr b="1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b="1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DBMS</a:t>
            </a:r>
            <a:endParaRPr>
              <a:latin typeface="Trebuchet MS"/>
              <a:cs typeface="Trebuchet MS"/>
            </a:endParaRPr>
          </a:p>
          <a:p>
            <a:pPr marL="317500" indent="-304800"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Cost</a:t>
            </a:r>
            <a:r>
              <a:rPr b="1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b="1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conversion</a:t>
            </a:r>
            <a:endParaRPr>
              <a:latin typeface="Trebuchet MS"/>
              <a:cs typeface="Trebuchet MS"/>
            </a:endParaRPr>
          </a:p>
          <a:p>
            <a:pPr marL="317500" indent="-304800"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b="1" spc="-10" dirty="0">
                <a:solidFill>
                  <a:srgbClr val="3C3C3C"/>
                </a:solidFill>
                <a:latin typeface="Trebuchet MS"/>
                <a:cs typeface="Trebuchet MS"/>
              </a:rPr>
              <a:t>Performance</a:t>
            </a:r>
            <a:endParaRPr>
              <a:latin typeface="Trebuchet MS"/>
              <a:cs typeface="Trebuchet MS"/>
            </a:endParaRPr>
          </a:p>
          <a:p>
            <a:pPr marL="317500" indent="-304800"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Higher</a:t>
            </a:r>
            <a:r>
              <a:rPr b="1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impact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b="1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b="1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3C3C3C"/>
                </a:solidFill>
                <a:latin typeface="Trebuchet MS"/>
                <a:cs typeface="Trebuchet MS"/>
              </a:rPr>
              <a:t>failure</a:t>
            </a:r>
            <a:endParaRPr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</TotalTime>
  <Words>1407</Words>
  <Application>Microsoft Office PowerPoint</Application>
  <PresentationFormat>Widescreen</PresentationFormat>
  <Paragraphs>222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Arial</vt:lpstr>
      <vt:lpstr>Book Antiqua</vt:lpstr>
      <vt:lpstr>Calibri</vt:lpstr>
      <vt:lpstr>Constantia</vt:lpstr>
      <vt:lpstr>Franklin Gothic Book</vt:lpstr>
      <vt:lpstr>Gill Sans MT</vt:lpstr>
      <vt:lpstr>Times New Roman</vt:lpstr>
      <vt:lpstr>Trebuchet MS</vt:lpstr>
      <vt:lpstr>Wingdings 2</vt:lpstr>
      <vt:lpstr>Office Theme</vt:lpstr>
      <vt:lpstr>DATABASE MANAGEMENT SYSTEMS</vt:lpstr>
      <vt:lpstr>DATA AND DATABASE</vt:lpstr>
      <vt:lpstr>PowerPoint Presentation</vt:lpstr>
      <vt:lpstr>DATA</vt:lpstr>
      <vt:lpstr>PowerPoint Presentation</vt:lpstr>
      <vt:lpstr>PowerPoint Presentation</vt:lpstr>
      <vt:lpstr>PowerPoint Presentation</vt:lpstr>
      <vt:lpstr>DATA VS INFORMATION</vt:lpstr>
      <vt:lpstr>PowerPoint Presentation</vt:lpstr>
      <vt:lpstr>Summarized data</vt:lpstr>
      <vt:lpstr>PowerPoint Presentation</vt:lpstr>
      <vt:lpstr>PowerPoint Presentation</vt:lpstr>
      <vt:lpstr>PowerPoint Presentation</vt:lpstr>
      <vt:lpstr>PowerPoint Presentation</vt:lpstr>
      <vt:lpstr>DISADVANTAGES OF TRADITIONAL FILE  PROCESSING SYSTEM</vt:lpstr>
      <vt:lpstr>DISADVANTAGES OF TRADITIONAL FILE  PROCESSING SYSTEM</vt:lpstr>
      <vt:lpstr>PROBLEMS WITH DATA DEPENDENCY</vt:lpstr>
      <vt:lpstr> PROBLEMS WITH DATA REDUNDANCY</vt:lpstr>
      <vt:lpstr> SOLUTION:THE DATABASE APPROACH</vt:lpstr>
      <vt:lpstr> EXAMPLES OF DATABASE SYSTEMS</vt:lpstr>
      <vt:lpstr>PowerPoint Presentation</vt:lpstr>
      <vt:lpstr>PowerPoint Presentation</vt:lpstr>
      <vt:lpstr> DATABASE</vt:lpstr>
      <vt:lpstr>PowerPoint Presentation</vt:lpstr>
      <vt:lpstr>A software system that is used to create, maintain, and provide controlled  access to user databases</vt:lpstr>
      <vt:lpstr> DATABASE APPLICATION PROGRAM</vt:lpstr>
      <vt:lpstr>PowerPoint Presentation</vt:lpstr>
      <vt:lpstr>PowerPoint Presentation</vt:lpstr>
      <vt:lpstr> DBMS</vt:lpstr>
      <vt:lpstr>PowerPoint Presentation</vt:lpstr>
      <vt:lpstr>PowerPoint Presentation</vt:lpstr>
      <vt:lpstr> FUNCTIONS OF A DBMS</vt:lpstr>
      <vt:lpstr> FUNCTIONS OF A DBMS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subject>Database Solutions</dc:subject>
  <dc:creator>Thomas Connolly &amp; Carolyn Begg</dc:creator>
  <cp:lastModifiedBy>Junaid Javed</cp:lastModifiedBy>
  <cp:revision>2</cp:revision>
  <dcterms:created xsi:type="dcterms:W3CDTF">2026-02-17T07:53:07Z</dcterms:created>
  <dcterms:modified xsi:type="dcterms:W3CDTF">2026-08-19T11:24:03Z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2020-05-29T00:00:00Z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2026-02-17T00:00:00Z</vt:filetime>
  </property>
</Properties>
</file>