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57704" y="2188844"/>
            <a:ext cx="632396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7704" y="2491115"/>
            <a:ext cx="6821170" cy="211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90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dirty="0" sz="3600" spc="-6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dirty="0" sz="3600" spc="-105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dirty="0" sz="3600" spc="-5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3453" y="4479696"/>
            <a:ext cx="30041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dirty="0" sz="1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dirty="0" sz="1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3086100"/>
            <a:ext cx="10986770" cy="3305810"/>
          </a:xfrm>
          <a:custGeom>
            <a:avLst/>
            <a:gdLst/>
            <a:ahLst/>
            <a:cxnLst/>
            <a:rect l="l" t="t" r="r" b="b"/>
            <a:pathLst>
              <a:path w="10986770" h="3305810">
                <a:moveTo>
                  <a:pt x="10986516" y="0"/>
                </a:moveTo>
                <a:lnTo>
                  <a:pt x="0" y="0"/>
                </a:lnTo>
                <a:lnTo>
                  <a:pt x="0" y="3305555"/>
                </a:lnTo>
                <a:lnTo>
                  <a:pt x="10986516" y="3305555"/>
                </a:lnTo>
                <a:lnTo>
                  <a:pt x="10986516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3838" y="1870709"/>
            <a:ext cx="71805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solidFill>
                  <a:srgbClr val="1A315F"/>
                </a:solidFill>
                <a:latin typeface="Gill Sans MT"/>
                <a:cs typeface="Gill Sans MT"/>
              </a:rPr>
              <a:t>RESTRICTING</a:t>
            </a:r>
            <a:r>
              <a:rPr dirty="0" sz="3600" spc="-335" b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dirty="0" sz="3600" b="0">
                <a:solidFill>
                  <a:srgbClr val="1A315F"/>
                </a:solidFill>
                <a:latin typeface="Gill Sans MT"/>
                <a:cs typeface="Gill Sans MT"/>
              </a:rPr>
              <a:t>AND SO</a:t>
            </a:r>
            <a:r>
              <a:rPr dirty="0" sz="3600" spc="-330" b="0">
                <a:solidFill>
                  <a:srgbClr val="1A315F"/>
                </a:solidFill>
                <a:latin typeface="Gill Sans MT"/>
                <a:cs typeface="Gill Sans MT"/>
              </a:rPr>
              <a:t>R</a:t>
            </a:r>
            <a:r>
              <a:rPr dirty="0" sz="3600" b="0">
                <a:solidFill>
                  <a:srgbClr val="1A315F"/>
                </a:solidFill>
                <a:latin typeface="Gill Sans MT"/>
                <a:cs typeface="Gill Sans MT"/>
              </a:rPr>
              <a:t>TING</a:t>
            </a:r>
            <a:r>
              <a:rPr dirty="0" sz="3600" spc="15" b="0">
                <a:solidFill>
                  <a:srgbClr val="1A315F"/>
                </a:solidFill>
                <a:latin typeface="Gill Sans MT"/>
                <a:cs typeface="Gill Sans MT"/>
              </a:rPr>
              <a:t> </a:t>
            </a:r>
            <a:r>
              <a:rPr dirty="0" sz="3600" spc="-204" b="0">
                <a:solidFill>
                  <a:srgbClr val="1A315F"/>
                </a:solidFill>
                <a:latin typeface="Gill Sans MT"/>
                <a:cs typeface="Gill Sans MT"/>
              </a:rPr>
              <a:t>D</a:t>
            </a:r>
            <a:r>
              <a:rPr dirty="0" sz="3600" spc="-360" b="0">
                <a:solidFill>
                  <a:srgbClr val="1A315F"/>
                </a:solidFill>
                <a:latin typeface="Gill Sans MT"/>
                <a:cs typeface="Gill Sans MT"/>
              </a:rPr>
              <a:t>AT</a:t>
            </a:r>
            <a:r>
              <a:rPr dirty="0" sz="3600" b="0">
                <a:solidFill>
                  <a:srgbClr val="1A315F"/>
                </a:solidFill>
                <a:latin typeface="Gill Sans MT"/>
                <a:cs typeface="Gill Sans MT"/>
              </a:rPr>
              <a:t>A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846" y="3202939"/>
            <a:ext cx="10200640" cy="29178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7970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dirty="0" sz="20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>
                <a:solidFill>
                  <a:srgbClr val="FFFFFF"/>
                </a:solidFill>
                <a:latin typeface="Times New Roman"/>
                <a:cs typeface="Times New Roman"/>
              </a:rPr>
              <a:t>11,12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algn="just" marL="12700" marR="6985">
              <a:lnSpc>
                <a:spcPct val="100000"/>
              </a:lnSpc>
              <a:spcBef>
                <a:spcPts val="1745"/>
              </a:spcBef>
            </a:pPr>
            <a:r>
              <a:rPr dirty="0" sz="1600" spc="5" b="1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</a:t>
            </a:r>
            <a:r>
              <a:rPr dirty="0" sz="1600" spc="5">
                <a:solidFill>
                  <a:srgbClr val="FFFFCC"/>
                </a:solidFill>
                <a:latin typeface="Gill Sans MT"/>
                <a:cs typeface="Gill Sans MT"/>
              </a:rPr>
              <a:t>etc.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not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solely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belong </a:t>
            </a:r>
            <a:r>
              <a:rPr dirty="0" sz="160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presenter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has gathered this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 web/textbooks.</a:t>
            </a:r>
            <a:r>
              <a:rPr dirty="0" sz="16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dirty="0" sz="1600" spc="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dirty="0" sz="16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355600" marR="5080" indent="-342900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Connolly,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Thomas</a:t>
            </a:r>
            <a:r>
              <a:rPr dirty="0" sz="1400" spc="229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M.,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dirty="0" sz="1400" spc="2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Begg.</a:t>
            </a:r>
            <a:r>
              <a:rPr dirty="0" sz="1400" spc="9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systems:</a:t>
            </a:r>
            <a:r>
              <a:rPr dirty="0" sz="1400" spc="8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dirty="0" sz="1400" spc="229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dirty="0" sz="1400" spc="225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design,</a:t>
            </a:r>
            <a:r>
              <a:rPr dirty="0" sz="1400" spc="9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implementation,</a:t>
            </a:r>
            <a:r>
              <a:rPr dirty="0" sz="1400" spc="9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i="1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220" i="1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 i="1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dirty="0" sz="1400" spc="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dirty="0" sz="1400" spc="-37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dirty="0" sz="1400" spc="-18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Gorman,Tim,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Inger</a:t>
            </a:r>
            <a:r>
              <a:rPr dirty="0" sz="1400" spc="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Jorgensen,</a:t>
            </a:r>
            <a:r>
              <a:rPr dirty="0" sz="1400" spc="-15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Melanie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Caffrey,</a:t>
            </a:r>
            <a:r>
              <a:rPr dirty="0" sz="1400" spc="-13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Lex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deHaan.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Beginning</a:t>
            </a:r>
            <a:r>
              <a:rPr dirty="0" sz="1400" spc="-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SQL: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For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Oracle</a:t>
            </a:r>
            <a:r>
              <a:rPr dirty="0" sz="1400" spc="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10">
                <a:solidFill>
                  <a:srgbClr val="FFFFCC"/>
                </a:solidFill>
                <a:latin typeface="Gill Sans MT"/>
                <a:cs typeface="Gill Sans MT"/>
              </a:rPr>
              <a:t>12c.Apress,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2014.</a:t>
            </a:r>
            <a:endParaRPr sz="1400">
              <a:latin typeface="Gill Sans MT"/>
              <a:cs typeface="Gill Sans M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Greenberg,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Nancy,</a:t>
            </a:r>
            <a:r>
              <a:rPr dirty="0" sz="1400" spc="-14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Instructor</a:t>
            </a:r>
            <a:r>
              <a:rPr dirty="0" sz="1400" spc="-2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Guide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PriyaNathan.</a:t>
            </a:r>
            <a:r>
              <a:rPr dirty="0" sz="1400" spc="-16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"Introduction</a:t>
            </a:r>
            <a:r>
              <a:rPr dirty="0" sz="1400" spc="-2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to Oracle9i:</a:t>
            </a:r>
            <a:r>
              <a:rPr dirty="0" sz="1400" spc="-14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SQL."</a:t>
            </a:r>
            <a:r>
              <a:rPr dirty="0" sz="1400" spc="1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 spc="-10">
                <a:solidFill>
                  <a:srgbClr val="FFFFCC"/>
                </a:solidFill>
                <a:latin typeface="Gill Sans MT"/>
                <a:cs typeface="Gill Sans MT"/>
              </a:rPr>
              <a:t>ORACLE,</a:t>
            </a:r>
            <a:r>
              <a:rPr dirty="0" sz="1400" spc="-15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USA</a:t>
            </a:r>
            <a:r>
              <a:rPr dirty="0" sz="1400" spc="-5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dirty="0" sz="1400">
                <a:solidFill>
                  <a:srgbClr val="FFFFCC"/>
                </a:solidFill>
                <a:latin typeface="Gill Sans MT"/>
                <a:cs typeface="Gill Sans MT"/>
              </a:rPr>
              <a:t>(2001).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OBJECTIVES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27049" y="2325713"/>
            <a:ext cx="6322695" cy="124269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After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completing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les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son,</a:t>
            </a:r>
            <a:r>
              <a:rPr dirty="0" sz="1800" spc="-2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3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should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able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foll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wing: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Limit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rows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retrieved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query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Sort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rows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retrieved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query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9632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0">
                <a:solidFill>
                  <a:srgbClr val="FFFFFF"/>
                </a:solidFill>
                <a:latin typeface="Gill Sans MT"/>
                <a:cs typeface="Gill Sans MT"/>
              </a:rPr>
              <a:t>LIM</a:t>
            </a:r>
            <a:r>
              <a:rPr dirty="0" sz="2800" spc="-20" b="0">
                <a:solidFill>
                  <a:srgbClr val="FFFFFF"/>
                </a:solidFill>
                <a:latin typeface="Gill Sans MT"/>
                <a:cs typeface="Gill Sans MT"/>
              </a:rPr>
              <a:t>I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TING</a:t>
            </a:r>
            <a:r>
              <a:rPr dirty="0" sz="2800" spc="1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75" b="0">
                <a:solidFill>
                  <a:srgbClr val="FFFFFF"/>
                </a:solidFill>
                <a:latin typeface="Gill Sans MT"/>
                <a:cs typeface="Gill Sans MT"/>
              </a:rPr>
              <a:t>R</a:t>
            </a:r>
            <a:r>
              <a:rPr dirty="0" sz="2800" spc="-114" b="0">
                <a:solidFill>
                  <a:srgbClr val="FFFFFF"/>
                </a:solidFill>
                <a:latin typeface="Gill Sans MT"/>
                <a:cs typeface="Gill Sans MT"/>
              </a:rPr>
              <a:t>O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WS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U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SING</a:t>
            </a:r>
            <a:r>
              <a:rPr dirty="0" sz="2800" spc="-26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A</a:t>
            </a:r>
            <a:r>
              <a:rPr dirty="0" sz="2800" spc="-2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SEL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E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CTION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59942" y="4539996"/>
            <a:ext cx="6668770" cy="1932939"/>
            <a:chOff x="2559942" y="4539996"/>
            <a:chExt cx="6668770" cy="1932939"/>
          </a:xfrm>
        </p:grpSpPr>
        <p:sp>
          <p:nvSpPr>
            <p:cNvPr id="5" name="object 5"/>
            <p:cNvSpPr/>
            <p:nvPr/>
          </p:nvSpPr>
          <p:spPr>
            <a:xfrm>
              <a:off x="5977127" y="4539996"/>
              <a:ext cx="1640205" cy="1017269"/>
            </a:xfrm>
            <a:custGeom>
              <a:avLst/>
              <a:gdLst/>
              <a:ahLst/>
              <a:cxnLst/>
              <a:rect l="l" t="t" r="r" b="b"/>
              <a:pathLst>
                <a:path w="1640204" h="1017270">
                  <a:moveTo>
                    <a:pt x="1491233" y="781684"/>
                  </a:moveTo>
                  <a:lnTo>
                    <a:pt x="1607057" y="1017269"/>
                  </a:lnTo>
                  <a:lnTo>
                    <a:pt x="1622774" y="893292"/>
                  </a:lnTo>
                  <a:lnTo>
                    <a:pt x="1578302" y="893292"/>
                  </a:lnTo>
                  <a:lnTo>
                    <a:pt x="1569259" y="890000"/>
                  </a:lnTo>
                  <a:lnTo>
                    <a:pt x="1562098" y="883540"/>
                  </a:lnTo>
                  <a:lnTo>
                    <a:pt x="1557781" y="874521"/>
                  </a:lnTo>
                  <a:lnTo>
                    <a:pt x="1557401" y="872616"/>
                  </a:lnTo>
                  <a:lnTo>
                    <a:pt x="1544540" y="832534"/>
                  </a:lnTo>
                  <a:lnTo>
                    <a:pt x="1491233" y="781684"/>
                  </a:lnTo>
                  <a:close/>
                </a:path>
                <a:path w="1640204" h="1017270">
                  <a:moveTo>
                    <a:pt x="1544540" y="832534"/>
                  </a:moveTo>
                  <a:lnTo>
                    <a:pt x="1557401" y="872616"/>
                  </a:lnTo>
                  <a:lnTo>
                    <a:pt x="1557781" y="874521"/>
                  </a:lnTo>
                  <a:lnTo>
                    <a:pt x="1562098" y="883540"/>
                  </a:lnTo>
                  <a:lnTo>
                    <a:pt x="1569259" y="890000"/>
                  </a:lnTo>
                  <a:lnTo>
                    <a:pt x="1578302" y="893292"/>
                  </a:lnTo>
                  <a:lnTo>
                    <a:pt x="1588262" y="892809"/>
                  </a:lnTo>
                  <a:lnTo>
                    <a:pt x="1597282" y="888567"/>
                  </a:lnTo>
                  <a:lnTo>
                    <a:pt x="1603755" y="881443"/>
                  </a:lnTo>
                  <a:lnTo>
                    <a:pt x="1607085" y="872414"/>
                  </a:lnTo>
                  <a:lnTo>
                    <a:pt x="1606922" y="868425"/>
                  </a:lnTo>
                  <a:lnTo>
                    <a:pt x="1582166" y="868425"/>
                  </a:lnTo>
                  <a:lnTo>
                    <a:pt x="1544540" y="832534"/>
                  </a:lnTo>
                  <a:close/>
                </a:path>
                <a:path w="1640204" h="1017270">
                  <a:moveTo>
                    <a:pt x="1640077" y="756792"/>
                  </a:moveTo>
                  <a:lnTo>
                    <a:pt x="1598635" y="836678"/>
                  </a:lnTo>
                  <a:lnTo>
                    <a:pt x="1605279" y="857122"/>
                  </a:lnTo>
                  <a:lnTo>
                    <a:pt x="1606677" y="862456"/>
                  </a:lnTo>
                  <a:lnTo>
                    <a:pt x="1606922" y="868425"/>
                  </a:lnTo>
                  <a:lnTo>
                    <a:pt x="1607011" y="872616"/>
                  </a:lnTo>
                  <a:lnTo>
                    <a:pt x="1603755" y="881443"/>
                  </a:lnTo>
                  <a:lnTo>
                    <a:pt x="1597282" y="888567"/>
                  </a:lnTo>
                  <a:lnTo>
                    <a:pt x="1588262" y="892809"/>
                  </a:lnTo>
                  <a:lnTo>
                    <a:pt x="1578302" y="893292"/>
                  </a:lnTo>
                  <a:lnTo>
                    <a:pt x="1622774" y="893292"/>
                  </a:lnTo>
                  <a:lnTo>
                    <a:pt x="1640077" y="756792"/>
                  </a:lnTo>
                  <a:close/>
                </a:path>
                <a:path w="1640204" h="1017270">
                  <a:moveTo>
                    <a:pt x="26797" y="0"/>
                  </a:moveTo>
                  <a:lnTo>
                    <a:pt x="25146" y="0"/>
                  </a:lnTo>
                  <a:lnTo>
                    <a:pt x="15376" y="1982"/>
                  </a:lnTo>
                  <a:lnTo>
                    <a:pt x="7381" y="7381"/>
                  </a:lnTo>
                  <a:lnTo>
                    <a:pt x="1982" y="15376"/>
                  </a:lnTo>
                  <a:lnTo>
                    <a:pt x="0" y="25145"/>
                  </a:lnTo>
                  <a:lnTo>
                    <a:pt x="1982" y="34915"/>
                  </a:lnTo>
                  <a:lnTo>
                    <a:pt x="7381" y="42910"/>
                  </a:lnTo>
                  <a:lnTo>
                    <a:pt x="15376" y="48309"/>
                  </a:lnTo>
                  <a:lnTo>
                    <a:pt x="25146" y="50291"/>
                  </a:lnTo>
                  <a:lnTo>
                    <a:pt x="26797" y="50291"/>
                  </a:lnTo>
                  <a:lnTo>
                    <a:pt x="105663" y="51561"/>
                  </a:lnTo>
                  <a:lnTo>
                    <a:pt x="183261" y="55371"/>
                  </a:lnTo>
                  <a:lnTo>
                    <a:pt x="259714" y="61594"/>
                  </a:lnTo>
                  <a:lnTo>
                    <a:pt x="335025" y="69976"/>
                  </a:lnTo>
                  <a:lnTo>
                    <a:pt x="409067" y="80898"/>
                  </a:lnTo>
                  <a:lnTo>
                    <a:pt x="481711" y="93979"/>
                  </a:lnTo>
                  <a:lnTo>
                    <a:pt x="552957" y="109219"/>
                  </a:lnTo>
                  <a:lnTo>
                    <a:pt x="622553" y="126745"/>
                  </a:lnTo>
                  <a:lnTo>
                    <a:pt x="690499" y="146176"/>
                  </a:lnTo>
                  <a:lnTo>
                    <a:pt x="756666" y="167639"/>
                  </a:lnTo>
                  <a:lnTo>
                    <a:pt x="821181" y="191134"/>
                  </a:lnTo>
                  <a:lnTo>
                    <a:pt x="883539" y="216407"/>
                  </a:lnTo>
                  <a:lnTo>
                    <a:pt x="943864" y="243585"/>
                  </a:lnTo>
                  <a:lnTo>
                    <a:pt x="1002156" y="272414"/>
                  </a:lnTo>
                  <a:lnTo>
                    <a:pt x="1058291" y="303021"/>
                  </a:lnTo>
                  <a:lnTo>
                    <a:pt x="1112012" y="335279"/>
                  </a:lnTo>
                  <a:lnTo>
                    <a:pt x="1163320" y="368934"/>
                  </a:lnTo>
                  <a:lnTo>
                    <a:pt x="1211961" y="404240"/>
                  </a:lnTo>
                  <a:lnTo>
                    <a:pt x="1258189" y="440943"/>
                  </a:lnTo>
                  <a:lnTo>
                    <a:pt x="1301750" y="479043"/>
                  </a:lnTo>
                  <a:lnTo>
                    <a:pt x="1342390" y="518413"/>
                  </a:lnTo>
                  <a:lnTo>
                    <a:pt x="1380236" y="559053"/>
                  </a:lnTo>
                  <a:lnTo>
                    <a:pt x="1415161" y="600836"/>
                  </a:lnTo>
                  <a:lnTo>
                    <a:pt x="1446911" y="643762"/>
                  </a:lnTo>
                  <a:lnTo>
                    <a:pt x="1475613" y="687704"/>
                  </a:lnTo>
                  <a:lnTo>
                    <a:pt x="1501140" y="732662"/>
                  </a:lnTo>
                  <a:lnTo>
                    <a:pt x="1523238" y="778382"/>
                  </a:lnTo>
                  <a:lnTo>
                    <a:pt x="1542161" y="825118"/>
                  </a:lnTo>
                  <a:lnTo>
                    <a:pt x="1544540" y="832534"/>
                  </a:lnTo>
                  <a:lnTo>
                    <a:pt x="1582166" y="868425"/>
                  </a:lnTo>
                  <a:lnTo>
                    <a:pt x="1598635" y="836678"/>
                  </a:lnTo>
                  <a:lnTo>
                    <a:pt x="1588770" y="806322"/>
                  </a:lnTo>
                  <a:lnTo>
                    <a:pt x="1568577" y="756411"/>
                  </a:lnTo>
                  <a:lnTo>
                    <a:pt x="1544827" y="707770"/>
                  </a:lnTo>
                  <a:lnTo>
                    <a:pt x="1517650" y="660145"/>
                  </a:lnTo>
                  <a:lnTo>
                    <a:pt x="1487297" y="613790"/>
                  </a:lnTo>
                  <a:lnTo>
                    <a:pt x="1453769" y="568578"/>
                  </a:lnTo>
                  <a:lnTo>
                    <a:pt x="1417066" y="524763"/>
                  </a:lnTo>
                  <a:lnTo>
                    <a:pt x="1377315" y="482218"/>
                  </a:lnTo>
                  <a:lnTo>
                    <a:pt x="1334770" y="441197"/>
                  </a:lnTo>
                  <a:lnTo>
                    <a:pt x="1289557" y="401573"/>
                  </a:lnTo>
                  <a:lnTo>
                    <a:pt x="1241425" y="363473"/>
                  </a:lnTo>
                  <a:lnTo>
                    <a:pt x="1190878" y="326897"/>
                  </a:lnTo>
                  <a:lnTo>
                    <a:pt x="1137793" y="292099"/>
                  </a:lnTo>
                  <a:lnTo>
                    <a:pt x="1082294" y="258825"/>
                  </a:lnTo>
                  <a:lnTo>
                    <a:pt x="1024508" y="227456"/>
                  </a:lnTo>
                  <a:lnTo>
                    <a:pt x="964565" y="197611"/>
                  </a:lnTo>
                  <a:lnTo>
                    <a:pt x="902462" y="169798"/>
                  </a:lnTo>
                  <a:lnTo>
                    <a:pt x="838326" y="143763"/>
                  </a:lnTo>
                  <a:lnTo>
                    <a:pt x="772287" y="119760"/>
                  </a:lnTo>
                  <a:lnTo>
                    <a:pt x="704342" y="97789"/>
                  </a:lnTo>
                  <a:lnTo>
                    <a:pt x="634746" y="77850"/>
                  </a:lnTo>
                  <a:lnTo>
                    <a:pt x="563372" y="60070"/>
                  </a:lnTo>
                  <a:lnTo>
                    <a:pt x="490600" y="44449"/>
                  </a:lnTo>
                  <a:lnTo>
                    <a:pt x="416306" y="31114"/>
                  </a:lnTo>
                  <a:lnTo>
                    <a:pt x="340613" y="20065"/>
                  </a:lnTo>
                  <a:lnTo>
                    <a:pt x="263779" y="11429"/>
                  </a:lnTo>
                  <a:lnTo>
                    <a:pt x="185674" y="5079"/>
                  </a:lnTo>
                  <a:lnTo>
                    <a:pt x="106552" y="1269"/>
                  </a:lnTo>
                  <a:lnTo>
                    <a:pt x="26797" y="0"/>
                  </a:lnTo>
                  <a:close/>
                </a:path>
                <a:path w="1640204" h="1017270">
                  <a:moveTo>
                    <a:pt x="1598635" y="836678"/>
                  </a:moveTo>
                  <a:lnTo>
                    <a:pt x="1582166" y="868425"/>
                  </a:lnTo>
                  <a:lnTo>
                    <a:pt x="1606922" y="868425"/>
                  </a:lnTo>
                  <a:lnTo>
                    <a:pt x="1606677" y="862456"/>
                  </a:lnTo>
                  <a:lnTo>
                    <a:pt x="1605279" y="857122"/>
                  </a:lnTo>
                  <a:lnTo>
                    <a:pt x="1598635" y="836678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9942" y="5596882"/>
              <a:ext cx="6668255" cy="87593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537205" y="3815588"/>
            <a:ext cx="3234055" cy="165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Arial"/>
              <a:cs typeface="Arial"/>
            </a:endParaRPr>
          </a:p>
          <a:p>
            <a:pPr marL="842644" marR="846455">
              <a:lnSpc>
                <a:spcPts val="2510"/>
              </a:lnSpc>
            </a:pPr>
            <a:r>
              <a:rPr dirty="0" sz="2200" spc="-5" b="1">
                <a:latin typeface="Arial"/>
                <a:cs typeface="Arial"/>
              </a:rPr>
              <a:t>“retrieve</a:t>
            </a:r>
            <a:r>
              <a:rPr dirty="0" sz="2200" spc="-5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all </a:t>
            </a:r>
            <a:r>
              <a:rPr dirty="0" sz="2200" spc="-59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employees</a:t>
            </a:r>
            <a:endParaRPr sz="2200">
              <a:latin typeface="Arial"/>
              <a:cs typeface="Arial"/>
            </a:endParaRPr>
          </a:p>
          <a:p>
            <a:pPr marL="842644">
              <a:lnSpc>
                <a:spcPts val="2445"/>
              </a:lnSpc>
            </a:pPr>
            <a:r>
              <a:rPr dirty="0" sz="2200" spc="-5" b="1">
                <a:latin typeface="Arial"/>
                <a:cs typeface="Arial"/>
              </a:rPr>
              <a:t>in</a:t>
            </a:r>
            <a:r>
              <a:rPr dirty="0" sz="2200" spc="-20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department </a:t>
            </a:r>
            <a:r>
              <a:rPr dirty="0" sz="2200" spc="-10" b="1">
                <a:latin typeface="Arial"/>
                <a:cs typeface="Arial"/>
              </a:rPr>
              <a:t>90”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7101" y="1887474"/>
            <a:ext cx="140017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latin typeface="Courier New"/>
                <a:cs typeface="Courier New"/>
              </a:rPr>
              <a:t>EMPLOYEES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1364" y="2278379"/>
            <a:ext cx="6743700" cy="1752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1364" y="4192523"/>
            <a:ext cx="6725411" cy="2468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LIM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 spc="-1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WS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SEL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CTED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59672" y="2610548"/>
            <a:ext cx="7630795" cy="1067435"/>
            <a:chOff x="2459672" y="2610548"/>
            <a:chExt cx="7630795" cy="1067435"/>
          </a:xfrm>
        </p:grpSpPr>
        <p:sp>
          <p:nvSpPr>
            <p:cNvPr id="4" name="object 4"/>
            <p:cNvSpPr/>
            <p:nvPr/>
          </p:nvSpPr>
          <p:spPr>
            <a:xfrm>
              <a:off x="2523236" y="2674619"/>
              <a:ext cx="7566659" cy="1003300"/>
            </a:xfrm>
            <a:custGeom>
              <a:avLst/>
              <a:gdLst/>
              <a:ahLst/>
              <a:cxnLst/>
              <a:rect l="l" t="t" r="r" b="b"/>
              <a:pathLst>
                <a:path w="7566659" h="1003300">
                  <a:moveTo>
                    <a:pt x="7566660" y="0"/>
                  </a:moveTo>
                  <a:lnTo>
                    <a:pt x="7490206" y="0"/>
                  </a:lnTo>
                  <a:lnTo>
                    <a:pt x="7490206" y="12700"/>
                  </a:lnTo>
                  <a:lnTo>
                    <a:pt x="7490206" y="25400"/>
                  </a:lnTo>
                  <a:lnTo>
                    <a:pt x="7490206" y="927100"/>
                  </a:lnTo>
                  <a:lnTo>
                    <a:pt x="25908" y="927100"/>
                  </a:lnTo>
                  <a:lnTo>
                    <a:pt x="12954" y="927100"/>
                  </a:lnTo>
                  <a:lnTo>
                    <a:pt x="0" y="927100"/>
                  </a:lnTo>
                  <a:lnTo>
                    <a:pt x="0" y="977900"/>
                  </a:lnTo>
                  <a:lnTo>
                    <a:pt x="0" y="1003300"/>
                  </a:lnTo>
                  <a:lnTo>
                    <a:pt x="7566660" y="1003300"/>
                  </a:lnTo>
                  <a:lnTo>
                    <a:pt x="7566660" y="977900"/>
                  </a:lnTo>
                  <a:lnTo>
                    <a:pt x="7566660" y="25400"/>
                  </a:lnTo>
                  <a:lnTo>
                    <a:pt x="7566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72690" y="2623565"/>
              <a:ext cx="7541259" cy="978535"/>
            </a:xfrm>
            <a:custGeom>
              <a:avLst/>
              <a:gdLst/>
              <a:ahLst/>
              <a:cxnLst/>
              <a:rect l="l" t="t" r="r" b="b"/>
              <a:pathLst>
                <a:path w="7541259" h="978535">
                  <a:moveTo>
                    <a:pt x="7540752" y="0"/>
                  </a:moveTo>
                  <a:lnTo>
                    <a:pt x="0" y="0"/>
                  </a:lnTo>
                  <a:lnTo>
                    <a:pt x="0" y="978408"/>
                  </a:lnTo>
                  <a:lnTo>
                    <a:pt x="7540752" y="978408"/>
                  </a:lnTo>
                  <a:lnTo>
                    <a:pt x="754075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72690" y="2623565"/>
              <a:ext cx="7541259" cy="978535"/>
            </a:xfrm>
            <a:custGeom>
              <a:avLst/>
              <a:gdLst/>
              <a:ahLst/>
              <a:cxnLst/>
              <a:rect l="l" t="t" r="r" b="b"/>
              <a:pathLst>
                <a:path w="7541259" h="978535">
                  <a:moveTo>
                    <a:pt x="0" y="978408"/>
                  </a:moveTo>
                  <a:lnTo>
                    <a:pt x="7540752" y="978408"/>
                  </a:lnTo>
                  <a:lnTo>
                    <a:pt x="7540752" y="0"/>
                  </a:lnTo>
                  <a:lnTo>
                    <a:pt x="0" y="0"/>
                  </a:lnTo>
                  <a:lnTo>
                    <a:pt x="0" y="9784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77770" y="2065146"/>
            <a:ext cx="7281545" cy="1921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strict 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4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eturned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b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 using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WHER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590B8"/>
              </a:buClr>
              <a:buFont typeface="Wingdings 2"/>
              <a:buChar char=""/>
            </a:pPr>
            <a:endParaRPr sz="2150">
              <a:latin typeface="Gill Sans MT"/>
              <a:cs typeface="Gill Sans MT"/>
            </a:endParaRPr>
          </a:p>
          <a:p>
            <a:pPr marL="60960">
              <a:lnSpc>
                <a:spcPct val="100000"/>
              </a:lnSpc>
              <a:tabLst>
                <a:tab pos="1261745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	*|{[DISTINCT]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column|expression</a:t>
            </a:r>
            <a:r>
              <a:rPr dirty="0" sz="1800" spc="-3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</a:t>
            </a:r>
            <a:r>
              <a:rPr dirty="0" sz="1800" spc="-10" b="1" i="1">
                <a:latin typeface="Courier New"/>
                <a:cs typeface="Courier New"/>
              </a:rPr>
              <a:t>alias</a:t>
            </a:r>
            <a:r>
              <a:rPr dirty="0" sz="1800" spc="-10" b="1">
                <a:latin typeface="Courier New"/>
                <a:cs typeface="Courier New"/>
              </a:rPr>
              <a:t>],...}</a:t>
            </a:r>
            <a:endParaRPr sz="1800">
              <a:latin typeface="Courier New"/>
              <a:cs typeface="Courier New"/>
            </a:endParaRPr>
          </a:p>
          <a:p>
            <a:pPr marL="60960">
              <a:lnSpc>
                <a:spcPct val="100000"/>
              </a:lnSpc>
              <a:tabLst>
                <a:tab pos="1261745" algn="l"/>
              </a:tabLst>
            </a:pPr>
            <a:r>
              <a:rPr dirty="0" sz="1800" spc="-10" b="1">
                <a:latin typeface="Courier New"/>
                <a:cs typeface="Courier New"/>
              </a:rPr>
              <a:t>FROM	</a:t>
            </a:r>
            <a:r>
              <a:rPr dirty="0" sz="1800" spc="-10" b="1" i="1"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  <a:p>
            <a:pPr marL="60960">
              <a:lnSpc>
                <a:spcPct val="100000"/>
              </a:lnSpc>
              <a:spcBef>
                <a:spcPts val="5"/>
              </a:spcBef>
              <a:tabLst>
                <a:tab pos="1261745" algn="l"/>
              </a:tabLst>
            </a:pPr>
            <a:r>
              <a:rPr dirty="0" sz="1800" spc="-10" b="1">
                <a:latin typeface="Courier New"/>
                <a:cs typeface="Courier New"/>
              </a:rPr>
              <a:t>[WHERE	</a:t>
            </a:r>
            <a:r>
              <a:rPr dirty="0" sz="1800" spc="-10" b="1" i="1">
                <a:latin typeface="Courier New"/>
                <a:cs typeface="Courier New"/>
              </a:rPr>
              <a:t>condition(s)</a:t>
            </a:r>
            <a:r>
              <a:rPr dirty="0" sz="1800" spc="-10" b="1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16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WHER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la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low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FRO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M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la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</a:t>
            </a:r>
            <a:r>
              <a:rPr dirty="0" sz="1800" spc="3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53461" y="3242310"/>
            <a:ext cx="2971800" cy="299085"/>
          </a:xfrm>
          <a:custGeom>
            <a:avLst/>
            <a:gdLst/>
            <a:ahLst/>
            <a:cxnLst/>
            <a:rect l="l" t="t" r="r" b="b"/>
            <a:pathLst>
              <a:path w="2971800" h="299085">
                <a:moveTo>
                  <a:pt x="0" y="298703"/>
                </a:moveTo>
                <a:lnTo>
                  <a:pt x="2971800" y="298703"/>
                </a:lnTo>
                <a:lnTo>
                  <a:pt x="2971800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800" spc="-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369756" y="2046668"/>
            <a:ext cx="7031355" cy="1005205"/>
            <a:chOff x="2369756" y="2046668"/>
            <a:chExt cx="7031355" cy="1005205"/>
          </a:xfrm>
        </p:grpSpPr>
        <p:sp>
          <p:nvSpPr>
            <p:cNvPr id="4" name="object 4"/>
            <p:cNvSpPr/>
            <p:nvPr/>
          </p:nvSpPr>
          <p:spPr>
            <a:xfrm>
              <a:off x="2433320" y="2110739"/>
              <a:ext cx="6967855" cy="941069"/>
            </a:xfrm>
            <a:custGeom>
              <a:avLst/>
              <a:gdLst/>
              <a:ahLst/>
              <a:cxnLst/>
              <a:rect l="l" t="t" r="r" b="b"/>
              <a:pathLst>
                <a:path w="6967855" h="941069">
                  <a:moveTo>
                    <a:pt x="6967728" y="0"/>
                  </a:moveTo>
                  <a:lnTo>
                    <a:pt x="6891274" y="0"/>
                  </a:lnTo>
                  <a:lnTo>
                    <a:pt x="6891274" y="12700"/>
                  </a:lnTo>
                  <a:lnTo>
                    <a:pt x="6891274" y="25400"/>
                  </a:lnTo>
                  <a:lnTo>
                    <a:pt x="6891274" y="864870"/>
                  </a:lnTo>
                  <a:lnTo>
                    <a:pt x="12954" y="86487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1070"/>
                  </a:lnTo>
                  <a:lnTo>
                    <a:pt x="6967728" y="941070"/>
                  </a:lnTo>
                  <a:lnTo>
                    <a:pt x="6967728" y="915670"/>
                  </a:lnTo>
                  <a:lnTo>
                    <a:pt x="6967728" y="25400"/>
                  </a:lnTo>
                  <a:lnTo>
                    <a:pt x="69677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82774" y="2059685"/>
              <a:ext cx="6941820" cy="916305"/>
            </a:xfrm>
            <a:custGeom>
              <a:avLst/>
              <a:gdLst/>
              <a:ahLst/>
              <a:cxnLst/>
              <a:rect l="l" t="t" r="r" b="b"/>
              <a:pathLst>
                <a:path w="6941820" h="916305">
                  <a:moveTo>
                    <a:pt x="694182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6941820" y="915924"/>
                  </a:lnTo>
                  <a:lnTo>
                    <a:pt x="69418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82774" y="2059685"/>
              <a:ext cx="6941820" cy="916305"/>
            </a:xfrm>
            <a:custGeom>
              <a:avLst/>
              <a:gdLst/>
              <a:ahLst/>
              <a:cxnLst/>
              <a:rect l="l" t="t" r="r" b="b"/>
              <a:pathLst>
                <a:path w="6941820" h="916305">
                  <a:moveTo>
                    <a:pt x="0" y="915924"/>
                  </a:moveTo>
                  <a:lnTo>
                    <a:pt x="6941820" y="915924"/>
                  </a:lnTo>
                  <a:lnTo>
                    <a:pt x="6941820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33320" y="297561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20873" y="2116073"/>
            <a:ext cx="638302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" marR="5080">
              <a:lnSpc>
                <a:spcPct val="100000"/>
              </a:lnSpc>
              <a:spcBef>
                <a:spcPts val="95"/>
              </a:spcBef>
              <a:tabLst>
                <a:tab pos="878205" algn="l"/>
              </a:tabLst>
            </a:pPr>
            <a:r>
              <a:rPr dirty="0" sz="1600" spc="-5" b="1">
                <a:latin typeface="Courier New"/>
                <a:cs typeface="Courier New"/>
              </a:rPr>
              <a:t>SELECT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employee_id,</a:t>
            </a:r>
            <a:r>
              <a:rPr dirty="0" sz="1600" spc="5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last_name,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job_id, department_id </a:t>
            </a:r>
            <a:r>
              <a:rPr dirty="0" sz="1600" spc="-944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FROM	employees</a:t>
            </a:r>
            <a:endParaRPr sz="1600">
              <a:latin typeface="Courier New"/>
              <a:cs typeface="Courier New"/>
            </a:endParaRPr>
          </a:p>
          <a:p>
            <a:pPr marL="24130">
              <a:lnSpc>
                <a:spcPct val="100000"/>
              </a:lnSpc>
              <a:tabLst>
                <a:tab pos="878205" algn="l"/>
              </a:tabLst>
            </a:pPr>
            <a:r>
              <a:rPr dirty="0" sz="1600" spc="-5" b="1">
                <a:latin typeface="Courier New"/>
                <a:cs typeface="Courier New"/>
              </a:rPr>
              <a:t>WHERE	department_id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=</a:t>
            </a:r>
            <a:r>
              <a:rPr dirty="0" sz="1600" spc="-15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90</a:t>
            </a:r>
            <a:r>
              <a:rPr dirty="0" sz="1600" spc="-2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20873" y="2625089"/>
            <a:ext cx="3167380" cy="299085"/>
          </a:xfrm>
          <a:custGeom>
            <a:avLst/>
            <a:gdLst/>
            <a:ahLst/>
            <a:cxnLst/>
            <a:rect l="l" t="t" r="r" b="b"/>
            <a:pathLst>
              <a:path w="3167379" h="299085">
                <a:moveTo>
                  <a:pt x="0" y="298703"/>
                </a:moveTo>
                <a:lnTo>
                  <a:pt x="3166872" y="298703"/>
                </a:lnTo>
                <a:lnTo>
                  <a:pt x="3166872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1061" y="3363483"/>
            <a:ext cx="6933821" cy="8766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CHAR</a:t>
                      </a:r>
                      <a:r>
                        <a:rPr dirty="0" sz="2800" spc="-1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CTER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STRIN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G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</a:t>
                      </a:r>
                      <a:r>
                        <a:rPr dirty="0" sz="2800" spc="-26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AND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16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</a:t>
                      </a:r>
                      <a:r>
                        <a:rPr dirty="0" sz="2800" spc="-28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TES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607500" y="3829748"/>
            <a:ext cx="7328534" cy="1005205"/>
            <a:chOff x="2607500" y="3829748"/>
            <a:chExt cx="7328534" cy="1005205"/>
          </a:xfrm>
        </p:grpSpPr>
        <p:sp>
          <p:nvSpPr>
            <p:cNvPr id="4" name="object 4"/>
            <p:cNvSpPr/>
            <p:nvPr/>
          </p:nvSpPr>
          <p:spPr>
            <a:xfrm>
              <a:off x="2671064" y="3893819"/>
              <a:ext cx="7265034" cy="941069"/>
            </a:xfrm>
            <a:custGeom>
              <a:avLst/>
              <a:gdLst/>
              <a:ahLst/>
              <a:cxnLst/>
              <a:rect l="l" t="t" r="r" b="b"/>
              <a:pathLst>
                <a:path w="7265034" h="941070">
                  <a:moveTo>
                    <a:pt x="7264908" y="0"/>
                  </a:moveTo>
                  <a:lnTo>
                    <a:pt x="7188441" y="0"/>
                  </a:lnTo>
                  <a:lnTo>
                    <a:pt x="7188441" y="25400"/>
                  </a:lnTo>
                  <a:lnTo>
                    <a:pt x="7188454" y="864870"/>
                  </a:lnTo>
                  <a:lnTo>
                    <a:pt x="12954" y="86487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1070"/>
                  </a:lnTo>
                  <a:lnTo>
                    <a:pt x="7264895" y="941070"/>
                  </a:lnTo>
                  <a:lnTo>
                    <a:pt x="7264895" y="915670"/>
                  </a:lnTo>
                  <a:lnTo>
                    <a:pt x="7264908" y="25400"/>
                  </a:lnTo>
                  <a:lnTo>
                    <a:pt x="7264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620518" y="3842765"/>
              <a:ext cx="7239000" cy="916305"/>
            </a:xfrm>
            <a:custGeom>
              <a:avLst/>
              <a:gdLst/>
              <a:ahLst/>
              <a:cxnLst/>
              <a:rect l="l" t="t" r="r" b="b"/>
              <a:pathLst>
                <a:path w="7239000" h="916304">
                  <a:moveTo>
                    <a:pt x="723900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7239000" y="915924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620518" y="3842765"/>
              <a:ext cx="7239000" cy="916305"/>
            </a:xfrm>
            <a:custGeom>
              <a:avLst/>
              <a:gdLst/>
              <a:ahLst/>
              <a:cxnLst/>
              <a:rect l="l" t="t" r="r" b="b"/>
              <a:pathLst>
                <a:path w="7239000" h="916304">
                  <a:moveTo>
                    <a:pt x="0" y="915924"/>
                  </a:moveTo>
                  <a:lnTo>
                    <a:pt x="7239000" y="915924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671064" y="475869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2076450"/>
            <a:ext cx="7073900" cy="261747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enclosed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 single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quotation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marks.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Character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sensitive,</a:t>
            </a:r>
            <a:r>
              <a:rPr dirty="0" sz="1800" spc="-18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are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format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sensitive.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default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date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format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DD-MON-RR.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21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Gill Sans MT"/>
              <a:cs typeface="Gill Sans MT"/>
            </a:endParaRPr>
          </a:p>
          <a:p>
            <a:pPr marL="259079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 job_id,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</a:t>
            </a:r>
            <a:endParaRPr sz="1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tabLst>
                <a:tab pos="1216025" algn="l"/>
              </a:tabLst>
            </a:pP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259079">
              <a:lnSpc>
                <a:spcPct val="100000"/>
              </a:lnSpc>
              <a:tabLst>
                <a:tab pos="1216025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last_name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'Whalen';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45429" y="4417314"/>
            <a:ext cx="1102360" cy="299085"/>
          </a:xfrm>
          <a:custGeom>
            <a:avLst/>
            <a:gdLst/>
            <a:ahLst/>
            <a:cxnLst/>
            <a:rect l="l" t="t" r="r" b="b"/>
            <a:pathLst>
              <a:path w="1102360" h="299085">
                <a:moveTo>
                  <a:pt x="0" y="298704"/>
                </a:moveTo>
                <a:lnTo>
                  <a:pt x="1101852" y="298704"/>
                </a:lnTo>
                <a:lnTo>
                  <a:pt x="1101852" y="0"/>
                </a:lnTo>
                <a:lnTo>
                  <a:pt x="0" y="0"/>
                </a:lnTo>
                <a:lnTo>
                  <a:pt x="0" y="298704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1924685">
                        <a:lnSpc>
                          <a:spcPct val="100000"/>
                        </a:lnSpc>
                        <a:spcBef>
                          <a:spcPts val="2755"/>
                        </a:spcBef>
                      </a:pP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COMPARISON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CONDITIONS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349885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10000" y="2450592"/>
          <a:ext cx="4504690" cy="3416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0320"/>
                <a:gridCol w="3175635"/>
              </a:tblGrid>
              <a:tr h="3987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Operator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13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Meaning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13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CC99"/>
                    </a:solidFill>
                  </a:tcPr>
                </a:tc>
              </a:tr>
              <a:tr h="509905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Equal</a:t>
                      </a:r>
                      <a:r>
                        <a:rPr dirty="0" sz="18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5875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4160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Greater</a:t>
                      </a:r>
                      <a:r>
                        <a:rPr dirty="0" sz="18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4160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37845">
                <a:tc>
                  <a:txBody>
                    <a:bodyPr/>
                    <a:lstStyle/>
                    <a:p>
                      <a:pPr algn="ctr" marL="120014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&gt;=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Greater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equal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&lt;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Less</a:t>
                      </a:r>
                      <a:r>
                        <a:rPr dirty="0" sz="1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699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 marL="12001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&lt;=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Less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equal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731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&lt;&gt;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equal</a:t>
                      </a:r>
                      <a:r>
                        <a:rPr dirty="0" sz="18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427668" y="2356040"/>
            <a:ext cx="7034530" cy="1005840"/>
            <a:chOff x="2427668" y="2356040"/>
            <a:chExt cx="7034530" cy="1005840"/>
          </a:xfrm>
        </p:grpSpPr>
        <p:sp>
          <p:nvSpPr>
            <p:cNvPr id="4" name="object 4"/>
            <p:cNvSpPr/>
            <p:nvPr/>
          </p:nvSpPr>
          <p:spPr>
            <a:xfrm>
              <a:off x="2491232" y="2419349"/>
              <a:ext cx="6971030" cy="942340"/>
            </a:xfrm>
            <a:custGeom>
              <a:avLst/>
              <a:gdLst/>
              <a:ahLst/>
              <a:cxnLst/>
              <a:rect l="l" t="t" r="r" b="b"/>
              <a:pathLst>
                <a:path w="6971030" h="942339">
                  <a:moveTo>
                    <a:pt x="6970776" y="0"/>
                  </a:moveTo>
                  <a:lnTo>
                    <a:pt x="6894322" y="0"/>
                  </a:lnTo>
                  <a:lnTo>
                    <a:pt x="6894322" y="12700"/>
                  </a:lnTo>
                  <a:lnTo>
                    <a:pt x="6894322" y="26670"/>
                  </a:lnTo>
                  <a:lnTo>
                    <a:pt x="6894322" y="866140"/>
                  </a:lnTo>
                  <a:lnTo>
                    <a:pt x="25908" y="866140"/>
                  </a:lnTo>
                  <a:lnTo>
                    <a:pt x="12954" y="866140"/>
                  </a:lnTo>
                  <a:lnTo>
                    <a:pt x="0" y="866140"/>
                  </a:lnTo>
                  <a:lnTo>
                    <a:pt x="0" y="915670"/>
                  </a:lnTo>
                  <a:lnTo>
                    <a:pt x="0" y="942340"/>
                  </a:lnTo>
                  <a:lnTo>
                    <a:pt x="6970776" y="942340"/>
                  </a:lnTo>
                  <a:lnTo>
                    <a:pt x="6970776" y="915670"/>
                  </a:lnTo>
                  <a:lnTo>
                    <a:pt x="6970776" y="26670"/>
                  </a:lnTo>
                  <a:lnTo>
                    <a:pt x="6970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0685" y="2369057"/>
              <a:ext cx="6944995" cy="916305"/>
            </a:xfrm>
            <a:custGeom>
              <a:avLst/>
              <a:gdLst/>
              <a:ahLst/>
              <a:cxnLst/>
              <a:rect l="l" t="t" r="r" b="b"/>
              <a:pathLst>
                <a:path w="6944995" h="916304">
                  <a:moveTo>
                    <a:pt x="6944867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6944867" y="915924"/>
                  </a:lnTo>
                  <a:lnTo>
                    <a:pt x="694486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0685" y="2369057"/>
              <a:ext cx="6944995" cy="916305"/>
            </a:xfrm>
            <a:custGeom>
              <a:avLst/>
              <a:gdLst/>
              <a:ahLst/>
              <a:cxnLst/>
              <a:rect l="l" t="t" r="r" b="b"/>
              <a:pathLst>
                <a:path w="6944995" h="916304">
                  <a:moveTo>
                    <a:pt x="0" y="915924"/>
                  </a:moveTo>
                  <a:lnTo>
                    <a:pt x="6944867" y="915924"/>
                  </a:lnTo>
                  <a:lnTo>
                    <a:pt x="6944867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507107" y="2375408"/>
            <a:ext cx="330136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salary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salary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&lt;=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3000;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572897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USING </a:t>
            </a:r>
            <a:r>
              <a:rPr dirty="0" sz="2800" spc="-25" b="0">
                <a:solidFill>
                  <a:srgbClr val="FFFFFF"/>
                </a:solidFill>
                <a:latin typeface="Gill Sans MT"/>
                <a:cs typeface="Gill Sans MT"/>
              </a:rPr>
              <a:t>COMPARISON</a:t>
            </a:r>
            <a:r>
              <a:rPr dirty="0" sz="2800" spc="-1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CONDITIONS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91405" y="2957322"/>
            <a:ext cx="1003300" cy="297180"/>
          </a:xfrm>
          <a:custGeom>
            <a:avLst/>
            <a:gdLst/>
            <a:ahLst/>
            <a:cxnLst/>
            <a:rect l="l" t="t" r="r" b="b"/>
            <a:pathLst>
              <a:path w="1003300" h="297179">
                <a:moveTo>
                  <a:pt x="0" y="297179"/>
                </a:moveTo>
                <a:lnTo>
                  <a:pt x="1002791" y="297179"/>
                </a:lnTo>
                <a:lnTo>
                  <a:pt x="1002791" y="0"/>
                </a:lnTo>
                <a:lnTo>
                  <a:pt x="0" y="0"/>
                </a:lnTo>
                <a:lnTo>
                  <a:pt x="0" y="297179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8026" y="3531537"/>
            <a:ext cx="6934577" cy="6674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OTHER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2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COMPARISON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94304" y="2511551"/>
          <a:ext cx="5786120" cy="2759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4970"/>
                <a:gridCol w="4081779"/>
              </a:tblGrid>
              <a:tr h="423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Operator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Meaning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769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BETWEEN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...AND...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3017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Between</a:t>
                      </a:r>
                      <a:r>
                        <a:rPr dirty="0" sz="18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10" b="1">
                          <a:latin typeface="Arial"/>
                          <a:cs typeface="Arial"/>
                        </a:rPr>
                        <a:t>two</a:t>
                      </a:r>
                      <a:r>
                        <a:rPr dirty="0" sz="18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values</a:t>
                      </a:r>
                      <a:r>
                        <a:rPr dirty="0" sz="1800" spc="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(inclusive),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3462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IN(set)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9525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Match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any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list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values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969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LIKE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953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Match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a character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pattern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18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latin typeface="Courier New"/>
                          <a:cs typeface="Courier New"/>
                        </a:rPr>
                        <a:t>NULL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8890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null</a:t>
                      </a:r>
                      <a:r>
                        <a:rPr dirty="0" sz="18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value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398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BETWEEN</a:t>
                      </a:r>
                      <a:r>
                        <a:rPr dirty="0" sz="2800" spc="-944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23096" y="2546540"/>
            <a:ext cx="7082155" cy="1005840"/>
            <a:chOff x="2423096" y="2546540"/>
            <a:chExt cx="7082155" cy="1005840"/>
          </a:xfrm>
        </p:grpSpPr>
        <p:sp>
          <p:nvSpPr>
            <p:cNvPr id="4" name="object 4"/>
            <p:cNvSpPr/>
            <p:nvPr/>
          </p:nvSpPr>
          <p:spPr>
            <a:xfrm>
              <a:off x="2486660" y="2609849"/>
              <a:ext cx="7018020" cy="942340"/>
            </a:xfrm>
            <a:custGeom>
              <a:avLst/>
              <a:gdLst/>
              <a:ahLst/>
              <a:cxnLst/>
              <a:rect l="l" t="t" r="r" b="b"/>
              <a:pathLst>
                <a:path w="7018020" h="942339">
                  <a:moveTo>
                    <a:pt x="7018020" y="0"/>
                  </a:moveTo>
                  <a:lnTo>
                    <a:pt x="6941553" y="0"/>
                  </a:lnTo>
                  <a:lnTo>
                    <a:pt x="6941553" y="26670"/>
                  </a:lnTo>
                  <a:lnTo>
                    <a:pt x="6941566" y="866140"/>
                  </a:lnTo>
                  <a:lnTo>
                    <a:pt x="12954" y="86614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2340"/>
                  </a:lnTo>
                  <a:lnTo>
                    <a:pt x="7018007" y="942340"/>
                  </a:lnTo>
                  <a:lnTo>
                    <a:pt x="7018007" y="915670"/>
                  </a:lnTo>
                  <a:lnTo>
                    <a:pt x="7018020" y="26670"/>
                  </a:lnTo>
                  <a:lnTo>
                    <a:pt x="7018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36113" y="2559557"/>
              <a:ext cx="6992620" cy="916305"/>
            </a:xfrm>
            <a:custGeom>
              <a:avLst/>
              <a:gdLst/>
              <a:ahLst/>
              <a:cxnLst/>
              <a:rect l="l" t="t" r="r" b="b"/>
              <a:pathLst>
                <a:path w="6992620" h="916304">
                  <a:moveTo>
                    <a:pt x="6992111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6992111" y="915924"/>
                  </a:lnTo>
                  <a:lnTo>
                    <a:pt x="6992111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36113" y="2559557"/>
              <a:ext cx="6992620" cy="916305"/>
            </a:xfrm>
            <a:custGeom>
              <a:avLst/>
              <a:gdLst/>
              <a:ahLst/>
              <a:cxnLst/>
              <a:rect l="l" t="t" r="r" b="b"/>
              <a:pathLst>
                <a:path w="6992620" h="916304">
                  <a:moveTo>
                    <a:pt x="0" y="915924"/>
                  </a:moveTo>
                  <a:lnTo>
                    <a:pt x="6992111" y="915924"/>
                  </a:lnTo>
                  <a:lnTo>
                    <a:pt x="6992111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86660" y="3475990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29"/>
                </a:moveTo>
                <a:lnTo>
                  <a:pt x="25907" y="49529"/>
                </a:lnTo>
                <a:lnTo>
                  <a:pt x="25907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82723" y="1975484"/>
            <a:ext cx="6704965" cy="1439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BETWEE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N</a:t>
            </a:r>
            <a:r>
              <a:rPr dirty="0" sz="1800" spc="-6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disp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dirty="0" sz="1800" spc="-75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 </a:t>
            </a:r>
            <a:r>
              <a:rPr dirty="0" sz="1800" spc="-6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based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ran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s.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tabLst>
                <a:tab pos="995680" algn="l"/>
              </a:tabLst>
            </a:pP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  <a:tabLst>
                <a:tab pos="995044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salary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BETWEEN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2500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AND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3500;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8160" y="3926535"/>
            <a:ext cx="12319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Lower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limit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76928" y="3122676"/>
            <a:ext cx="2940050" cy="699135"/>
            <a:chOff x="4376928" y="3122676"/>
            <a:chExt cx="2940050" cy="699135"/>
          </a:xfrm>
        </p:grpSpPr>
        <p:sp>
          <p:nvSpPr>
            <p:cNvPr id="11" name="object 11"/>
            <p:cNvSpPr/>
            <p:nvPr/>
          </p:nvSpPr>
          <p:spPr>
            <a:xfrm>
              <a:off x="5716270" y="3480053"/>
              <a:ext cx="1301750" cy="341630"/>
            </a:xfrm>
            <a:custGeom>
              <a:avLst/>
              <a:gdLst/>
              <a:ahLst/>
              <a:cxnLst/>
              <a:rect l="l" t="t" r="r" b="b"/>
              <a:pathLst>
                <a:path w="1301750" h="341629">
                  <a:moveTo>
                    <a:pt x="77724" y="130048"/>
                  </a:moveTo>
                  <a:lnTo>
                    <a:pt x="62763" y="77597"/>
                  </a:lnTo>
                  <a:lnTo>
                    <a:pt x="40640" y="0"/>
                  </a:lnTo>
                  <a:lnTo>
                    <a:pt x="0" y="129032"/>
                  </a:lnTo>
                  <a:lnTo>
                    <a:pt x="26428" y="94805"/>
                  </a:lnTo>
                  <a:lnTo>
                    <a:pt x="23114" y="341249"/>
                  </a:lnTo>
                  <a:lnTo>
                    <a:pt x="49022" y="341503"/>
                  </a:lnTo>
                  <a:lnTo>
                    <a:pt x="52336" y="95199"/>
                  </a:lnTo>
                  <a:lnTo>
                    <a:pt x="77724" y="130048"/>
                  </a:lnTo>
                  <a:close/>
                </a:path>
                <a:path w="1301750" h="341629">
                  <a:moveTo>
                    <a:pt x="1301496" y="130048"/>
                  </a:moveTo>
                  <a:lnTo>
                    <a:pt x="1286535" y="77597"/>
                  </a:lnTo>
                  <a:lnTo>
                    <a:pt x="1264412" y="0"/>
                  </a:lnTo>
                  <a:lnTo>
                    <a:pt x="1223772" y="129032"/>
                  </a:lnTo>
                  <a:lnTo>
                    <a:pt x="1250200" y="94805"/>
                  </a:lnTo>
                  <a:lnTo>
                    <a:pt x="1246886" y="341249"/>
                  </a:lnTo>
                  <a:lnTo>
                    <a:pt x="1272794" y="341503"/>
                  </a:lnTo>
                  <a:lnTo>
                    <a:pt x="1276108" y="95199"/>
                  </a:lnTo>
                  <a:lnTo>
                    <a:pt x="1301496" y="130048"/>
                  </a:lnTo>
                  <a:close/>
                </a:path>
              </a:pathLst>
            </a:custGeom>
            <a:solidFill>
              <a:srgbClr val="FF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89882" y="3135630"/>
              <a:ext cx="2914015" cy="299085"/>
            </a:xfrm>
            <a:custGeom>
              <a:avLst/>
              <a:gdLst/>
              <a:ahLst/>
              <a:cxnLst/>
              <a:rect l="l" t="t" r="r" b="b"/>
              <a:pathLst>
                <a:path w="2914015" h="299085">
                  <a:moveTo>
                    <a:pt x="0" y="298703"/>
                  </a:moveTo>
                  <a:lnTo>
                    <a:pt x="2913888" y="298703"/>
                  </a:lnTo>
                  <a:lnTo>
                    <a:pt x="2913888" y="0"/>
                  </a:lnTo>
                  <a:lnTo>
                    <a:pt x="0" y="0"/>
                  </a:lnTo>
                  <a:lnTo>
                    <a:pt x="0" y="298703"/>
                  </a:lnTo>
                  <a:close/>
                </a:path>
              </a:pathLst>
            </a:custGeom>
            <a:ln w="25908">
              <a:solidFill>
                <a:srgbClr val="8282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628638" y="3926535"/>
            <a:ext cx="12204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Upper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limit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923" y="4309490"/>
            <a:ext cx="6933444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90152" y="2842196"/>
            <a:ext cx="7034530" cy="1006475"/>
            <a:chOff x="2490152" y="2842196"/>
            <a:chExt cx="7034530" cy="1006475"/>
          </a:xfrm>
        </p:grpSpPr>
        <p:sp>
          <p:nvSpPr>
            <p:cNvPr id="4" name="object 4"/>
            <p:cNvSpPr/>
            <p:nvPr/>
          </p:nvSpPr>
          <p:spPr>
            <a:xfrm>
              <a:off x="2553716" y="2905759"/>
              <a:ext cx="6971030" cy="942340"/>
            </a:xfrm>
            <a:custGeom>
              <a:avLst/>
              <a:gdLst/>
              <a:ahLst/>
              <a:cxnLst/>
              <a:rect l="l" t="t" r="r" b="b"/>
              <a:pathLst>
                <a:path w="6971030" h="942339">
                  <a:moveTo>
                    <a:pt x="6970776" y="0"/>
                  </a:moveTo>
                  <a:lnTo>
                    <a:pt x="6894322" y="0"/>
                  </a:lnTo>
                  <a:lnTo>
                    <a:pt x="6894322" y="12700"/>
                  </a:lnTo>
                  <a:lnTo>
                    <a:pt x="6894322" y="25400"/>
                  </a:lnTo>
                  <a:lnTo>
                    <a:pt x="6894322" y="864870"/>
                  </a:lnTo>
                  <a:lnTo>
                    <a:pt x="12954" y="86487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2340"/>
                  </a:lnTo>
                  <a:lnTo>
                    <a:pt x="6970776" y="942340"/>
                  </a:lnTo>
                  <a:lnTo>
                    <a:pt x="6970776" y="915670"/>
                  </a:lnTo>
                  <a:lnTo>
                    <a:pt x="6970776" y="25400"/>
                  </a:lnTo>
                  <a:lnTo>
                    <a:pt x="6970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03169" y="2855213"/>
              <a:ext cx="6944995" cy="916305"/>
            </a:xfrm>
            <a:custGeom>
              <a:avLst/>
              <a:gdLst/>
              <a:ahLst/>
              <a:cxnLst/>
              <a:rect l="l" t="t" r="r" b="b"/>
              <a:pathLst>
                <a:path w="6944995" h="916304">
                  <a:moveTo>
                    <a:pt x="6944868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6944868" y="915924"/>
                  </a:lnTo>
                  <a:lnTo>
                    <a:pt x="69448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03169" y="2855213"/>
              <a:ext cx="6944995" cy="916305"/>
            </a:xfrm>
            <a:custGeom>
              <a:avLst/>
              <a:gdLst/>
              <a:ahLst/>
              <a:cxnLst/>
              <a:rect l="l" t="t" r="r" b="b"/>
              <a:pathLst>
                <a:path w="6944995" h="916304">
                  <a:moveTo>
                    <a:pt x="0" y="915924"/>
                  </a:moveTo>
                  <a:lnTo>
                    <a:pt x="6944868" y="915924"/>
                  </a:lnTo>
                  <a:lnTo>
                    <a:pt x="6944868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53716" y="3771138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2110232"/>
            <a:ext cx="6790055" cy="160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06880">
              <a:lnSpc>
                <a:spcPct val="112799"/>
              </a:lnSpc>
              <a:spcBef>
                <a:spcPts val="100"/>
              </a:spcBef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I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N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membership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iti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test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in 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list.</a:t>
            </a:r>
            <a:endParaRPr sz="1800">
              <a:latin typeface="Gill Sans MT"/>
              <a:cs typeface="Gill Sans MT"/>
            </a:endParaRPr>
          </a:p>
          <a:p>
            <a:pPr marL="89535" marR="5080">
              <a:lnSpc>
                <a:spcPct val="100000"/>
              </a:lnSpc>
              <a:spcBef>
                <a:spcPts val="1045"/>
              </a:spcBef>
              <a:tabLst>
                <a:tab pos="1045844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employee_id, last_name, salary, manager_id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89535">
              <a:lnSpc>
                <a:spcPct val="100000"/>
              </a:lnSpc>
              <a:tabLst>
                <a:tab pos="1045844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manager_id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IN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(100,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101,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201);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50714" y="3428238"/>
            <a:ext cx="2496820" cy="299085"/>
          </a:xfrm>
          <a:custGeom>
            <a:avLst/>
            <a:gdLst/>
            <a:ahLst/>
            <a:cxnLst/>
            <a:rect l="l" t="t" r="r" b="b"/>
            <a:pathLst>
              <a:path w="2496820" h="299085">
                <a:moveTo>
                  <a:pt x="0" y="298704"/>
                </a:moveTo>
                <a:lnTo>
                  <a:pt x="2496312" y="298704"/>
                </a:lnTo>
                <a:lnTo>
                  <a:pt x="2496312" y="0"/>
                </a:lnTo>
                <a:lnTo>
                  <a:pt x="0" y="0"/>
                </a:lnTo>
                <a:lnTo>
                  <a:pt x="0" y="298704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407" y="3956303"/>
            <a:ext cx="6999732" cy="2228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LIKE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36812" y="4637468"/>
            <a:ext cx="7368540" cy="1005205"/>
            <a:chOff x="2436812" y="4637468"/>
            <a:chExt cx="7368540" cy="1005205"/>
          </a:xfrm>
        </p:grpSpPr>
        <p:sp>
          <p:nvSpPr>
            <p:cNvPr id="4" name="object 4"/>
            <p:cNvSpPr/>
            <p:nvPr/>
          </p:nvSpPr>
          <p:spPr>
            <a:xfrm>
              <a:off x="2500376" y="4701539"/>
              <a:ext cx="7305040" cy="941069"/>
            </a:xfrm>
            <a:custGeom>
              <a:avLst/>
              <a:gdLst/>
              <a:ahLst/>
              <a:cxnLst/>
              <a:rect l="l" t="t" r="r" b="b"/>
              <a:pathLst>
                <a:path w="7305040" h="941070">
                  <a:moveTo>
                    <a:pt x="7304532" y="0"/>
                  </a:moveTo>
                  <a:lnTo>
                    <a:pt x="7228078" y="0"/>
                  </a:lnTo>
                  <a:lnTo>
                    <a:pt x="7228078" y="12446"/>
                  </a:lnTo>
                  <a:lnTo>
                    <a:pt x="7228078" y="25400"/>
                  </a:lnTo>
                  <a:lnTo>
                    <a:pt x="7228078" y="864870"/>
                  </a:lnTo>
                  <a:lnTo>
                    <a:pt x="7278624" y="864870"/>
                  </a:lnTo>
                  <a:lnTo>
                    <a:pt x="12954" y="864882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1070"/>
                  </a:lnTo>
                  <a:lnTo>
                    <a:pt x="7304532" y="941070"/>
                  </a:lnTo>
                  <a:lnTo>
                    <a:pt x="7304532" y="915670"/>
                  </a:lnTo>
                  <a:lnTo>
                    <a:pt x="7304532" y="25400"/>
                  </a:lnTo>
                  <a:lnTo>
                    <a:pt x="73045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9829" y="4650485"/>
              <a:ext cx="7279005" cy="916305"/>
            </a:xfrm>
            <a:custGeom>
              <a:avLst/>
              <a:gdLst/>
              <a:ahLst/>
              <a:cxnLst/>
              <a:rect l="l" t="t" r="r" b="b"/>
              <a:pathLst>
                <a:path w="7279005" h="916304">
                  <a:moveTo>
                    <a:pt x="7278624" y="0"/>
                  </a:moveTo>
                  <a:lnTo>
                    <a:pt x="0" y="0"/>
                  </a:lnTo>
                  <a:lnTo>
                    <a:pt x="0" y="915923"/>
                  </a:lnTo>
                  <a:lnTo>
                    <a:pt x="7278624" y="915923"/>
                  </a:lnTo>
                  <a:lnTo>
                    <a:pt x="727862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9829" y="4650485"/>
              <a:ext cx="7279005" cy="916305"/>
            </a:xfrm>
            <a:custGeom>
              <a:avLst/>
              <a:gdLst/>
              <a:ahLst/>
              <a:cxnLst/>
              <a:rect l="l" t="t" r="r" b="b"/>
              <a:pathLst>
                <a:path w="7279005" h="916304">
                  <a:moveTo>
                    <a:pt x="0" y="915923"/>
                  </a:moveTo>
                  <a:lnTo>
                    <a:pt x="7278624" y="915923"/>
                  </a:lnTo>
                  <a:lnTo>
                    <a:pt x="7278624" y="0"/>
                  </a:lnTo>
                  <a:lnTo>
                    <a:pt x="0" y="0"/>
                  </a:lnTo>
                  <a:lnTo>
                    <a:pt x="0" y="91592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00376" y="556640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77770" y="2068829"/>
            <a:ext cx="6768465" cy="1720214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17500" marR="5080" indent="-304800">
              <a:lnSpc>
                <a:spcPts val="2270"/>
              </a:lnSpc>
              <a:spcBef>
                <a:spcPts val="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LIKE</a:t>
            </a:r>
            <a:r>
              <a:rPr dirty="0" sz="1800" spc="-59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condition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perform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wildcard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searches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 valid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search </a:t>
            </a:r>
            <a:r>
              <a:rPr dirty="0" sz="1800" spc="-484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string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values.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94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Search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conditions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contain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either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literal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numbers:</a:t>
            </a:r>
            <a:endParaRPr sz="18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894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%</a:t>
            </a:r>
            <a:r>
              <a:rPr dirty="0" sz="1600" spc="-5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den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tes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z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 spc="-3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ma</a:t>
            </a:r>
            <a:r>
              <a:rPr dirty="0" sz="1600" spc="-3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6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charac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s.</a:t>
            </a:r>
            <a:endParaRPr sz="1600">
              <a:latin typeface="Gill Sans MT"/>
              <a:cs typeface="Gill Sans MT"/>
            </a:endParaRPr>
          </a:p>
          <a:p>
            <a:pPr lvl="1" marL="64198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dirty="0" sz="1600" spc="-5">
                <a:solidFill>
                  <a:srgbClr val="3C3C3C"/>
                </a:solidFill>
                <a:latin typeface="Courier New"/>
                <a:cs typeface="Courier New"/>
              </a:rPr>
              <a:t>_</a:t>
            </a:r>
            <a:r>
              <a:rPr dirty="0" sz="1600" spc="-5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den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tes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ne</a:t>
            </a:r>
            <a:r>
              <a:rPr dirty="0" sz="1600" spc="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charac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 spc="-1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06444" y="4667504"/>
            <a:ext cx="13925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fi</a:t>
            </a:r>
            <a:r>
              <a:rPr dirty="0" sz="1800" spc="-15" b="1">
                <a:latin typeface="Courier New"/>
                <a:cs typeface="Courier New"/>
              </a:rPr>
              <a:t>r</a:t>
            </a:r>
            <a:r>
              <a:rPr dirty="0" sz="1800" spc="-5" b="1">
                <a:latin typeface="Courier New"/>
                <a:cs typeface="Courier New"/>
              </a:rPr>
              <a:t>s</a:t>
            </a:r>
            <a:r>
              <a:rPr dirty="0" sz="1800" spc="-15" b="1">
                <a:latin typeface="Courier New"/>
                <a:cs typeface="Courier New"/>
              </a:rPr>
              <a:t>t</a:t>
            </a:r>
            <a:r>
              <a:rPr dirty="0" sz="1800" spc="-5" b="1">
                <a:latin typeface="Courier New"/>
                <a:cs typeface="Courier New"/>
              </a:rPr>
              <a:t>_n</a:t>
            </a:r>
            <a:r>
              <a:rPr dirty="0" sz="1800" spc="-15" b="1">
                <a:latin typeface="Courier New"/>
                <a:cs typeface="Courier New"/>
              </a:rPr>
              <a:t>a</a:t>
            </a:r>
            <a:r>
              <a:rPr dirty="0" sz="1800" spc="-5" b="1">
                <a:latin typeface="Courier New"/>
                <a:cs typeface="Courier New"/>
              </a:rPr>
              <a:t>me  </a:t>
            </a: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5532" y="4667504"/>
            <a:ext cx="8451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6444" y="5216144"/>
            <a:ext cx="2893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first_name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'S%';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70753" y="5212841"/>
            <a:ext cx="1286510" cy="299085"/>
          </a:xfrm>
          <a:custGeom>
            <a:avLst/>
            <a:gdLst/>
            <a:ahLst/>
            <a:cxnLst/>
            <a:rect l="l" t="t" r="r" b="b"/>
            <a:pathLst>
              <a:path w="1286509" h="299085">
                <a:moveTo>
                  <a:pt x="0" y="298703"/>
                </a:moveTo>
                <a:lnTo>
                  <a:pt x="1286255" y="298703"/>
                </a:lnTo>
                <a:lnTo>
                  <a:pt x="1286255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LIKE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20927" y="5028057"/>
            <a:ext cx="74307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use the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ESCAP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E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identi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ie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sea</a:t>
            </a:r>
            <a:r>
              <a:rPr dirty="0" sz="1800" spc="-5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actual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i="1">
                <a:solidFill>
                  <a:srgbClr val="3C3C3C"/>
                </a:solidFill>
                <a:latin typeface="Gill Sans MT"/>
                <a:cs typeface="Gill Sans MT"/>
              </a:rPr>
              <a:t>%</a:t>
            </a:r>
            <a:r>
              <a:rPr dirty="0" sz="1800" spc="-15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i="1">
                <a:solidFill>
                  <a:srgbClr val="3C3C3C"/>
                </a:solidFill>
                <a:latin typeface="Gill Sans MT"/>
                <a:cs typeface="Gill Sans MT"/>
              </a:rPr>
              <a:t>_</a:t>
            </a:r>
            <a:r>
              <a:rPr dirty="0" sz="1800" spc="-10" i="1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mb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ls.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99296" y="2645600"/>
            <a:ext cx="7034530" cy="967740"/>
            <a:chOff x="2499296" y="2645600"/>
            <a:chExt cx="7034530" cy="967740"/>
          </a:xfrm>
        </p:grpSpPr>
        <p:sp>
          <p:nvSpPr>
            <p:cNvPr id="5" name="object 5"/>
            <p:cNvSpPr/>
            <p:nvPr/>
          </p:nvSpPr>
          <p:spPr>
            <a:xfrm>
              <a:off x="2562860" y="2708909"/>
              <a:ext cx="6971030" cy="904240"/>
            </a:xfrm>
            <a:custGeom>
              <a:avLst/>
              <a:gdLst/>
              <a:ahLst/>
              <a:cxnLst/>
              <a:rect l="l" t="t" r="r" b="b"/>
              <a:pathLst>
                <a:path w="6971030" h="904239">
                  <a:moveTo>
                    <a:pt x="6970776" y="0"/>
                  </a:moveTo>
                  <a:lnTo>
                    <a:pt x="6894309" y="0"/>
                  </a:lnTo>
                  <a:lnTo>
                    <a:pt x="6894309" y="26670"/>
                  </a:lnTo>
                  <a:lnTo>
                    <a:pt x="6894322" y="828040"/>
                  </a:lnTo>
                  <a:lnTo>
                    <a:pt x="12954" y="828040"/>
                  </a:lnTo>
                  <a:lnTo>
                    <a:pt x="12954" y="877570"/>
                  </a:lnTo>
                  <a:lnTo>
                    <a:pt x="0" y="877570"/>
                  </a:lnTo>
                  <a:lnTo>
                    <a:pt x="0" y="904240"/>
                  </a:lnTo>
                  <a:lnTo>
                    <a:pt x="6970763" y="904240"/>
                  </a:lnTo>
                  <a:lnTo>
                    <a:pt x="6970763" y="877570"/>
                  </a:lnTo>
                  <a:lnTo>
                    <a:pt x="6970776" y="26670"/>
                  </a:lnTo>
                  <a:lnTo>
                    <a:pt x="6970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12313" y="2658618"/>
              <a:ext cx="6944995" cy="878205"/>
            </a:xfrm>
            <a:custGeom>
              <a:avLst/>
              <a:gdLst/>
              <a:ahLst/>
              <a:cxnLst/>
              <a:rect l="l" t="t" r="r" b="b"/>
              <a:pathLst>
                <a:path w="6944995" h="878204">
                  <a:moveTo>
                    <a:pt x="6944868" y="0"/>
                  </a:moveTo>
                  <a:lnTo>
                    <a:pt x="0" y="0"/>
                  </a:lnTo>
                  <a:lnTo>
                    <a:pt x="0" y="877824"/>
                  </a:lnTo>
                  <a:lnTo>
                    <a:pt x="6944868" y="877824"/>
                  </a:lnTo>
                  <a:lnTo>
                    <a:pt x="69448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12313" y="2658618"/>
              <a:ext cx="6944995" cy="878205"/>
            </a:xfrm>
            <a:custGeom>
              <a:avLst/>
              <a:gdLst/>
              <a:ahLst/>
              <a:cxnLst/>
              <a:rect l="l" t="t" r="r" b="b"/>
              <a:pathLst>
                <a:path w="6944995" h="878204">
                  <a:moveTo>
                    <a:pt x="0" y="877824"/>
                  </a:moveTo>
                  <a:lnTo>
                    <a:pt x="6944868" y="877824"/>
                  </a:lnTo>
                  <a:lnTo>
                    <a:pt x="6944868" y="0"/>
                  </a:lnTo>
                  <a:lnTo>
                    <a:pt x="0" y="0"/>
                  </a:lnTo>
                  <a:lnTo>
                    <a:pt x="0" y="8778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2562860" y="3536950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5" h="49529">
                <a:moveTo>
                  <a:pt x="0" y="49529"/>
                </a:moveTo>
                <a:lnTo>
                  <a:pt x="25907" y="49529"/>
                </a:lnTo>
                <a:lnTo>
                  <a:pt x="25907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20927" y="2054545"/>
            <a:ext cx="5654040" cy="142049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27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dirty="0" sz="1800" spc="-85">
                <a:solidFill>
                  <a:srgbClr val="3C3C3C"/>
                </a:solidFill>
                <a:latin typeface="Gill Sans MT"/>
                <a:cs typeface="Gill Sans MT"/>
              </a:rPr>
              <a:t>You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combine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pattern-matching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characters.</a:t>
            </a:r>
            <a:endParaRPr sz="1800">
              <a:latin typeface="Gill Sans MT"/>
              <a:cs typeface="Gill Sans MT"/>
            </a:endParaRPr>
          </a:p>
          <a:p>
            <a:pPr marL="1819275" marR="1640839">
              <a:lnSpc>
                <a:spcPct val="100000"/>
              </a:lnSpc>
              <a:spcBef>
                <a:spcPts val="1170"/>
              </a:spcBef>
              <a:tabLst>
                <a:tab pos="277622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8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	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m</a:t>
            </a:r>
            <a:r>
              <a:rPr dirty="0" sz="1800" spc="-15" b="1">
                <a:latin typeface="Courier New"/>
                <a:cs typeface="Courier New"/>
              </a:rPr>
              <a:t>pl</a:t>
            </a:r>
            <a:r>
              <a:rPr dirty="0" sz="1800" spc="-5" b="1">
                <a:latin typeface="Courier New"/>
                <a:cs typeface="Courier New"/>
              </a:rPr>
              <a:t>oy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es</a:t>
            </a:r>
            <a:endParaRPr sz="1800">
              <a:latin typeface="Courier New"/>
              <a:cs typeface="Courier New"/>
            </a:endParaRPr>
          </a:p>
          <a:p>
            <a:pPr marL="1819275">
              <a:lnSpc>
                <a:spcPct val="100000"/>
              </a:lnSpc>
              <a:tabLst>
                <a:tab pos="2776220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last_name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6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'_o%';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66894" y="3207257"/>
            <a:ext cx="1463040" cy="299085"/>
          </a:xfrm>
          <a:custGeom>
            <a:avLst/>
            <a:gdLst/>
            <a:ahLst/>
            <a:cxnLst/>
            <a:rect l="l" t="t" r="r" b="b"/>
            <a:pathLst>
              <a:path w="1463039" h="299085">
                <a:moveTo>
                  <a:pt x="0" y="298703"/>
                </a:moveTo>
                <a:lnTo>
                  <a:pt x="1463039" y="298703"/>
                </a:lnTo>
                <a:lnTo>
                  <a:pt x="1463039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7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4505" y="3692667"/>
            <a:ext cx="6933821" cy="876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NULL</a:t>
                      </a:r>
                      <a:r>
                        <a:rPr dirty="0" sz="2800" spc="-94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CONDITIONS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76436" y="2627312"/>
            <a:ext cx="7046595" cy="1030605"/>
            <a:chOff x="2476436" y="2627312"/>
            <a:chExt cx="7046595" cy="1030605"/>
          </a:xfrm>
        </p:grpSpPr>
        <p:sp>
          <p:nvSpPr>
            <p:cNvPr id="4" name="object 4"/>
            <p:cNvSpPr/>
            <p:nvPr/>
          </p:nvSpPr>
          <p:spPr>
            <a:xfrm>
              <a:off x="2540000" y="2691129"/>
              <a:ext cx="6983095" cy="966469"/>
            </a:xfrm>
            <a:custGeom>
              <a:avLst/>
              <a:gdLst/>
              <a:ahLst/>
              <a:cxnLst/>
              <a:rect l="l" t="t" r="r" b="b"/>
              <a:pathLst>
                <a:path w="6983095" h="966470">
                  <a:moveTo>
                    <a:pt x="6982968" y="0"/>
                  </a:moveTo>
                  <a:lnTo>
                    <a:pt x="6906514" y="0"/>
                  </a:lnTo>
                  <a:lnTo>
                    <a:pt x="6906514" y="12700"/>
                  </a:lnTo>
                  <a:lnTo>
                    <a:pt x="6906514" y="25400"/>
                  </a:lnTo>
                  <a:lnTo>
                    <a:pt x="6906514" y="889000"/>
                  </a:lnTo>
                  <a:lnTo>
                    <a:pt x="12954" y="889000"/>
                  </a:lnTo>
                  <a:lnTo>
                    <a:pt x="12954" y="939800"/>
                  </a:lnTo>
                  <a:lnTo>
                    <a:pt x="0" y="939800"/>
                  </a:lnTo>
                  <a:lnTo>
                    <a:pt x="0" y="966470"/>
                  </a:lnTo>
                  <a:lnTo>
                    <a:pt x="6982968" y="966470"/>
                  </a:lnTo>
                  <a:lnTo>
                    <a:pt x="6982968" y="939800"/>
                  </a:lnTo>
                  <a:lnTo>
                    <a:pt x="6982968" y="25400"/>
                  </a:lnTo>
                  <a:lnTo>
                    <a:pt x="69829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89453" y="2640329"/>
              <a:ext cx="6957059" cy="940435"/>
            </a:xfrm>
            <a:custGeom>
              <a:avLst/>
              <a:gdLst/>
              <a:ahLst/>
              <a:cxnLst/>
              <a:rect l="l" t="t" r="r" b="b"/>
              <a:pathLst>
                <a:path w="6957059" h="940435">
                  <a:moveTo>
                    <a:pt x="6957059" y="0"/>
                  </a:moveTo>
                  <a:lnTo>
                    <a:pt x="0" y="0"/>
                  </a:lnTo>
                  <a:lnTo>
                    <a:pt x="0" y="940308"/>
                  </a:lnTo>
                  <a:lnTo>
                    <a:pt x="6957059" y="940308"/>
                  </a:lnTo>
                  <a:lnTo>
                    <a:pt x="695705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9453" y="2640329"/>
              <a:ext cx="6957059" cy="940435"/>
            </a:xfrm>
            <a:custGeom>
              <a:avLst/>
              <a:gdLst/>
              <a:ahLst/>
              <a:cxnLst/>
              <a:rect l="l" t="t" r="r" b="b"/>
              <a:pathLst>
                <a:path w="6957059" h="940435">
                  <a:moveTo>
                    <a:pt x="0" y="940308"/>
                  </a:moveTo>
                  <a:lnTo>
                    <a:pt x="6957059" y="940308"/>
                  </a:lnTo>
                  <a:lnTo>
                    <a:pt x="6957059" y="0"/>
                  </a:lnTo>
                  <a:lnTo>
                    <a:pt x="0" y="0"/>
                  </a:lnTo>
                  <a:lnTo>
                    <a:pt x="0" y="94030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40000" y="3580638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88819" y="2103246"/>
            <a:ext cx="3990340" cy="1400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6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est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dirty="0" sz="1800" spc="-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ulls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wit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I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S</a:t>
            </a:r>
            <a:r>
              <a:rPr dirty="0" sz="1800" spc="-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NUL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L</a:t>
            </a:r>
            <a:r>
              <a:rPr dirty="0" sz="1800" spc="-60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operato</a:t>
            </a:r>
            <a:r>
              <a:rPr dirty="0" sz="1800" spc="-18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Gill Sans MT"/>
              <a:cs typeface="Gill Sans MT"/>
            </a:endParaRPr>
          </a:p>
          <a:p>
            <a:pPr marL="78105" marR="82550">
              <a:lnSpc>
                <a:spcPct val="100000"/>
              </a:lnSpc>
              <a:tabLst>
                <a:tab pos="103505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manager_id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78105">
              <a:lnSpc>
                <a:spcPct val="100000"/>
              </a:lnSpc>
              <a:tabLst>
                <a:tab pos="1035050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manager_id</a:t>
            </a:r>
            <a:r>
              <a:rPr dirty="0" sz="1800" spc="-4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IS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NULL;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78529" y="3233166"/>
            <a:ext cx="2525395" cy="299085"/>
          </a:xfrm>
          <a:custGeom>
            <a:avLst/>
            <a:gdLst/>
            <a:ahLst/>
            <a:cxnLst/>
            <a:rect l="l" t="t" r="r" b="b"/>
            <a:pathLst>
              <a:path w="2525395" h="299085">
                <a:moveTo>
                  <a:pt x="0" y="298703"/>
                </a:moveTo>
                <a:lnTo>
                  <a:pt x="2525268" y="298703"/>
                </a:lnTo>
                <a:lnTo>
                  <a:pt x="2525268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7268" y="3723132"/>
            <a:ext cx="693457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LOGICAL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CONDITIONS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85516" y="2583179"/>
          <a:ext cx="6076950" cy="286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8789"/>
                <a:gridCol w="4289425"/>
              </a:tblGrid>
              <a:tr h="42290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Operator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800" spc="-5" b="1">
                          <a:latin typeface="Arial"/>
                          <a:cs typeface="Arial"/>
                        </a:rPr>
                        <a:t>Meaning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4135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8642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AND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7907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667385">
                        <a:lnSpc>
                          <a:spcPct val="120000"/>
                        </a:lnSpc>
                        <a:spcBef>
                          <a:spcPts val="63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turns 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TRU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E</a:t>
                      </a:r>
                      <a:r>
                        <a:rPr dirty="0" sz="1800" spc="-60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 i="1">
                          <a:latin typeface="Arial"/>
                          <a:cs typeface="Arial"/>
                        </a:rPr>
                        <a:t>b</a:t>
                      </a:r>
                      <a:r>
                        <a:rPr dirty="0" sz="1800" spc="5" b="1" i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00" b="1" i="1">
                          <a:latin typeface="Arial"/>
                          <a:cs typeface="Arial"/>
                        </a:rPr>
                        <a:t>th</a:t>
                      </a:r>
                      <a:r>
                        <a:rPr dirty="0" sz="1800" spc="-15" b="1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compo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ent 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conditions</a:t>
                      </a:r>
                      <a:r>
                        <a:rPr dirty="0" sz="18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 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8001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OR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7305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turns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TRU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E</a:t>
                      </a:r>
                      <a:r>
                        <a:rPr dirty="0" sz="1800" spc="-60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 i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00" b="1" i="1">
                          <a:latin typeface="Arial"/>
                          <a:cs typeface="Arial"/>
                        </a:rPr>
                        <a:t>ith</a:t>
                      </a:r>
                      <a:r>
                        <a:rPr dirty="0" sz="1800" spc="-10" b="1" i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00" b="1" i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00" spc="-5" b="1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omponent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25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condition</a:t>
                      </a:r>
                      <a:r>
                        <a:rPr dirty="0" sz="18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271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800" spc="-5" b="1">
                          <a:latin typeface="Courier New"/>
                          <a:cs typeface="Courier New"/>
                        </a:rPr>
                        <a:t>NOT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7493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1043305">
                        <a:lnSpc>
                          <a:spcPct val="110000"/>
                        </a:lnSpc>
                        <a:spcBef>
                          <a:spcPts val="300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turns </a:t>
                      </a:r>
                      <a:r>
                        <a:rPr dirty="0" sz="1800" spc="-5" b="1">
                          <a:latin typeface="Courier New"/>
                          <a:cs typeface="Courier New"/>
                        </a:rPr>
                        <a:t>TRU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E</a:t>
                      </a:r>
                      <a:r>
                        <a:rPr dirty="0" sz="1800" spc="-60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 t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h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f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800" spc="35" b="1">
                          <a:latin typeface="Arial"/>
                          <a:cs typeface="Arial"/>
                        </a:rPr>
                        <a:t>w</a:t>
                      </a:r>
                      <a:r>
                        <a:rPr dirty="0" sz="1800" spc="-10" b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800" spc="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g 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condition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b="1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8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" b="1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38100">
                    <a:lnL w="571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OPER</a:t>
                      </a:r>
                      <a:r>
                        <a:rPr dirty="0" sz="2800" spc="-2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1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OR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96248" y="3541712"/>
            <a:ext cx="7069455" cy="1279525"/>
            <a:chOff x="2496248" y="3541712"/>
            <a:chExt cx="7069455" cy="1279525"/>
          </a:xfrm>
        </p:grpSpPr>
        <p:sp>
          <p:nvSpPr>
            <p:cNvPr id="4" name="object 4"/>
            <p:cNvSpPr/>
            <p:nvPr/>
          </p:nvSpPr>
          <p:spPr>
            <a:xfrm>
              <a:off x="2559812" y="3605529"/>
              <a:ext cx="7005955" cy="1215390"/>
            </a:xfrm>
            <a:custGeom>
              <a:avLst/>
              <a:gdLst/>
              <a:ahLst/>
              <a:cxnLst/>
              <a:rect l="l" t="t" r="r" b="b"/>
              <a:pathLst>
                <a:path w="7005955" h="1215389">
                  <a:moveTo>
                    <a:pt x="7005828" y="0"/>
                  </a:moveTo>
                  <a:lnTo>
                    <a:pt x="6929361" y="0"/>
                  </a:lnTo>
                  <a:lnTo>
                    <a:pt x="6929361" y="25400"/>
                  </a:lnTo>
                  <a:lnTo>
                    <a:pt x="6929374" y="1139190"/>
                  </a:lnTo>
                  <a:lnTo>
                    <a:pt x="12954" y="1139190"/>
                  </a:lnTo>
                  <a:lnTo>
                    <a:pt x="12954" y="1189990"/>
                  </a:lnTo>
                  <a:lnTo>
                    <a:pt x="0" y="1189990"/>
                  </a:lnTo>
                  <a:lnTo>
                    <a:pt x="0" y="1215390"/>
                  </a:lnTo>
                  <a:lnTo>
                    <a:pt x="7005828" y="1215390"/>
                  </a:lnTo>
                  <a:lnTo>
                    <a:pt x="7005828" y="1189990"/>
                  </a:lnTo>
                  <a:lnTo>
                    <a:pt x="7005828" y="25400"/>
                  </a:lnTo>
                  <a:lnTo>
                    <a:pt x="70058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09265" y="3554729"/>
              <a:ext cx="6979920" cy="1190625"/>
            </a:xfrm>
            <a:custGeom>
              <a:avLst/>
              <a:gdLst/>
              <a:ahLst/>
              <a:cxnLst/>
              <a:rect l="l" t="t" r="r" b="b"/>
              <a:pathLst>
                <a:path w="6979920" h="1190625">
                  <a:moveTo>
                    <a:pt x="6979920" y="0"/>
                  </a:moveTo>
                  <a:lnTo>
                    <a:pt x="0" y="0"/>
                  </a:lnTo>
                  <a:lnTo>
                    <a:pt x="0" y="1190244"/>
                  </a:lnTo>
                  <a:lnTo>
                    <a:pt x="6979920" y="1190244"/>
                  </a:lnTo>
                  <a:lnTo>
                    <a:pt x="697992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09265" y="3554729"/>
              <a:ext cx="6979920" cy="1190625"/>
            </a:xfrm>
            <a:custGeom>
              <a:avLst/>
              <a:gdLst/>
              <a:ahLst/>
              <a:cxnLst/>
              <a:rect l="l" t="t" r="r" b="b"/>
              <a:pathLst>
                <a:path w="6979920" h="1190625">
                  <a:moveTo>
                    <a:pt x="0" y="1190244"/>
                  </a:moveTo>
                  <a:lnTo>
                    <a:pt x="6979920" y="1190244"/>
                  </a:lnTo>
                  <a:lnTo>
                    <a:pt x="6979920" y="0"/>
                  </a:lnTo>
                  <a:lnTo>
                    <a:pt x="0" y="0"/>
                  </a:lnTo>
                  <a:lnTo>
                    <a:pt x="0" y="11902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59811" y="474472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799"/>
                </a:moveTo>
                <a:lnTo>
                  <a:pt x="25907" y="50799"/>
                </a:lnTo>
                <a:lnTo>
                  <a:pt x="25907" y="0"/>
                </a:lnTo>
                <a:lnTo>
                  <a:pt x="0" y="0"/>
                </a:lnTo>
                <a:lnTo>
                  <a:pt x="0" y="50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92755" y="2249804"/>
            <a:ext cx="532003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>
                <a:latin typeface="Courier New"/>
                <a:cs typeface="Courier New"/>
              </a:rPr>
              <a:t>AND</a:t>
            </a:r>
            <a:r>
              <a:rPr dirty="0" spc="-695">
                <a:latin typeface="Courier New"/>
                <a:cs typeface="Courier New"/>
              </a:rPr>
              <a:t> </a:t>
            </a:r>
            <a:r>
              <a:rPr dirty="0" spc="-5"/>
              <a:t>requires</a:t>
            </a:r>
            <a:r>
              <a:rPr dirty="0" spc="10"/>
              <a:t> </a:t>
            </a:r>
            <a:r>
              <a:rPr dirty="0" spc="-5"/>
              <a:t>both</a:t>
            </a:r>
            <a:r>
              <a:rPr dirty="0" spc="25"/>
              <a:t> </a:t>
            </a:r>
            <a:r>
              <a:rPr dirty="0" spc="-5"/>
              <a:t>conditions</a:t>
            </a:r>
            <a:r>
              <a:rPr dirty="0" spc="55"/>
              <a:t> </a:t>
            </a:r>
            <a:r>
              <a:rPr dirty="0" spc="-5"/>
              <a:t>to</a:t>
            </a:r>
            <a:r>
              <a:rPr dirty="0" spc="10"/>
              <a:t> </a:t>
            </a:r>
            <a:r>
              <a:rPr dirty="0" spc="-5"/>
              <a:t>be</a:t>
            </a:r>
            <a:r>
              <a:rPr dirty="0"/>
              <a:t> </a:t>
            </a:r>
            <a:r>
              <a:rPr dirty="0" spc="-5"/>
              <a:t>true.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68955" y="3561079"/>
            <a:ext cx="6165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employee_id,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5853" y="3835400"/>
            <a:ext cx="193611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r>
              <a:rPr dirty="0" sz="1800" spc="-9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&gt;=10000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8955" y="3835400"/>
            <a:ext cx="7099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WH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RE  AND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5875" y="4384040"/>
            <a:ext cx="2754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'%MAN%';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77005" y="4153661"/>
            <a:ext cx="2662555" cy="558165"/>
          </a:xfrm>
          <a:custGeom>
            <a:avLst/>
            <a:gdLst/>
            <a:ahLst/>
            <a:cxnLst/>
            <a:rect l="l" t="t" r="r" b="b"/>
            <a:pathLst>
              <a:path w="2662554" h="558164">
                <a:moveTo>
                  <a:pt x="0" y="557783"/>
                </a:moveTo>
                <a:lnTo>
                  <a:pt x="2662428" y="557783"/>
                </a:lnTo>
                <a:lnTo>
                  <a:pt x="2662428" y="0"/>
                </a:lnTo>
                <a:lnTo>
                  <a:pt x="0" y="0"/>
                </a:lnTo>
                <a:lnTo>
                  <a:pt x="0" y="55778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7079" y="4901164"/>
            <a:ext cx="6934200" cy="6664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OR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OPER</a:t>
                      </a:r>
                      <a:r>
                        <a:rPr dirty="0" sz="2800" spc="-2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1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OR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555684" y="2593784"/>
            <a:ext cx="7059295" cy="1280160"/>
            <a:chOff x="2555684" y="2593784"/>
            <a:chExt cx="7059295" cy="1280160"/>
          </a:xfrm>
        </p:grpSpPr>
        <p:sp>
          <p:nvSpPr>
            <p:cNvPr id="4" name="object 4"/>
            <p:cNvSpPr/>
            <p:nvPr/>
          </p:nvSpPr>
          <p:spPr>
            <a:xfrm>
              <a:off x="2619248" y="2656839"/>
              <a:ext cx="6995159" cy="1216660"/>
            </a:xfrm>
            <a:custGeom>
              <a:avLst/>
              <a:gdLst/>
              <a:ahLst/>
              <a:cxnLst/>
              <a:rect l="l" t="t" r="r" b="b"/>
              <a:pathLst>
                <a:path w="6995159" h="1216660">
                  <a:moveTo>
                    <a:pt x="6995160" y="0"/>
                  </a:moveTo>
                  <a:lnTo>
                    <a:pt x="6918706" y="0"/>
                  </a:lnTo>
                  <a:lnTo>
                    <a:pt x="6918706" y="13970"/>
                  </a:lnTo>
                  <a:lnTo>
                    <a:pt x="6918706" y="26670"/>
                  </a:lnTo>
                  <a:lnTo>
                    <a:pt x="6918706" y="1140460"/>
                  </a:lnTo>
                  <a:lnTo>
                    <a:pt x="12954" y="1140460"/>
                  </a:lnTo>
                  <a:lnTo>
                    <a:pt x="12954" y="1191260"/>
                  </a:lnTo>
                  <a:lnTo>
                    <a:pt x="0" y="1191260"/>
                  </a:lnTo>
                  <a:lnTo>
                    <a:pt x="0" y="1216660"/>
                  </a:lnTo>
                  <a:lnTo>
                    <a:pt x="6995160" y="1216660"/>
                  </a:lnTo>
                  <a:lnTo>
                    <a:pt x="6995160" y="1191260"/>
                  </a:lnTo>
                  <a:lnTo>
                    <a:pt x="6995160" y="26670"/>
                  </a:lnTo>
                  <a:lnTo>
                    <a:pt x="6995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68702" y="2606802"/>
              <a:ext cx="6969759" cy="1190625"/>
            </a:xfrm>
            <a:custGeom>
              <a:avLst/>
              <a:gdLst/>
              <a:ahLst/>
              <a:cxnLst/>
              <a:rect l="l" t="t" r="r" b="b"/>
              <a:pathLst>
                <a:path w="6969759" h="1190625">
                  <a:moveTo>
                    <a:pt x="6969252" y="0"/>
                  </a:moveTo>
                  <a:lnTo>
                    <a:pt x="0" y="0"/>
                  </a:lnTo>
                  <a:lnTo>
                    <a:pt x="0" y="1190244"/>
                  </a:lnTo>
                  <a:lnTo>
                    <a:pt x="6969252" y="1190244"/>
                  </a:lnTo>
                  <a:lnTo>
                    <a:pt x="696925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68702" y="2606802"/>
              <a:ext cx="6969759" cy="1190625"/>
            </a:xfrm>
            <a:custGeom>
              <a:avLst/>
              <a:gdLst/>
              <a:ahLst/>
              <a:cxnLst/>
              <a:rect l="l" t="t" r="r" b="b"/>
              <a:pathLst>
                <a:path w="6969759" h="1190625">
                  <a:moveTo>
                    <a:pt x="0" y="1190244"/>
                  </a:moveTo>
                  <a:lnTo>
                    <a:pt x="6969252" y="1190244"/>
                  </a:lnTo>
                  <a:lnTo>
                    <a:pt x="6969252" y="0"/>
                  </a:lnTo>
                  <a:lnTo>
                    <a:pt x="0" y="0"/>
                  </a:lnTo>
                  <a:lnTo>
                    <a:pt x="0" y="11902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619248" y="379730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46679" y="2607945"/>
            <a:ext cx="6165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employee_id,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3599" y="3156584"/>
            <a:ext cx="2072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salary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&gt;=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10000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6679" y="2882265"/>
            <a:ext cx="22104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5" b="1">
                <a:latin typeface="Courier New"/>
                <a:cs typeface="Courier New"/>
              </a:rPr>
              <a:t>FR</a:t>
            </a:r>
            <a:r>
              <a:rPr dirty="0" sz="1800" spc="-15" b="1">
                <a:latin typeface="Courier New"/>
                <a:cs typeface="Courier New"/>
              </a:rPr>
              <a:t>O</a:t>
            </a:r>
            <a:r>
              <a:rPr dirty="0" sz="1800" b="1">
                <a:latin typeface="Courier New"/>
                <a:cs typeface="Courier New"/>
              </a:rPr>
              <a:t>M	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m</a:t>
            </a:r>
            <a:r>
              <a:rPr dirty="0" sz="1800" spc="-15" b="1">
                <a:latin typeface="Courier New"/>
                <a:cs typeface="Courier New"/>
              </a:rPr>
              <a:t>pl</a:t>
            </a:r>
            <a:r>
              <a:rPr dirty="0" sz="1800" spc="-5" b="1">
                <a:latin typeface="Courier New"/>
                <a:cs typeface="Courier New"/>
              </a:rPr>
              <a:t>oy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es  </a:t>
            </a:r>
            <a:r>
              <a:rPr dirty="0" sz="1800" spc="-10" b="1">
                <a:latin typeface="Courier New"/>
                <a:cs typeface="Courier New"/>
              </a:rPr>
              <a:t>WHERE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5" b="1">
                <a:latin typeface="Courier New"/>
                <a:cs typeface="Courier New"/>
              </a:rPr>
              <a:t>OR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03554" y="3430904"/>
            <a:ext cx="2754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5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LIKE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'%MAN%';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25773" y="3190494"/>
            <a:ext cx="2674620" cy="571500"/>
          </a:xfrm>
          <a:custGeom>
            <a:avLst/>
            <a:gdLst/>
            <a:ahLst/>
            <a:cxnLst/>
            <a:rect l="l" t="t" r="r" b="b"/>
            <a:pathLst>
              <a:path w="2674620" h="571500">
                <a:moveTo>
                  <a:pt x="0" y="571499"/>
                </a:moveTo>
                <a:lnTo>
                  <a:pt x="2674620" y="571499"/>
                </a:lnTo>
                <a:lnTo>
                  <a:pt x="2674620" y="0"/>
                </a:lnTo>
                <a:lnTo>
                  <a:pt x="0" y="0"/>
                </a:lnTo>
                <a:lnTo>
                  <a:pt x="0" y="571499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939" y="3922776"/>
            <a:ext cx="6992111" cy="217474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28061" y="1930145"/>
            <a:ext cx="530669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>
                <a:latin typeface="Courier New"/>
                <a:cs typeface="Courier New"/>
              </a:rPr>
              <a:t>OR</a:t>
            </a:r>
            <a:r>
              <a:rPr dirty="0" spc="-695">
                <a:latin typeface="Courier New"/>
                <a:cs typeface="Courier New"/>
              </a:rPr>
              <a:t> </a:t>
            </a:r>
            <a:r>
              <a:rPr dirty="0" spc="-5"/>
              <a:t>requires</a:t>
            </a:r>
            <a:r>
              <a:rPr dirty="0" spc="10"/>
              <a:t> </a:t>
            </a:r>
            <a:r>
              <a:rPr dirty="0" spc="-5"/>
              <a:t>either</a:t>
            </a:r>
            <a:r>
              <a:rPr dirty="0" spc="15"/>
              <a:t> </a:t>
            </a:r>
            <a:r>
              <a:rPr dirty="0" spc="-5"/>
              <a:t>conditions</a:t>
            </a:r>
            <a:r>
              <a:rPr dirty="0" spc="35"/>
              <a:t> </a:t>
            </a:r>
            <a:r>
              <a:rPr dirty="0" spc="-5"/>
              <a:t>to</a:t>
            </a:r>
            <a:r>
              <a:rPr dirty="0" spc="15"/>
              <a:t> </a:t>
            </a:r>
            <a:r>
              <a:rPr dirty="0" spc="-5"/>
              <a:t>be</a:t>
            </a:r>
            <a:r>
              <a:rPr dirty="0" spc="15"/>
              <a:t> </a:t>
            </a:r>
            <a:r>
              <a:rPr dirty="0" spc="-5"/>
              <a:t>true.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47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USING</a:t>
                      </a:r>
                      <a:r>
                        <a:rPr dirty="0" sz="2800" spc="-33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THE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2800" spc="-92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OPER</a:t>
                      </a:r>
                      <a:r>
                        <a:rPr dirty="0" sz="2800" spc="-27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18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OR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127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302700" y="2192972"/>
            <a:ext cx="7113905" cy="1325245"/>
            <a:chOff x="2302700" y="2192972"/>
            <a:chExt cx="7113905" cy="1325245"/>
          </a:xfrm>
        </p:grpSpPr>
        <p:sp>
          <p:nvSpPr>
            <p:cNvPr id="4" name="object 4"/>
            <p:cNvSpPr/>
            <p:nvPr/>
          </p:nvSpPr>
          <p:spPr>
            <a:xfrm>
              <a:off x="2366264" y="2256789"/>
              <a:ext cx="7050405" cy="1261110"/>
            </a:xfrm>
            <a:custGeom>
              <a:avLst/>
              <a:gdLst/>
              <a:ahLst/>
              <a:cxnLst/>
              <a:rect l="l" t="t" r="r" b="b"/>
              <a:pathLst>
                <a:path w="7050405" h="1261110">
                  <a:moveTo>
                    <a:pt x="7050024" y="0"/>
                  </a:moveTo>
                  <a:lnTo>
                    <a:pt x="6973557" y="0"/>
                  </a:lnTo>
                  <a:lnTo>
                    <a:pt x="6973557" y="25400"/>
                  </a:lnTo>
                  <a:lnTo>
                    <a:pt x="6973570" y="1184910"/>
                  </a:lnTo>
                  <a:lnTo>
                    <a:pt x="12954" y="1184910"/>
                  </a:lnTo>
                  <a:lnTo>
                    <a:pt x="12954" y="1235710"/>
                  </a:lnTo>
                  <a:lnTo>
                    <a:pt x="0" y="1235710"/>
                  </a:lnTo>
                  <a:lnTo>
                    <a:pt x="0" y="1261110"/>
                  </a:lnTo>
                  <a:lnTo>
                    <a:pt x="7050024" y="1261110"/>
                  </a:lnTo>
                  <a:lnTo>
                    <a:pt x="7050024" y="1235710"/>
                  </a:lnTo>
                  <a:lnTo>
                    <a:pt x="7050024" y="25400"/>
                  </a:lnTo>
                  <a:lnTo>
                    <a:pt x="70500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15718" y="2205990"/>
              <a:ext cx="7024370" cy="1236345"/>
            </a:xfrm>
            <a:custGeom>
              <a:avLst/>
              <a:gdLst/>
              <a:ahLst/>
              <a:cxnLst/>
              <a:rect l="l" t="t" r="r" b="b"/>
              <a:pathLst>
                <a:path w="7024370" h="1236345">
                  <a:moveTo>
                    <a:pt x="7024116" y="0"/>
                  </a:moveTo>
                  <a:lnTo>
                    <a:pt x="0" y="0"/>
                  </a:lnTo>
                  <a:lnTo>
                    <a:pt x="0" y="1235964"/>
                  </a:lnTo>
                  <a:lnTo>
                    <a:pt x="7024116" y="1235964"/>
                  </a:lnTo>
                  <a:lnTo>
                    <a:pt x="702411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15718" y="2205990"/>
              <a:ext cx="7024370" cy="1236345"/>
            </a:xfrm>
            <a:custGeom>
              <a:avLst/>
              <a:gdLst/>
              <a:ahLst/>
              <a:cxnLst/>
              <a:rect l="l" t="t" r="r" b="b"/>
              <a:pathLst>
                <a:path w="7024370" h="1236345">
                  <a:moveTo>
                    <a:pt x="0" y="1235964"/>
                  </a:moveTo>
                  <a:lnTo>
                    <a:pt x="7024116" y="1235964"/>
                  </a:lnTo>
                  <a:lnTo>
                    <a:pt x="7024116" y="0"/>
                  </a:lnTo>
                  <a:lnTo>
                    <a:pt x="0" y="0"/>
                  </a:lnTo>
                  <a:lnTo>
                    <a:pt x="0" y="123596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366264" y="344170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18079" y="2204973"/>
            <a:ext cx="657860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81679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job_id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969010" algn="l"/>
              </a:tabLst>
            </a:pPr>
            <a:r>
              <a:rPr dirty="0" sz="1800" spc="-10" b="1">
                <a:latin typeface="Courier New"/>
                <a:cs typeface="Courier New"/>
              </a:rPr>
              <a:t>WHERE	job_id</a:t>
            </a:r>
            <a:endParaRPr sz="1800">
              <a:latin typeface="Courier New"/>
              <a:cs typeface="Courier New"/>
            </a:endParaRPr>
          </a:p>
          <a:p>
            <a:pPr marL="969644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NOT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IN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('IT_PROG',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'ST_CLERK',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'SA_REP');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98697" y="2791205"/>
            <a:ext cx="5524500" cy="585470"/>
          </a:xfrm>
          <a:custGeom>
            <a:avLst/>
            <a:gdLst/>
            <a:ahLst/>
            <a:cxnLst/>
            <a:rect l="l" t="t" r="r" b="b"/>
            <a:pathLst>
              <a:path w="5524500" h="585470">
                <a:moveTo>
                  <a:pt x="0" y="585215"/>
                </a:moveTo>
                <a:lnTo>
                  <a:pt x="5524500" y="585215"/>
                </a:lnTo>
                <a:lnTo>
                  <a:pt x="5524500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955" y="3803903"/>
            <a:ext cx="6990588" cy="25877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541" y="1271092"/>
            <a:ext cx="38093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 b="0">
                <a:solidFill>
                  <a:srgbClr val="FFFFFF"/>
                </a:solidFill>
                <a:latin typeface="Gill Sans MT"/>
                <a:cs typeface="Gill Sans MT"/>
              </a:rPr>
              <a:t>RULES</a:t>
            </a:r>
            <a:r>
              <a:rPr dirty="0" sz="2800" spc="-4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spc="-5" b="0">
                <a:solidFill>
                  <a:srgbClr val="FFFFFF"/>
                </a:solidFill>
                <a:latin typeface="Gill Sans MT"/>
                <a:cs typeface="Gill Sans MT"/>
              </a:rPr>
              <a:t>OF</a:t>
            </a:r>
            <a:r>
              <a:rPr dirty="0" sz="2800" spc="-45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2800" b="0">
                <a:solidFill>
                  <a:srgbClr val="FFFFFF"/>
                </a:solidFill>
                <a:latin typeface="Gill Sans MT"/>
                <a:cs typeface="Gill Sans MT"/>
              </a:rPr>
              <a:t>PRECEDENCE</a:t>
            </a:r>
            <a:endParaRPr sz="28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41829" y="6006795"/>
            <a:ext cx="692467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latin typeface="Arial"/>
                <a:cs typeface="Arial"/>
              </a:rPr>
              <a:t>Override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rules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of</a:t>
            </a:r>
            <a:r>
              <a:rPr dirty="0" sz="2200" spc="1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precedence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by</a:t>
            </a:r>
            <a:r>
              <a:rPr dirty="0" sz="2200" spc="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using</a:t>
            </a:r>
            <a:r>
              <a:rPr dirty="0" sz="2200" spc="35" b="1">
                <a:latin typeface="Arial"/>
                <a:cs typeface="Arial"/>
              </a:rPr>
              <a:t> </a:t>
            </a:r>
            <a:r>
              <a:rPr dirty="0" sz="2200" spc="-5" b="1">
                <a:latin typeface="Arial"/>
                <a:cs typeface="Arial"/>
              </a:rPr>
              <a:t>parentheses.</a:t>
            </a:r>
            <a:endParaRPr sz="22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86000" y="2200655"/>
          <a:ext cx="7705090" cy="36214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0"/>
                <a:gridCol w="4427220"/>
              </a:tblGrid>
              <a:tr h="554990"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Order</a:t>
                      </a:r>
                      <a:r>
                        <a:rPr dirty="0" sz="2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Evaluated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Operator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5684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marR="267970">
                        <a:lnSpc>
                          <a:spcPts val="2540"/>
                        </a:lnSpc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540"/>
                        </a:lnSpc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Arithmetic</a:t>
                      </a:r>
                      <a:r>
                        <a:rPr dirty="0" sz="2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operators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algn="ctr" marR="267970">
                        <a:lnSpc>
                          <a:spcPts val="2425"/>
                        </a:lnSpc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2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425"/>
                        </a:lnSpc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Concatenation</a:t>
                      </a:r>
                      <a:r>
                        <a:rPr dirty="0" sz="2200" spc="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operator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 marR="267970">
                        <a:lnSpc>
                          <a:spcPts val="2565"/>
                        </a:lnSpc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3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565"/>
                        </a:lnSpc>
                      </a:pPr>
                      <a:r>
                        <a:rPr dirty="0" sz="2200" spc="-5" b="1">
                          <a:latin typeface="Arial"/>
                          <a:cs typeface="Arial"/>
                        </a:rPr>
                        <a:t>Comparison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spc="-5" b="1">
                          <a:latin typeface="Arial"/>
                          <a:cs typeface="Arial"/>
                        </a:rPr>
                        <a:t>conditions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 marR="267970">
                        <a:lnSpc>
                          <a:spcPts val="2625"/>
                        </a:lnSpc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4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625"/>
                        </a:lnSpc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IS</a:t>
                      </a:r>
                      <a:r>
                        <a:rPr dirty="0" sz="2200" spc="-76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[NOT]</a:t>
                      </a:r>
                      <a:r>
                        <a:rPr dirty="0" sz="2200" spc="-7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NULL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2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LIKE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22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[NOT]</a:t>
                      </a:r>
                      <a:r>
                        <a:rPr dirty="0" sz="2200" spc="-7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IN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ctr" marR="2679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5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2200" spc="-5" b="1">
                          <a:latin typeface="Courier New"/>
                          <a:cs typeface="Courier New"/>
                        </a:rPr>
                        <a:t>[NOT]</a:t>
                      </a:r>
                      <a:r>
                        <a:rPr dirty="0" sz="2200" spc="-4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Courier New"/>
                          <a:cs typeface="Courier New"/>
                        </a:rPr>
                        <a:t>BETWEEN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B="0" marT="2159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ctr" marR="26797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6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dirty="0" sz="2200" spc="-6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logi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cal</a:t>
                      </a:r>
                      <a:r>
                        <a:rPr dirty="0" sz="22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con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diti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1143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algn="ctr" marR="2679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7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AND</a:t>
                      </a:r>
                      <a:r>
                        <a:rPr dirty="0" sz="2200" spc="-69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logi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cal</a:t>
                      </a:r>
                      <a:r>
                        <a:rPr dirty="0" sz="220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con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diti</a:t>
                      </a:r>
                      <a:r>
                        <a:rPr dirty="0" sz="2200" spc="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ctr" marR="267970">
                        <a:lnSpc>
                          <a:spcPts val="2540"/>
                        </a:lnSpc>
                      </a:pPr>
                      <a:r>
                        <a:rPr dirty="0" sz="2200" b="1">
                          <a:latin typeface="Arial"/>
                          <a:cs typeface="Arial"/>
                        </a:rPr>
                        <a:t>8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540"/>
                        </a:lnSpc>
                      </a:pPr>
                      <a:r>
                        <a:rPr dirty="0" sz="2200" b="1">
                          <a:latin typeface="Courier New"/>
                          <a:cs typeface="Courier New"/>
                        </a:rPr>
                        <a:t>OR</a:t>
                      </a:r>
                      <a:r>
                        <a:rPr dirty="0" sz="2200" spc="-70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logical</a:t>
                      </a:r>
                      <a:r>
                        <a:rPr dirty="0" sz="22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200" b="1">
                          <a:latin typeface="Arial"/>
                          <a:cs typeface="Arial"/>
                        </a:rPr>
                        <a:t>condition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RULES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OF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PRECEDENCE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36812" y="2352992"/>
            <a:ext cx="7072630" cy="1556385"/>
            <a:chOff x="2436812" y="2352992"/>
            <a:chExt cx="7072630" cy="1556385"/>
          </a:xfrm>
        </p:grpSpPr>
        <p:sp>
          <p:nvSpPr>
            <p:cNvPr id="4" name="object 4"/>
            <p:cNvSpPr/>
            <p:nvPr/>
          </p:nvSpPr>
          <p:spPr>
            <a:xfrm>
              <a:off x="2500376" y="2416809"/>
              <a:ext cx="7009130" cy="1492250"/>
            </a:xfrm>
            <a:custGeom>
              <a:avLst/>
              <a:gdLst/>
              <a:ahLst/>
              <a:cxnLst/>
              <a:rect l="l" t="t" r="r" b="b"/>
              <a:pathLst>
                <a:path w="7009130" h="1492250">
                  <a:moveTo>
                    <a:pt x="7008876" y="0"/>
                  </a:moveTo>
                  <a:lnTo>
                    <a:pt x="6932422" y="0"/>
                  </a:lnTo>
                  <a:lnTo>
                    <a:pt x="6932422" y="12700"/>
                  </a:lnTo>
                  <a:lnTo>
                    <a:pt x="6932422" y="25400"/>
                  </a:lnTo>
                  <a:lnTo>
                    <a:pt x="6932422" y="1414780"/>
                  </a:lnTo>
                  <a:lnTo>
                    <a:pt x="12954" y="1414780"/>
                  </a:lnTo>
                  <a:lnTo>
                    <a:pt x="12954" y="1465580"/>
                  </a:lnTo>
                  <a:lnTo>
                    <a:pt x="0" y="1465580"/>
                  </a:lnTo>
                  <a:lnTo>
                    <a:pt x="0" y="1492250"/>
                  </a:lnTo>
                  <a:lnTo>
                    <a:pt x="7008876" y="1492250"/>
                  </a:lnTo>
                  <a:lnTo>
                    <a:pt x="7008876" y="1465580"/>
                  </a:lnTo>
                  <a:lnTo>
                    <a:pt x="7008876" y="25400"/>
                  </a:lnTo>
                  <a:lnTo>
                    <a:pt x="7008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49829" y="2366009"/>
              <a:ext cx="6983095" cy="1466215"/>
            </a:xfrm>
            <a:custGeom>
              <a:avLst/>
              <a:gdLst/>
              <a:ahLst/>
              <a:cxnLst/>
              <a:rect l="l" t="t" r="r" b="b"/>
              <a:pathLst>
                <a:path w="6983095" h="1466214">
                  <a:moveTo>
                    <a:pt x="6982968" y="0"/>
                  </a:moveTo>
                  <a:lnTo>
                    <a:pt x="0" y="0"/>
                  </a:lnTo>
                  <a:lnTo>
                    <a:pt x="0" y="1466088"/>
                  </a:lnTo>
                  <a:lnTo>
                    <a:pt x="6982968" y="1466088"/>
                  </a:lnTo>
                  <a:lnTo>
                    <a:pt x="698296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49829" y="2366009"/>
              <a:ext cx="6983095" cy="1466215"/>
            </a:xfrm>
            <a:custGeom>
              <a:avLst/>
              <a:gdLst/>
              <a:ahLst/>
              <a:cxnLst/>
              <a:rect l="l" t="t" r="r" b="b"/>
              <a:pathLst>
                <a:path w="6983095" h="1466214">
                  <a:moveTo>
                    <a:pt x="0" y="1466088"/>
                  </a:moveTo>
                  <a:lnTo>
                    <a:pt x="6982968" y="1466088"/>
                  </a:lnTo>
                  <a:lnTo>
                    <a:pt x="6982968" y="0"/>
                  </a:lnTo>
                  <a:lnTo>
                    <a:pt x="0" y="0"/>
                  </a:lnTo>
                  <a:lnTo>
                    <a:pt x="0" y="146608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00376" y="3832097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291"/>
                </a:moveTo>
                <a:lnTo>
                  <a:pt x="25907" y="50291"/>
                </a:lnTo>
                <a:lnTo>
                  <a:pt x="25907" y="0"/>
                </a:lnTo>
                <a:lnTo>
                  <a:pt x="0" y="0"/>
                </a:lnTo>
                <a:lnTo>
                  <a:pt x="0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68955" y="2390647"/>
            <a:ext cx="439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job_id,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8955" y="2664967"/>
            <a:ext cx="7099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WH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0122" y="3246882"/>
            <a:ext cx="573405" cy="523240"/>
          </a:xfrm>
          <a:prstGeom prst="rect">
            <a:avLst/>
          </a:prstGeom>
          <a:solidFill>
            <a:srgbClr val="FFFFCC"/>
          </a:solidFill>
          <a:ln w="25908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81280">
              <a:lnSpc>
                <a:spcPts val="2000"/>
              </a:lnSpc>
            </a:pPr>
            <a:r>
              <a:rPr dirty="0" sz="1800" spc="-5" b="1">
                <a:latin typeface="Courier New"/>
                <a:cs typeface="Courier New"/>
              </a:rPr>
              <a:t>OR</a:t>
            </a:r>
            <a:endParaRPr sz="1800">
              <a:latin typeface="Courier New"/>
              <a:cs typeface="Courier New"/>
            </a:endParaRPr>
          </a:p>
          <a:p>
            <a:pPr marL="81280">
              <a:lnSpc>
                <a:spcPts val="2115"/>
              </a:lnSpc>
            </a:pPr>
            <a:r>
              <a:rPr dirty="0" sz="1800" spc="-5" b="1">
                <a:latin typeface="Courier New"/>
                <a:cs typeface="Courier New"/>
              </a:rPr>
              <a:t>AND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5853" y="2664967"/>
            <a:ext cx="24834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job_id </a:t>
            </a:r>
            <a:r>
              <a:rPr dirty="0" sz="1800" b="1">
                <a:latin typeface="Courier New"/>
                <a:cs typeface="Courier New"/>
              </a:rPr>
              <a:t>= </a:t>
            </a:r>
            <a:r>
              <a:rPr dirty="0" sz="1800" spc="-10" b="1">
                <a:latin typeface="Courier New"/>
                <a:cs typeface="Courier New"/>
              </a:rPr>
              <a:t>'SA_REP'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4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'AD_PRES'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&gt;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15000;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70098" y="3389376"/>
            <a:ext cx="459740" cy="340360"/>
            <a:chOff x="3070098" y="3389376"/>
            <a:chExt cx="459740" cy="340360"/>
          </a:xfrm>
        </p:grpSpPr>
        <p:sp>
          <p:nvSpPr>
            <p:cNvPr id="13" name="object 13"/>
            <p:cNvSpPr/>
            <p:nvPr/>
          </p:nvSpPr>
          <p:spPr>
            <a:xfrm>
              <a:off x="3156712" y="3402076"/>
              <a:ext cx="372745" cy="283845"/>
            </a:xfrm>
            <a:custGeom>
              <a:avLst/>
              <a:gdLst/>
              <a:ahLst/>
              <a:cxnLst/>
              <a:rect l="l" t="t" r="r" b="b"/>
              <a:pathLst>
                <a:path w="372745" h="283845">
                  <a:moveTo>
                    <a:pt x="243077" y="0"/>
                  </a:moveTo>
                  <a:lnTo>
                    <a:pt x="277622" y="25908"/>
                  </a:lnTo>
                  <a:lnTo>
                    <a:pt x="5842" y="25908"/>
                  </a:lnTo>
                  <a:lnTo>
                    <a:pt x="0" y="31750"/>
                  </a:lnTo>
                  <a:lnTo>
                    <a:pt x="0" y="277622"/>
                  </a:lnTo>
                  <a:lnTo>
                    <a:pt x="5842" y="283463"/>
                  </a:lnTo>
                  <a:lnTo>
                    <a:pt x="20065" y="283463"/>
                  </a:lnTo>
                  <a:lnTo>
                    <a:pt x="25907" y="277622"/>
                  </a:lnTo>
                  <a:lnTo>
                    <a:pt x="25907" y="51815"/>
                  </a:lnTo>
                  <a:lnTo>
                    <a:pt x="277622" y="51815"/>
                  </a:lnTo>
                  <a:lnTo>
                    <a:pt x="243077" y="77724"/>
                  </a:lnTo>
                  <a:lnTo>
                    <a:pt x="372617" y="38862"/>
                  </a:lnTo>
                  <a:lnTo>
                    <a:pt x="2430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44012" y="3389376"/>
              <a:ext cx="372745" cy="283845"/>
            </a:xfrm>
            <a:custGeom>
              <a:avLst/>
              <a:gdLst/>
              <a:ahLst/>
              <a:cxnLst/>
              <a:rect l="l" t="t" r="r" b="b"/>
              <a:pathLst>
                <a:path w="372745" h="283845">
                  <a:moveTo>
                    <a:pt x="277622" y="25908"/>
                  </a:moveTo>
                  <a:lnTo>
                    <a:pt x="5842" y="25908"/>
                  </a:lnTo>
                  <a:lnTo>
                    <a:pt x="0" y="31750"/>
                  </a:lnTo>
                  <a:lnTo>
                    <a:pt x="0" y="277622"/>
                  </a:lnTo>
                  <a:lnTo>
                    <a:pt x="5842" y="283463"/>
                  </a:lnTo>
                  <a:lnTo>
                    <a:pt x="20065" y="283463"/>
                  </a:lnTo>
                  <a:lnTo>
                    <a:pt x="25907" y="277622"/>
                  </a:lnTo>
                  <a:lnTo>
                    <a:pt x="25907" y="51815"/>
                  </a:lnTo>
                  <a:lnTo>
                    <a:pt x="12954" y="51815"/>
                  </a:lnTo>
                  <a:lnTo>
                    <a:pt x="25907" y="38862"/>
                  </a:lnTo>
                  <a:lnTo>
                    <a:pt x="294893" y="38862"/>
                  </a:lnTo>
                  <a:lnTo>
                    <a:pt x="277622" y="25908"/>
                  </a:lnTo>
                  <a:close/>
                </a:path>
                <a:path w="372745" h="283845">
                  <a:moveTo>
                    <a:pt x="243077" y="0"/>
                  </a:moveTo>
                  <a:lnTo>
                    <a:pt x="294893" y="38862"/>
                  </a:lnTo>
                  <a:lnTo>
                    <a:pt x="243077" y="77724"/>
                  </a:lnTo>
                  <a:lnTo>
                    <a:pt x="329438" y="51815"/>
                  </a:lnTo>
                  <a:lnTo>
                    <a:pt x="302005" y="51815"/>
                  </a:lnTo>
                  <a:lnTo>
                    <a:pt x="307848" y="45974"/>
                  </a:lnTo>
                  <a:lnTo>
                    <a:pt x="307848" y="31750"/>
                  </a:lnTo>
                  <a:lnTo>
                    <a:pt x="302005" y="25908"/>
                  </a:lnTo>
                  <a:lnTo>
                    <a:pt x="329438" y="25908"/>
                  </a:lnTo>
                  <a:lnTo>
                    <a:pt x="243077" y="0"/>
                  </a:lnTo>
                  <a:close/>
                </a:path>
                <a:path w="372745" h="283845">
                  <a:moveTo>
                    <a:pt x="25907" y="38862"/>
                  </a:moveTo>
                  <a:lnTo>
                    <a:pt x="12954" y="51815"/>
                  </a:lnTo>
                  <a:lnTo>
                    <a:pt x="25907" y="51815"/>
                  </a:lnTo>
                  <a:lnTo>
                    <a:pt x="25907" y="38862"/>
                  </a:lnTo>
                  <a:close/>
                </a:path>
                <a:path w="372745" h="283845">
                  <a:moveTo>
                    <a:pt x="294893" y="38862"/>
                  </a:moveTo>
                  <a:lnTo>
                    <a:pt x="25907" y="38862"/>
                  </a:lnTo>
                  <a:lnTo>
                    <a:pt x="25907" y="51815"/>
                  </a:lnTo>
                  <a:lnTo>
                    <a:pt x="277622" y="51815"/>
                  </a:lnTo>
                  <a:lnTo>
                    <a:pt x="294893" y="38862"/>
                  </a:lnTo>
                  <a:close/>
                </a:path>
                <a:path w="372745" h="283845">
                  <a:moveTo>
                    <a:pt x="329438" y="25908"/>
                  </a:moveTo>
                  <a:lnTo>
                    <a:pt x="302005" y="25908"/>
                  </a:lnTo>
                  <a:lnTo>
                    <a:pt x="307848" y="31750"/>
                  </a:lnTo>
                  <a:lnTo>
                    <a:pt x="307848" y="45974"/>
                  </a:lnTo>
                  <a:lnTo>
                    <a:pt x="302005" y="51815"/>
                  </a:lnTo>
                  <a:lnTo>
                    <a:pt x="329438" y="51815"/>
                  </a:lnTo>
                  <a:lnTo>
                    <a:pt x="372617" y="38862"/>
                  </a:lnTo>
                  <a:lnTo>
                    <a:pt x="329438" y="25908"/>
                  </a:lnTo>
                  <a:close/>
                </a:path>
              </a:pathLst>
            </a:custGeom>
            <a:solidFill>
              <a:srgbClr val="FF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82798" y="3652012"/>
              <a:ext cx="447040" cy="78105"/>
            </a:xfrm>
            <a:custGeom>
              <a:avLst/>
              <a:gdLst/>
              <a:ahLst/>
              <a:cxnLst/>
              <a:rect l="l" t="t" r="r" b="b"/>
              <a:pathLst>
                <a:path w="447039" h="78104">
                  <a:moveTo>
                    <a:pt x="316991" y="0"/>
                  </a:moveTo>
                  <a:lnTo>
                    <a:pt x="351536" y="25907"/>
                  </a:lnTo>
                  <a:lnTo>
                    <a:pt x="0" y="25907"/>
                  </a:lnTo>
                  <a:lnTo>
                    <a:pt x="0" y="51815"/>
                  </a:lnTo>
                  <a:lnTo>
                    <a:pt x="351536" y="51815"/>
                  </a:lnTo>
                  <a:lnTo>
                    <a:pt x="316991" y="77724"/>
                  </a:lnTo>
                  <a:lnTo>
                    <a:pt x="446531" y="38862"/>
                  </a:lnTo>
                  <a:lnTo>
                    <a:pt x="316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70098" y="3639312"/>
              <a:ext cx="447040" cy="78105"/>
            </a:xfrm>
            <a:custGeom>
              <a:avLst/>
              <a:gdLst/>
              <a:ahLst/>
              <a:cxnLst/>
              <a:rect l="l" t="t" r="r" b="b"/>
              <a:pathLst>
                <a:path w="447039" h="78104">
                  <a:moveTo>
                    <a:pt x="368807" y="38862"/>
                  </a:moveTo>
                  <a:lnTo>
                    <a:pt x="316991" y="77724"/>
                  </a:lnTo>
                  <a:lnTo>
                    <a:pt x="403352" y="51815"/>
                  </a:lnTo>
                  <a:lnTo>
                    <a:pt x="368807" y="51815"/>
                  </a:lnTo>
                  <a:lnTo>
                    <a:pt x="368807" y="38862"/>
                  </a:lnTo>
                  <a:close/>
                </a:path>
                <a:path w="447039" h="78104">
                  <a:moveTo>
                    <a:pt x="351535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351536" y="51815"/>
                  </a:lnTo>
                  <a:lnTo>
                    <a:pt x="368807" y="38862"/>
                  </a:lnTo>
                  <a:lnTo>
                    <a:pt x="351535" y="25907"/>
                  </a:lnTo>
                  <a:close/>
                </a:path>
                <a:path w="447039" h="78104">
                  <a:moveTo>
                    <a:pt x="403351" y="25907"/>
                  </a:moveTo>
                  <a:lnTo>
                    <a:pt x="368807" y="25907"/>
                  </a:lnTo>
                  <a:lnTo>
                    <a:pt x="368807" y="51815"/>
                  </a:lnTo>
                  <a:lnTo>
                    <a:pt x="403352" y="51815"/>
                  </a:lnTo>
                  <a:lnTo>
                    <a:pt x="446531" y="38862"/>
                  </a:lnTo>
                  <a:lnTo>
                    <a:pt x="403351" y="25907"/>
                  </a:lnTo>
                  <a:close/>
                </a:path>
                <a:path w="447039" h="78104">
                  <a:moveTo>
                    <a:pt x="316991" y="0"/>
                  </a:moveTo>
                  <a:lnTo>
                    <a:pt x="368807" y="38862"/>
                  </a:lnTo>
                  <a:lnTo>
                    <a:pt x="368807" y="25907"/>
                  </a:lnTo>
                  <a:lnTo>
                    <a:pt x="403351" y="25907"/>
                  </a:lnTo>
                  <a:lnTo>
                    <a:pt x="316991" y="0"/>
                  </a:lnTo>
                  <a:close/>
                </a:path>
              </a:pathLst>
            </a:custGeom>
            <a:solidFill>
              <a:srgbClr val="FF00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120" y="4167749"/>
            <a:ext cx="6934955" cy="10854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RULES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OF</a:t>
                      </a:r>
                      <a:r>
                        <a:rPr dirty="0" sz="2800" spc="-3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PRECEDENCE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52052" y="2557208"/>
            <a:ext cx="7059295" cy="1555115"/>
            <a:chOff x="2452052" y="2557208"/>
            <a:chExt cx="7059295" cy="1555115"/>
          </a:xfrm>
        </p:grpSpPr>
        <p:sp>
          <p:nvSpPr>
            <p:cNvPr id="4" name="object 4"/>
            <p:cNvSpPr/>
            <p:nvPr/>
          </p:nvSpPr>
          <p:spPr>
            <a:xfrm>
              <a:off x="2515616" y="2621279"/>
              <a:ext cx="6995159" cy="1490980"/>
            </a:xfrm>
            <a:custGeom>
              <a:avLst/>
              <a:gdLst/>
              <a:ahLst/>
              <a:cxnLst/>
              <a:rect l="l" t="t" r="r" b="b"/>
              <a:pathLst>
                <a:path w="6995159" h="1490979">
                  <a:moveTo>
                    <a:pt x="6995160" y="0"/>
                  </a:moveTo>
                  <a:lnTo>
                    <a:pt x="6918706" y="0"/>
                  </a:lnTo>
                  <a:lnTo>
                    <a:pt x="6918706" y="12700"/>
                  </a:lnTo>
                  <a:lnTo>
                    <a:pt x="6918706" y="25400"/>
                  </a:lnTo>
                  <a:lnTo>
                    <a:pt x="6918706" y="1414780"/>
                  </a:lnTo>
                  <a:lnTo>
                    <a:pt x="12954" y="1414780"/>
                  </a:lnTo>
                  <a:lnTo>
                    <a:pt x="12954" y="1465580"/>
                  </a:lnTo>
                  <a:lnTo>
                    <a:pt x="0" y="1465580"/>
                  </a:lnTo>
                  <a:lnTo>
                    <a:pt x="0" y="1490980"/>
                  </a:lnTo>
                  <a:lnTo>
                    <a:pt x="6995160" y="1490980"/>
                  </a:lnTo>
                  <a:lnTo>
                    <a:pt x="6995160" y="1465580"/>
                  </a:lnTo>
                  <a:lnTo>
                    <a:pt x="6995160" y="25400"/>
                  </a:lnTo>
                  <a:lnTo>
                    <a:pt x="6995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65069" y="2570225"/>
              <a:ext cx="6969759" cy="1466215"/>
            </a:xfrm>
            <a:custGeom>
              <a:avLst/>
              <a:gdLst/>
              <a:ahLst/>
              <a:cxnLst/>
              <a:rect l="l" t="t" r="r" b="b"/>
              <a:pathLst>
                <a:path w="6969759" h="1466214">
                  <a:moveTo>
                    <a:pt x="6969252" y="0"/>
                  </a:moveTo>
                  <a:lnTo>
                    <a:pt x="0" y="0"/>
                  </a:lnTo>
                  <a:lnTo>
                    <a:pt x="0" y="1466088"/>
                  </a:lnTo>
                  <a:lnTo>
                    <a:pt x="6969252" y="1466088"/>
                  </a:lnTo>
                  <a:lnTo>
                    <a:pt x="6969252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65069" y="2570225"/>
              <a:ext cx="6969759" cy="1466215"/>
            </a:xfrm>
            <a:custGeom>
              <a:avLst/>
              <a:gdLst/>
              <a:ahLst/>
              <a:cxnLst/>
              <a:rect l="l" t="t" r="r" b="b"/>
              <a:pathLst>
                <a:path w="6969759" h="1466214">
                  <a:moveTo>
                    <a:pt x="0" y="1466088"/>
                  </a:moveTo>
                  <a:lnTo>
                    <a:pt x="6969252" y="1466088"/>
                  </a:lnTo>
                  <a:lnTo>
                    <a:pt x="6969252" y="0"/>
                  </a:lnTo>
                  <a:lnTo>
                    <a:pt x="0" y="0"/>
                  </a:lnTo>
                  <a:lnTo>
                    <a:pt x="0" y="1466088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15616" y="403605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10104" y="2580513"/>
            <a:ext cx="439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SELECT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last_name,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job_id,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0104" y="2854528"/>
            <a:ext cx="70993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5" b="1">
                <a:latin typeface="Courier New"/>
                <a:cs typeface="Courier New"/>
              </a:rPr>
              <a:t>WH</a:t>
            </a:r>
            <a:r>
              <a:rPr dirty="0" sz="1800" spc="-15" b="1">
                <a:latin typeface="Courier New"/>
                <a:cs typeface="Courier New"/>
              </a:rPr>
              <a:t>E</a:t>
            </a:r>
            <a:r>
              <a:rPr dirty="0" sz="1800" spc="-5" b="1">
                <a:latin typeface="Courier New"/>
                <a:cs typeface="Courier New"/>
              </a:rPr>
              <a:t>RE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3461" y="3467861"/>
            <a:ext cx="574675" cy="500380"/>
          </a:xfrm>
          <a:prstGeom prst="rect">
            <a:avLst/>
          </a:prstGeom>
          <a:solidFill>
            <a:srgbClr val="FFFFCC"/>
          </a:solidFill>
          <a:ln w="25908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ts val="1755"/>
              </a:lnSpc>
            </a:pPr>
            <a:r>
              <a:rPr dirty="0" sz="1800" spc="-5" b="1">
                <a:latin typeface="Courier New"/>
                <a:cs typeface="Courier New"/>
              </a:rPr>
              <a:t>OR</a:t>
            </a:r>
            <a:endParaRPr sz="1800">
              <a:latin typeface="Courier New"/>
              <a:cs typeface="Courier New"/>
            </a:endParaRPr>
          </a:p>
          <a:p>
            <a:pPr marL="69215">
              <a:lnSpc>
                <a:spcPct val="100000"/>
              </a:lnSpc>
            </a:pPr>
            <a:r>
              <a:rPr dirty="0" sz="1800" spc="-5" b="1">
                <a:latin typeface="Courier New"/>
                <a:cs typeface="Courier New"/>
              </a:rPr>
              <a:t>AND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6979" y="2854528"/>
            <a:ext cx="2617470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latin typeface="Courier New"/>
                <a:cs typeface="Courier New"/>
              </a:rPr>
              <a:t>(job_id </a:t>
            </a:r>
            <a:r>
              <a:rPr dirty="0" sz="1800" b="1">
                <a:latin typeface="Courier New"/>
                <a:cs typeface="Courier New"/>
              </a:rPr>
              <a:t>= </a:t>
            </a:r>
            <a:r>
              <a:rPr dirty="0" sz="1800" spc="-10" b="1">
                <a:latin typeface="Courier New"/>
                <a:cs typeface="Courier New"/>
              </a:rPr>
              <a:t>'SA_REP'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job_id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'AD_PRES') </a:t>
            </a:r>
            <a:r>
              <a:rPr dirty="0" sz="1800" spc="-10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&gt;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15000;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24961" y="3273552"/>
            <a:ext cx="544830" cy="339090"/>
            <a:chOff x="3124961" y="3273552"/>
            <a:chExt cx="544830" cy="339090"/>
          </a:xfrm>
        </p:grpSpPr>
        <p:sp>
          <p:nvSpPr>
            <p:cNvPr id="13" name="object 13"/>
            <p:cNvSpPr/>
            <p:nvPr/>
          </p:nvSpPr>
          <p:spPr>
            <a:xfrm>
              <a:off x="3353307" y="3286252"/>
              <a:ext cx="316230" cy="283845"/>
            </a:xfrm>
            <a:custGeom>
              <a:avLst/>
              <a:gdLst/>
              <a:ahLst/>
              <a:cxnLst/>
              <a:rect l="l" t="t" r="r" b="b"/>
              <a:pathLst>
                <a:path w="316229" h="283845">
                  <a:moveTo>
                    <a:pt x="186562" y="0"/>
                  </a:moveTo>
                  <a:lnTo>
                    <a:pt x="221106" y="25908"/>
                  </a:lnTo>
                  <a:lnTo>
                    <a:pt x="5841" y="25908"/>
                  </a:lnTo>
                  <a:lnTo>
                    <a:pt x="0" y="31750"/>
                  </a:lnTo>
                  <a:lnTo>
                    <a:pt x="0" y="277622"/>
                  </a:lnTo>
                  <a:lnTo>
                    <a:pt x="5841" y="283463"/>
                  </a:lnTo>
                  <a:lnTo>
                    <a:pt x="20065" y="283463"/>
                  </a:lnTo>
                  <a:lnTo>
                    <a:pt x="25907" y="277622"/>
                  </a:lnTo>
                  <a:lnTo>
                    <a:pt x="25907" y="51815"/>
                  </a:lnTo>
                  <a:lnTo>
                    <a:pt x="221106" y="51815"/>
                  </a:lnTo>
                  <a:lnTo>
                    <a:pt x="186562" y="77724"/>
                  </a:lnTo>
                  <a:lnTo>
                    <a:pt x="316229" y="38862"/>
                  </a:lnTo>
                  <a:lnTo>
                    <a:pt x="1865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40607" y="3273552"/>
              <a:ext cx="316230" cy="283845"/>
            </a:xfrm>
            <a:custGeom>
              <a:avLst/>
              <a:gdLst/>
              <a:ahLst/>
              <a:cxnLst/>
              <a:rect l="l" t="t" r="r" b="b"/>
              <a:pathLst>
                <a:path w="316229" h="283845">
                  <a:moveTo>
                    <a:pt x="221107" y="25908"/>
                  </a:moveTo>
                  <a:lnTo>
                    <a:pt x="5841" y="25908"/>
                  </a:lnTo>
                  <a:lnTo>
                    <a:pt x="0" y="31750"/>
                  </a:lnTo>
                  <a:lnTo>
                    <a:pt x="0" y="277622"/>
                  </a:lnTo>
                  <a:lnTo>
                    <a:pt x="5841" y="283463"/>
                  </a:lnTo>
                  <a:lnTo>
                    <a:pt x="20065" y="283463"/>
                  </a:lnTo>
                  <a:lnTo>
                    <a:pt x="25907" y="277622"/>
                  </a:lnTo>
                  <a:lnTo>
                    <a:pt x="25907" y="51815"/>
                  </a:lnTo>
                  <a:lnTo>
                    <a:pt x="12953" y="51815"/>
                  </a:lnTo>
                  <a:lnTo>
                    <a:pt x="25907" y="38862"/>
                  </a:lnTo>
                  <a:lnTo>
                    <a:pt x="238378" y="38862"/>
                  </a:lnTo>
                  <a:lnTo>
                    <a:pt x="221107" y="25908"/>
                  </a:lnTo>
                  <a:close/>
                </a:path>
                <a:path w="316229" h="283845">
                  <a:moveTo>
                    <a:pt x="186562" y="0"/>
                  </a:moveTo>
                  <a:lnTo>
                    <a:pt x="238378" y="38862"/>
                  </a:lnTo>
                  <a:lnTo>
                    <a:pt x="186562" y="77724"/>
                  </a:lnTo>
                  <a:lnTo>
                    <a:pt x="272923" y="51815"/>
                  </a:lnTo>
                  <a:lnTo>
                    <a:pt x="245617" y="51815"/>
                  </a:lnTo>
                  <a:lnTo>
                    <a:pt x="251332" y="45974"/>
                  </a:lnTo>
                  <a:lnTo>
                    <a:pt x="251332" y="31750"/>
                  </a:lnTo>
                  <a:lnTo>
                    <a:pt x="245617" y="25908"/>
                  </a:lnTo>
                  <a:lnTo>
                    <a:pt x="272923" y="25908"/>
                  </a:lnTo>
                  <a:lnTo>
                    <a:pt x="186562" y="0"/>
                  </a:lnTo>
                  <a:close/>
                </a:path>
                <a:path w="316229" h="283845">
                  <a:moveTo>
                    <a:pt x="25907" y="38862"/>
                  </a:moveTo>
                  <a:lnTo>
                    <a:pt x="12953" y="51815"/>
                  </a:lnTo>
                  <a:lnTo>
                    <a:pt x="25907" y="51815"/>
                  </a:lnTo>
                  <a:lnTo>
                    <a:pt x="25907" y="38862"/>
                  </a:lnTo>
                  <a:close/>
                </a:path>
                <a:path w="316229" h="283845">
                  <a:moveTo>
                    <a:pt x="238378" y="38862"/>
                  </a:moveTo>
                  <a:lnTo>
                    <a:pt x="25907" y="38862"/>
                  </a:lnTo>
                  <a:lnTo>
                    <a:pt x="25907" y="51815"/>
                  </a:lnTo>
                  <a:lnTo>
                    <a:pt x="221107" y="51815"/>
                  </a:lnTo>
                  <a:lnTo>
                    <a:pt x="238378" y="38862"/>
                  </a:lnTo>
                  <a:close/>
                </a:path>
                <a:path w="316229" h="283845">
                  <a:moveTo>
                    <a:pt x="272923" y="25908"/>
                  </a:moveTo>
                  <a:lnTo>
                    <a:pt x="245617" y="25908"/>
                  </a:lnTo>
                  <a:lnTo>
                    <a:pt x="251332" y="31750"/>
                  </a:lnTo>
                  <a:lnTo>
                    <a:pt x="251332" y="45974"/>
                  </a:lnTo>
                  <a:lnTo>
                    <a:pt x="245617" y="51815"/>
                  </a:lnTo>
                  <a:lnTo>
                    <a:pt x="272923" y="51815"/>
                  </a:lnTo>
                  <a:lnTo>
                    <a:pt x="316102" y="38862"/>
                  </a:lnTo>
                  <a:lnTo>
                    <a:pt x="272923" y="25908"/>
                  </a:lnTo>
                  <a:close/>
                </a:path>
              </a:pathLst>
            </a:custGeom>
            <a:solidFill>
              <a:srgbClr val="FF00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37661" y="3534664"/>
              <a:ext cx="494030" cy="78105"/>
            </a:xfrm>
            <a:custGeom>
              <a:avLst/>
              <a:gdLst/>
              <a:ahLst/>
              <a:cxnLst/>
              <a:rect l="l" t="t" r="r" b="b"/>
              <a:pathLst>
                <a:path w="494029" h="78104">
                  <a:moveTo>
                    <a:pt x="364236" y="0"/>
                  </a:moveTo>
                  <a:lnTo>
                    <a:pt x="398779" y="25908"/>
                  </a:lnTo>
                  <a:lnTo>
                    <a:pt x="0" y="25908"/>
                  </a:lnTo>
                  <a:lnTo>
                    <a:pt x="0" y="51815"/>
                  </a:lnTo>
                  <a:lnTo>
                    <a:pt x="398779" y="51815"/>
                  </a:lnTo>
                  <a:lnTo>
                    <a:pt x="364236" y="77724"/>
                  </a:lnTo>
                  <a:lnTo>
                    <a:pt x="493775" y="38862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24961" y="3521964"/>
              <a:ext cx="494030" cy="78105"/>
            </a:xfrm>
            <a:custGeom>
              <a:avLst/>
              <a:gdLst/>
              <a:ahLst/>
              <a:cxnLst/>
              <a:rect l="l" t="t" r="r" b="b"/>
              <a:pathLst>
                <a:path w="494029" h="78104">
                  <a:moveTo>
                    <a:pt x="416051" y="38862"/>
                  </a:moveTo>
                  <a:lnTo>
                    <a:pt x="364236" y="77724"/>
                  </a:lnTo>
                  <a:lnTo>
                    <a:pt x="450596" y="51815"/>
                  </a:lnTo>
                  <a:lnTo>
                    <a:pt x="416051" y="51815"/>
                  </a:lnTo>
                  <a:lnTo>
                    <a:pt x="416051" y="38862"/>
                  </a:lnTo>
                  <a:close/>
                </a:path>
                <a:path w="494029" h="78104">
                  <a:moveTo>
                    <a:pt x="398780" y="25908"/>
                  </a:moveTo>
                  <a:lnTo>
                    <a:pt x="0" y="25908"/>
                  </a:lnTo>
                  <a:lnTo>
                    <a:pt x="0" y="51815"/>
                  </a:lnTo>
                  <a:lnTo>
                    <a:pt x="398780" y="51815"/>
                  </a:lnTo>
                  <a:lnTo>
                    <a:pt x="416051" y="38862"/>
                  </a:lnTo>
                  <a:lnTo>
                    <a:pt x="398780" y="25908"/>
                  </a:lnTo>
                  <a:close/>
                </a:path>
                <a:path w="494029" h="78104">
                  <a:moveTo>
                    <a:pt x="450596" y="25908"/>
                  </a:moveTo>
                  <a:lnTo>
                    <a:pt x="416051" y="25908"/>
                  </a:lnTo>
                  <a:lnTo>
                    <a:pt x="416051" y="51815"/>
                  </a:lnTo>
                  <a:lnTo>
                    <a:pt x="450596" y="51815"/>
                  </a:lnTo>
                  <a:lnTo>
                    <a:pt x="493775" y="38862"/>
                  </a:lnTo>
                  <a:lnTo>
                    <a:pt x="450596" y="25908"/>
                  </a:lnTo>
                  <a:close/>
                </a:path>
                <a:path w="494029" h="78104">
                  <a:moveTo>
                    <a:pt x="364236" y="0"/>
                  </a:moveTo>
                  <a:lnTo>
                    <a:pt x="416051" y="38862"/>
                  </a:lnTo>
                  <a:lnTo>
                    <a:pt x="416051" y="25908"/>
                  </a:lnTo>
                  <a:lnTo>
                    <a:pt x="450596" y="25908"/>
                  </a:lnTo>
                  <a:lnTo>
                    <a:pt x="364236" y="0"/>
                  </a:lnTo>
                  <a:close/>
                </a:path>
              </a:pathLst>
            </a:custGeom>
            <a:solidFill>
              <a:srgbClr val="FF00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405" y="4263791"/>
            <a:ext cx="6933823" cy="457532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492755" y="2143124"/>
            <a:ext cx="565150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>
                <a:latin typeface="Courier New"/>
                <a:cs typeface="Courier New"/>
              </a:rPr>
              <a:t>Use</a:t>
            </a:r>
            <a:r>
              <a:rPr dirty="0" spc="25">
                <a:latin typeface="Courier New"/>
                <a:cs typeface="Courier New"/>
              </a:rPr>
              <a:t> </a:t>
            </a:r>
            <a:r>
              <a:rPr dirty="0" spc="-10">
                <a:latin typeface="Courier New"/>
                <a:cs typeface="Courier New"/>
              </a:rPr>
              <a:t>parenthesis</a:t>
            </a:r>
            <a:r>
              <a:rPr dirty="0" spc="65">
                <a:latin typeface="Courier New"/>
                <a:cs typeface="Courier New"/>
              </a:rPr>
              <a:t> </a:t>
            </a:r>
            <a:r>
              <a:rPr dirty="0" spc="-5">
                <a:latin typeface="Courier New"/>
                <a:cs typeface="Courier New"/>
              </a:rPr>
              <a:t>to</a:t>
            </a:r>
            <a:r>
              <a:rPr dirty="0" spc="15">
                <a:latin typeface="Courier New"/>
                <a:cs typeface="Courier New"/>
              </a:rPr>
              <a:t> </a:t>
            </a:r>
            <a:r>
              <a:rPr dirty="0" spc="-10">
                <a:latin typeface="Courier New"/>
                <a:cs typeface="Courier New"/>
              </a:rPr>
              <a:t>force</a:t>
            </a:r>
            <a:r>
              <a:rPr dirty="0" spc="30">
                <a:latin typeface="Courier New"/>
                <a:cs typeface="Courier New"/>
              </a:rPr>
              <a:t> </a:t>
            </a:r>
            <a:r>
              <a:rPr dirty="0" spc="-5">
                <a:latin typeface="Courier New"/>
                <a:cs typeface="Courier New"/>
              </a:rPr>
              <a:t>priority</a:t>
            </a:r>
            <a:r>
              <a:rPr dirty="0" spc="-5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43911" y="3617976"/>
            <a:ext cx="7042150" cy="926465"/>
            <a:chOff x="2343911" y="3617976"/>
            <a:chExt cx="7042150" cy="926465"/>
          </a:xfrm>
        </p:grpSpPr>
        <p:sp>
          <p:nvSpPr>
            <p:cNvPr id="3" name="object 3"/>
            <p:cNvSpPr/>
            <p:nvPr/>
          </p:nvSpPr>
          <p:spPr>
            <a:xfrm>
              <a:off x="2407412" y="3681729"/>
              <a:ext cx="6978650" cy="862330"/>
            </a:xfrm>
            <a:custGeom>
              <a:avLst/>
              <a:gdLst/>
              <a:ahLst/>
              <a:cxnLst/>
              <a:rect l="l" t="t" r="r" b="b"/>
              <a:pathLst>
                <a:path w="6978650" h="862329">
                  <a:moveTo>
                    <a:pt x="6978396" y="0"/>
                  </a:moveTo>
                  <a:lnTo>
                    <a:pt x="6901942" y="0"/>
                  </a:lnTo>
                  <a:lnTo>
                    <a:pt x="6901942" y="12700"/>
                  </a:lnTo>
                  <a:lnTo>
                    <a:pt x="6901942" y="25400"/>
                  </a:lnTo>
                  <a:lnTo>
                    <a:pt x="6901942" y="786130"/>
                  </a:lnTo>
                  <a:lnTo>
                    <a:pt x="12954" y="786130"/>
                  </a:lnTo>
                  <a:lnTo>
                    <a:pt x="12954" y="836930"/>
                  </a:lnTo>
                  <a:lnTo>
                    <a:pt x="0" y="836930"/>
                  </a:lnTo>
                  <a:lnTo>
                    <a:pt x="0" y="862330"/>
                  </a:lnTo>
                  <a:lnTo>
                    <a:pt x="6978396" y="862330"/>
                  </a:lnTo>
                  <a:lnTo>
                    <a:pt x="6978396" y="836930"/>
                  </a:lnTo>
                  <a:lnTo>
                    <a:pt x="6978396" y="25400"/>
                  </a:lnTo>
                  <a:lnTo>
                    <a:pt x="6978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356865" y="3630930"/>
              <a:ext cx="6952615" cy="836930"/>
            </a:xfrm>
            <a:custGeom>
              <a:avLst/>
              <a:gdLst/>
              <a:ahLst/>
              <a:cxnLst/>
              <a:rect l="l" t="t" r="r" b="b"/>
              <a:pathLst>
                <a:path w="6952615" h="836929">
                  <a:moveTo>
                    <a:pt x="6952488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952488" y="836676"/>
                  </a:lnTo>
                  <a:lnTo>
                    <a:pt x="6952488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356865" y="3630930"/>
              <a:ext cx="6952615" cy="836930"/>
            </a:xfrm>
            <a:custGeom>
              <a:avLst/>
              <a:gdLst/>
              <a:ahLst/>
              <a:cxnLst/>
              <a:rect l="l" t="t" r="r" b="b"/>
              <a:pathLst>
                <a:path w="6952615" h="836929">
                  <a:moveTo>
                    <a:pt x="0" y="836676"/>
                  </a:moveTo>
                  <a:lnTo>
                    <a:pt x="6952488" y="836676"/>
                  </a:lnTo>
                  <a:lnTo>
                    <a:pt x="6952488" y="0"/>
                  </a:lnTo>
                  <a:lnTo>
                    <a:pt x="0" y="0"/>
                  </a:lnTo>
                  <a:lnTo>
                    <a:pt x="0" y="836676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2407411" y="4467859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33066" y="4104894"/>
            <a:ext cx="2281555" cy="26225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3335">
              <a:lnSpc>
                <a:spcPts val="1770"/>
              </a:lnSpc>
            </a:pPr>
            <a:r>
              <a:rPr dirty="0" sz="1600" spc="-5" b="1">
                <a:latin typeface="Courier New"/>
                <a:cs typeface="Courier New"/>
              </a:rPr>
              <a:t>ORDER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BY</a:t>
            </a:r>
            <a:r>
              <a:rPr dirty="0" sz="1600" spc="-3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hire_date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4168" y="4073474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 marL="1940560">
                        <a:lnSpc>
                          <a:spcPct val="100000"/>
                        </a:lnSpc>
                        <a:spcBef>
                          <a:spcPts val="2140"/>
                        </a:spcBef>
                      </a:pP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ORD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dirty="0" sz="2800" spc="-3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dirty="0" sz="2800" spc="-905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CL</a:t>
                      </a:r>
                      <a:r>
                        <a:rPr dirty="0" sz="2800" spc="-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USE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27178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33954" y="1783519"/>
            <a:ext cx="6370955" cy="231521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346710" indent="-305435">
              <a:lnSpc>
                <a:spcPct val="100000"/>
              </a:lnSpc>
              <a:spcBef>
                <a:spcPts val="134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46710" algn="l"/>
                <a:tab pos="347345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</a:t>
            </a:r>
            <a:r>
              <a:rPr dirty="0" sz="1800" spc="2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wit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ORDE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R</a:t>
            </a:r>
            <a:r>
              <a:rPr dirty="0" sz="1800" spc="-4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endParaRPr sz="1800">
              <a:latin typeface="Gill Sans MT"/>
              <a:cs typeface="Gill Sans MT"/>
            </a:endParaRPr>
          </a:p>
          <a:p>
            <a:pPr lvl="1" marL="671195" indent="-305435">
              <a:lnSpc>
                <a:spcPct val="100000"/>
              </a:lnSpc>
              <a:spcBef>
                <a:spcPts val="110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71195" algn="l"/>
                <a:tab pos="67183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ASC:</a:t>
            </a:r>
            <a:r>
              <a:rPr dirty="0" sz="1600" spc="-15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as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ending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5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3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</a:t>
            </a:r>
            <a:r>
              <a:rPr dirty="0" sz="1600" spc="-15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dirty="0" sz="1600" spc="-1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defa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lt</a:t>
            </a:r>
            <a:endParaRPr sz="1600">
              <a:latin typeface="Gill Sans MT"/>
              <a:cs typeface="Gill Sans MT"/>
            </a:endParaRPr>
          </a:p>
          <a:p>
            <a:pPr lvl="1" marL="671195" indent="-305435">
              <a:lnSpc>
                <a:spcPct val="100000"/>
              </a:lnSpc>
              <a:spcBef>
                <a:spcPts val="9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71195" algn="l"/>
                <a:tab pos="671830" algn="l"/>
              </a:tabLst>
            </a:pP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SC:</a:t>
            </a:r>
            <a:r>
              <a:rPr dirty="0" sz="1600" spc="-15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des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di</a:t>
            </a:r>
            <a:r>
              <a:rPr dirty="0" sz="16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g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600" spc="-1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600" spc="-3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600" spc="-5">
                <a:solidFill>
                  <a:srgbClr val="3C3C3C"/>
                </a:solidFill>
                <a:latin typeface="Gill Sans MT"/>
                <a:cs typeface="Gill Sans MT"/>
              </a:rPr>
              <a:t>der</a:t>
            </a:r>
            <a:endParaRPr sz="1600">
              <a:latin typeface="Gill Sans MT"/>
              <a:cs typeface="Gill Sans MT"/>
            </a:endParaRPr>
          </a:p>
          <a:p>
            <a:pPr marL="346710" indent="-305435">
              <a:lnSpc>
                <a:spcPct val="100000"/>
              </a:lnSpc>
              <a:spcBef>
                <a:spcPts val="91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46710" algn="l"/>
                <a:tab pos="347345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ORDE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R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590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clau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comes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las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statement.</a:t>
            </a:r>
            <a:endParaRPr sz="1800">
              <a:latin typeface="Gill Sans MT"/>
              <a:cs typeface="Gill Sans MT"/>
            </a:endParaRPr>
          </a:p>
          <a:p>
            <a:pPr marL="12700" marR="5080">
              <a:lnSpc>
                <a:spcPct val="100000"/>
              </a:lnSpc>
              <a:spcBef>
                <a:spcPts val="1790"/>
              </a:spcBef>
              <a:tabLst>
                <a:tab pos="1109980" algn="l"/>
              </a:tabLst>
            </a:pPr>
            <a:r>
              <a:rPr dirty="0" sz="1600" spc="-5" b="1">
                <a:latin typeface="Courier New"/>
                <a:cs typeface="Courier New"/>
              </a:rPr>
              <a:t>SELECT	last_name,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job_id,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department_id,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hire_date </a:t>
            </a:r>
            <a:r>
              <a:rPr dirty="0" sz="1600" spc="-944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FROM	employees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6705" y="5713882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6104" y="4533900"/>
            <a:ext cx="7010400" cy="134416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3723" y="6188583"/>
            <a:ext cx="952396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SORTING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IN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DESCENDING ORDER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14016" y="2110739"/>
            <a:ext cx="7144384" cy="896619"/>
            <a:chOff x="2414016" y="2110739"/>
            <a:chExt cx="7144384" cy="896619"/>
          </a:xfrm>
        </p:grpSpPr>
        <p:sp>
          <p:nvSpPr>
            <p:cNvPr id="4" name="object 4"/>
            <p:cNvSpPr/>
            <p:nvPr/>
          </p:nvSpPr>
          <p:spPr>
            <a:xfrm>
              <a:off x="2477516" y="2174239"/>
              <a:ext cx="7080884" cy="833119"/>
            </a:xfrm>
            <a:custGeom>
              <a:avLst/>
              <a:gdLst/>
              <a:ahLst/>
              <a:cxnLst/>
              <a:rect l="l" t="t" r="r" b="b"/>
              <a:pathLst>
                <a:path w="7080884" h="833119">
                  <a:moveTo>
                    <a:pt x="7080504" y="0"/>
                  </a:moveTo>
                  <a:lnTo>
                    <a:pt x="7004037" y="0"/>
                  </a:lnTo>
                  <a:lnTo>
                    <a:pt x="7004037" y="25400"/>
                  </a:lnTo>
                  <a:lnTo>
                    <a:pt x="7004050" y="756920"/>
                  </a:lnTo>
                  <a:lnTo>
                    <a:pt x="12954" y="756920"/>
                  </a:lnTo>
                  <a:lnTo>
                    <a:pt x="12954" y="807720"/>
                  </a:lnTo>
                  <a:lnTo>
                    <a:pt x="0" y="807720"/>
                  </a:lnTo>
                  <a:lnTo>
                    <a:pt x="0" y="833120"/>
                  </a:lnTo>
                  <a:lnTo>
                    <a:pt x="7080504" y="833120"/>
                  </a:lnTo>
                  <a:lnTo>
                    <a:pt x="7080504" y="807720"/>
                  </a:lnTo>
                  <a:lnTo>
                    <a:pt x="7080504" y="25400"/>
                  </a:lnTo>
                  <a:lnTo>
                    <a:pt x="7080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6970" y="2123693"/>
              <a:ext cx="7054850" cy="807720"/>
            </a:xfrm>
            <a:custGeom>
              <a:avLst/>
              <a:gdLst/>
              <a:ahLst/>
              <a:cxnLst/>
              <a:rect l="l" t="t" r="r" b="b"/>
              <a:pathLst>
                <a:path w="7054850" h="807719">
                  <a:moveTo>
                    <a:pt x="7054596" y="0"/>
                  </a:moveTo>
                  <a:lnTo>
                    <a:pt x="0" y="0"/>
                  </a:lnTo>
                  <a:lnTo>
                    <a:pt x="0" y="807720"/>
                  </a:lnTo>
                  <a:lnTo>
                    <a:pt x="7054596" y="807720"/>
                  </a:lnTo>
                  <a:lnTo>
                    <a:pt x="705459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26970" y="2123693"/>
              <a:ext cx="7054850" cy="807720"/>
            </a:xfrm>
            <a:custGeom>
              <a:avLst/>
              <a:gdLst/>
              <a:ahLst/>
              <a:cxnLst/>
              <a:rect l="l" t="t" r="r" b="b"/>
              <a:pathLst>
                <a:path w="7054850" h="807719">
                  <a:moveTo>
                    <a:pt x="0" y="807720"/>
                  </a:moveTo>
                  <a:lnTo>
                    <a:pt x="7054596" y="807720"/>
                  </a:lnTo>
                  <a:lnTo>
                    <a:pt x="7054596" y="0"/>
                  </a:lnTo>
                  <a:lnTo>
                    <a:pt x="0" y="0"/>
                  </a:lnTo>
                  <a:lnTo>
                    <a:pt x="0" y="80772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77516" y="293116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92755" y="2130679"/>
            <a:ext cx="756285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Courier New"/>
                <a:cs typeface="Courier New"/>
              </a:rPr>
              <a:t>SELECT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0535" y="2130679"/>
            <a:ext cx="52736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last_name,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job_id,</a:t>
            </a:r>
            <a:r>
              <a:rPr dirty="0" sz="1600" spc="-1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department_id,</a:t>
            </a:r>
            <a:r>
              <a:rPr dirty="0" sz="160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hire_date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2755" y="2374518"/>
            <a:ext cx="2220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9980" algn="l"/>
              </a:tabLst>
            </a:pPr>
            <a:r>
              <a:rPr dirty="0" sz="1600" spc="-5" b="1">
                <a:latin typeface="Courier New"/>
                <a:cs typeface="Courier New"/>
              </a:rPr>
              <a:t>FROM	employees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92755" y="2618358"/>
            <a:ext cx="22205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ORDER</a:t>
            </a:r>
            <a:r>
              <a:rPr dirty="0" sz="1600" spc="-40" b="1">
                <a:latin typeface="Courier New"/>
                <a:cs typeface="Courier New"/>
              </a:rPr>
              <a:t> </a:t>
            </a:r>
            <a:r>
              <a:rPr dirty="0" sz="1600" b="1">
                <a:latin typeface="Courier New"/>
                <a:cs typeface="Courier New"/>
              </a:rPr>
              <a:t>BY</a:t>
            </a:r>
            <a:r>
              <a:rPr dirty="0" sz="1600" spc="-40" b="1">
                <a:latin typeface="Courier New"/>
                <a:cs typeface="Courier New"/>
              </a:rPr>
              <a:t> </a:t>
            </a:r>
            <a:r>
              <a:rPr dirty="0" sz="1600" spc="-5" b="1">
                <a:latin typeface="Courier New"/>
                <a:cs typeface="Courier New"/>
              </a:rPr>
              <a:t>hire_date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4597" y="2596133"/>
            <a:ext cx="603885" cy="29908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3429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270"/>
              </a:spcBef>
            </a:pPr>
            <a:r>
              <a:rPr dirty="0" sz="1600" spc="-10" b="1">
                <a:latin typeface="Courier New"/>
                <a:cs typeface="Courier New"/>
              </a:rPr>
              <a:t>DESC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22021" y="2618358"/>
            <a:ext cx="1473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1194" y="514667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6207" y="3128772"/>
            <a:ext cx="7019544" cy="218236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3827" y="5633846"/>
            <a:ext cx="952396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SO</a:t>
                      </a:r>
                      <a:r>
                        <a:rPr dirty="0" sz="2800" spc="-25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R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TING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BY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COLUMN</a:t>
                      </a:r>
                      <a:r>
                        <a:rPr dirty="0" sz="2800" spc="-27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L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I</a:t>
                      </a:r>
                      <a:r>
                        <a:rPr dirty="0" sz="2800" spc="-1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A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21572" y="2101532"/>
            <a:ext cx="7060565" cy="1005205"/>
            <a:chOff x="2421572" y="2101532"/>
            <a:chExt cx="7060565" cy="1005205"/>
          </a:xfrm>
        </p:grpSpPr>
        <p:sp>
          <p:nvSpPr>
            <p:cNvPr id="4" name="object 4"/>
            <p:cNvSpPr/>
            <p:nvPr/>
          </p:nvSpPr>
          <p:spPr>
            <a:xfrm>
              <a:off x="2485136" y="2165349"/>
              <a:ext cx="6997065" cy="941069"/>
            </a:xfrm>
            <a:custGeom>
              <a:avLst/>
              <a:gdLst/>
              <a:ahLst/>
              <a:cxnLst/>
              <a:rect l="l" t="t" r="r" b="b"/>
              <a:pathLst>
                <a:path w="6997065" h="941069">
                  <a:moveTo>
                    <a:pt x="6996684" y="0"/>
                  </a:moveTo>
                  <a:lnTo>
                    <a:pt x="6920230" y="0"/>
                  </a:lnTo>
                  <a:lnTo>
                    <a:pt x="6920230" y="12700"/>
                  </a:lnTo>
                  <a:lnTo>
                    <a:pt x="6920230" y="25400"/>
                  </a:lnTo>
                  <a:lnTo>
                    <a:pt x="6920230" y="864870"/>
                  </a:lnTo>
                  <a:lnTo>
                    <a:pt x="12954" y="86487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1070"/>
                  </a:lnTo>
                  <a:lnTo>
                    <a:pt x="6996684" y="941070"/>
                  </a:lnTo>
                  <a:lnTo>
                    <a:pt x="6996684" y="915670"/>
                  </a:lnTo>
                  <a:lnTo>
                    <a:pt x="6996684" y="25400"/>
                  </a:lnTo>
                  <a:lnTo>
                    <a:pt x="69966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34590" y="2114550"/>
              <a:ext cx="6971030" cy="916305"/>
            </a:xfrm>
            <a:custGeom>
              <a:avLst/>
              <a:gdLst/>
              <a:ahLst/>
              <a:cxnLst/>
              <a:rect l="l" t="t" r="r" b="b"/>
              <a:pathLst>
                <a:path w="6971030" h="916305">
                  <a:moveTo>
                    <a:pt x="6970775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6970775" y="915924"/>
                  </a:lnTo>
                  <a:lnTo>
                    <a:pt x="6970775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34590" y="2114550"/>
              <a:ext cx="6971030" cy="916305"/>
            </a:xfrm>
            <a:custGeom>
              <a:avLst/>
              <a:gdLst/>
              <a:ahLst/>
              <a:cxnLst/>
              <a:rect l="l" t="t" r="r" b="b"/>
              <a:pathLst>
                <a:path w="6971030" h="916305">
                  <a:moveTo>
                    <a:pt x="0" y="915924"/>
                  </a:moveTo>
                  <a:lnTo>
                    <a:pt x="6970775" y="915924"/>
                  </a:lnTo>
                  <a:lnTo>
                    <a:pt x="6970775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485135" y="303022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7" y="50800"/>
                </a:lnTo>
                <a:lnTo>
                  <a:pt x="25907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47481" y="2172461"/>
            <a:ext cx="894715" cy="299085"/>
          </a:xfrm>
          <a:prstGeom prst="rect">
            <a:avLst/>
          </a:prstGeom>
          <a:solidFill>
            <a:srgbClr val="FFFFCC"/>
          </a:solidFill>
          <a:ln w="25907">
            <a:solidFill>
              <a:srgbClr val="828282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65405">
              <a:lnSpc>
                <a:spcPts val="1855"/>
              </a:lnSpc>
            </a:pPr>
            <a:r>
              <a:rPr dirty="0" sz="1800" spc="-5" b="1">
                <a:latin typeface="Courier New"/>
                <a:cs typeface="Courier New"/>
              </a:rPr>
              <a:t>a</a:t>
            </a:r>
            <a:r>
              <a:rPr dirty="0" sz="1800" spc="-15" b="1">
                <a:latin typeface="Courier New"/>
                <a:cs typeface="Courier New"/>
              </a:rPr>
              <a:t>nn</a:t>
            </a:r>
            <a:r>
              <a:rPr dirty="0" sz="1800" spc="-5" b="1">
                <a:latin typeface="Courier New"/>
                <a:cs typeface="Courier New"/>
              </a:rPr>
              <a:t>sal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05582" y="2121153"/>
            <a:ext cx="5485130" cy="84899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9010" algn="l"/>
              </a:tabLst>
            </a:pPr>
            <a:r>
              <a:rPr dirty="0" sz="1800" spc="-10">
                <a:latin typeface="Courier New"/>
                <a:cs typeface="Courier New"/>
              </a:rPr>
              <a:t>SELECT employee_id, last_name, salary*12 </a:t>
            </a:r>
            <a:r>
              <a:rPr dirty="0" sz="1800" spc="-1070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Courier New"/>
                <a:cs typeface="Courier New"/>
              </a:rPr>
              <a:t>ORDER</a:t>
            </a:r>
            <a:r>
              <a:rPr dirty="0" sz="1800" spc="-50">
                <a:latin typeface="Courier New"/>
                <a:cs typeface="Courier New"/>
              </a:rPr>
              <a:t> </a:t>
            </a:r>
            <a:r>
              <a:rPr dirty="0" sz="1800" spc="-5">
                <a:latin typeface="Courier New"/>
                <a:cs typeface="Courier New"/>
              </a:rPr>
              <a:t>BY</a:t>
            </a:r>
            <a:r>
              <a:rPr dirty="0" sz="1800" spc="-50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annsal;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9509" y="2670810"/>
            <a:ext cx="894715" cy="299085"/>
          </a:xfrm>
          <a:custGeom>
            <a:avLst/>
            <a:gdLst/>
            <a:ahLst/>
            <a:cxnLst/>
            <a:rect l="l" t="t" r="r" b="b"/>
            <a:pathLst>
              <a:path w="894714" h="299085">
                <a:moveTo>
                  <a:pt x="0" y="298703"/>
                </a:moveTo>
                <a:lnTo>
                  <a:pt x="894588" y="298703"/>
                </a:lnTo>
                <a:lnTo>
                  <a:pt x="894588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16555" y="558769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3827" y="3386328"/>
            <a:ext cx="6990588" cy="2362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1447" y="6036183"/>
            <a:ext cx="952396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SORTING</a:t>
                      </a:r>
                      <a:r>
                        <a:rPr dirty="0" sz="2800" spc="-2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BY</a:t>
                      </a:r>
                      <a:r>
                        <a:rPr dirty="0" sz="280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4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MULTIPLE</a:t>
                      </a:r>
                      <a:r>
                        <a:rPr dirty="0" sz="2800" spc="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2800" spc="-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COLUMNS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28801" y="5267959"/>
            <a:ext cx="5541010" cy="1139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45614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00">
              <a:latin typeface="Arial"/>
              <a:cs typeface="Arial"/>
            </a:endParaRPr>
          </a:p>
          <a:p>
            <a:pPr marL="317500" indent="-305435">
              <a:lnSpc>
                <a:spcPct val="100000"/>
              </a:lnSpc>
              <a:spcBef>
                <a:spcPts val="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dirty="0" sz="1800" spc="-25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ou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dirty="0" sz="1800" spc="-2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</a:t>
            </a:r>
            <a:r>
              <a:rPr dirty="0" sz="1800" spc="2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y a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co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lu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mn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n the</a:t>
            </a:r>
            <a:r>
              <a:rPr dirty="0" sz="1800" spc="2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SELEC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T</a:t>
            </a:r>
            <a:r>
              <a:rPr dirty="0" sz="1800" spc="-61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t.</a:t>
            </a:r>
            <a:endParaRPr sz="18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1264" y="2340800"/>
            <a:ext cx="8502015" cy="1005840"/>
            <a:chOff x="1481264" y="2340800"/>
            <a:chExt cx="8502015" cy="1005840"/>
          </a:xfrm>
        </p:grpSpPr>
        <p:sp>
          <p:nvSpPr>
            <p:cNvPr id="5" name="object 5"/>
            <p:cNvSpPr/>
            <p:nvPr/>
          </p:nvSpPr>
          <p:spPr>
            <a:xfrm>
              <a:off x="1544828" y="2404109"/>
              <a:ext cx="8438515" cy="942340"/>
            </a:xfrm>
            <a:custGeom>
              <a:avLst/>
              <a:gdLst/>
              <a:ahLst/>
              <a:cxnLst/>
              <a:rect l="l" t="t" r="r" b="b"/>
              <a:pathLst>
                <a:path w="8438515" h="942339">
                  <a:moveTo>
                    <a:pt x="8438388" y="0"/>
                  </a:moveTo>
                  <a:lnTo>
                    <a:pt x="8361934" y="0"/>
                  </a:lnTo>
                  <a:lnTo>
                    <a:pt x="8361934" y="12700"/>
                  </a:lnTo>
                  <a:lnTo>
                    <a:pt x="8361934" y="26670"/>
                  </a:lnTo>
                  <a:lnTo>
                    <a:pt x="8361934" y="866140"/>
                  </a:lnTo>
                  <a:lnTo>
                    <a:pt x="12954" y="866140"/>
                  </a:lnTo>
                  <a:lnTo>
                    <a:pt x="12954" y="915670"/>
                  </a:lnTo>
                  <a:lnTo>
                    <a:pt x="0" y="915670"/>
                  </a:lnTo>
                  <a:lnTo>
                    <a:pt x="0" y="942340"/>
                  </a:lnTo>
                  <a:lnTo>
                    <a:pt x="8438388" y="942340"/>
                  </a:lnTo>
                  <a:lnTo>
                    <a:pt x="8438388" y="915670"/>
                  </a:lnTo>
                  <a:lnTo>
                    <a:pt x="8438388" y="26670"/>
                  </a:lnTo>
                  <a:lnTo>
                    <a:pt x="8438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94282" y="2353818"/>
              <a:ext cx="8412480" cy="916305"/>
            </a:xfrm>
            <a:custGeom>
              <a:avLst/>
              <a:gdLst/>
              <a:ahLst/>
              <a:cxnLst/>
              <a:rect l="l" t="t" r="r" b="b"/>
              <a:pathLst>
                <a:path w="8412480" h="916304">
                  <a:moveTo>
                    <a:pt x="8412480" y="0"/>
                  </a:moveTo>
                  <a:lnTo>
                    <a:pt x="0" y="0"/>
                  </a:lnTo>
                  <a:lnTo>
                    <a:pt x="0" y="915924"/>
                  </a:lnTo>
                  <a:lnTo>
                    <a:pt x="8412480" y="915924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94282" y="2353818"/>
              <a:ext cx="8412480" cy="916305"/>
            </a:xfrm>
            <a:custGeom>
              <a:avLst/>
              <a:gdLst/>
              <a:ahLst/>
              <a:cxnLst/>
              <a:rect l="l" t="t" r="r" b="b"/>
              <a:pathLst>
                <a:path w="8412480" h="916304">
                  <a:moveTo>
                    <a:pt x="0" y="915924"/>
                  </a:moveTo>
                  <a:lnTo>
                    <a:pt x="8412480" y="915924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91592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544827" y="3270250"/>
            <a:ext cx="26034" cy="49530"/>
          </a:xfrm>
          <a:custGeom>
            <a:avLst/>
            <a:gdLst/>
            <a:ahLst/>
            <a:cxnLst/>
            <a:rect l="l" t="t" r="r" b="b"/>
            <a:pathLst>
              <a:path w="26034" h="49529">
                <a:moveTo>
                  <a:pt x="0" y="49529"/>
                </a:moveTo>
                <a:lnTo>
                  <a:pt x="25908" y="49529"/>
                </a:lnTo>
                <a:lnTo>
                  <a:pt x="25908" y="0"/>
                </a:lnTo>
                <a:lnTo>
                  <a:pt x="0" y="0"/>
                </a:lnTo>
                <a:lnTo>
                  <a:pt x="0" y="49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28801" y="2019046"/>
            <a:ext cx="5954395" cy="118999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17500" indent="-305435">
              <a:lnSpc>
                <a:spcPct val="100000"/>
              </a:lnSpc>
              <a:spcBef>
                <a:spcPts val="36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8135" algn="l"/>
              </a:tabLst>
            </a:pP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er of</a:t>
            </a:r>
            <a:r>
              <a:rPr dirty="0" sz="1800" spc="-1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ORDE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R</a:t>
            </a:r>
            <a:r>
              <a:rPr dirty="0" sz="1800" spc="-2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Courier New"/>
                <a:cs typeface="Courier New"/>
              </a:rPr>
              <a:t>B</a:t>
            </a:r>
            <a:r>
              <a:rPr dirty="0" sz="1800">
                <a:solidFill>
                  <a:srgbClr val="3C3C3C"/>
                </a:solidFill>
                <a:latin typeface="Courier New"/>
                <a:cs typeface="Courier New"/>
              </a:rPr>
              <a:t>Y</a:t>
            </a:r>
            <a:r>
              <a:rPr dirty="0" sz="1800" spc="-605">
                <a:solidFill>
                  <a:srgbClr val="3C3C3C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li</a:t>
            </a:r>
            <a:r>
              <a:rPr dirty="0" sz="1800" spc="5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 is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the o</a:t>
            </a:r>
            <a:r>
              <a:rPr dirty="0" sz="1800" spc="-3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er</a:t>
            </a:r>
            <a:r>
              <a:rPr dirty="0" sz="1800" spc="-1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dirty="0" sz="1800" spc="-5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so</a:t>
            </a:r>
            <a:r>
              <a:rPr dirty="0" sz="1800" spc="25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dirty="0" sz="1800">
                <a:solidFill>
                  <a:srgbClr val="3C3C3C"/>
                </a:solidFill>
                <a:latin typeface="Gill Sans MT"/>
                <a:cs typeface="Gill Sans MT"/>
              </a:rPr>
              <a:t>t.</a:t>
            </a:r>
            <a:endParaRPr sz="1800">
              <a:latin typeface="Gill Sans MT"/>
              <a:cs typeface="Gill Sans MT"/>
            </a:endParaRPr>
          </a:p>
          <a:p>
            <a:pPr marL="619125" marR="5080">
              <a:lnSpc>
                <a:spcPct val="100000"/>
              </a:lnSpc>
              <a:spcBef>
                <a:spcPts val="265"/>
              </a:spcBef>
              <a:tabLst>
                <a:tab pos="1576070" algn="l"/>
              </a:tabLst>
            </a:pPr>
            <a:r>
              <a:rPr dirty="0" sz="1800" spc="-10" b="1">
                <a:latin typeface="Courier New"/>
                <a:cs typeface="Courier New"/>
              </a:rPr>
              <a:t>SELECT last_name, department_id, salary </a:t>
            </a:r>
            <a:r>
              <a:rPr dirty="0" sz="1800" spc="-10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FROM	employees</a:t>
            </a:r>
            <a:endParaRPr sz="1800">
              <a:latin typeface="Courier New"/>
              <a:cs typeface="Courier New"/>
            </a:endParaRPr>
          </a:p>
          <a:p>
            <a:pPr marL="619125">
              <a:lnSpc>
                <a:spcPct val="100000"/>
              </a:lnSpc>
            </a:pPr>
            <a:r>
              <a:rPr dirty="0" sz="1800" spc="-10" b="1">
                <a:latin typeface="Courier New"/>
                <a:cs typeface="Courier New"/>
              </a:rPr>
              <a:t>ORDER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5" b="1">
                <a:latin typeface="Courier New"/>
                <a:cs typeface="Courier New"/>
              </a:rPr>
              <a:t>BY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department_id,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salary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DESC;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8538" y="2928366"/>
            <a:ext cx="5675630" cy="299085"/>
          </a:xfrm>
          <a:custGeom>
            <a:avLst/>
            <a:gdLst/>
            <a:ahLst/>
            <a:cxnLst/>
            <a:rect l="l" t="t" r="r" b="b"/>
            <a:pathLst>
              <a:path w="5675630" h="299085">
                <a:moveTo>
                  <a:pt x="0" y="298703"/>
                </a:moveTo>
                <a:lnTo>
                  <a:pt x="5675375" y="298703"/>
                </a:lnTo>
                <a:lnTo>
                  <a:pt x="5675375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855" y="3427476"/>
            <a:ext cx="8276844" cy="19812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5073" y="5726810"/>
            <a:ext cx="1126273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/>
                <a:gridCol w="3678554"/>
                <a:gridCol w="3646804"/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</a:tr>
              <a:tr h="128460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800" spc="-45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SUMMARY</a:t>
                      </a:r>
                      <a:endParaRPr sz="28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71864" y="4835588"/>
            <a:ext cx="7749540" cy="1279525"/>
            <a:chOff x="2471864" y="4835588"/>
            <a:chExt cx="7749540" cy="1279525"/>
          </a:xfrm>
        </p:grpSpPr>
        <p:sp>
          <p:nvSpPr>
            <p:cNvPr id="4" name="object 4"/>
            <p:cNvSpPr/>
            <p:nvPr/>
          </p:nvSpPr>
          <p:spPr>
            <a:xfrm>
              <a:off x="2535428" y="4899659"/>
              <a:ext cx="7686040" cy="1215390"/>
            </a:xfrm>
            <a:custGeom>
              <a:avLst/>
              <a:gdLst/>
              <a:ahLst/>
              <a:cxnLst/>
              <a:rect l="l" t="t" r="r" b="b"/>
              <a:pathLst>
                <a:path w="7686040" h="1215389">
                  <a:moveTo>
                    <a:pt x="7685532" y="0"/>
                  </a:moveTo>
                  <a:lnTo>
                    <a:pt x="7609078" y="0"/>
                  </a:lnTo>
                  <a:lnTo>
                    <a:pt x="7609078" y="12700"/>
                  </a:lnTo>
                  <a:lnTo>
                    <a:pt x="7609078" y="25400"/>
                  </a:lnTo>
                  <a:lnTo>
                    <a:pt x="7609078" y="1139190"/>
                  </a:lnTo>
                  <a:lnTo>
                    <a:pt x="12954" y="1139190"/>
                  </a:lnTo>
                  <a:lnTo>
                    <a:pt x="12954" y="1189990"/>
                  </a:lnTo>
                  <a:lnTo>
                    <a:pt x="0" y="1189990"/>
                  </a:lnTo>
                  <a:lnTo>
                    <a:pt x="0" y="1215390"/>
                  </a:lnTo>
                  <a:lnTo>
                    <a:pt x="7685532" y="1215390"/>
                  </a:lnTo>
                  <a:lnTo>
                    <a:pt x="7685532" y="1189990"/>
                  </a:lnTo>
                  <a:lnTo>
                    <a:pt x="7685532" y="25400"/>
                  </a:lnTo>
                  <a:lnTo>
                    <a:pt x="76855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84881" y="4848606"/>
              <a:ext cx="7660005" cy="1190625"/>
            </a:xfrm>
            <a:custGeom>
              <a:avLst/>
              <a:gdLst/>
              <a:ahLst/>
              <a:cxnLst/>
              <a:rect l="l" t="t" r="r" b="b"/>
              <a:pathLst>
                <a:path w="7660005" h="1190625">
                  <a:moveTo>
                    <a:pt x="7659624" y="0"/>
                  </a:moveTo>
                  <a:lnTo>
                    <a:pt x="0" y="0"/>
                  </a:lnTo>
                  <a:lnTo>
                    <a:pt x="0" y="1190244"/>
                  </a:lnTo>
                  <a:lnTo>
                    <a:pt x="7659624" y="1190244"/>
                  </a:lnTo>
                  <a:lnTo>
                    <a:pt x="7659624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4881" y="4848606"/>
              <a:ext cx="7660005" cy="1190625"/>
            </a:xfrm>
            <a:custGeom>
              <a:avLst/>
              <a:gdLst/>
              <a:ahLst/>
              <a:cxnLst/>
              <a:rect l="l" t="t" r="r" b="b"/>
              <a:pathLst>
                <a:path w="7660005" h="1190625">
                  <a:moveTo>
                    <a:pt x="0" y="1190244"/>
                  </a:moveTo>
                  <a:lnTo>
                    <a:pt x="7659624" y="1190244"/>
                  </a:lnTo>
                  <a:lnTo>
                    <a:pt x="7659624" y="0"/>
                  </a:lnTo>
                  <a:lnTo>
                    <a:pt x="0" y="0"/>
                  </a:lnTo>
                  <a:lnTo>
                    <a:pt x="0" y="119024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2535427" y="6038850"/>
            <a:ext cx="26034" cy="50800"/>
          </a:xfrm>
          <a:custGeom>
            <a:avLst/>
            <a:gdLst/>
            <a:ahLst/>
            <a:cxnLst/>
            <a:rect l="l" t="t" r="r" b="b"/>
            <a:pathLst>
              <a:path w="26035" h="50800">
                <a:moveTo>
                  <a:pt x="0" y="50800"/>
                </a:moveTo>
                <a:lnTo>
                  <a:pt x="25908" y="50800"/>
                </a:lnTo>
                <a:lnTo>
                  <a:pt x="25908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51557" y="4855591"/>
            <a:ext cx="8451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urier New"/>
                <a:cs typeface="Courier New"/>
              </a:rPr>
              <a:t>SE</a:t>
            </a:r>
            <a:r>
              <a:rPr dirty="0" sz="1800" spc="-15" b="1">
                <a:latin typeface="Courier New"/>
                <a:cs typeface="Courier New"/>
              </a:rPr>
              <a:t>L</a:t>
            </a:r>
            <a:r>
              <a:rPr dirty="0" sz="1800" spc="-5" b="1">
                <a:latin typeface="Courier New"/>
                <a:cs typeface="Courier New"/>
              </a:rPr>
              <a:t>E</a:t>
            </a:r>
            <a:r>
              <a:rPr dirty="0" sz="1800" spc="-15" b="1">
                <a:latin typeface="Courier New"/>
                <a:cs typeface="Courier New"/>
              </a:rPr>
              <a:t>C</a:t>
            </a:r>
            <a:r>
              <a:rPr dirty="0" sz="1800" b="1">
                <a:latin typeface="Courier New"/>
                <a:cs typeface="Courier New"/>
              </a:rPr>
              <a:t>T  </a:t>
            </a:r>
            <a:r>
              <a:rPr dirty="0" sz="1800" spc="-10" b="1">
                <a:latin typeface="Courier New"/>
                <a:cs typeface="Courier New"/>
              </a:rPr>
              <a:t>FROM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2293" y="4855591"/>
            <a:ext cx="60325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*|{[DISTINCT]</a:t>
            </a:r>
            <a:r>
              <a:rPr dirty="0" sz="1800" spc="-30" b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column|expression</a:t>
            </a:r>
            <a:r>
              <a:rPr dirty="0" sz="1800" spc="-30" b="1" i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</a:t>
            </a:r>
            <a:r>
              <a:rPr dirty="0" sz="1800" spc="-10" b="1" i="1">
                <a:latin typeface="Courier New"/>
                <a:cs typeface="Courier New"/>
              </a:rPr>
              <a:t>alias</a:t>
            </a:r>
            <a:r>
              <a:rPr dirty="0" sz="1800" spc="-10" b="1">
                <a:latin typeface="Courier New"/>
                <a:cs typeface="Courier New"/>
              </a:rPr>
              <a:t>],...}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 i="1">
                <a:latin typeface="Courier New"/>
                <a:cs typeface="Courier New"/>
              </a:rPr>
              <a:t>table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52696" y="5404510"/>
            <a:ext cx="1801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 i="1">
                <a:latin typeface="Courier New"/>
                <a:cs typeface="Courier New"/>
              </a:rPr>
              <a:t>condition(s)</a:t>
            </a:r>
            <a:r>
              <a:rPr dirty="0" sz="1800" spc="-10" b="1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1557" y="5404510"/>
            <a:ext cx="12553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[WHERE 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[ORDER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BY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2271" y="5678830"/>
            <a:ext cx="46666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urier New"/>
                <a:cs typeface="Courier New"/>
              </a:rPr>
              <a:t>{</a:t>
            </a:r>
            <a:r>
              <a:rPr dirty="0" sz="1800" spc="-10" b="1" i="1">
                <a:latin typeface="Courier New"/>
                <a:cs typeface="Courier New"/>
              </a:rPr>
              <a:t>column,</a:t>
            </a:r>
            <a:r>
              <a:rPr dirty="0" sz="1800" spc="-25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expr,</a:t>
            </a:r>
            <a:r>
              <a:rPr dirty="0" sz="1800" spc="-20" b="1" i="1">
                <a:latin typeface="Courier New"/>
                <a:cs typeface="Courier New"/>
              </a:rPr>
              <a:t> </a:t>
            </a:r>
            <a:r>
              <a:rPr dirty="0" sz="1800" spc="-10" b="1" i="1">
                <a:latin typeface="Courier New"/>
                <a:cs typeface="Courier New"/>
              </a:rPr>
              <a:t>alias</a:t>
            </a:r>
            <a:r>
              <a:rPr dirty="0" sz="1800" spc="-10" b="1">
                <a:latin typeface="Courier New"/>
                <a:cs typeface="Courier New"/>
              </a:rPr>
              <a:t>}</a:t>
            </a:r>
            <a:r>
              <a:rPr dirty="0" sz="1800" spc="-3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[ASC|DESC]];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In</a:t>
            </a:r>
            <a:r>
              <a:rPr dirty="0" spc="10"/>
              <a:t> </a:t>
            </a:r>
            <a:r>
              <a:rPr dirty="0" spc="-5"/>
              <a:t>this</a:t>
            </a:r>
            <a:r>
              <a:rPr dirty="0" spc="15"/>
              <a:t> </a:t>
            </a:r>
            <a:r>
              <a:rPr dirty="0" spc="-5"/>
              <a:t>lesson,</a:t>
            </a:r>
            <a:r>
              <a:rPr dirty="0" spc="15"/>
              <a:t> </a:t>
            </a:r>
            <a:r>
              <a:rPr dirty="0" spc="-15"/>
              <a:t>you</a:t>
            </a:r>
            <a:r>
              <a:rPr dirty="0" spc="35"/>
              <a:t> </a:t>
            </a:r>
            <a:r>
              <a:rPr dirty="0" spc="-5"/>
              <a:t>should</a:t>
            </a:r>
            <a:r>
              <a:rPr dirty="0" spc="30"/>
              <a:t> </a:t>
            </a:r>
            <a:r>
              <a:rPr dirty="0" spc="-5"/>
              <a:t>have</a:t>
            </a:r>
            <a:r>
              <a:rPr dirty="0" spc="15"/>
              <a:t> </a:t>
            </a:r>
            <a:r>
              <a:rPr dirty="0" spc="-5"/>
              <a:t>learned</a:t>
            </a:r>
            <a:r>
              <a:rPr dirty="0" spc="15"/>
              <a:t> </a:t>
            </a:r>
            <a:r>
              <a:rPr dirty="0" spc="-5"/>
              <a:t>how</a:t>
            </a:r>
            <a:r>
              <a:rPr dirty="0" spc="25"/>
              <a:t> </a:t>
            </a:r>
            <a:r>
              <a:rPr dirty="0" spc="-5"/>
              <a:t>to: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0175" rIns="0" bIns="0" rtlCol="0" vert="horz">
            <a:spAutoFit/>
          </a:bodyPr>
          <a:lstStyle/>
          <a:p>
            <a:pPr marL="417830" indent="-405765">
              <a:lnSpc>
                <a:spcPct val="100000"/>
              </a:lnSpc>
              <a:spcBef>
                <a:spcPts val="1025"/>
              </a:spcBef>
              <a:buClr>
                <a:srgbClr val="828282"/>
              </a:buClr>
              <a:buSzPct val="125000"/>
              <a:buFont typeface="Arial"/>
              <a:buChar char="•"/>
              <a:tabLst>
                <a:tab pos="417830" algn="l"/>
                <a:tab pos="418465" algn="l"/>
              </a:tabLst>
            </a:pPr>
            <a:r>
              <a:rPr dirty="0" spc="-5"/>
              <a:t>Use</a:t>
            </a:r>
            <a:r>
              <a:rPr dirty="0"/>
              <a:t> </a:t>
            </a:r>
            <a:r>
              <a:rPr dirty="0" spc="-5"/>
              <a:t>the</a:t>
            </a:r>
            <a:r>
              <a:rPr dirty="0" spc="35"/>
              <a:t> </a:t>
            </a:r>
            <a:r>
              <a:rPr dirty="0" spc="-5">
                <a:latin typeface="Courier New"/>
                <a:cs typeface="Courier New"/>
              </a:rPr>
              <a:t>WHERE</a:t>
            </a:r>
            <a:r>
              <a:rPr dirty="0" spc="-680">
                <a:latin typeface="Courier New"/>
                <a:cs typeface="Courier New"/>
              </a:rPr>
              <a:t> </a:t>
            </a:r>
            <a:r>
              <a:rPr dirty="0" spc="-5"/>
              <a:t>clause</a:t>
            </a:r>
            <a:r>
              <a:rPr dirty="0" spc="15"/>
              <a:t> </a:t>
            </a:r>
            <a:r>
              <a:rPr dirty="0" spc="-5"/>
              <a:t>to</a:t>
            </a:r>
            <a:r>
              <a:rPr dirty="0" spc="15"/>
              <a:t> </a:t>
            </a:r>
            <a:r>
              <a:rPr dirty="0" spc="-5"/>
              <a:t>restrict</a:t>
            </a:r>
            <a:r>
              <a:rPr dirty="0" spc="15"/>
              <a:t> </a:t>
            </a:r>
            <a:r>
              <a:rPr dirty="0"/>
              <a:t>rows</a:t>
            </a:r>
            <a:r>
              <a:rPr dirty="0" spc="-5"/>
              <a:t> of</a:t>
            </a:r>
            <a:r>
              <a:rPr dirty="0" spc="20"/>
              <a:t> </a:t>
            </a:r>
            <a:r>
              <a:rPr dirty="0" spc="-5"/>
              <a:t>output</a:t>
            </a:r>
          </a:p>
          <a:p>
            <a:pPr lvl="1" marL="931544" indent="-400050">
              <a:lnSpc>
                <a:spcPct val="100000"/>
              </a:lnSpc>
              <a:spcBef>
                <a:spcPts val="850"/>
              </a:spcBef>
              <a:buClr>
                <a:srgbClr val="828282"/>
              </a:buClr>
              <a:buFont typeface="Arial"/>
              <a:buChar char="–"/>
              <a:tabLst>
                <a:tab pos="931544" algn="l"/>
                <a:tab pos="932180" algn="l"/>
              </a:tabLst>
            </a:pPr>
            <a:r>
              <a:rPr dirty="0" sz="2000" b="1">
                <a:latin typeface="Arial"/>
                <a:cs typeface="Arial"/>
              </a:rPr>
              <a:t>Use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3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comparison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conditions</a:t>
            </a:r>
            <a:endParaRPr sz="2000">
              <a:latin typeface="Arial"/>
              <a:cs typeface="Arial"/>
            </a:endParaRPr>
          </a:p>
          <a:p>
            <a:pPr lvl="1" marL="931544" indent="-400050">
              <a:lnSpc>
                <a:spcPct val="100000"/>
              </a:lnSpc>
              <a:spcBef>
                <a:spcPts val="615"/>
              </a:spcBef>
              <a:buClr>
                <a:srgbClr val="828282"/>
              </a:buClr>
              <a:buFont typeface="Arial"/>
              <a:buChar char="–"/>
              <a:tabLst>
                <a:tab pos="931544" algn="l"/>
                <a:tab pos="932180" algn="l"/>
              </a:tabLst>
            </a:pPr>
            <a:r>
              <a:rPr dirty="0" sz="2000" b="1">
                <a:latin typeface="Arial"/>
                <a:cs typeface="Arial"/>
              </a:rPr>
              <a:t>Use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Courier New"/>
                <a:cs typeface="Courier New"/>
              </a:rPr>
              <a:t>BETWEEN</a:t>
            </a:r>
            <a:r>
              <a:rPr dirty="0" sz="2000" spc="-5" b="1">
                <a:latin typeface="Arial"/>
                <a:cs typeface="Arial"/>
              </a:rPr>
              <a:t>,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Courier New"/>
                <a:cs typeface="Courier New"/>
              </a:rPr>
              <a:t>IN</a:t>
            </a:r>
            <a:r>
              <a:rPr dirty="0" sz="2000" spc="-5" b="1">
                <a:latin typeface="Arial"/>
                <a:cs typeface="Arial"/>
              </a:rPr>
              <a:t>,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spc="-5" b="1">
                <a:latin typeface="Courier New"/>
                <a:cs typeface="Courier New"/>
              </a:rPr>
              <a:t>LIKE</a:t>
            </a:r>
            <a:r>
              <a:rPr dirty="0" sz="2000" spc="-5" b="1">
                <a:latin typeface="Arial"/>
                <a:cs typeface="Arial"/>
              </a:rPr>
              <a:t>,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 </a:t>
            </a:r>
            <a:r>
              <a:rPr dirty="0" sz="2000" spc="-5" b="1">
                <a:latin typeface="Courier New"/>
                <a:cs typeface="Courier New"/>
              </a:rPr>
              <a:t>NULL</a:t>
            </a:r>
            <a:r>
              <a:rPr dirty="0" sz="2000" spc="-665" b="1">
                <a:latin typeface="Courier New"/>
                <a:cs typeface="Courier New"/>
              </a:rPr>
              <a:t> </a:t>
            </a:r>
            <a:r>
              <a:rPr dirty="0" sz="2000" b="1">
                <a:latin typeface="Arial"/>
                <a:cs typeface="Arial"/>
              </a:rPr>
              <a:t>conditions</a:t>
            </a:r>
            <a:endParaRPr sz="2000">
              <a:latin typeface="Arial"/>
              <a:cs typeface="Arial"/>
            </a:endParaRPr>
          </a:p>
          <a:p>
            <a:pPr lvl="1" marL="931544" indent="-400050">
              <a:lnSpc>
                <a:spcPct val="100000"/>
              </a:lnSpc>
              <a:spcBef>
                <a:spcPts val="720"/>
              </a:spcBef>
              <a:buClr>
                <a:srgbClr val="828282"/>
              </a:buClr>
              <a:buFont typeface="Arial"/>
              <a:buChar char="–"/>
              <a:tabLst>
                <a:tab pos="931544" algn="l"/>
                <a:tab pos="932180" algn="l"/>
              </a:tabLst>
            </a:pPr>
            <a:r>
              <a:rPr dirty="0" sz="2000" b="1">
                <a:latin typeface="Arial"/>
                <a:cs typeface="Arial"/>
              </a:rPr>
              <a:t>Apply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logical </a:t>
            </a:r>
            <a:r>
              <a:rPr dirty="0" sz="2000" spc="-5" b="1">
                <a:latin typeface="Courier New"/>
                <a:cs typeface="Courier New"/>
              </a:rPr>
              <a:t>AND</a:t>
            </a:r>
            <a:r>
              <a:rPr dirty="0" sz="2000" spc="-5" b="1">
                <a:latin typeface="Arial"/>
                <a:cs typeface="Arial"/>
              </a:rPr>
              <a:t>,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-5" b="1">
                <a:latin typeface="Courier New"/>
                <a:cs typeface="Courier New"/>
              </a:rPr>
              <a:t>OR</a:t>
            </a:r>
            <a:r>
              <a:rPr dirty="0" sz="2000" spc="-5" b="1">
                <a:latin typeface="Arial"/>
                <a:cs typeface="Arial"/>
              </a:rPr>
              <a:t>,</a:t>
            </a:r>
            <a:r>
              <a:rPr dirty="0" sz="2000" spc="-2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5" b="1">
                <a:latin typeface="Arial"/>
                <a:cs typeface="Arial"/>
              </a:rPr>
              <a:t> </a:t>
            </a:r>
            <a:r>
              <a:rPr dirty="0" sz="2000" spc="-5" b="1">
                <a:latin typeface="Courier New"/>
                <a:cs typeface="Courier New"/>
              </a:rPr>
              <a:t>NOT</a:t>
            </a:r>
            <a:r>
              <a:rPr dirty="0" sz="2000" spc="-650" b="1">
                <a:latin typeface="Courier New"/>
                <a:cs typeface="Courier New"/>
              </a:rPr>
              <a:t> </a:t>
            </a:r>
            <a:r>
              <a:rPr dirty="0" sz="2000" b="1">
                <a:latin typeface="Arial"/>
                <a:cs typeface="Arial"/>
              </a:rPr>
              <a:t>operators</a:t>
            </a:r>
            <a:endParaRPr sz="2000">
              <a:latin typeface="Arial"/>
              <a:cs typeface="Arial"/>
            </a:endParaRPr>
          </a:p>
          <a:p>
            <a:pPr marL="417830" indent="-405765">
              <a:lnSpc>
                <a:spcPct val="100000"/>
              </a:lnSpc>
              <a:spcBef>
                <a:spcPts val="775"/>
              </a:spcBef>
              <a:buClr>
                <a:srgbClr val="828282"/>
              </a:buClr>
              <a:buSzPct val="125000"/>
              <a:buFont typeface="Arial"/>
              <a:buChar char="•"/>
              <a:tabLst>
                <a:tab pos="417830" algn="l"/>
                <a:tab pos="418465" algn="l"/>
              </a:tabLst>
            </a:pPr>
            <a:r>
              <a:rPr dirty="0" spc="-5"/>
              <a:t>Use the</a:t>
            </a:r>
            <a:r>
              <a:rPr dirty="0" spc="35"/>
              <a:t> </a:t>
            </a:r>
            <a:r>
              <a:rPr dirty="0" spc="-10">
                <a:latin typeface="Courier New"/>
                <a:cs typeface="Courier New"/>
              </a:rPr>
              <a:t>ORDER</a:t>
            </a:r>
            <a:r>
              <a:rPr dirty="0" spc="30">
                <a:latin typeface="Courier New"/>
                <a:cs typeface="Courier New"/>
              </a:rPr>
              <a:t> </a:t>
            </a:r>
            <a:r>
              <a:rPr dirty="0" spc="-5">
                <a:latin typeface="Courier New"/>
                <a:cs typeface="Courier New"/>
              </a:rPr>
              <a:t>BY</a:t>
            </a:r>
            <a:r>
              <a:rPr dirty="0" spc="-685">
                <a:latin typeface="Courier New"/>
                <a:cs typeface="Courier New"/>
              </a:rPr>
              <a:t> </a:t>
            </a:r>
            <a:r>
              <a:rPr dirty="0" spc="-5"/>
              <a:t>clause</a:t>
            </a:r>
            <a:r>
              <a:rPr dirty="0" spc="25"/>
              <a:t> </a:t>
            </a:r>
            <a:r>
              <a:rPr dirty="0" spc="-5"/>
              <a:t>to</a:t>
            </a:r>
            <a:r>
              <a:rPr dirty="0" spc="15"/>
              <a:t> </a:t>
            </a:r>
            <a:r>
              <a:rPr dirty="0" spc="-5"/>
              <a:t>sort</a:t>
            </a:r>
            <a:r>
              <a:rPr dirty="0" spc="20"/>
              <a:t> </a:t>
            </a:r>
            <a:r>
              <a:rPr dirty="0"/>
              <a:t>rows </a:t>
            </a:r>
            <a:r>
              <a:rPr dirty="0" spc="-5"/>
              <a:t>of</a:t>
            </a:r>
            <a:r>
              <a:rPr dirty="0" spc="15"/>
              <a:t> </a:t>
            </a:r>
            <a:r>
              <a:rPr dirty="0" spc="-5"/>
              <a:t>output</a:t>
            </a:r>
          </a:p>
        </p:txBody>
      </p:sp>
      <p:sp>
        <p:nvSpPr>
          <p:cNvPr id="15" name="object 15"/>
          <p:cNvSpPr/>
          <p:nvPr/>
        </p:nvSpPr>
        <p:spPr>
          <a:xfrm>
            <a:off x="2562605" y="5461253"/>
            <a:ext cx="6012180" cy="536575"/>
          </a:xfrm>
          <a:custGeom>
            <a:avLst/>
            <a:gdLst/>
            <a:ahLst/>
            <a:cxnLst/>
            <a:rect l="l" t="t" r="r" b="b"/>
            <a:pathLst>
              <a:path w="6012180" h="536575">
                <a:moveTo>
                  <a:pt x="0" y="536448"/>
                </a:moveTo>
                <a:lnTo>
                  <a:pt x="6012180" y="536448"/>
                </a:lnTo>
                <a:lnTo>
                  <a:pt x="6012180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25908">
            <a:solidFill>
              <a:srgbClr val="82828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Zartasha Baloch</dc:creator>
  <dc:title>Database Management Systems</dc:title>
  <dcterms:created xsi:type="dcterms:W3CDTF">2026-02-17T08:06:52Z</dcterms:created>
  <dcterms:modified xsi:type="dcterms:W3CDTF">2026-02-17T08:06:52Z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2020-06-14T00:00:00Z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