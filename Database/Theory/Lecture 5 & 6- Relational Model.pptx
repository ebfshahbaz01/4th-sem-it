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272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590B8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590B8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590B8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590B8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590B8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97408" y="441959"/>
            <a:ext cx="3627120" cy="106680"/>
          </a:xfrm>
          <a:custGeom>
            <a:avLst/>
            <a:gdLst/>
            <a:ahLst/>
            <a:cxnLst/>
            <a:rect l="l" t="t" r="r" b="b"/>
            <a:pathLst>
              <a:path w="3627120" h="106679">
                <a:moveTo>
                  <a:pt x="3627120" y="0"/>
                </a:moveTo>
                <a:lnTo>
                  <a:pt x="0" y="0"/>
                </a:lnTo>
                <a:lnTo>
                  <a:pt x="0" y="106679"/>
                </a:lnTo>
                <a:lnTo>
                  <a:pt x="3627120" y="106679"/>
                </a:lnTo>
                <a:lnTo>
                  <a:pt x="36271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967471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8" y="0"/>
                </a:moveTo>
                <a:lnTo>
                  <a:pt x="0" y="0"/>
                </a:lnTo>
                <a:lnTo>
                  <a:pt x="0" y="106679"/>
                </a:lnTo>
                <a:lnTo>
                  <a:pt x="3614928" y="106679"/>
                </a:lnTo>
                <a:lnTo>
                  <a:pt x="3614928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288535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7" y="0"/>
                </a:moveTo>
                <a:lnTo>
                  <a:pt x="0" y="0"/>
                </a:lnTo>
                <a:lnTo>
                  <a:pt x="0" y="106679"/>
                </a:lnTo>
                <a:lnTo>
                  <a:pt x="3614927" y="106679"/>
                </a:lnTo>
                <a:lnTo>
                  <a:pt x="3614927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2932" y="2568321"/>
            <a:ext cx="5386070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7544" y="3127019"/>
            <a:ext cx="9907905" cy="2360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83111" y="6062436"/>
            <a:ext cx="205104" cy="1581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4590B8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53.png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104.png"/><Relationship Id="rId3" Type="http://schemas.openxmlformats.org/officeDocument/2006/relationships/image" Target="../media/image101.png"/><Relationship Id="rId7" Type="http://schemas.openxmlformats.org/officeDocument/2006/relationships/image" Target="../media/image67.png"/><Relationship Id="rId12" Type="http://schemas.openxmlformats.org/officeDocument/2006/relationships/image" Target="../media/image59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103.png"/><Relationship Id="rId5" Type="http://schemas.openxmlformats.org/officeDocument/2006/relationships/image" Target="../media/image65.png"/><Relationship Id="rId15" Type="http://schemas.openxmlformats.org/officeDocument/2006/relationships/image" Target="../media/image106.png"/><Relationship Id="rId10" Type="http://schemas.openxmlformats.org/officeDocument/2006/relationships/image" Target="../media/image102.png"/><Relationship Id="rId4" Type="http://schemas.openxmlformats.org/officeDocument/2006/relationships/image" Target="../media/image77.png"/><Relationship Id="rId9" Type="http://schemas.openxmlformats.org/officeDocument/2006/relationships/image" Target="../media/image69.png"/><Relationship Id="rId14" Type="http://schemas.openxmlformats.org/officeDocument/2006/relationships/image" Target="../media/image10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10" Type="http://schemas.openxmlformats.org/officeDocument/2006/relationships/image" Target="../media/image118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2.png"/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12" Type="http://schemas.openxmlformats.org/officeDocument/2006/relationships/image" Target="../media/image131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11" Type="http://schemas.openxmlformats.org/officeDocument/2006/relationships/image" Target="../media/image130.png"/><Relationship Id="rId5" Type="http://schemas.openxmlformats.org/officeDocument/2006/relationships/image" Target="../media/image124.png"/><Relationship Id="rId10" Type="http://schemas.openxmlformats.org/officeDocument/2006/relationships/image" Target="../media/image129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4019" y="1875282"/>
            <a:ext cx="72491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90" dirty="0">
                <a:solidFill>
                  <a:srgbClr val="1A315F"/>
                </a:solidFill>
                <a:latin typeface="Trebuchet MS"/>
                <a:cs typeface="Trebuchet MS"/>
              </a:rPr>
              <a:t>DATABASE</a:t>
            </a:r>
            <a:r>
              <a:rPr b="1" spc="-60" dirty="0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1A315F"/>
                </a:solidFill>
                <a:latin typeface="Trebuchet MS"/>
                <a:cs typeface="Trebuchet MS"/>
              </a:rPr>
              <a:t>MANAGEMENT</a:t>
            </a:r>
            <a:r>
              <a:rPr b="1" spc="-105" dirty="0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1A315F"/>
                </a:solidFill>
                <a:latin typeface="Trebuchet MS"/>
                <a:cs typeface="Trebuchet MS"/>
              </a:rPr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7408" y="3086100"/>
            <a:ext cx="10986770" cy="3305810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>
              <a:latin typeface="Times New Roman"/>
              <a:cs typeface="Times New Roman"/>
            </a:endParaRPr>
          </a:p>
          <a:p>
            <a:pPr marL="342392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Subject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Teacher: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Junaid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Javed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Korai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4019" y="1875282"/>
            <a:ext cx="74758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1A315F"/>
                </a:solidFill>
                <a:latin typeface="Trebuchet MS"/>
                <a:cs typeface="Trebuchet MS"/>
              </a:rPr>
              <a:t>THE</a:t>
            </a:r>
            <a:r>
              <a:rPr b="1" spc="-15" dirty="0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b="1" spc="-35" dirty="0">
                <a:solidFill>
                  <a:srgbClr val="1A315F"/>
                </a:solidFill>
                <a:latin typeface="Trebuchet MS"/>
                <a:cs typeface="Trebuchet MS"/>
              </a:rPr>
              <a:t>RELATIONAL</a:t>
            </a:r>
            <a:r>
              <a:rPr b="1" spc="-160" dirty="0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b="1" spc="-90" dirty="0">
                <a:solidFill>
                  <a:srgbClr val="1A315F"/>
                </a:solidFill>
                <a:latin typeface="Trebuchet MS"/>
                <a:cs typeface="Trebuchet MS"/>
              </a:rPr>
              <a:t>DATABASE</a:t>
            </a:r>
            <a:r>
              <a:rPr b="1" spc="-60" dirty="0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1A315F"/>
                </a:solidFill>
                <a:latin typeface="Trebuchet MS"/>
                <a:cs typeface="Trebuchet MS"/>
              </a:rPr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7408" y="3086100"/>
            <a:ext cx="10986770" cy="3305810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88595" rIns="0" bIns="0" rtlCol="0">
            <a:spAutoFit/>
          </a:bodyPr>
          <a:lstStyle/>
          <a:p>
            <a:pPr marR="1152525" algn="ctr">
              <a:lnSpc>
                <a:spcPct val="100000"/>
              </a:lnSpc>
              <a:spcBef>
                <a:spcPts val="1485"/>
              </a:spcBef>
            </a:pPr>
            <a:r>
              <a:rPr sz="1800" spc="-10" dirty="0">
                <a:solidFill>
                  <a:srgbClr val="FFFFFF"/>
                </a:solidFill>
                <a:latin typeface="Gill Sans MT"/>
                <a:cs typeface="Gill Sans MT"/>
              </a:rPr>
              <a:t>Lecture</a:t>
            </a:r>
            <a:r>
              <a:rPr sz="1800" spc="-2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FFFFFF"/>
                </a:solidFill>
                <a:latin typeface="Gill Sans MT"/>
                <a:cs typeface="Gill Sans MT"/>
              </a:rPr>
              <a:t>#</a:t>
            </a:r>
            <a:r>
              <a:rPr sz="1800" spc="-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FFFFFF"/>
                </a:solidFill>
                <a:latin typeface="Gill Sans MT"/>
                <a:cs typeface="Gill Sans MT"/>
              </a:rPr>
              <a:t>5</a:t>
            </a:r>
            <a:r>
              <a:rPr sz="1800" spc="-2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FFFFFF"/>
                </a:solidFill>
                <a:latin typeface="Gill Sans MT"/>
                <a:cs typeface="Gill Sans MT"/>
              </a:rPr>
              <a:t>&amp;</a:t>
            </a:r>
            <a:r>
              <a:rPr sz="1800" spc="-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FFFFFF"/>
                </a:solidFill>
                <a:latin typeface="Gill Sans MT"/>
                <a:cs typeface="Gill Sans MT"/>
              </a:rPr>
              <a:t>6</a:t>
            </a:r>
            <a:endParaRPr sz="18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</a:pPr>
            <a:endParaRPr sz="2100">
              <a:latin typeface="Gill Sans MT"/>
              <a:cs typeface="Gill Sans MT"/>
            </a:endParaRPr>
          </a:p>
          <a:p>
            <a:pPr marL="380365" marR="673735" algn="just">
              <a:lnSpc>
                <a:spcPct val="100000"/>
              </a:lnSpc>
              <a:spcBef>
                <a:spcPts val="1470"/>
              </a:spcBef>
            </a:pPr>
            <a:r>
              <a:rPr sz="1600" b="1" spc="5" dirty="0">
                <a:solidFill>
                  <a:srgbClr val="FFFFCC"/>
                </a:solidFill>
                <a:latin typeface="Gill Sans MT"/>
                <a:cs typeface="Gill Sans MT"/>
              </a:rPr>
              <a:t>Disclaimer: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The material used in this presentation 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to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deliver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lecture 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i.e.,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definitions/text and pictures/graphs </a:t>
            </a:r>
            <a:r>
              <a:rPr sz="1600" spc="5" dirty="0">
                <a:solidFill>
                  <a:srgbClr val="FFFFCC"/>
                </a:solidFill>
                <a:latin typeface="Gill Sans MT"/>
                <a:cs typeface="Gill Sans MT"/>
              </a:rPr>
              <a:t>etc. </a:t>
            </a:r>
            <a:r>
              <a:rPr sz="1600" spc="1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does</a:t>
            </a:r>
            <a:r>
              <a:rPr sz="1600" spc="1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not</a:t>
            </a:r>
            <a:r>
              <a:rPr sz="1600" spc="10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solely</a:t>
            </a:r>
            <a:r>
              <a:rPr sz="1600" spc="12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belong</a:t>
            </a:r>
            <a:r>
              <a:rPr sz="1600" spc="12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to</a:t>
            </a:r>
            <a:r>
              <a:rPr sz="1600" spc="11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the</a:t>
            </a:r>
            <a:r>
              <a:rPr sz="1600" spc="114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5" dirty="0">
                <a:solidFill>
                  <a:srgbClr val="FFFFCC"/>
                </a:solidFill>
                <a:latin typeface="Gill Sans MT"/>
                <a:cs typeface="Gill Sans MT"/>
              </a:rPr>
              <a:t>author/presenter.</a:t>
            </a:r>
            <a:r>
              <a:rPr sz="1600" spc="-6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The</a:t>
            </a:r>
            <a:r>
              <a:rPr sz="1600" spc="114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presenter</a:t>
            </a:r>
            <a:r>
              <a:rPr sz="1600" spc="1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has</a:t>
            </a:r>
            <a:r>
              <a:rPr sz="1600" spc="11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gathered</a:t>
            </a:r>
            <a:r>
              <a:rPr sz="1600" spc="114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this</a:t>
            </a:r>
            <a:r>
              <a:rPr sz="1600" spc="10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lecture</a:t>
            </a:r>
            <a:r>
              <a:rPr sz="1600" spc="10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material</a:t>
            </a:r>
            <a:r>
              <a:rPr sz="1600" spc="12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from</a:t>
            </a:r>
            <a:r>
              <a:rPr sz="1600" spc="11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various</a:t>
            </a:r>
            <a:r>
              <a:rPr sz="1600" spc="12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sources </a:t>
            </a:r>
            <a:r>
              <a:rPr sz="1600" spc="-43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on</a:t>
            </a:r>
            <a:r>
              <a:rPr sz="1600" spc="1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web/textbooks.</a:t>
            </a:r>
            <a:r>
              <a:rPr sz="1600" spc="-13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5" dirty="0">
                <a:solidFill>
                  <a:srgbClr val="FFFFCC"/>
                </a:solidFill>
                <a:latin typeface="Gill Sans MT"/>
                <a:cs typeface="Gill Sans MT"/>
              </a:rPr>
              <a:t>Following</a:t>
            </a:r>
            <a:r>
              <a:rPr sz="1600" spc="4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sources</a:t>
            </a:r>
            <a:r>
              <a:rPr sz="1600" spc="1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5" dirty="0">
                <a:solidFill>
                  <a:srgbClr val="FFFFCC"/>
                </a:solidFill>
                <a:latin typeface="Gill Sans MT"/>
                <a:cs typeface="Gill Sans MT"/>
              </a:rPr>
              <a:t>are</a:t>
            </a:r>
            <a:r>
              <a:rPr sz="1600" spc="1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especially acknowledged:</a:t>
            </a:r>
            <a:endParaRPr sz="1600">
              <a:latin typeface="Gill Sans MT"/>
              <a:cs typeface="Gill Sans MT"/>
            </a:endParaRPr>
          </a:p>
          <a:p>
            <a:pPr marL="723265" marR="692785" indent="-343535">
              <a:lnSpc>
                <a:spcPct val="100000"/>
              </a:lnSpc>
              <a:spcBef>
                <a:spcPts val="1210"/>
              </a:spcBef>
              <a:buAutoNum type="arabicPeriod"/>
              <a:tabLst>
                <a:tab pos="723265" algn="l"/>
                <a:tab pos="723900" algn="l"/>
              </a:tabLst>
            </a:pPr>
            <a:r>
              <a:rPr sz="1400" spc="-15" dirty="0">
                <a:solidFill>
                  <a:srgbClr val="FFFFCC"/>
                </a:solidFill>
                <a:latin typeface="Gill Sans MT"/>
                <a:cs typeface="Gill Sans MT"/>
              </a:rPr>
              <a:t>Connolly,</a:t>
            </a:r>
            <a:r>
              <a:rPr sz="1400" spc="-4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Thomas</a:t>
            </a:r>
            <a:r>
              <a:rPr sz="1400" spc="9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M.,</a:t>
            </a:r>
            <a:r>
              <a:rPr sz="1400" spc="-4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sz="1400" spc="9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10" dirty="0">
                <a:solidFill>
                  <a:srgbClr val="FFFFCC"/>
                </a:solidFill>
                <a:latin typeface="Gill Sans MT"/>
                <a:cs typeface="Gill Sans MT"/>
              </a:rPr>
              <a:t>Carolyn</a:t>
            </a:r>
            <a:r>
              <a:rPr sz="1400" spc="9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E.</a:t>
            </a:r>
            <a:r>
              <a:rPr sz="1400" spc="-5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Begg.</a:t>
            </a:r>
            <a:r>
              <a:rPr sz="1400" spc="-4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dirty="0">
                <a:solidFill>
                  <a:srgbClr val="FFFFCC"/>
                </a:solidFill>
                <a:latin typeface="Gill Sans MT"/>
                <a:cs typeface="Gill Sans MT"/>
              </a:rPr>
              <a:t>Database</a:t>
            </a:r>
            <a:r>
              <a:rPr sz="1400" i="1" spc="1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systems:</a:t>
            </a:r>
            <a:r>
              <a:rPr sz="1400" i="1" spc="-5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dirty="0">
                <a:solidFill>
                  <a:srgbClr val="FFFFCC"/>
                </a:solidFill>
                <a:latin typeface="Gill Sans MT"/>
                <a:cs typeface="Gill Sans MT"/>
              </a:rPr>
              <a:t>a</a:t>
            </a:r>
            <a:r>
              <a:rPr sz="1400" i="1" spc="1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10" dirty="0">
                <a:solidFill>
                  <a:srgbClr val="FFFFCC"/>
                </a:solidFill>
                <a:latin typeface="Gill Sans MT"/>
                <a:cs typeface="Gill Sans MT"/>
              </a:rPr>
              <a:t>practical</a:t>
            </a:r>
            <a:r>
              <a:rPr sz="1400" i="1" spc="10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approach</a:t>
            </a:r>
            <a:r>
              <a:rPr sz="1400" i="1" spc="11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dirty="0">
                <a:solidFill>
                  <a:srgbClr val="FFFFCC"/>
                </a:solidFill>
                <a:latin typeface="Gill Sans MT"/>
                <a:cs typeface="Gill Sans MT"/>
              </a:rPr>
              <a:t>to</a:t>
            </a:r>
            <a:r>
              <a:rPr sz="1400" i="1" spc="8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design,</a:t>
            </a:r>
            <a:r>
              <a:rPr sz="1400" i="1" spc="-4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dirty="0">
                <a:solidFill>
                  <a:srgbClr val="FFFFCC"/>
                </a:solidFill>
                <a:latin typeface="Gill Sans MT"/>
                <a:cs typeface="Gill Sans MT"/>
              </a:rPr>
              <a:t>implementation,</a:t>
            </a:r>
            <a:r>
              <a:rPr sz="1400" i="1" spc="-6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dirty="0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sz="1400" i="1" spc="1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management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.</a:t>
            </a:r>
            <a:r>
              <a:rPr sz="1400" spc="-4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10" dirty="0">
                <a:solidFill>
                  <a:srgbClr val="FFFFCC"/>
                </a:solidFill>
                <a:latin typeface="Gill Sans MT"/>
                <a:cs typeface="Gill Sans MT"/>
              </a:rPr>
              <a:t>Pearson </a:t>
            </a:r>
            <a:r>
              <a:rPr sz="1400" spc="-37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Education,</a:t>
            </a:r>
            <a:r>
              <a:rPr sz="1400" spc="-18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5" dirty="0">
                <a:solidFill>
                  <a:srgbClr val="FFFFCC"/>
                </a:solidFill>
                <a:latin typeface="Gill Sans MT"/>
                <a:cs typeface="Gill Sans MT"/>
              </a:rPr>
              <a:t>2005.</a:t>
            </a:r>
            <a:endParaRPr sz="1400">
              <a:latin typeface="Gill Sans MT"/>
              <a:cs typeface="Gill Sans MT"/>
            </a:endParaRPr>
          </a:p>
          <a:p>
            <a:pPr marL="723265" indent="-34353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723265" algn="l"/>
                <a:tab pos="723900" algn="l"/>
              </a:tabLst>
            </a:pP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2.</a:t>
            </a:r>
            <a:r>
              <a:rPr sz="1400" spc="-13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25" dirty="0">
                <a:solidFill>
                  <a:srgbClr val="FFFFCC"/>
                </a:solidFill>
                <a:latin typeface="Gill Sans MT"/>
                <a:cs typeface="Gill Sans MT"/>
              </a:rPr>
              <a:t>Hoffer,</a:t>
            </a:r>
            <a:r>
              <a:rPr sz="1400" spc="-12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15" dirty="0">
                <a:solidFill>
                  <a:srgbClr val="FFFFCC"/>
                </a:solidFill>
                <a:latin typeface="Gill Sans MT"/>
                <a:cs typeface="Gill Sans MT"/>
              </a:rPr>
              <a:t>Jeffrey</a:t>
            </a:r>
            <a:r>
              <a:rPr sz="1400" spc="-13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10" dirty="0">
                <a:solidFill>
                  <a:srgbClr val="FFFFCC"/>
                </a:solidFill>
                <a:latin typeface="Gill Sans MT"/>
                <a:cs typeface="Gill Sans MT"/>
              </a:rPr>
              <a:t>A.,Venkataraman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Ramesh,</a:t>
            </a:r>
            <a:r>
              <a:rPr sz="1400" spc="-13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and Heikki</a:t>
            </a:r>
            <a:r>
              <a:rPr sz="1400" spc="-15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40" dirty="0">
                <a:solidFill>
                  <a:srgbClr val="FFFFCC"/>
                </a:solidFill>
                <a:latin typeface="Gill Sans MT"/>
                <a:cs typeface="Gill Sans MT"/>
              </a:rPr>
              <a:t>Topi.</a:t>
            </a:r>
            <a:r>
              <a:rPr sz="1400" spc="-15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Modern</a:t>
            </a:r>
            <a:r>
              <a:rPr sz="1400" i="1" spc="1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database</a:t>
            </a:r>
            <a:r>
              <a:rPr sz="1400" i="1" spc="2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management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.</a:t>
            </a:r>
            <a:r>
              <a:rPr sz="1400" spc="-13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Upper</a:t>
            </a:r>
            <a:r>
              <a:rPr sz="1400" spc="-2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Saddle </a:t>
            </a:r>
            <a:r>
              <a:rPr sz="1400" spc="-30" dirty="0">
                <a:solidFill>
                  <a:srgbClr val="FFFFCC"/>
                </a:solidFill>
                <a:latin typeface="Gill Sans MT"/>
                <a:cs typeface="Gill Sans MT"/>
              </a:rPr>
              <a:t>River,</a:t>
            </a:r>
            <a:r>
              <a:rPr sz="1400" spc="-13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NJ:</a:t>
            </a:r>
            <a:r>
              <a:rPr sz="1400" spc="-12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Prentice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Hall,,</a:t>
            </a:r>
            <a:r>
              <a:rPr sz="1400" spc="-12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5" dirty="0">
                <a:solidFill>
                  <a:srgbClr val="FFFFCC"/>
                </a:solidFill>
                <a:latin typeface="Gill Sans MT"/>
                <a:cs typeface="Gill Sans MT"/>
              </a:rPr>
              <a:t>2011.</a:t>
            </a:r>
            <a:endParaRPr sz="14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00">
              <a:latin typeface="Gill Sans MT"/>
              <a:cs typeface="Gill Sans MT"/>
            </a:endParaRPr>
          </a:p>
          <a:p>
            <a:pPr marR="238760" algn="r">
              <a:lnSpc>
                <a:spcPct val="100000"/>
              </a:lnSpc>
            </a:pPr>
            <a:r>
              <a:rPr sz="900" dirty="0">
                <a:solidFill>
                  <a:srgbClr val="FFFFFF"/>
                </a:solidFill>
                <a:latin typeface="Franklin Gothic Book"/>
                <a:cs typeface="Franklin Gothic Book"/>
              </a:rPr>
              <a:t>2</a:t>
            </a:r>
            <a:endParaRPr sz="900">
              <a:latin typeface="Franklin Gothic Book"/>
              <a:cs typeface="Franklin Gothic Boo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4228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4200">
                        <a:latin typeface="Times New Roman"/>
                        <a:cs typeface="Times New Roman"/>
                      </a:endParaRPr>
                    </a:p>
                    <a:p>
                      <a:pPr marL="2167890">
                        <a:lnSpc>
                          <a:spcPct val="100000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800" b="1" spc="-25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800" b="1" spc="-26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800" b="1" spc="-1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MO</a:t>
                      </a:r>
                      <a:r>
                        <a:rPr sz="2800" b="1" spc="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EL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61491" y="2830829"/>
            <a:ext cx="9288780" cy="2085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00000"/>
              </a:lnSpc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b="1" spc="-10" dirty="0">
                <a:solidFill>
                  <a:srgbClr val="3C3C3C"/>
                </a:solidFill>
                <a:latin typeface="Trebuchet MS"/>
                <a:cs typeface="Trebuchet MS"/>
              </a:rPr>
              <a:t>Integrated</a:t>
            </a:r>
            <a:r>
              <a:rPr sz="1800" b="1" spc="19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collection</a:t>
            </a:r>
            <a:r>
              <a:rPr sz="1800" b="1" spc="18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b="1" spc="18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concepts</a:t>
            </a:r>
            <a:r>
              <a:rPr sz="1800" b="1" spc="19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for</a:t>
            </a:r>
            <a:r>
              <a:rPr sz="1800" b="1" spc="19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describing</a:t>
            </a:r>
            <a:r>
              <a:rPr sz="1800" b="1" spc="19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data,</a:t>
            </a:r>
            <a:r>
              <a:rPr sz="1800" b="1" spc="19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relationships</a:t>
            </a:r>
            <a:r>
              <a:rPr sz="1800" b="1" spc="19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between</a:t>
            </a:r>
            <a:r>
              <a:rPr sz="1800" b="1" spc="19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data, </a:t>
            </a:r>
            <a:r>
              <a:rPr sz="1800" b="1" spc="-5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and</a:t>
            </a:r>
            <a:r>
              <a:rPr sz="1800" b="1" spc="-10" dirty="0">
                <a:solidFill>
                  <a:srgbClr val="3C3C3C"/>
                </a:solidFill>
                <a:latin typeface="Trebuchet MS"/>
                <a:cs typeface="Trebuchet MS"/>
              </a:rPr>
              <a:t> constraints</a:t>
            </a:r>
            <a:r>
              <a:rPr sz="1800" b="1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on</a:t>
            </a:r>
            <a:r>
              <a:rPr sz="1800" b="1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b="1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data.</a:t>
            </a:r>
            <a:endParaRPr sz="1800">
              <a:latin typeface="Trebuchet MS"/>
              <a:cs typeface="Trebuchet MS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Has</a:t>
            </a:r>
            <a:r>
              <a:rPr sz="1800" b="1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three</a:t>
            </a:r>
            <a:r>
              <a:rPr sz="1800" b="1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components:</a:t>
            </a:r>
            <a:endParaRPr sz="1800">
              <a:latin typeface="Trebuchet MS"/>
              <a:cs typeface="Trebuchet MS"/>
            </a:endParaRPr>
          </a:p>
          <a:p>
            <a:pPr marL="641985" lvl="1" indent="-305435">
              <a:lnSpc>
                <a:spcPct val="100000"/>
              </a:lnSpc>
              <a:spcBef>
                <a:spcPts val="985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600"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structural</a:t>
            </a:r>
            <a:r>
              <a:rPr sz="1600" b="1" spc="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part;</a:t>
            </a:r>
            <a:endParaRPr sz="1600">
              <a:latin typeface="Trebuchet MS"/>
              <a:cs typeface="Trebuchet MS"/>
            </a:endParaRPr>
          </a:p>
          <a:p>
            <a:pPr marL="641985" lvl="1" indent="-305435">
              <a:lnSpc>
                <a:spcPct val="100000"/>
              </a:lnSpc>
              <a:spcBef>
                <a:spcPts val="980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600"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manipulative</a:t>
            </a:r>
            <a:r>
              <a:rPr sz="1600" b="1" spc="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part;</a:t>
            </a:r>
            <a:endParaRPr sz="1600">
              <a:latin typeface="Trebuchet MS"/>
              <a:cs typeface="Trebuchet MS"/>
            </a:endParaRPr>
          </a:p>
          <a:p>
            <a:pPr marL="641985" lvl="1" indent="-305435">
              <a:lnSpc>
                <a:spcPct val="100000"/>
              </a:lnSpc>
              <a:spcBef>
                <a:spcPts val="985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600"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set</a:t>
            </a:r>
            <a:r>
              <a:rPr sz="1600" b="1" spc="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600"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integrity rules.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4228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45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spc="-30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RELATIONAL</a:t>
                      </a:r>
                      <a:r>
                        <a:rPr sz="2800" spc="-45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2800" spc="-5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DBMS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T="254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197355" y="3334892"/>
            <a:ext cx="9600565" cy="1363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0" indent="-305435">
              <a:lnSpc>
                <a:spcPct val="100000"/>
              </a:lnSpc>
              <a:spcBef>
                <a:spcPts val="10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7500" algn="l"/>
                <a:tab pos="318135" algn="l"/>
              </a:tabLst>
            </a:pPr>
            <a:r>
              <a:rPr sz="2000" spc="-70" dirty="0">
                <a:solidFill>
                  <a:srgbClr val="3C3C3C"/>
                </a:solidFill>
                <a:latin typeface="Gill Sans MT"/>
                <a:cs typeface="Gill Sans MT"/>
              </a:rPr>
              <a:t>Dr.</a:t>
            </a:r>
            <a:r>
              <a:rPr sz="2000" spc="-2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Edgar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45" dirty="0">
                <a:solidFill>
                  <a:srgbClr val="3C3C3C"/>
                </a:solidFill>
                <a:latin typeface="Gill Sans MT"/>
                <a:cs typeface="Gill Sans MT"/>
              </a:rPr>
              <a:t>F.</a:t>
            </a:r>
            <a:r>
              <a:rPr sz="2000" spc="-19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Codd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at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IBM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invented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relational</a:t>
            </a:r>
            <a:r>
              <a:rPr sz="2000" spc="-5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database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sz="20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1970,</a:t>
            </a:r>
            <a:r>
              <a:rPr sz="2000" spc="-25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called Father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RDBMS.</a:t>
            </a:r>
            <a:endParaRPr sz="2000">
              <a:latin typeface="Gill Sans MT"/>
              <a:cs typeface="Gill Sans MT"/>
            </a:endParaRPr>
          </a:p>
          <a:p>
            <a:pPr marL="317500" indent="-305435">
              <a:lnSpc>
                <a:spcPct val="100000"/>
              </a:lnSpc>
              <a:spcBef>
                <a:spcPts val="180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7500" algn="l"/>
                <a:tab pos="318135" algn="l"/>
              </a:tabLst>
            </a:pP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main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elements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RDBMS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are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based on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Codd’s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13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rules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relational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system.</a:t>
            </a:r>
            <a:endParaRPr sz="2000">
              <a:latin typeface="Gill Sans MT"/>
              <a:cs typeface="Gill Sans MT"/>
            </a:endParaRPr>
          </a:p>
          <a:p>
            <a:pPr marL="317500" indent="-305435">
              <a:lnSpc>
                <a:spcPct val="100000"/>
              </a:lnSpc>
              <a:spcBef>
                <a:spcPts val="152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7500" algn="l"/>
                <a:tab pos="318135" algn="l"/>
              </a:tabLst>
            </a:pP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DBMS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said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relational</a:t>
            </a:r>
            <a:r>
              <a:rPr sz="2000" spc="-5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if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it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follows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Codd’s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rules.</a:t>
            </a:r>
            <a:endParaRPr sz="2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4228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4200">
                        <a:latin typeface="Times New Roman"/>
                        <a:cs typeface="Times New Roman"/>
                      </a:endParaRPr>
                    </a:p>
                    <a:p>
                      <a:pPr marL="257175">
                        <a:lnSpc>
                          <a:spcPct val="100000"/>
                        </a:lnSpc>
                      </a:pPr>
                      <a:r>
                        <a:rPr sz="28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RELATIONAL</a:t>
                      </a:r>
                      <a:r>
                        <a:rPr sz="2800" b="1" spc="-1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MODEL</a:t>
                      </a:r>
                      <a:r>
                        <a:rPr sz="2800" b="1" spc="-1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TERMINOLOGIES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841959" y="2646426"/>
            <a:ext cx="9281795" cy="291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0" marR="5080" indent="-304800" algn="just">
              <a:lnSpc>
                <a:spcPct val="99700"/>
              </a:lnSpc>
              <a:spcBef>
                <a:spcPts val="10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</a:tabLst>
            </a:pPr>
            <a:r>
              <a:rPr sz="1800" b="1" spc="-50" dirty="0">
                <a:solidFill>
                  <a:srgbClr val="3C3C3C"/>
                </a:solidFill>
                <a:latin typeface="Gill Sans MT"/>
                <a:cs typeface="Gill Sans MT"/>
              </a:rPr>
              <a:t>Tables </a:t>
            </a:r>
            <a:r>
              <a:rPr sz="1800" b="1" spc="-10" dirty="0">
                <a:solidFill>
                  <a:srgbClr val="3C3C3C"/>
                </a:solidFill>
                <a:latin typeface="Gill Sans MT"/>
                <a:cs typeface="Gill Sans MT"/>
              </a:rPr>
              <a:t>(Relation) </a:t>
            </a:r>
            <a:r>
              <a:rPr sz="1800" dirty="0">
                <a:solidFill>
                  <a:srgbClr val="3C3C3C"/>
                </a:solidFill>
                <a:latin typeface="Arial"/>
                <a:cs typeface="Arial"/>
              </a:rPr>
              <a:t>−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In 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relational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data model, relations </a:t>
            </a:r>
            <a:r>
              <a:rPr sz="1800" spc="-15" dirty="0">
                <a:solidFill>
                  <a:srgbClr val="3C3C3C"/>
                </a:solidFill>
                <a:latin typeface="Gill Sans MT"/>
                <a:cs typeface="Gill Sans MT"/>
              </a:rPr>
              <a:t>are </a:t>
            </a:r>
            <a:r>
              <a:rPr sz="1800" spc="-25" dirty="0">
                <a:solidFill>
                  <a:srgbClr val="3C3C3C"/>
                </a:solidFill>
                <a:latin typeface="Gill Sans MT"/>
                <a:cs typeface="Gill Sans MT"/>
              </a:rPr>
              <a:t>saved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in the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format of </a:t>
            </a:r>
            <a:r>
              <a:rPr sz="1800" spc="-35" dirty="0">
                <a:solidFill>
                  <a:srgbClr val="3C3C3C"/>
                </a:solidFill>
                <a:latin typeface="Gill Sans MT"/>
                <a:cs typeface="Gill Sans MT"/>
              </a:rPr>
              <a:t>Tables.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This </a:t>
            </a:r>
            <a:r>
              <a:rPr sz="18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format </a:t>
            </a:r>
            <a:r>
              <a:rPr sz="1800" spc="-15" dirty="0">
                <a:solidFill>
                  <a:srgbClr val="3C3C3C"/>
                </a:solidFill>
                <a:latin typeface="Gill Sans MT"/>
                <a:cs typeface="Gill Sans MT"/>
              </a:rPr>
              <a:t>stores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relation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among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entities. A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table has </a:t>
            </a:r>
            <a:r>
              <a:rPr sz="1800" spc="-20" dirty="0">
                <a:solidFill>
                  <a:srgbClr val="3C3C3C"/>
                </a:solidFill>
                <a:latin typeface="Gill Sans MT"/>
                <a:cs typeface="Gill Sans MT"/>
              </a:rPr>
              <a:t>rows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and columns, </a:t>
            </a:r>
            <a:r>
              <a:rPr sz="1800" spc="-15" dirty="0">
                <a:solidFill>
                  <a:srgbClr val="3C3C3C"/>
                </a:solidFill>
                <a:latin typeface="Gill Sans MT"/>
                <a:cs typeface="Gill Sans MT"/>
              </a:rPr>
              <a:t>where </a:t>
            </a:r>
            <a:r>
              <a:rPr sz="1800" spc="-20" dirty="0">
                <a:solidFill>
                  <a:srgbClr val="3C3C3C"/>
                </a:solidFill>
                <a:latin typeface="Gill Sans MT"/>
                <a:cs typeface="Gill Sans MT"/>
              </a:rPr>
              <a:t>rows 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represents </a:t>
            </a:r>
            <a:r>
              <a:rPr sz="1800" spc="-49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Gill Sans MT"/>
                <a:cs typeface="Gill Sans MT"/>
              </a:rPr>
              <a:t>records</a:t>
            </a:r>
            <a:r>
              <a:rPr sz="18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and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columns</a:t>
            </a:r>
            <a:r>
              <a:rPr sz="18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represent</a:t>
            </a:r>
            <a:r>
              <a:rPr sz="18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attributes.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814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b="1" spc="-254" dirty="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sz="1800" b="1" spc="-10" dirty="0">
                <a:solidFill>
                  <a:srgbClr val="3C3C3C"/>
                </a:solidFill>
                <a:latin typeface="Gill Sans MT"/>
                <a:cs typeface="Gill Sans MT"/>
              </a:rPr>
              <a:t>up</a:t>
            </a:r>
            <a:r>
              <a:rPr sz="1800" b="1" dirty="0">
                <a:solidFill>
                  <a:srgbClr val="3C3C3C"/>
                </a:solidFill>
                <a:latin typeface="Gill Sans MT"/>
                <a:cs typeface="Gill Sans MT"/>
              </a:rPr>
              <a:t>le</a:t>
            </a:r>
            <a:r>
              <a:rPr sz="1800" b="1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Arial"/>
                <a:cs typeface="Arial"/>
              </a:rPr>
              <a:t>−</a:t>
            </a:r>
            <a:r>
              <a:rPr sz="1800" spc="-185" dirty="0">
                <a:solidFill>
                  <a:srgbClr val="3C3C3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A single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5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w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tabl</a:t>
            </a:r>
            <a:r>
              <a:rPr sz="1800" spc="35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sz="1800" spc="-17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whi</a:t>
            </a:r>
            <a:r>
              <a:rPr sz="1800" spc="5" dirty="0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sz="18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contains</a:t>
            </a:r>
            <a:r>
              <a:rPr sz="18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a single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45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ec</a:t>
            </a:r>
            <a:r>
              <a:rPr sz="1800" spc="5" dirty="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sz="1800" spc="-30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sz="18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sz="18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45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elation</a:t>
            </a:r>
            <a:r>
              <a:rPr sz="18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cal</a:t>
            </a:r>
            <a:r>
              <a:rPr sz="1800" spc="5" dirty="0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ed</a:t>
            </a:r>
            <a:r>
              <a:rPr sz="18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a tupl</a:t>
            </a:r>
            <a:r>
              <a:rPr sz="1800" spc="35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62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Attribute:</a:t>
            </a:r>
            <a:r>
              <a:rPr sz="1800"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18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named</a:t>
            </a:r>
            <a:r>
              <a:rPr sz="18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column</a:t>
            </a:r>
            <a:r>
              <a:rPr sz="18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18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18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relation.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ts val="2155"/>
              </a:lnSpc>
              <a:spcBef>
                <a:spcPts val="104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b="1" spc="-5" dirty="0">
                <a:solidFill>
                  <a:srgbClr val="3C3C3C"/>
                </a:solidFill>
                <a:latin typeface="Gill Sans MT"/>
                <a:cs typeface="Gill Sans MT"/>
              </a:rPr>
              <a:t>Attribute</a:t>
            </a:r>
            <a:r>
              <a:rPr sz="1800" b="1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Gill Sans MT"/>
                <a:cs typeface="Gill Sans MT"/>
              </a:rPr>
              <a:t>domain</a:t>
            </a:r>
            <a:r>
              <a:rPr sz="1800" b="1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Arial"/>
                <a:cs typeface="Arial"/>
              </a:rPr>
              <a:t>−</a:t>
            </a:r>
            <a:r>
              <a:rPr sz="1800" spc="-5" dirty="0">
                <a:solidFill>
                  <a:srgbClr val="3C3C3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Every</a:t>
            </a:r>
            <a:r>
              <a:rPr sz="18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attribute has</a:t>
            </a:r>
            <a:r>
              <a:rPr sz="18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some</a:t>
            </a:r>
            <a:r>
              <a:rPr sz="18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pre-defined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value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5" dirty="0">
                <a:solidFill>
                  <a:srgbClr val="3C3C3C"/>
                </a:solidFill>
                <a:latin typeface="Gill Sans MT"/>
                <a:cs typeface="Gill Sans MT"/>
              </a:rPr>
              <a:t>scope,</a:t>
            </a:r>
            <a:r>
              <a:rPr sz="1800" spc="-1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known</a:t>
            </a:r>
            <a:r>
              <a:rPr sz="18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as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attribute</a:t>
            </a:r>
            <a:endParaRPr sz="1800">
              <a:latin typeface="Gill Sans MT"/>
              <a:cs typeface="Gill Sans MT"/>
            </a:endParaRPr>
          </a:p>
          <a:p>
            <a:pPr marL="317500">
              <a:lnSpc>
                <a:spcPts val="2155"/>
              </a:lnSpc>
            </a:pP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domain.</a:t>
            </a:r>
            <a:r>
              <a:rPr sz="1800" spc="-1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It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set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 allowable</a:t>
            </a:r>
            <a:r>
              <a:rPr sz="18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values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sz="18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one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sz="18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more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attributes.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b="1" spc="-5" dirty="0">
                <a:solidFill>
                  <a:srgbClr val="3C3C3C"/>
                </a:solidFill>
                <a:latin typeface="Gill Sans MT"/>
                <a:cs typeface="Gill Sans MT"/>
              </a:rPr>
              <a:t>Relational</a:t>
            </a:r>
            <a:r>
              <a:rPr sz="1800" b="1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Gill Sans MT"/>
                <a:cs typeface="Gill Sans MT"/>
              </a:rPr>
              <a:t>Database</a:t>
            </a:r>
            <a:r>
              <a:rPr sz="1800" b="1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-</a:t>
            </a:r>
            <a:r>
              <a:rPr sz="1800" spc="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collection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of normalized</a:t>
            </a:r>
            <a:r>
              <a:rPr sz="18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relations</a:t>
            </a:r>
            <a:r>
              <a:rPr sz="18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with</a:t>
            </a:r>
            <a:r>
              <a:rPr sz="1800" spc="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distinct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relation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 names.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4228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14"/>
                        </a:spcBef>
                      </a:pPr>
                      <a:r>
                        <a:rPr sz="28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RELATIONAL</a:t>
                      </a:r>
                      <a:r>
                        <a:rPr sz="2800" b="1" spc="-1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MODEL</a:t>
                      </a:r>
                      <a:r>
                        <a:rPr sz="2800" b="1" spc="-1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TERMINOLOGIES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853846" y="3247390"/>
            <a:ext cx="10519410" cy="1853564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17500" marR="5080" indent="-304800">
              <a:lnSpc>
                <a:spcPts val="2150"/>
              </a:lnSpc>
              <a:spcBef>
                <a:spcPts val="18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b="1" spc="-5" dirty="0">
                <a:solidFill>
                  <a:srgbClr val="3C3C3C"/>
                </a:solidFill>
                <a:latin typeface="Gill Sans MT"/>
                <a:cs typeface="Gill Sans MT"/>
              </a:rPr>
              <a:t>Relation</a:t>
            </a:r>
            <a:r>
              <a:rPr sz="1800" b="1" spc="25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Gill Sans MT"/>
                <a:cs typeface="Gill Sans MT"/>
              </a:rPr>
              <a:t>instance</a:t>
            </a:r>
            <a:r>
              <a:rPr sz="1800" b="1" spc="26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Arial"/>
                <a:cs typeface="Arial"/>
              </a:rPr>
              <a:t>−</a:t>
            </a:r>
            <a:r>
              <a:rPr sz="1800" spc="245" dirty="0">
                <a:solidFill>
                  <a:srgbClr val="3C3C3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1800" spc="2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finite</a:t>
            </a:r>
            <a:r>
              <a:rPr sz="1800" spc="2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set</a:t>
            </a:r>
            <a:r>
              <a:rPr sz="1800" spc="2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1800" spc="26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tuples</a:t>
            </a:r>
            <a:r>
              <a:rPr sz="1800" spc="2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sz="1800" spc="2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1800" spc="26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relational</a:t>
            </a:r>
            <a:r>
              <a:rPr sz="1800" spc="25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database</a:t>
            </a:r>
            <a:r>
              <a:rPr sz="1800" spc="2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system</a:t>
            </a:r>
            <a:r>
              <a:rPr sz="1800" spc="229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represents</a:t>
            </a:r>
            <a:r>
              <a:rPr sz="1800" spc="25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relation</a:t>
            </a:r>
            <a:r>
              <a:rPr sz="1800" spc="26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instance. </a:t>
            </a:r>
            <a:r>
              <a:rPr sz="1800" spc="-48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Relation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instances</a:t>
            </a:r>
            <a:r>
              <a:rPr sz="18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do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not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Gill Sans MT"/>
                <a:cs typeface="Gill Sans MT"/>
              </a:rPr>
              <a:t>have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duplicate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tuples.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74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b="1" spc="-5" dirty="0">
                <a:solidFill>
                  <a:srgbClr val="3C3C3C"/>
                </a:solidFill>
                <a:latin typeface="Gill Sans MT"/>
                <a:cs typeface="Gill Sans MT"/>
              </a:rPr>
              <a:t>Relation</a:t>
            </a:r>
            <a:r>
              <a:rPr sz="1800" b="1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Gill Sans MT"/>
                <a:cs typeface="Gill Sans MT"/>
              </a:rPr>
              <a:t>schema</a:t>
            </a:r>
            <a:r>
              <a:rPr sz="1800" b="1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Arial"/>
                <a:cs typeface="Arial"/>
              </a:rPr>
              <a:t>−</a:t>
            </a:r>
            <a:r>
              <a:rPr sz="1800" spc="-185" dirty="0">
                <a:solidFill>
                  <a:srgbClr val="3C3C3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18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relation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 schema</a:t>
            </a:r>
            <a:r>
              <a:rPr sz="18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describes</a:t>
            </a:r>
            <a:r>
              <a:rPr sz="18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relation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 name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(table</a:t>
            </a:r>
            <a:r>
              <a:rPr sz="18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name),</a:t>
            </a:r>
            <a:r>
              <a:rPr sz="1800" spc="-17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attributes,</a:t>
            </a:r>
            <a:r>
              <a:rPr sz="1800" spc="-17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their</a:t>
            </a:r>
            <a:r>
              <a:rPr sz="18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names.</a:t>
            </a:r>
            <a:endParaRPr sz="1800">
              <a:latin typeface="Gill Sans MT"/>
              <a:cs typeface="Gill Sans MT"/>
            </a:endParaRPr>
          </a:p>
          <a:p>
            <a:pPr marL="317500" marR="27305" indent="-304800">
              <a:lnSpc>
                <a:spcPts val="2150"/>
              </a:lnSpc>
              <a:spcBef>
                <a:spcPts val="188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b="1" spc="-5" dirty="0">
                <a:solidFill>
                  <a:srgbClr val="3C3C3C"/>
                </a:solidFill>
                <a:latin typeface="Gill Sans MT"/>
                <a:cs typeface="Gill Sans MT"/>
              </a:rPr>
              <a:t>Relation</a:t>
            </a:r>
            <a:r>
              <a:rPr sz="1800" b="1" spc="1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b="1" spc="-30" dirty="0">
                <a:solidFill>
                  <a:srgbClr val="3C3C3C"/>
                </a:solidFill>
                <a:latin typeface="Gill Sans MT"/>
                <a:cs typeface="Gill Sans MT"/>
              </a:rPr>
              <a:t>key</a:t>
            </a:r>
            <a:r>
              <a:rPr sz="1800" b="1" spc="1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Arial"/>
                <a:cs typeface="Arial"/>
              </a:rPr>
              <a:t>−</a:t>
            </a:r>
            <a:r>
              <a:rPr sz="1800" spc="120" dirty="0">
                <a:solidFill>
                  <a:srgbClr val="3C3C3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Each</a:t>
            </a:r>
            <a:r>
              <a:rPr sz="1800" spc="1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Gill Sans MT"/>
                <a:cs typeface="Gill Sans MT"/>
              </a:rPr>
              <a:t>row</a:t>
            </a:r>
            <a:r>
              <a:rPr sz="1800" spc="1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has</a:t>
            </a:r>
            <a:r>
              <a:rPr sz="1800" spc="1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one</a:t>
            </a:r>
            <a:r>
              <a:rPr sz="1800" spc="1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sz="1800" spc="1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Gill Sans MT"/>
                <a:cs typeface="Gill Sans MT"/>
              </a:rPr>
              <a:t>more</a:t>
            </a:r>
            <a:r>
              <a:rPr sz="1800" spc="1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attributes,</a:t>
            </a:r>
            <a:r>
              <a:rPr sz="1800" spc="-5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known</a:t>
            </a:r>
            <a:r>
              <a:rPr sz="1800" spc="1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as</a:t>
            </a:r>
            <a:r>
              <a:rPr sz="1800" spc="1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relation</a:t>
            </a:r>
            <a:r>
              <a:rPr sz="1800" spc="1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60" dirty="0">
                <a:solidFill>
                  <a:srgbClr val="3C3C3C"/>
                </a:solidFill>
                <a:latin typeface="Gill Sans MT"/>
                <a:cs typeface="Gill Sans MT"/>
              </a:rPr>
              <a:t>key,</a:t>
            </a:r>
            <a:r>
              <a:rPr sz="1800" spc="-5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which</a:t>
            </a:r>
            <a:r>
              <a:rPr sz="1800" spc="1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sz="1800" spc="1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identify</a:t>
            </a:r>
            <a:r>
              <a:rPr sz="1800" spc="1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1800" spc="1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Gill Sans MT"/>
                <a:cs typeface="Gill Sans MT"/>
              </a:rPr>
              <a:t>row</a:t>
            </a:r>
            <a:r>
              <a:rPr sz="1800" spc="1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in </a:t>
            </a:r>
            <a:r>
              <a:rPr sz="1800" spc="-48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Gill Sans MT"/>
                <a:cs typeface="Gill Sans MT"/>
              </a:rPr>
              <a:t>relation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 (table)</a:t>
            </a:r>
            <a:r>
              <a:rPr sz="1800" spc="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Gill Sans MT"/>
                <a:cs typeface="Gill Sans MT"/>
              </a:rPr>
              <a:t>uniquely.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66423" y="6054344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590B8"/>
                </a:solidFill>
                <a:latin typeface="Gill Sans MT"/>
                <a:cs typeface="Gill Sans MT"/>
              </a:rPr>
              <a:t>6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7408" y="600455"/>
            <a:ext cx="1098550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465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</a:pPr>
            <a:r>
              <a:rPr sz="2800" b="1" spc="-45" dirty="0">
                <a:solidFill>
                  <a:srgbClr val="FFFFFF"/>
                </a:solidFill>
                <a:latin typeface="Trebuchet MS"/>
                <a:cs typeface="Trebuchet MS"/>
              </a:rPr>
              <a:t>ALTERNATIVE</a:t>
            </a:r>
            <a:r>
              <a:rPr sz="2800" b="1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rebuchet MS"/>
                <a:cs typeface="Trebuchet MS"/>
              </a:rPr>
              <a:t>TERMINOLOGY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4158" y="2765450"/>
            <a:ext cx="4538345" cy="1791335"/>
          </a:xfrm>
          <a:prstGeom prst="rect">
            <a:avLst/>
          </a:prstGeom>
        </p:spPr>
        <p:txBody>
          <a:bodyPr vert="horz" wrap="square" lIns="0" tIns="174625" rIns="0" bIns="0" rtlCol="0">
            <a:spAutoFit/>
          </a:bodyPr>
          <a:lstStyle/>
          <a:p>
            <a:pPr marL="317500" indent="-305435">
              <a:lnSpc>
                <a:spcPct val="100000"/>
              </a:lnSpc>
              <a:spcBef>
                <a:spcPts val="1375"/>
              </a:spcBef>
              <a:buClr>
                <a:srgbClr val="4590B8"/>
              </a:buClr>
              <a:buSzPct val="91071"/>
              <a:buFont typeface="Wingdings 2"/>
              <a:buChar char=""/>
              <a:tabLst>
                <a:tab pos="318135" algn="l"/>
              </a:tabLst>
            </a:pPr>
            <a:r>
              <a:rPr sz="2800" b="1" spc="-5" dirty="0">
                <a:solidFill>
                  <a:srgbClr val="3C3C3C"/>
                </a:solidFill>
                <a:latin typeface="Trebuchet MS"/>
                <a:cs typeface="Trebuchet MS"/>
              </a:rPr>
              <a:t>Relation,</a:t>
            </a:r>
            <a:r>
              <a:rPr sz="2800" b="1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Trebuchet MS"/>
                <a:cs typeface="Trebuchet MS"/>
              </a:rPr>
              <a:t>attribute,</a:t>
            </a:r>
            <a:r>
              <a:rPr sz="2800"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3C3C3C"/>
                </a:solidFill>
                <a:latin typeface="Trebuchet MS"/>
                <a:cs typeface="Trebuchet MS"/>
              </a:rPr>
              <a:t>tuple</a:t>
            </a:r>
            <a:endParaRPr sz="2800">
              <a:latin typeface="Trebuchet MS"/>
              <a:cs typeface="Trebuchet MS"/>
            </a:endParaRPr>
          </a:p>
          <a:p>
            <a:pPr marL="317500" indent="-305435">
              <a:lnSpc>
                <a:spcPct val="100000"/>
              </a:lnSpc>
              <a:spcBef>
                <a:spcPts val="1275"/>
              </a:spcBef>
              <a:buClr>
                <a:srgbClr val="4590B8"/>
              </a:buClr>
              <a:buSzPct val="91071"/>
              <a:buFont typeface="Wingdings 2"/>
              <a:buChar char=""/>
              <a:tabLst>
                <a:tab pos="318135" algn="l"/>
              </a:tabLst>
            </a:pPr>
            <a:r>
              <a:rPr sz="2800" b="1" spc="-60" dirty="0">
                <a:solidFill>
                  <a:srgbClr val="3C3C3C"/>
                </a:solidFill>
                <a:latin typeface="Trebuchet MS"/>
                <a:cs typeface="Trebuchet MS"/>
              </a:rPr>
              <a:t>Table,</a:t>
            </a:r>
            <a:r>
              <a:rPr sz="2800" b="1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Trebuchet MS"/>
                <a:cs typeface="Trebuchet MS"/>
              </a:rPr>
              <a:t>column,</a:t>
            </a:r>
            <a:r>
              <a:rPr sz="2800" b="1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3C3C3C"/>
                </a:solidFill>
                <a:latin typeface="Trebuchet MS"/>
                <a:cs typeface="Trebuchet MS"/>
              </a:rPr>
              <a:t>record</a:t>
            </a:r>
            <a:endParaRPr sz="2800">
              <a:latin typeface="Trebuchet MS"/>
              <a:cs typeface="Trebuchet MS"/>
            </a:endParaRPr>
          </a:p>
          <a:p>
            <a:pPr marL="317500" indent="-305435">
              <a:lnSpc>
                <a:spcPct val="100000"/>
              </a:lnSpc>
              <a:spcBef>
                <a:spcPts val="1270"/>
              </a:spcBef>
              <a:buClr>
                <a:srgbClr val="4590B8"/>
              </a:buClr>
              <a:buSzPct val="91071"/>
              <a:buFont typeface="Wingdings 2"/>
              <a:buChar char=""/>
              <a:tabLst>
                <a:tab pos="318135" algn="l"/>
              </a:tabLst>
            </a:pPr>
            <a:r>
              <a:rPr sz="2800" b="1" spc="-5" dirty="0">
                <a:solidFill>
                  <a:srgbClr val="3C3C3C"/>
                </a:solidFill>
                <a:latin typeface="Trebuchet MS"/>
                <a:cs typeface="Trebuchet MS"/>
              </a:rPr>
              <a:t>File,</a:t>
            </a:r>
            <a:r>
              <a:rPr sz="2800"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Trebuchet MS"/>
                <a:cs typeface="Trebuchet MS"/>
              </a:rPr>
              <a:t>field,</a:t>
            </a:r>
            <a:r>
              <a:rPr sz="2800"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Trebuchet MS"/>
                <a:cs typeface="Trebuchet MS"/>
              </a:rPr>
              <a:t>row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4228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7335">
                        <a:lnSpc>
                          <a:spcPct val="100000"/>
                        </a:lnSpc>
                        <a:spcBef>
                          <a:spcPts val="1940"/>
                        </a:spcBef>
                      </a:pPr>
                      <a:r>
                        <a:rPr sz="2800" b="1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PROPERTIES</a:t>
                      </a:r>
                      <a:r>
                        <a:rPr sz="28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RELATIONS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70331" y="3353904"/>
            <a:ext cx="6234430" cy="124333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1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Each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record</a:t>
            </a:r>
            <a:r>
              <a:rPr sz="18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18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distinct;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there</a:t>
            </a:r>
            <a:r>
              <a:rPr sz="1800"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are</a:t>
            </a:r>
            <a:r>
              <a:rPr sz="1800"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no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 duplicate</a:t>
            </a:r>
            <a:r>
              <a:rPr sz="1800"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records.</a:t>
            </a:r>
            <a:endParaRPr sz="1800">
              <a:latin typeface="Trebuchet MS"/>
              <a:cs typeface="Trebuchet MS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b="1" spc="-10" dirty="0">
                <a:solidFill>
                  <a:srgbClr val="3C3C3C"/>
                </a:solidFill>
                <a:latin typeface="Trebuchet MS"/>
                <a:cs typeface="Trebuchet MS"/>
              </a:rPr>
              <a:t>Order</a:t>
            </a:r>
            <a:r>
              <a:rPr sz="18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b="1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columns</a:t>
            </a:r>
            <a:r>
              <a:rPr sz="1800" b="1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has</a:t>
            </a:r>
            <a:r>
              <a:rPr sz="1800"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no</a:t>
            </a:r>
            <a:r>
              <a:rPr sz="1800" b="1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significance.</a:t>
            </a:r>
            <a:endParaRPr sz="1800">
              <a:latin typeface="Trebuchet MS"/>
              <a:cs typeface="Trebuchet MS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b="1" spc="-10" dirty="0">
                <a:solidFill>
                  <a:srgbClr val="3C3C3C"/>
                </a:solidFill>
                <a:latin typeface="Trebuchet MS"/>
                <a:cs typeface="Trebuchet MS"/>
              </a:rPr>
              <a:t>Order</a:t>
            </a:r>
            <a:r>
              <a:rPr sz="1800"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records</a:t>
            </a:r>
            <a:r>
              <a:rPr sz="18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has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no</a:t>
            </a:r>
            <a:r>
              <a:rPr sz="1800" b="1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significance,</a:t>
            </a:r>
            <a:r>
              <a:rPr sz="1800" b="1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3C3C3C"/>
                </a:solidFill>
                <a:latin typeface="Trebuchet MS"/>
                <a:cs typeface="Trebuchet MS"/>
              </a:rPr>
              <a:t>theoretically.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4228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25"/>
                        </a:spcBef>
                      </a:pPr>
                      <a:r>
                        <a:rPr sz="2800" b="1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PROPERTIES</a:t>
                      </a:r>
                      <a:r>
                        <a:rPr sz="280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2800" b="1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RELATIONS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853541" y="3120364"/>
            <a:ext cx="8160384" cy="179387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1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b="1" spc="-45" dirty="0">
                <a:solidFill>
                  <a:srgbClr val="3C3C3C"/>
                </a:solidFill>
                <a:latin typeface="Trebuchet MS"/>
                <a:cs typeface="Trebuchet MS"/>
              </a:rPr>
              <a:t>Table</a:t>
            </a:r>
            <a:r>
              <a:rPr sz="2000" b="1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spc="5" dirty="0">
                <a:solidFill>
                  <a:srgbClr val="3C3C3C"/>
                </a:solidFill>
                <a:latin typeface="Trebuchet MS"/>
                <a:cs typeface="Trebuchet MS"/>
              </a:rPr>
              <a:t>name</a:t>
            </a:r>
            <a:r>
              <a:rPr sz="2000" b="1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distinct</a:t>
            </a:r>
            <a:r>
              <a:rPr sz="2000" b="1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from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all</a:t>
            </a:r>
            <a:r>
              <a:rPr sz="2000" b="1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other</a:t>
            </a:r>
            <a:r>
              <a:rPr sz="2000"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table</a:t>
            </a:r>
            <a:r>
              <a:rPr sz="2000" b="1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names</a:t>
            </a:r>
            <a:r>
              <a:rPr sz="2000" b="1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in</a:t>
            </a:r>
            <a:r>
              <a:rPr sz="2000" b="1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the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database.</a:t>
            </a:r>
            <a:endParaRPr sz="2000">
              <a:latin typeface="Trebuchet MS"/>
              <a:cs typeface="Trebuchet MS"/>
            </a:endParaRPr>
          </a:p>
          <a:p>
            <a:pPr marL="317500" indent="-304800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Each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cell</a:t>
            </a:r>
            <a:r>
              <a:rPr sz="2000" b="1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2000" b="1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table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contains</a:t>
            </a:r>
            <a:r>
              <a:rPr sz="2000" b="1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exactly</a:t>
            </a:r>
            <a:r>
              <a:rPr sz="2000"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spc="5" dirty="0">
                <a:solidFill>
                  <a:srgbClr val="3C3C3C"/>
                </a:solidFill>
                <a:latin typeface="Trebuchet MS"/>
                <a:cs typeface="Trebuchet MS"/>
              </a:rPr>
              <a:t>one</a:t>
            </a:r>
            <a:r>
              <a:rPr sz="2000" b="1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atomic</a:t>
            </a:r>
            <a:r>
              <a:rPr sz="2000" b="1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(single)</a:t>
            </a:r>
            <a:r>
              <a:rPr sz="2000" b="1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value.</a:t>
            </a:r>
            <a:endParaRPr sz="2000">
              <a:latin typeface="Trebuchet MS"/>
              <a:cs typeface="Trebuchet MS"/>
            </a:endParaRPr>
          </a:p>
          <a:p>
            <a:pPr marL="317500" indent="-304800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Each</a:t>
            </a:r>
            <a:r>
              <a:rPr sz="2000" b="1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spc="5" dirty="0">
                <a:solidFill>
                  <a:srgbClr val="3C3C3C"/>
                </a:solidFill>
                <a:latin typeface="Trebuchet MS"/>
                <a:cs typeface="Trebuchet MS"/>
              </a:rPr>
              <a:t>column</a:t>
            </a:r>
            <a:r>
              <a:rPr sz="2000" b="1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has</a:t>
            </a:r>
            <a:r>
              <a:rPr sz="2000" b="1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000" b="1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distinct</a:t>
            </a:r>
            <a:r>
              <a:rPr sz="2000" b="1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name.</a:t>
            </a:r>
            <a:endParaRPr sz="2000">
              <a:latin typeface="Trebuchet MS"/>
              <a:cs typeface="Trebuchet MS"/>
            </a:endParaRPr>
          </a:p>
          <a:p>
            <a:pPr marL="317500" indent="-304800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b="1" spc="-25" dirty="0">
                <a:solidFill>
                  <a:srgbClr val="3C3C3C"/>
                </a:solidFill>
                <a:latin typeface="Trebuchet MS"/>
                <a:cs typeface="Trebuchet MS"/>
              </a:rPr>
              <a:t>Values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2000" b="1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column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are</a:t>
            </a:r>
            <a:r>
              <a:rPr sz="2000"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all</a:t>
            </a:r>
            <a:r>
              <a:rPr sz="2000"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from</a:t>
            </a:r>
            <a:r>
              <a:rPr sz="2000" b="1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2000" b="1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same</a:t>
            </a:r>
            <a:r>
              <a:rPr sz="2000" b="1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domain.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7408" y="600455"/>
            <a:ext cx="1098550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425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  <a:tabLst>
                <a:tab pos="3178175" algn="l"/>
              </a:tabLst>
            </a:pPr>
            <a:r>
              <a:rPr sz="3200" b="1" spc="-40" dirty="0">
                <a:solidFill>
                  <a:srgbClr val="FFFFFF"/>
                </a:solidFill>
                <a:latin typeface="Trebuchet MS"/>
                <a:cs typeface="Trebuchet MS"/>
              </a:rPr>
              <a:t>INSTANCES</a:t>
            </a:r>
            <a:r>
              <a:rPr sz="3200" b="1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rebuchet MS"/>
                <a:cs typeface="Trebuchet MS"/>
              </a:rPr>
              <a:t>OF	</a:t>
            </a:r>
            <a:r>
              <a:rPr sz="3200" b="1" spc="-5" dirty="0">
                <a:solidFill>
                  <a:srgbClr val="FFFFFF"/>
                </a:solidFill>
                <a:latin typeface="Trebuchet MS"/>
                <a:cs typeface="Trebuchet MS"/>
              </a:rPr>
              <a:t>BRANCH</a:t>
            </a:r>
            <a:r>
              <a:rPr sz="3200" b="1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32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b="1" spc="-65" dirty="0">
                <a:solidFill>
                  <a:srgbClr val="FFFFFF"/>
                </a:solidFill>
                <a:latin typeface="Trebuchet MS"/>
                <a:cs typeface="Trebuchet MS"/>
              </a:rPr>
              <a:t>STAFF</a:t>
            </a:r>
            <a:r>
              <a:rPr sz="32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b="1" spc="-65" dirty="0">
                <a:solidFill>
                  <a:srgbClr val="FFFFFF"/>
                </a:solidFill>
                <a:latin typeface="Trebuchet MS"/>
                <a:cs typeface="Trebuchet MS"/>
              </a:rPr>
              <a:t>(PART)</a:t>
            </a:r>
            <a:r>
              <a:rPr sz="32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b="1" spc="-35" dirty="0">
                <a:solidFill>
                  <a:srgbClr val="FFFFFF"/>
                </a:solidFill>
                <a:latin typeface="Trebuchet MS"/>
                <a:cs typeface="Trebuchet MS"/>
              </a:rPr>
              <a:t>RELATIONS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4675" y="1981214"/>
            <a:ext cx="6052696" cy="46146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7408" y="600455"/>
            <a:ext cx="1098550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465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</a:pPr>
            <a:r>
              <a:rPr sz="2800" b="1" spc="-5" dirty="0">
                <a:solidFill>
                  <a:srgbClr val="FFFFFF"/>
                </a:solidFill>
                <a:latin typeface="Trebuchet MS"/>
                <a:cs typeface="Trebuchet MS"/>
              </a:rPr>
              <a:t>EXAMPLE</a:t>
            </a:r>
            <a:r>
              <a:rPr sz="2800" b="1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spc="-35" dirty="0">
                <a:solidFill>
                  <a:srgbClr val="FFFFFF"/>
                </a:solidFill>
                <a:latin typeface="Trebuchet MS"/>
                <a:cs typeface="Trebuchet MS"/>
              </a:rPr>
              <a:t>ATTRIBUTE</a:t>
            </a:r>
            <a:r>
              <a:rPr sz="28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rebuchet MS"/>
                <a:cs typeface="Trebuchet MS"/>
              </a:rPr>
              <a:t>DOMAINS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92734" y="2983110"/>
            <a:ext cx="7835265" cy="2089150"/>
            <a:chOff x="2192734" y="2983110"/>
            <a:chExt cx="7835265" cy="2089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2734" y="2983110"/>
              <a:ext cx="7834878" cy="20890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539992" y="3343909"/>
              <a:ext cx="31750" cy="127000"/>
            </a:xfrm>
            <a:custGeom>
              <a:avLst/>
              <a:gdLst/>
              <a:ahLst/>
              <a:cxnLst/>
              <a:rect l="l" t="t" r="r" b="b"/>
              <a:pathLst>
                <a:path w="31750" h="127000">
                  <a:moveTo>
                    <a:pt x="31748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31748" y="127000"/>
                  </a:lnTo>
                  <a:lnTo>
                    <a:pt x="31748" y="0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4228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7335">
                        <a:lnSpc>
                          <a:spcPct val="100000"/>
                        </a:lnSpc>
                        <a:spcBef>
                          <a:spcPts val="1940"/>
                        </a:spcBef>
                      </a:pPr>
                      <a:r>
                        <a:rPr sz="28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RELATIONAL</a:t>
                      </a:r>
                      <a:r>
                        <a:rPr sz="2800" b="1" spc="-1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KEYS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143000" y="2057400"/>
            <a:ext cx="8163559" cy="476412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99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Super</a:t>
            </a:r>
            <a:r>
              <a:rPr sz="1800" b="1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key</a:t>
            </a:r>
            <a:endParaRPr sz="1800" dirty="0">
              <a:latin typeface="Trebuchet MS"/>
              <a:cs typeface="Trebuchet MS"/>
            </a:endParaRPr>
          </a:p>
          <a:p>
            <a:pPr marL="641985" lvl="1" indent="-305435">
              <a:lnSpc>
                <a:spcPct val="100000"/>
              </a:lnSpc>
              <a:spcBef>
                <a:spcPts val="785"/>
              </a:spcBef>
              <a:buClr>
                <a:srgbClr val="4590B8"/>
              </a:buClr>
              <a:buSzPct val="75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600" b="1" spc="-8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column,</a:t>
            </a:r>
            <a:r>
              <a:rPr sz="1600" b="1" spc="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or</a:t>
            </a:r>
            <a:r>
              <a:rPr sz="16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6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set</a:t>
            </a:r>
            <a:r>
              <a:rPr sz="1600" b="1" spc="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600"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columns,</a:t>
            </a:r>
            <a:r>
              <a:rPr sz="1600" b="1" spc="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that</a:t>
            </a:r>
            <a:r>
              <a:rPr sz="1600"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uniquely</a:t>
            </a:r>
            <a:r>
              <a:rPr sz="1600" b="1" spc="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identifies</a:t>
            </a:r>
            <a:r>
              <a:rPr sz="1600" b="1" spc="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6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record</a:t>
            </a:r>
            <a:r>
              <a:rPr sz="1600" b="1" spc="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within</a:t>
            </a:r>
            <a:r>
              <a:rPr sz="16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6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table.</a:t>
            </a:r>
            <a:endParaRPr sz="1600" dirty="0">
              <a:latin typeface="Trebuchet MS"/>
              <a:cs typeface="Trebuchet MS"/>
            </a:endParaRPr>
          </a:p>
          <a:p>
            <a:pPr marL="641985" lvl="1" indent="-305435">
              <a:lnSpc>
                <a:spcPct val="100000"/>
              </a:lnSpc>
              <a:spcBef>
                <a:spcPts val="795"/>
              </a:spcBef>
              <a:buClr>
                <a:srgbClr val="4590B8"/>
              </a:buClr>
              <a:buSzPct val="75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It</a:t>
            </a:r>
            <a:r>
              <a:rPr sz="1600"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1600" b="1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further</a:t>
            </a:r>
            <a:r>
              <a:rPr sz="1600"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reducible</a:t>
            </a:r>
            <a:r>
              <a:rPr sz="1600" b="1" spc="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without</a:t>
            </a:r>
            <a:r>
              <a:rPr sz="1600"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loosing</a:t>
            </a:r>
            <a:r>
              <a:rPr sz="16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uniqueness</a:t>
            </a:r>
            <a:r>
              <a:rPr sz="1600" b="1" spc="-5" dirty="0" smtClean="0">
                <a:solidFill>
                  <a:srgbClr val="3C3C3C"/>
                </a:solidFill>
                <a:latin typeface="Trebuchet MS"/>
                <a:cs typeface="Trebuchet MS"/>
              </a:rPr>
              <a:t>.</a:t>
            </a:r>
            <a:endParaRPr lang="en-US" sz="1600" b="1" spc="-5" dirty="0" smtClean="0">
              <a:solidFill>
                <a:srgbClr val="3C3C3C"/>
              </a:solidFill>
              <a:latin typeface="Trebuchet MS"/>
              <a:cs typeface="Trebuchet MS"/>
            </a:endParaRPr>
          </a:p>
          <a:p>
            <a:pPr marL="641985" lvl="1" indent="-305435">
              <a:lnSpc>
                <a:spcPct val="100000"/>
              </a:lnSpc>
              <a:spcBef>
                <a:spcPts val="795"/>
              </a:spcBef>
              <a:buClr>
                <a:srgbClr val="4590B8"/>
              </a:buClr>
              <a:buSzPct val="75000"/>
              <a:buFont typeface="Wingdings 2"/>
              <a:buChar char=""/>
              <a:tabLst>
                <a:tab pos="641985" algn="l"/>
                <a:tab pos="642620" algn="l"/>
              </a:tabLst>
            </a:pPr>
            <a:endParaRPr lang="en-US" sz="1600" b="1" spc="-5" dirty="0" smtClean="0">
              <a:solidFill>
                <a:srgbClr val="3C3C3C"/>
              </a:solidFill>
              <a:latin typeface="Trebuchet MS"/>
              <a:cs typeface="Trebuchet MS"/>
            </a:endParaRPr>
          </a:p>
          <a:p>
            <a:pPr marL="641985" lvl="1" indent="-305435">
              <a:lnSpc>
                <a:spcPct val="100000"/>
              </a:lnSpc>
              <a:spcBef>
                <a:spcPts val="795"/>
              </a:spcBef>
              <a:buClr>
                <a:srgbClr val="4590B8"/>
              </a:buClr>
              <a:buSzPct val="75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lang="en-US" sz="1600" dirty="0" smtClean="0">
                <a:latin typeface="Trebuchet MS"/>
                <a:cs typeface="Trebuchet MS"/>
              </a:rPr>
              <a:t>A super key is a set of one or more columns or attributes that can uniquely identify every row in a database table</a:t>
            </a:r>
          </a:p>
          <a:p>
            <a:pPr marL="641985" lvl="1" indent="-305435">
              <a:lnSpc>
                <a:spcPct val="100000"/>
              </a:lnSpc>
              <a:spcBef>
                <a:spcPts val="795"/>
              </a:spcBef>
              <a:buClr>
                <a:srgbClr val="4590B8"/>
              </a:buClr>
              <a:buSzPct val="75000"/>
              <a:buFont typeface="Wingdings 2"/>
              <a:buChar char=""/>
              <a:tabLst>
                <a:tab pos="641985" algn="l"/>
                <a:tab pos="642620" algn="l"/>
              </a:tabLst>
            </a:pPr>
            <a:endParaRPr sz="1600" dirty="0">
              <a:latin typeface="Trebuchet MS"/>
              <a:cs typeface="Trebuchet MS"/>
            </a:endParaRPr>
          </a:p>
          <a:p>
            <a:pPr marL="317500" indent="-304800">
              <a:lnSpc>
                <a:spcPct val="100000"/>
              </a:lnSpc>
              <a:spcBef>
                <a:spcPts val="819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Candidate</a:t>
            </a:r>
            <a:r>
              <a:rPr sz="1800" b="1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Key</a:t>
            </a:r>
            <a:endParaRPr sz="1800" dirty="0">
              <a:latin typeface="Trebuchet MS"/>
              <a:cs typeface="Trebuchet MS"/>
            </a:endParaRPr>
          </a:p>
          <a:p>
            <a:pPr marL="641985" lvl="1" indent="-305435">
              <a:lnSpc>
                <a:spcPct val="100000"/>
              </a:lnSpc>
              <a:spcBef>
                <a:spcPts val="790"/>
              </a:spcBef>
              <a:buClr>
                <a:srgbClr val="4590B8"/>
              </a:buClr>
              <a:buSzPct val="75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Super</a:t>
            </a:r>
            <a:r>
              <a:rPr sz="1600" b="1" spc="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key</a:t>
            </a:r>
            <a:r>
              <a:rPr sz="1600"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(K)</a:t>
            </a:r>
            <a:r>
              <a:rPr sz="1600"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such</a:t>
            </a:r>
            <a:r>
              <a:rPr sz="1600" b="1" spc="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that</a:t>
            </a:r>
            <a:r>
              <a:rPr sz="1600"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no</a:t>
            </a:r>
            <a:r>
              <a:rPr sz="16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proper</a:t>
            </a:r>
            <a:r>
              <a:rPr sz="1600" b="1" spc="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subset</a:t>
            </a:r>
            <a:r>
              <a:rPr sz="1600" b="1" spc="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16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600" b="1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super</a:t>
            </a:r>
            <a:r>
              <a:rPr sz="1600" b="1" spc="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key</a:t>
            </a:r>
            <a:r>
              <a:rPr sz="1600"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within</a:t>
            </a:r>
            <a:r>
              <a:rPr sz="1600"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600"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table.</a:t>
            </a:r>
            <a:endParaRPr sz="1600" dirty="0">
              <a:latin typeface="Trebuchet MS"/>
              <a:cs typeface="Trebuchet MS"/>
            </a:endParaRPr>
          </a:p>
          <a:p>
            <a:pPr marL="641985" lvl="1" indent="-305435">
              <a:lnSpc>
                <a:spcPct val="100000"/>
              </a:lnSpc>
              <a:spcBef>
                <a:spcPts val="790"/>
              </a:spcBef>
              <a:buClr>
                <a:srgbClr val="4590B8"/>
              </a:buClr>
              <a:buSzPct val="75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In</a:t>
            </a:r>
            <a:r>
              <a:rPr sz="1600"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each</a:t>
            </a:r>
            <a:r>
              <a:rPr sz="1600" b="1" spc="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record,</a:t>
            </a:r>
            <a:r>
              <a:rPr sz="1600" b="1" spc="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values</a:t>
            </a:r>
            <a:r>
              <a:rPr sz="1600" b="1" spc="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6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K</a:t>
            </a:r>
            <a:r>
              <a:rPr sz="1600"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uniquely</a:t>
            </a:r>
            <a:r>
              <a:rPr sz="1600" b="1" spc="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identify</a:t>
            </a:r>
            <a:r>
              <a:rPr sz="1600"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that</a:t>
            </a:r>
            <a:r>
              <a:rPr sz="1600" b="1" spc="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record</a:t>
            </a:r>
            <a:r>
              <a:rPr sz="1600" b="1" spc="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(</a:t>
            </a:r>
            <a:r>
              <a:rPr sz="1600" b="1" i="1" spc="-5" dirty="0">
                <a:solidFill>
                  <a:srgbClr val="3C3C3C"/>
                </a:solidFill>
                <a:latin typeface="Trebuchet MS"/>
                <a:cs typeface="Trebuchet MS"/>
              </a:rPr>
              <a:t>uniqueness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).</a:t>
            </a:r>
            <a:endParaRPr sz="1600" dirty="0">
              <a:latin typeface="Trebuchet MS"/>
              <a:cs typeface="Trebuchet MS"/>
            </a:endParaRPr>
          </a:p>
          <a:p>
            <a:pPr marL="641985" lvl="1" indent="-305435">
              <a:lnSpc>
                <a:spcPct val="100000"/>
              </a:lnSpc>
              <a:spcBef>
                <a:spcPts val="795"/>
              </a:spcBef>
              <a:buClr>
                <a:srgbClr val="4590B8"/>
              </a:buClr>
              <a:buSzPct val="75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No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proper</a:t>
            </a:r>
            <a:r>
              <a:rPr sz="1600" b="1" spc="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subset</a:t>
            </a:r>
            <a:r>
              <a:rPr sz="1600" b="1" spc="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600" b="1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K</a:t>
            </a:r>
            <a:r>
              <a:rPr sz="1600"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has</a:t>
            </a:r>
            <a:r>
              <a:rPr sz="16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6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uniqueness</a:t>
            </a:r>
            <a:r>
              <a:rPr sz="1600" b="1" spc="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property</a:t>
            </a:r>
            <a:r>
              <a:rPr sz="1600" b="1" spc="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(</a:t>
            </a:r>
            <a:r>
              <a:rPr sz="1600" b="1" i="1" spc="-5" dirty="0">
                <a:solidFill>
                  <a:srgbClr val="3C3C3C"/>
                </a:solidFill>
                <a:latin typeface="Trebuchet MS"/>
                <a:cs typeface="Trebuchet MS"/>
              </a:rPr>
              <a:t>irreducibility</a:t>
            </a:r>
            <a:r>
              <a:rPr sz="1600" b="1" spc="-5" dirty="0" smtClean="0">
                <a:solidFill>
                  <a:srgbClr val="3C3C3C"/>
                </a:solidFill>
                <a:latin typeface="Trebuchet MS"/>
                <a:cs typeface="Trebuchet MS"/>
              </a:rPr>
              <a:t>).</a:t>
            </a:r>
            <a:endParaRPr lang="en-US" sz="1600" b="1" spc="-5" dirty="0">
              <a:solidFill>
                <a:srgbClr val="3C3C3C"/>
              </a:solidFill>
              <a:latin typeface="Trebuchet MS"/>
              <a:cs typeface="Trebuchet MS"/>
            </a:endParaRPr>
          </a:p>
          <a:p>
            <a:pPr marL="641985" lvl="1" indent="-305435">
              <a:lnSpc>
                <a:spcPct val="100000"/>
              </a:lnSpc>
              <a:spcBef>
                <a:spcPts val="795"/>
              </a:spcBef>
              <a:buClr>
                <a:srgbClr val="4590B8"/>
              </a:buClr>
              <a:buSzPct val="75000"/>
              <a:buFont typeface="Wingdings 2"/>
              <a:buChar char=""/>
              <a:tabLst>
                <a:tab pos="641985" algn="l"/>
                <a:tab pos="642620" algn="l"/>
              </a:tabLst>
            </a:pPr>
            <a:endParaRPr lang="en-US" sz="1600" b="1" spc="-5" dirty="0" smtClean="0">
              <a:solidFill>
                <a:srgbClr val="3C3C3C"/>
              </a:solidFill>
              <a:latin typeface="Trebuchet MS"/>
              <a:cs typeface="Trebuchet MS"/>
            </a:endParaRPr>
          </a:p>
          <a:p>
            <a:pPr marL="641985" lvl="1" indent="-305435">
              <a:lnSpc>
                <a:spcPct val="100000"/>
              </a:lnSpc>
              <a:spcBef>
                <a:spcPts val="795"/>
              </a:spcBef>
              <a:buClr>
                <a:srgbClr val="4590B8"/>
              </a:buClr>
              <a:buSzPct val="75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lang="en-US" sz="1600" dirty="0" smtClean="0">
                <a:latin typeface="Trebuchet MS"/>
                <a:cs typeface="Trebuchet MS"/>
              </a:rPr>
              <a:t>A candidate key in a (DBMS) is a single column or a minimal set of columns that can uniquely identify each row in a table.</a:t>
            </a:r>
            <a:endParaRPr sz="1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4228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7335">
                        <a:lnSpc>
                          <a:spcPct val="100000"/>
                        </a:lnSpc>
                        <a:spcBef>
                          <a:spcPts val="1940"/>
                        </a:spcBef>
                      </a:pPr>
                      <a:r>
                        <a:rPr sz="28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RELATIONAL</a:t>
                      </a:r>
                      <a:r>
                        <a:rPr sz="2800" b="1" spc="-1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KEYS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841959" y="2789906"/>
            <a:ext cx="9015730" cy="2421890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99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Primary</a:t>
            </a:r>
            <a:r>
              <a:rPr sz="1800" b="1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Key</a:t>
            </a:r>
            <a:endParaRPr sz="1800">
              <a:latin typeface="Trebuchet MS"/>
              <a:cs typeface="Trebuchet MS"/>
            </a:endParaRPr>
          </a:p>
          <a:p>
            <a:pPr marL="641985" lvl="1" indent="-305435">
              <a:lnSpc>
                <a:spcPct val="100000"/>
              </a:lnSpc>
              <a:spcBef>
                <a:spcPts val="790"/>
              </a:spcBef>
              <a:buClr>
                <a:srgbClr val="4590B8"/>
              </a:buClr>
              <a:buSzPct val="75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Candidate</a:t>
            </a:r>
            <a:r>
              <a:rPr sz="16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key</a:t>
            </a:r>
            <a:r>
              <a:rPr sz="16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selected</a:t>
            </a:r>
            <a:r>
              <a:rPr sz="1600" b="1" spc="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16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identify</a:t>
            </a:r>
            <a:r>
              <a:rPr sz="1600" b="1" spc="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records</a:t>
            </a:r>
            <a:r>
              <a:rPr sz="1600" b="1" spc="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uniquely</a:t>
            </a:r>
            <a:r>
              <a:rPr sz="1600" b="1" spc="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within</a:t>
            </a:r>
            <a:r>
              <a:rPr sz="1600" b="1" spc="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table.</a:t>
            </a:r>
            <a:endParaRPr sz="1600">
              <a:latin typeface="Trebuchet MS"/>
              <a:cs typeface="Trebuchet MS"/>
            </a:endParaRPr>
          </a:p>
          <a:p>
            <a:pPr marL="317500" indent="-304800">
              <a:lnSpc>
                <a:spcPct val="100000"/>
              </a:lnSpc>
              <a:spcBef>
                <a:spcPts val="819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Alternate</a:t>
            </a:r>
            <a:r>
              <a:rPr sz="1800" b="1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Keys</a:t>
            </a:r>
            <a:endParaRPr sz="1800">
              <a:latin typeface="Trebuchet MS"/>
              <a:cs typeface="Trebuchet MS"/>
            </a:endParaRPr>
          </a:p>
          <a:p>
            <a:pPr marL="641985" lvl="1" indent="-305435">
              <a:lnSpc>
                <a:spcPct val="100000"/>
              </a:lnSpc>
              <a:spcBef>
                <a:spcPts val="790"/>
              </a:spcBef>
              <a:buClr>
                <a:srgbClr val="4590B8"/>
              </a:buClr>
              <a:buSzPct val="75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Candidate</a:t>
            </a:r>
            <a:r>
              <a:rPr sz="1600"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keys</a:t>
            </a:r>
            <a:r>
              <a:rPr sz="1600" b="1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that</a:t>
            </a:r>
            <a:r>
              <a:rPr sz="1600" b="1" spc="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are</a:t>
            </a:r>
            <a:r>
              <a:rPr sz="1600"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not</a:t>
            </a:r>
            <a:r>
              <a:rPr sz="1600"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selected</a:t>
            </a:r>
            <a:r>
              <a:rPr sz="1600" b="1" spc="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1600"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be</a:t>
            </a:r>
            <a:r>
              <a:rPr sz="1600"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primary</a:t>
            </a:r>
            <a:r>
              <a:rPr sz="1600" b="1" spc="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3C3C3C"/>
                </a:solidFill>
                <a:latin typeface="Trebuchet MS"/>
                <a:cs typeface="Trebuchet MS"/>
              </a:rPr>
              <a:t>key.</a:t>
            </a:r>
            <a:endParaRPr sz="1600">
              <a:latin typeface="Trebuchet MS"/>
              <a:cs typeface="Trebuchet MS"/>
            </a:endParaRPr>
          </a:p>
          <a:p>
            <a:pPr marL="317500" indent="-304800">
              <a:lnSpc>
                <a:spcPct val="100000"/>
              </a:lnSpc>
              <a:spcBef>
                <a:spcPts val="819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b="1" spc="-15" dirty="0">
                <a:solidFill>
                  <a:srgbClr val="3C3C3C"/>
                </a:solidFill>
                <a:latin typeface="Trebuchet MS"/>
                <a:cs typeface="Trebuchet MS"/>
              </a:rPr>
              <a:t>Foreign</a:t>
            </a:r>
            <a:r>
              <a:rPr sz="1800" b="1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Key</a:t>
            </a:r>
            <a:endParaRPr sz="1800">
              <a:latin typeface="Trebuchet MS"/>
              <a:cs typeface="Trebuchet MS"/>
            </a:endParaRPr>
          </a:p>
          <a:p>
            <a:pPr marL="641985" marR="5080" lvl="1" indent="-305435">
              <a:lnSpc>
                <a:spcPts val="1730"/>
              </a:lnSpc>
              <a:spcBef>
                <a:spcPts val="1005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Column,</a:t>
            </a:r>
            <a:r>
              <a:rPr sz="1600" b="1" spc="40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or</a:t>
            </a:r>
            <a:r>
              <a:rPr sz="1600" b="1" spc="4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set</a:t>
            </a:r>
            <a:r>
              <a:rPr sz="1600" b="1" spc="4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600" b="1" spc="409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columns,</a:t>
            </a:r>
            <a:r>
              <a:rPr sz="1600" b="1" spc="4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within</a:t>
            </a:r>
            <a:r>
              <a:rPr sz="1600" b="1" spc="409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3C3C3C"/>
                </a:solidFill>
                <a:latin typeface="Trebuchet MS"/>
                <a:cs typeface="Trebuchet MS"/>
              </a:rPr>
              <a:t>one</a:t>
            </a:r>
            <a:r>
              <a:rPr sz="1600" b="1" spc="409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table</a:t>
            </a:r>
            <a:r>
              <a:rPr sz="1600" b="1" spc="409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that</a:t>
            </a:r>
            <a:r>
              <a:rPr sz="1600" b="1" spc="4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matches</a:t>
            </a:r>
            <a:r>
              <a:rPr sz="1600" b="1" spc="4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candidate</a:t>
            </a:r>
            <a:r>
              <a:rPr sz="1600" b="1" spc="39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3C3C3C"/>
                </a:solidFill>
                <a:latin typeface="Trebuchet MS"/>
                <a:cs typeface="Trebuchet MS"/>
              </a:rPr>
              <a:t>key</a:t>
            </a:r>
            <a:r>
              <a:rPr sz="1600" b="1" spc="4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600" b="1" spc="4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some </a:t>
            </a:r>
            <a:r>
              <a:rPr sz="1600" b="1" spc="-4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(possibly</a:t>
            </a:r>
            <a:r>
              <a:rPr sz="1600"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same)</a:t>
            </a:r>
            <a:r>
              <a:rPr sz="1600" b="1" spc="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table.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7408" y="600455"/>
            <a:ext cx="1098550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4700">
              <a:latin typeface="Times New Roman"/>
              <a:cs typeface="Times New Roman"/>
            </a:endParaRPr>
          </a:p>
          <a:p>
            <a:pPr marL="267335">
              <a:lnSpc>
                <a:spcPct val="100000"/>
              </a:lnSpc>
            </a:pPr>
            <a:r>
              <a:rPr sz="2800" b="1" spc="-30" dirty="0">
                <a:solidFill>
                  <a:srgbClr val="FFFFFF"/>
                </a:solidFill>
                <a:latin typeface="Trebuchet MS"/>
                <a:cs typeface="Trebuchet MS"/>
              </a:rPr>
              <a:t>RELATIONAL</a:t>
            </a:r>
            <a:r>
              <a:rPr sz="28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rebuchet MS"/>
                <a:cs typeface="Trebuchet MS"/>
              </a:rPr>
              <a:t>INTEGRITY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2627" y="2593899"/>
            <a:ext cx="9149715" cy="2679700"/>
          </a:xfrm>
          <a:prstGeom prst="rect">
            <a:avLst/>
          </a:prstGeom>
        </p:spPr>
        <p:txBody>
          <a:bodyPr vert="horz" wrap="square" lIns="0" tIns="23876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880"/>
              </a:spcBef>
              <a:buClr>
                <a:srgbClr val="4590B8"/>
              </a:buClr>
              <a:buSzPct val="92187"/>
              <a:buFont typeface="Wingdings 2"/>
              <a:buChar char=""/>
              <a:tabLst>
                <a:tab pos="317500" algn="l"/>
              </a:tabLst>
            </a:pPr>
            <a:r>
              <a:rPr sz="3200" b="1" spc="-5" dirty="0">
                <a:solidFill>
                  <a:srgbClr val="3C3C3C"/>
                </a:solidFill>
                <a:latin typeface="Trebuchet MS"/>
                <a:cs typeface="Trebuchet MS"/>
              </a:rPr>
              <a:t>Null</a:t>
            </a:r>
            <a:endParaRPr sz="3200">
              <a:latin typeface="Trebuchet MS"/>
              <a:cs typeface="Trebuchet MS"/>
            </a:endParaRPr>
          </a:p>
          <a:p>
            <a:pPr marL="641985" marR="6985" lvl="1" indent="-305435">
              <a:lnSpc>
                <a:spcPct val="100000"/>
              </a:lnSpc>
              <a:spcBef>
                <a:spcPts val="1115"/>
              </a:spcBef>
              <a:buClr>
                <a:srgbClr val="4590B8"/>
              </a:buClr>
              <a:buSzPct val="75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2000" spc="-15" dirty="0">
                <a:solidFill>
                  <a:srgbClr val="3C3C3C"/>
                </a:solidFill>
                <a:latin typeface="Trebuchet MS"/>
                <a:cs typeface="Trebuchet MS"/>
              </a:rPr>
              <a:t>Represents</a:t>
            </a:r>
            <a:r>
              <a:rPr sz="2000" spc="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value</a:t>
            </a:r>
            <a:r>
              <a:rPr sz="2000" spc="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C3C3C"/>
                </a:solidFill>
                <a:latin typeface="Trebuchet MS"/>
                <a:cs typeface="Trebuchet MS"/>
              </a:rPr>
              <a:t>for</a:t>
            </a:r>
            <a:r>
              <a:rPr sz="2000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000" spc="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column</a:t>
            </a:r>
            <a:r>
              <a:rPr sz="2000" spc="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Trebuchet MS"/>
                <a:cs typeface="Trebuchet MS"/>
              </a:rPr>
              <a:t>that</a:t>
            </a:r>
            <a:r>
              <a:rPr sz="2000" spc="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2000" spc="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currently</a:t>
            </a:r>
            <a:r>
              <a:rPr sz="2000" spc="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unknown</a:t>
            </a:r>
            <a:r>
              <a:rPr sz="2000" spc="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or</a:t>
            </a:r>
            <a:r>
              <a:rPr sz="2000" spc="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not</a:t>
            </a:r>
            <a:r>
              <a:rPr sz="2000" spc="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applicable </a:t>
            </a:r>
            <a:r>
              <a:rPr sz="2000" spc="-58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C3C3C"/>
                </a:solidFill>
                <a:latin typeface="Trebuchet MS"/>
                <a:cs typeface="Trebuchet MS"/>
              </a:rPr>
              <a:t>for</a:t>
            </a:r>
            <a:r>
              <a:rPr sz="20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C3C3C"/>
                </a:solidFill>
                <a:latin typeface="Trebuchet MS"/>
                <a:cs typeface="Trebuchet MS"/>
              </a:rPr>
              <a:t>record.</a:t>
            </a:r>
            <a:endParaRPr sz="2000">
              <a:latin typeface="Trebuchet MS"/>
              <a:cs typeface="Trebuchet MS"/>
            </a:endParaRPr>
          </a:p>
          <a:p>
            <a:pPr marL="641985" lvl="1" indent="-305435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75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Deals</a:t>
            </a:r>
            <a:r>
              <a:rPr sz="20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with</a:t>
            </a:r>
            <a:r>
              <a:rPr sz="20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incomplete</a:t>
            </a:r>
            <a:r>
              <a:rPr sz="20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C3C3C"/>
                </a:solidFill>
                <a:latin typeface="Trebuchet MS"/>
                <a:cs typeface="Trebuchet MS"/>
              </a:rPr>
              <a:t>or</a:t>
            </a:r>
            <a:r>
              <a:rPr sz="20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C3C3C"/>
                </a:solidFill>
                <a:latin typeface="Trebuchet MS"/>
                <a:cs typeface="Trebuchet MS"/>
              </a:rPr>
              <a:t>exceptional</a:t>
            </a:r>
            <a:r>
              <a:rPr sz="20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data.</a:t>
            </a:r>
            <a:endParaRPr sz="2000">
              <a:latin typeface="Trebuchet MS"/>
              <a:cs typeface="Trebuchet MS"/>
            </a:endParaRPr>
          </a:p>
          <a:p>
            <a:pPr marL="641985" marR="5080" lvl="1" indent="-305435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75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2000" spc="-15" dirty="0">
                <a:solidFill>
                  <a:srgbClr val="3C3C3C"/>
                </a:solidFill>
                <a:latin typeface="Trebuchet MS"/>
                <a:cs typeface="Trebuchet MS"/>
              </a:rPr>
              <a:t>Represents</a:t>
            </a:r>
            <a:r>
              <a:rPr sz="2000" spc="1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2000" spc="10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absence</a:t>
            </a:r>
            <a:r>
              <a:rPr sz="2000" spc="1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2000" spc="114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000" spc="9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value</a:t>
            </a:r>
            <a:r>
              <a:rPr sz="2000" spc="10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and</a:t>
            </a:r>
            <a:r>
              <a:rPr sz="2000" spc="9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2000" spc="114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not</a:t>
            </a:r>
            <a:r>
              <a:rPr sz="2000" spc="9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2000" spc="1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same</a:t>
            </a:r>
            <a:r>
              <a:rPr sz="2000" spc="1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as</a:t>
            </a:r>
            <a:r>
              <a:rPr sz="2000" spc="1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C3C3C"/>
                </a:solidFill>
                <a:latin typeface="Trebuchet MS"/>
                <a:cs typeface="Trebuchet MS"/>
              </a:rPr>
              <a:t>zero</a:t>
            </a:r>
            <a:r>
              <a:rPr sz="2000" spc="9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or</a:t>
            </a:r>
            <a:r>
              <a:rPr sz="2000" spc="10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spaces, </a:t>
            </a:r>
            <a:r>
              <a:rPr sz="2000" spc="-58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which</a:t>
            </a:r>
            <a:r>
              <a:rPr sz="20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are</a:t>
            </a:r>
            <a:r>
              <a:rPr sz="20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C3C3C"/>
                </a:solidFill>
                <a:latin typeface="Trebuchet MS"/>
                <a:cs typeface="Trebuchet MS"/>
              </a:rPr>
              <a:t>values.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7335">
                        <a:lnSpc>
                          <a:spcPct val="100000"/>
                        </a:lnSpc>
                        <a:spcBef>
                          <a:spcPts val="1940"/>
                        </a:spcBef>
                      </a:pPr>
                      <a:r>
                        <a:rPr sz="28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RELATIONAL</a:t>
                      </a:r>
                      <a:r>
                        <a:rPr sz="2800" b="1" spc="-1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INTEGRITY</a:t>
                      </a:r>
                      <a:r>
                        <a:rPr sz="2800" b="1" spc="-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CONSTRAINTS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852627" y="2596642"/>
            <a:ext cx="9012555" cy="2295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  <a:spcBef>
                <a:spcPts val="10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Every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relation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has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some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conditions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must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hold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it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valid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relation.</a:t>
            </a:r>
            <a:r>
              <a:rPr sz="2000" spc="6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These </a:t>
            </a:r>
            <a:r>
              <a:rPr sz="2000" spc="-5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conditions</a:t>
            </a:r>
            <a:r>
              <a:rPr sz="2000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are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called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Relational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Integrity</a:t>
            </a:r>
            <a:r>
              <a:rPr sz="2000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Constraints.</a:t>
            </a:r>
            <a:endParaRPr sz="20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9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There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three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main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integrity</a:t>
            </a:r>
            <a:r>
              <a:rPr sz="2000" spc="-5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constraints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Arial"/>
                <a:cs typeface="Arial"/>
              </a:rPr>
              <a:t>−</a:t>
            </a:r>
            <a:endParaRPr sz="2000">
              <a:latin typeface="Arial"/>
              <a:cs typeface="Arial"/>
            </a:endParaRPr>
          </a:p>
          <a:p>
            <a:pPr marL="641985" lvl="1" indent="-305435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800" spc="-50" dirty="0">
                <a:solidFill>
                  <a:srgbClr val="3C3C3C"/>
                </a:solidFill>
                <a:latin typeface="Gill Sans MT"/>
                <a:cs typeface="Gill Sans MT"/>
              </a:rPr>
              <a:t>Key</a:t>
            </a:r>
            <a:r>
              <a:rPr sz="18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constraints</a:t>
            </a:r>
            <a:r>
              <a:rPr sz="1800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(Entity</a:t>
            </a:r>
            <a:r>
              <a:rPr sz="18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Integrity)</a:t>
            </a:r>
            <a:endParaRPr sz="1800">
              <a:latin typeface="Gill Sans MT"/>
              <a:cs typeface="Gill Sans MT"/>
            </a:endParaRPr>
          </a:p>
          <a:p>
            <a:pPr marL="641985" lvl="1" indent="-305435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Referential</a:t>
            </a:r>
            <a:r>
              <a:rPr sz="18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integrity</a:t>
            </a:r>
            <a:r>
              <a:rPr sz="18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constraints</a:t>
            </a:r>
            <a:endParaRPr sz="1800">
              <a:latin typeface="Gill Sans MT"/>
              <a:cs typeface="Gill Sans MT"/>
            </a:endParaRPr>
          </a:p>
          <a:p>
            <a:pPr marL="641985" lvl="1" indent="-305435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Domain</a:t>
            </a:r>
            <a:r>
              <a:rPr sz="18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constraints</a:t>
            </a:r>
            <a:r>
              <a:rPr sz="1800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Gill Sans MT"/>
                <a:cs typeface="Gill Sans MT"/>
              </a:rPr>
              <a:t>(Business</a:t>
            </a:r>
            <a:r>
              <a:rPr sz="18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3C3C3C"/>
                </a:solidFill>
                <a:latin typeface="Gill Sans MT"/>
                <a:cs typeface="Gill Sans MT"/>
              </a:rPr>
              <a:t>rules)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7335">
                        <a:lnSpc>
                          <a:spcPct val="100000"/>
                        </a:lnSpc>
                        <a:spcBef>
                          <a:spcPts val="1940"/>
                        </a:spcBef>
                      </a:pPr>
                      <a:r>
                        <a:rPr sz="28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RELATIONAL</a:t>
                      </a:r>
                      <a:r>
                        <a:rPr sz="2800" b="1" spc="-1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INTEGRITY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56868" y="2447796"/>
            <a:ext cx="7131684" cy="217995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16865" indent="-304800">
              <a:lnSpc>
                <a:spcPct val="100000"/>
              </a:lnSpc>
              <a:spcBef>
                <a:spcPts val="7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Entity</a:t>
            </a:r>
            <a:r>
              <a:rPr sz="2000" b="1" spc="-8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Integrity</a:t>
            </a:r>
            <a:endParaRPr sz="2000">
              <a:latin typeface="Trebuchet MS"/>
              <a:cs typeface="Trebuchet MS"/>
            </a:endParaRPr>
          </a:p>
          <a:p>
            <a:pPr marL="641985" lvl="1" indent="-305435">
              <a:lnSpc>
                <a:spcPct val="100000"/>
              </a:lnSpc>
              <a:spcBef>
                <a:spcPts val="605"/>
              </a:spcBef>
              <a:buClr>
                <a:srgbClr val="4590B8"/>
              </a:buClr>
              <a:buSzPct val="75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In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a 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base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table,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no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column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a primary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key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can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be 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null.</a:t>
            </a:r>
            <a:endParaRPr sz="18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buClr>
                <a:srgbClr val="4590B8"/>
              </a:buClr>
              <a:buFont typeface="Wingdings 2"/>
              <a:buChar char=""/>
            </a:pPr>
            <a:endParaRPr sz="21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buClr>
                <a:srgbClr val="4590B8"/>
              </a:buClr>
              <a:buFont typeface="Wingdings 2"/>
              <a:buChar char=""/>
            </a:pPr>
            <a:endParaRPr sz="2650">
              <a:latin typeface="Trebuchet MS"/>
              <a:cs typeface="Trebuchet MS"/>
            </a:endParaRPr>
          </a:p>
          <a:p>
            <a:pPr marL="316865" indent="-304800">
              <a:lnSpc>
                <a:spcPct val="100000"/>
              </a:lnSpc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Business</a:t>
            </a:r>
            <a:r>
              <a:rPr sz="2000" b="1" spc="-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Rules</a:t>
            </a:r>
            <a:endParaRPr sz="2000">
              <a:latin typeface="Trebuchet MS"/>
              <a:cs typeface="Trebuchet MS"/>
            </a:endParaRPr>
          </a:p>
          <a:p>
            <a:pPr marL="641985" lvl="1" indent="-305435">
              <a:lnSpc>
                <a:spcPct val="100000"/>
              </a:lnSpc>
              <a:spcBef>
                <a:spcPts val="1040"/>
              </a:spcBef>
              <a:buClr>
                <a:srgbClr val="4590B8"/>
              </a:buClr>
              <a:buSzPct val="75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Rules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that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define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or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constrain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 some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aspect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organization.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7335">
                        <a:lnSpc>
                          <a:spcPct val="100000"/>
                        </a:lnSpc>
                        <a:spcBef>
                          <a:spcPts val="1940"/>
                        </a:spcBef>
                      </a:pPr>
                      <a:r>
                        <a:rPr sz="28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RELATIONAL</a:t>
                      </a:r>
                      <a:r>
                        <a:rPr sz="2800" b="1" spc="-1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INTEGRITY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1133721" y="3821143"/>
            <a:ext cx="10314305" cy="1981835"/>
            <a:chOff x="1133721" y="3821143"/>
            <a:chExt cx="10314305" cy="19818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3721" y="3821143"/>
              <a:ext cx="3230381" cy="29551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7319" y="4035564"/>
              <a:ext cx="406133" cy="5295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49551" y="4014215"/>
              <a:ext cx="1343406" cy="56769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53867" y="4014215"/>
              <a:ext cx="467118" cy="5676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51988" y="4014215"/>
              <a:ext cx="736853" cy="56769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49751" y="4014215"/>
              <a:ext cx="384822" cy="56769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95472" y="4014215"/>
              <a:ext cx="2123694" cy="56769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80076" y="4014215"/>
              <a:ext cx="447281" cy="56769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88279" y="4014215"/>
              <a:ext cx="1006601" cy="56769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55791" y="4014215"/>
              <a:ext cx="512825" cy="56769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29527" y="4014215"/>
              <a:ext cx="3156966" cy="56769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47404" y="4014215"/>
              <a:ext cx="447281" cy="56769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055607" y="4014215"/>
              <a:ext cx="1433322" cy="56769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149840" y="4014215"/>
              <a:ext cx="514350" cy="56769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325100" y="4014215"/>
              <a:ext cx="744474" cy="56769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7319" y="4340364"/>
              <a:ext cx="406133" cy="52957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49551" y="4319015"/>
              <a:ext cx="1396746" cy="56769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07207" y="4319015"/>
              <a:ext cx="467118" cy="56769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03804" y="4319015"/>
              <a:ext cx="2430018" cy="56769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94732" y="4319015"/>
              <a:ext cx="447281" cy="56769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02935" y="4319015"/>
              <a:ext cx="1433321" cy="56769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97167" y="4319015"/>
              <a:ext cx="514349" cy="56769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472427" y="4319015"/>
              <a:ext cx="4025646" cy="56769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58983" y="4319015"/>
              <a:ext cx="447281" cy="56769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267188" y="4319015"/>
              <a:ext cx="1006601" cy="56769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934700" y="4319015"/>
              <a:ext cx="512825" cy="56769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49551" y="4623815"/>
              <a:ext cx="2678429" cy="56769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7319" y="4949964"/>
              <a:ext cx="406133" cy="52957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49551" y="4928615"/>
              <a:ext cx="736854" cy="56769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147315" y="4928615"/>
              <a:ext cx="424421" cy="56769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232659" y="4928615"/>
              <a:ext cx="593598" cy="56769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487167" y="4928615"/>
              <a:ext cx="424421" cy="56769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572511" y="4928615"/>
              <a:ext cx="902969" cy="56769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36391" y="4928615"/>
              <a:ext cx="467118" cy="56769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334511" y="4928615"/>
              <a:ext cx="8090154" cy="56769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749551" y="5234939"/>
              <a:ext cx="814577" cy="56769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225039" y="5233415"/>
              <a:ext cx="589026" cy="56769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545079" y="5234939"/>
              <a:ext cx="3338322" cy="56769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638657" y="2279370"/>
            <a:ext cx="10682605" cy="3350260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Trebuchet MS"/>
                <a:cs typeface="Trebuchet MS"/>
              </a:rPr>
              <a:t>Referential</a:t>
            </a:r>
            <a:r>
              <a:rPr sz="2000" b="1" spc="-85" dirty="0">
                <a:latin typeface="Trebuchet MS"/>
                <a:cs typeface="Trebuchet MS"/>
              </a:rPr>
              <a:t> </a:t>
            </a:r>
            <a:r>
              <a:rPr sz="2000" b="1" spc="-5" dirty="0">
                <a:latin typeface="Trebuchet MS"/>
                <a:cs typeface="Trebuchet MS"/>
              </a:rPr>
              <a:t>Integrity</a:t>
            </a:r>
            <a:endParaRPr sz="2000">
              <a:latin typeface="Trebuchet MS"/>
              <a:cs typeface="Trebuchet MS"/>
            </a:endParaRPr>
          </a:p>
          <a:p>
            <a:pPr marL="469900" marR="5080">
              <a:lnSpc>
                <a:spcPct val="80000"/>
              </a:lnSpc>
              <a:spcBef>
                <a:spcPts val="1895"/>
              </a:spcBef>
            </a:pPr>
            <a:r>
              <a:rPr sz="2000" dirty="0">
                <a:latin typeface="Gill Sans MT"/>
                <a:cs typeface="Gill Sans MT"/>
              </a:rPr>
              <a:t>If </a:t>
            </a:r>
            <a:r>
              <a:rPr sz="2000" spc="-10" dirty="0">
                <a:latin typeface="Gill Sans MT"/>
                <a:cs typeface="Gill Sans MT"/>
              </a:rPr>
              <a:t>FK </a:t>
            </a:r>
            <a:r>
              <a:rPr sz="2000" dirty="0">
                <a:latin typeface="Gill Sans MT"/>
                <a:cs typeface="Gill Sans MT"/>
              </a:rPr>
              <a:t>exists </a:t>
            </a:r>
            <a:r>
              <a:rPr sz="2000" spc="-5" dirty="0">
                <a:latin typeface="Gill Sans MT"/>
                <a:cs typeface="Gill Sans MT"/>
              </a:rPr>
              <a:t>in </a:t>
            </a:r>
            <a:r>
              <a:rPr sz="2000" dirty="0">
                <a:latin typeface="Gill Sans MT"/>
                <a:cs typeface="Gill Sans MT"/>
              </a:rPr>
              <a:t>a table, either </a:t>
            </a:r>
            <a:r>
              <a:rPr sz="2000" spc="-5" dirty="0">
                <a:latin typeface="Gill Sans MT"/>
                <a:cs typeface="Gill Sans MT"/>
              </a:rPr>
              <a:t>FK value </a:t>
            </a:r>
            <a:r>
              <a:rPr sz="2000" spc="-10" dirty="0">
                <a:latin typeface="Gill Sans MT"/>
                <a:cs typeface="Gill Sans MT"/>
              </a:rPr>
              <a:t>must </a:t>
            </a:r>
            <a:r>
              <a:rPr sz="2000" spc="-5" dirty="0">
                <a:latin typeface="Gill Sans MT"/>
                <a:cs typeface="Gill Sans MT"/>
              </a:rPr>
              <a:t>match </a:t>
            </a:r>
            <a:r>
              <a:rPr sz="2000" dirty="0">
                <a:latin typeface="Gill Sans MT"/>
                <a:cs typeface="Gill Sans MT"/>
              </a:rPr>
              <a:t>a candidate </a:t>
            </a:r>
            <a:r>
              <a:rPr sz="2000" spc="-35" dirty="0">
                <a:latin typeface="Gill Sans MT"/>
                <a:cs typeface="Gill Sans MT"/>
              </a:rPr>
              <a:t>key </a:t>
            </a:r>
            <a:r>
              <a:rPr sz="2000" spc="-5" dirty="0">
                <a:latin typeface="Gill Sans MT"/>
                <a:cs typeface="Gill Sans MT"/>
              </a:rPr>
              <a:t>value </a:t>
            </a:r>
            <a:r>
              <a:rPr sz="2000" spc="-10" dirty="0">
                <a:latin typeface="Gill Sans MT"/>
                <a:cs typeface="Gill Sans MT"/>
              </a:rPr>
              <a:t>of </a:t>
            </a:r>
            <a:r>
              <a:rPr sz="2000" dirty="0">
                <a:latin typeface="Gill Sans MT"/>
                <a:cs typeface="Gill Sans MT"/>
              </a:rPr>
              <a:t>some </a:t>
            </a:r>
            <a:r>
              <a:rPr sz="2000" spc="-15" dirty="0">
                <a:latin typeface="Gill Sans MT"/>
                <a:cs typeface="Gill Sans MT"/>
              </a:rPr>
              <a:t>record </a:t>
            </a:r>
            <a:r>
              <a:rPr sz="2000" dirty="0">
                <a:latin typeface="Gill Sans MT"/>
                <a:cs typeface="Gill Sans MT"/>
              </a:rPr>
              <a:t>in </a:t>
            </a:r>
            <a:r>
              <a:rPr sz="2000" spc="-5" dirty="0">
                <a:latin typeface="Gill Sans MT"/>
                <a:cs typeface="Gill Sans MT"/>
              </a:rPr>
              <a:t>its home </a:t>
            </a:r>
            <a:r>
              <a:rPr sz="2000" spc="-54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table</a:t>
            </a:r>
            <a:r>
              <a:rPr sz="2000" spc="-2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or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FK</a:t>
            </a:r>
            <a:r>
              <a:rPr sz="2000" spc="-1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value</a:t>
            </a:r>
            <a:r>
              <a:rPr sz="2000" spc="-1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must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be</a:t>
            </a:r>
            <a:r>
              <a:rPr sz="2000" spc="-5" dirty="0">
                <a:latin typeface="Gill Sans MT"/>
                <a:cs typeface="Gill Sans MT"/>
              </a:rPr>
              <a:t> wholly</a:t>
            </a:r>
            <a:r>
              <a:rPr sz="2000" spc="-3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null</a:t>
            </a:r>
            <a:r>
              <a:rPr sz="180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714"/>
              </a:spcBef>
            </a:pPr>
            <a:r>
              <a:rPr sz="2400" spc="-35" dirty="0">
                <a:latin typeface="Gill Sans MT"/>
                <a:cs typeface="Gill Sans MT"/>
              </a:rPr>
              <a:t>F</a:t>
            </a:r>
            <a:r>
              <a:rPr sz="2400" dirty="0">
                <a:latin typeface="Gill Sans MT"/>
                <a:cs typeface="Gill Sans MT"/>
              </a:rPr>
              <a:t>or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example:</a:t>
            </a:r>
            <a:r>
              <a:rPr sz="2400" spc="-240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D</a:t>
            </a:r>
            <a:r>
              <a:rPr sz="2400" dirty="0">
                <a:latin typeface="Gill Sans MT"/>
                <a:cs typeface="Gill Sans MT"/>
              </a:rPr>
              <a:t>ele</a:t>
            </a:r>
            <a:r>
              <a:rPr sz="2400" spc="5" dirty="0">
                <a:latin typeface="Gill Sans MT"/>
                <a:cs typeface="Gill Sans MT"/>
              </a:rPr>
              <a:t>t</a:t>
            </a:r>
            <a:r>
              <a:rPr sz="2400" dirty="0">
                <a:latin typeface="Gill Sans MT"/>
                <a:cs typeface="Gill Sans MT"/>
              </a:rPr>
              <a:t>e Rules</a:t>
            </a:r>
            <a:endParaRPr sz="2400">
              <a:latin typeface="Gill Sans MT"/>
              <a:cs typeface="Gill Sans MT"/>
            </a:endParaRPr>
          </a:p>
          <a:p>
            <a:pPr marL="1270000" lvl="1" indent="-34353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1270000" algn="l"/>
                <a:tab pos="1270635" algn="l"/>
              </a:tabLst>
            </a:pPr>
            <a:r>
              <a:rPr sz="2000" b="1" dirty="0">
                <a:latin typeface="Gill Sans MT"/>
                <a:cs typeface="Gill Sans MT"/>
              </a:rPr>
              <a:t>Restrict</a:t>
            </a:r>
            <a:r>
              <a:rPr sz="2000" b="1" spc="-4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–</a:t>
            </a:r>
            <a:r>
              <a:rPr sz="2000" spc="5" dirty="0">
                <a:latin typeface="Gill Sans MT"/>
                <a:cs typeface="Gill Sans MT"/>
              </a:rPr>
              <a:t> </a:t>
            </a:r>
            <a:r>
              <a:rPr sz="2000" spc="-20" dirty="0">
                <a:latin typeface="Gill Sans MT"/>
                <a:cs typeface="Gill Sans MT"/>
              </a:rPr>
              <a:t>don’t </a:t>
            </a:r>
            <a:r>
              <a:rPr sz="2000" spc="-5" dirty="0">
                <a:latin typeface="Gill Sans MT"/>
                <a:cs typeface="Gill Sans MT"/>
              </a:rPr>
              <a:t>allow</a:t>
            </a:r>
            <a:r>
              <a:rPr sz="2000" spc="-2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delete</a:t>
            </a:r>
            <a:r>
              <a:rPr sz="2000" spc="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of</a:t>
            </a:r>
            <a:r>
              <a:rPr sz="2000" spc="34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“parent”</a:t>
            </a:r>
            <a:r>
              <a:rPr sz="2000" spc="-4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side</a:t>
            </a:r>
            <a:r>
              <a:rPr sz="2000" spc="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if</a:t>
            </a:r>
            <a:r>
              <a:rPr sz="2000" spc="-1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related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spc="-25" dirty="0">
                <a:latin typeface="Gill Sans MT"/>
                <a:cs typeface="Gill Sans MT"/>
              </a:rPr>
              <a:t>rows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exist</a:t>
            </a:r>
            <a:r>
              <a:rPr sz="2000" spc="-1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in</a:t>
            </a:r>
            <a:r>
              <a:rPr sz="2000" spc="-19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“dependent”</a:t>
            </a:r>
            <a:r>
              <a:rPr sz="2000" spc="-3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side</a:t>
            </a:r>
            <a:endParaRPr sz="2000">
              <a:latin typeface="Gill Sans MT"/>
              <a:cs typeface="Gill Sans MT"/>
            </a:endParaRPr>
          </a:p>
          <a:p>
            <a:pPr marL="1270000" lvl="1" indent="-343535">
              <a:lnSpc>
                <a:spcPct val="100000"/>
              </a:lnSpc>
              <a:buFont typeface="Arial"/>
              <a:buChar char="•"/>
              <a:tabLst>
                <a:tab pos="1270000" algn="l"/>
                <a:tab pos="1270635" algn="l"/>
              </a:tabLst>
            </a:pPr>
            <a:r>
              <a:rPr sz="2000" b="1" dirty="0">
                <a:latin typeface="Gill Sans MT"/>
                <a:cs typeface="Gill Sans MT"/>
              </a:rPr>
              <a:t>Cascade</a:t>
            </a:r>
            <a:r>
              <a:rPr sz="2000" b="1" spc="-4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– </a:t>
            </a:r>
            <a:r>
              <a:rPr sz="2000" spc="-5" dirty="0">
                <a:latin typeface="Gill Sans MT"/>
                <a:cs typeface="Gill Sans MT"/>
              </a:rPr>
              <a:t>automatically</a:t>
            </a:r>
            <a:r>
              <a:rPr sz="2000" spc="-4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delete</a:t>
            </a:r>
            <a:r>
              <a:rPr sz="2000" spc="-20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“dependent”</a:t>
            </a:r>
            <a:r>
              <a:rPr sz="2000" spc="-2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side</a:t>
            </a:r>
            <a:r>
              <a:rPr sz="2000" spc="15" dirty="0">
                <a:latin typeface="Gill Sans MT"/>
                <a:cs typeface="Gill Sans MT"/>
              </a:rPr>
              <a:t> </a:t>
            </a:r>
            <a:r>
              <a:rPr sz="2000" spc="-25" dirty="0">
                <a:latin typeface="Gill Sans MT"/>
                <a:cs typeface="Gill Sans MT"/>
              </a:rPr>
              <a:t>rows</a:t>
            </a:r>
            <a:r>
              <a:rPr sz="2000" dirty="0">
                <a:latin typeface="Gill Sans MT"/>
                <a:cs typeface="Gill Sans MT"/>
              </a:rPr>
              <a:t> that</a:t>
            </a:r>
            <a:r>
              <a:rPr sz="2000" spc="-30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correspond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with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the</a:t>
            </a:r>
            <a:r>
              <a:rPr sz="2000" spc="-20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“parent”</a:t>
            </a:r>
            <a:endParaRPr sz="2000">
              <a:latin typeface="Gill Sans MT"/>
              <a:cs typeface="Gill Sans MT"/>
            </a:endParaRPr>
          </a:p>
          <a:p>
            <a:pPr marL="1270000">
              <a:lnSpc>
                <a:spcPct val="100000"/>
              </a:lnSpc>
            </a:pPr>
            <a:r>
              <a:rPr sz="2000" dirty="0">
                <a:latin typeface="Gill Sans MT"/>
                <a:cs typeface="Gill Sans MT"/>
              </a:rPr>
              <a:t>side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spc="-30" dirty="0">
                <a:latin typeface="Gill Sans MT"/>
                <a:cs typeface="Gill Sans MT"/>
              </a:rPr>
              <a:t>row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to</a:t>
            </a:r>
            <a:r>
              <a:rPr sz="2000" spc="-4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be</a:t>
            </a:r>
            <a:r>
              <a:rPr sz="2000" spc="-1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deleted</a:t>
            </a:r>
            <a:endParaRPr sz="2000">
              <a:latin typeface="Gill Sans MT"/>
              <a:cs typeface="Gill Sans MT"/>
            </a:endParaRPr>
          </a:p>
          <a:p>
            <a:pPr marL="1270000" lvl="1" indent="-343535">
              <a:lnSpc>
                <a:spcPct val="100000"/>
              </a:lnSpc>
              <a:buFont typeface="Arial"/>
              <a:buChar char="•"/>
              <a:tabLst>
                <a:tab pos="1270000" algn="l"/>
                <a:tab pos="1270635" algn="l"/>
              </a:tabLst>
            </a:pPr>
            <a:r>
              <a:rPr sz="2000" b="1" dirty="0">
                <a:latin typeface="Gill Sans MT"/>
                <a:cs typeface="Gill Sans MT"/>
              </a:rPr>
              <a:t>Set-to-Null</a:t>
            </a:r>
            <a:r>
              <a:rPr sz="2000" b="1" spc="-6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–</a:t>
            </a:r>
            <a:r>
              <a:rPr sz="2000" spc="1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set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the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foreign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spc="-35" dirty="0">
                <a:latin typeface="Gill Sans MT"/>
                <a:cs typeface="Gill Sans MT"/>
              </a:rPr>
              <a:t>key</a:t>
            </a:r>
            <a:r>
              <a:rPr sz="2000" spc="-5" dirty="0">
                <a:latin typeface="Gill Sans MT"/>
                <a:cs typeface="Gill Sans MT"/>
              </a:rPr>
              <a:t> in </a:t>
            </a:r>
            <a:r>
              <a:rPr sz="2000" dirty="0">
                <a:latin typeface="Gill Sans MT"/>
                <a:cs typeface="Gill Sans MT"/>
              </a:rPr>
              <a:t>the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dependent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side</a:t>
            </a:r>
            <a:r>
              <a:rPr sz="2000" spc="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to</a:t>
            </a:r>
            <a:r>
              <a:rPr sz="2000" spc="-2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null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if</a:t>
            </a:r>
            <a:r>
              <a:rPr sz="2000" spc="-1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deleting</a:t>
            </a:r>
            <a:r>
              <a:rPr sz="2000" spc="-25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from</a:t>
            </a:r>
            <a:r>
              <a:rPr sz="2000" spc="-2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the</a:t>
            </a:r>
            <a:r>
              <a:rPr sz="2000" spc="-2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parent</a:t>
            </a:r>
            <a:endParaRPr sz="2000">
              <a:latin typeface="Gill Sans MT"/>
              <a:cs typeface="Gill Sans MT"/>
            </a:endParaRPr>
          </a:p>
          <a:p>
            <a:pPr marL="1270000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Gill Sans MT"/>
                <a:cs typeface="Gill Sans MT"/>
              </a:rPr>
              <a:t>side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spc="-175" dirty="0">
                <a:latin typeface="Wingdings"/>
                <a:cs typeface="Wingdings"/>
              </a:rPr>
              <a:t>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Gill Sans MT"/>
                <a:cs typeface="Gill Sans MT"/>
              </a:rPr>
              <a:t>not</a:t>
            </a:r>
            <a:r>
              <a:rPr sz="2000" spc="-30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allowed</a:t>
            </a:r>
            <a:r>
              <a:rPr sz="2000" spc="-25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for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weak</a:t>
            </a:r>
            <a:r>
              <a:rPr sz="2000" spc="-2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entities</a:t>
            </a:r>
            <a:endParaRPr sz="2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7408" y="600455"/>
            <a:ext cx="1098550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465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TRANSFORM</a:t>
            </a:r>
            <a:r>
              <a:rPr sz="2800" spc="-15" dirty="0">
                <a:solidFill>
                  <a:srgbClr val="FFFFFF"/>
                </a:solidFill>
              </a:rPr>
              <a:t>I</a:t>
            </a:r>
            <a:r>
              <a:rPr sz="2800" spc="-5" dirty="0">
                <a:solidFill>
                  <a:srgbClr val="FFFFFF"/>
                </a:solidFill>
              </a:rPr>
              <a:t>NG</a:t>
            </a:r>
            <a:r>
              <a:rPr sz="2800" dirty="0">
                <a:solidFill>
                  <a:srgbClr val="FFFFFF"/>
                </a:solidFill>
              </a:rPr>
              <a:t> E</a:t>
            </a:r>
            <a:r>
              <a:rPr sz="2800" spc="-5" dirty="0">
                <a:solidFill>
                  <a:srgbClr val="FFFFFF"/>
                </a:solidFill>
              </a:rPr>
              <a:t>R</a:t>
            </a:r>
            <a:r>
              <a:rPr sz="2800" dirty="0">
                <a:solidFill>
                  <a:srgbClr val="FFFFFF"/>
                </a:solidFill>
              </a:rPr>
              <a:t> </a:t>
            </a:r>
            <a:r>
              <a:rPr sz="2800" spc="-15" dirty="0">
                <a:solidFill>
                  <a:srgbClr val="FFFFFF"/>
                </a:solidFill>
              </a:rPr>
              <a:t>M</a:t>
            </a:r>
            <a:r>
              <a:rPr sz="2800" spc="-10" dirty="0">
                <a:solidFill>
                  <a:srgbClr val="FFFFFF"/>
                </a:solidFill>
              </a:rPr>
              <a:t>ODE</a:t>
            </a:r>
            <a:r>
              <a:rPr sz="2800" spc="-5" dirty="0">
                <a:solidFill>
                  <a:srgbClr val="FFFFFF"/>
                </a:solidFill>
              </a:rPr>
              <a:t>L</a:t>
            </a:r>
            <a:r>
              <a:rPr sz="2800" spc="-345" dirty="0">
                <a:solidFill>
                  <a:srgbClr val="FFFFFF"/>
                </a:solidFill>
              </a:rPr>
              <a:t> </a:t>
            </a:r>
            <a:r>
              <a:rPr sz="2800" spc="-185" dirty="0">
                <a:solidFill>
                  <a:srgbClr val="FFFFFF"/>
                </a:solidFill>
              </a:rPr>
              <a:t>T</a:t>
            </a:r>
            <a:r>
              <a:rPr sz="2800" spc="-5" dirty="0">
                <a:solidFill>
                  <a:srgbClr val="FFFFFF"/>
                </a:solidFill>
              </a:rPr>
              <a:t>O</a:t>
            </a:r>
            <a:r>
              <a:rPr sz="2800" spc="-25" dirty="0">
                <a:solidFill>
                  <a:srgbClr val="FFFFFF"/>
                </a:solidFill>
              </a:rPr>
              <a:t> </a:t>
            </a:r>
            <a:r>
              <a:rPr sz="2800" spc="-5" dirty="0">
                <a:solidFill>
                  <a:srgbClr val="FFFFFF"/>
                </a:solidFill>
              </a:rPr>
              <a:t>REL</a:t>
            </a:r>
            <a:r>
              <a:rPr sz="2800" spc="-285" dirty="0">
                <a:solidFill>
                  <a:srgbClr val="FFFFFF"/>
                </a:solidFill>
              </a:rPr>
              <a:t>A</a:t>
            </a:r>
            <a:r>
              <a:rPr sz="2800" spc="-5" dirty="0">
                <a:solidFill>
                  <a:srgbClr val="FFFFFF"/>
                </a:solidFill>
              </a:rPr>
              <a:t>TION</a:t>
            </a:r>
            <a:r>
              <a:rPr sz="2800" spc="-15" dirty="0">
                <a:solidFill>
                  <a:srgbClr val="FFFFFF"/>
                </a:solidFill>
              </a:rPr>
              <a:t>A</a:t>
            </a:r>
            <a:r>
              <a:rPr sz="2800" spc="-5" dirty="0">
                <a:solidFill>
                  <a:srgbClr val="FFFFFF"/>
                </a:solidFill>
              </a:rPr>
              <a:t>L MODEL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2548" y="2567674"/>
            <a:ext cx="8760822" cy="37261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7408" y="600455"/>
            <a:ext cx="1098550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465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TRANSFORM</a:t>
            </a:r>
            <a:r>
              <a:rPr sz="2800" spc="-15" dirty="0">
                <a:solidFill>
                  <a:srgbClr val="FFFFFF"/>
                </a:solidFill>
              </a:rPr>
              <a:t>I</a:t>
            </a:r>
            <a:r>
              <a:rPr sz="2800" spc="-5" dirty="0">
                <a:solidFill>
                  <a:srgbClr val="FFFFFF"/>
                </a:solidFill>
              </a:rPr>
              <a:t>NG</a:t>
            </a:r>
            <a:r>
              <a:rPr sz="2800" dirty="0">
                <a:solidFill>
                  <a:srgbClr val="FFFFFF"/>
                </a:solidFill>
              </a:rPr>
              <a:t> E</a:t>
            </a:r>
            <a:r>
              <a:rPr sz="2800" spc="-5" dirty="0">
                <a:solidFill>
                  <a:srgbClr val="FFFFFF"/>
                </a:solidFill>
              </a:rPr>
              <a:t>R</a:t>
            </a:r>
            <a:r>
              <a:rPr sz="2800" dirty="0">
                <a:solidFill>
                  <a:srgbClr val="FFFFFF"/>
                </a:solidFill>
              </a:rPr>
              <a:t> </a:t>
            </a:r>
            <a:r>
              <a:rPr sz="2800" spc="-15" dirty="0">
                <a:solidFill>
                  <a:srgbClr val="FFFFFF"/>
                </a:solidFill>
              </a:rPr>
              <a:t>M</a:t>
            </a:r>
            <a:r>
              <a:rPr sz="2800" spc="-10" dirty="0">
                <a:solidFill>
                  <a:srgbClr val="FFFFFF"/>
                </a:solidFill>
              </a:rPr>
              <a:t>ODE</a:t>
            </a:r>
            <a:r>
              <a:rPr sz="2800" spc="-5" dirty="0">
                <a:solidFill>
                  <a:srgbClr val="FFFFFF"/>
                </a:solidFill>
              </a:rPr>
              <a:t>L</a:t>
            </a:r>
            <a:r>
              <a:rPr sz="2800" spc="-345" dirty="0">
                <a:solidFill>
                  <a:srgbClr val="FFFFFF"/>
                </a:solidFill>
              </a:rPr>
              <a:t> </a:t>
            </a:r>
            <a:r>
              <a:rPr sz="2800" spc="-185" dirty="0">
                <a:solidFill>
                  <a:srgbClr val="FFFFFF"/>
                </a:solidFill>
              </a:rPr>
              <a:t>T</a:t>
            </a:r>
            <a:r>
              <a:rPr sz="2800" spc="-5" dirty="0">
                <a:solidFill>
                  <a:srgbClr val="FFFFFF"/>
                </a:solidFill>
              </a:rPr>
              <a:t>O</a:t>
            </a:r>
            <a:r>
              <a:rPr sz="2800" spc="-25" dirty="0">
                <a:solidFill>
                  <a:srgbClr val="FFFFFF"/>
                </a:solidFill>
              </a:rPr>
              <a:t> </a:t>
            </a:r>
            <a:r>
              <a:rPr sz="2800" spc="-5" dirty="0">
                <a:solidFill>
                  <a:srgbClr val="FFFFFF"/>
                </a:solidFill>
              </a:rPr>
              <a:t>REL</a:t>
            </a:r>
            <a:r>
              <a:rPr sz="2800" spc="-285" dirty="0">
                <a:solidFill>
                  <a:srgbClr val="FFFFFF"/>
                </a:solidFill>
              </a:rPr>
              <a:t>A</a:t>
            </a:r>
            <a:r>
              <a:rPr sz="2800" spc="-5" dirty="0">
                <a:solidFill>
                  <a:srgbClr val="FFFFFF"/>
                </a:solidFill>
              </a:rPr>
              <a:t>TION</a:t>
            </a:r>
            <a:r>
              <a:rPr sz="2800" spc="-15" dirty="0">
                <a:solidFill>
                  <a:srgbClr val="FFFFFF"/>
                </a:solidFill>
              </a:rPr>
              <a:t>A</a:t>
            </a:r>
            <a:r>
              <a:rPr sz="2800" spc="-5" dirty="0">
                <a:solidFill>
                  <a:srgbClr val="FFFFFF"/>
                </a:solidFill>
              </a:rPr>
              <a:t>L MODEL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647" y="2254512"/>
            <a:ext cx="9913817" cy="421922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62911" y="1171955"/>
            <a:ext cx="8153400" cy="5105400"/>
            <a:chOff x="1962911" y="1171955"/>
            <a:chExt cx="8153400" cy="5105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2911" y="1171955"/>
              <a:ext cx="8153400" cy="51054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116073" y="1559813"/>
              <a:ext cx="1600200" cy="680085"/>
            </a:xfrm>
            <a:custGeom>
              <a:avLst/>
              <a:gdLst/>
              <a:ahLst/>
              <a:cxnLst/>
              <a:rect l="l" t="t" r="r" b="b"/>
              <a:pathLst>
                <a:path w="1600200" h="680085">
                  <a:moveTo>
                    <a:pt x="0" y="339851"/>
                  </a:moveTo>
                  <a:lnTo>
                    <a:pt x="10473" y="284723"/>
                  </a:lnTo>
                  <a:lnTo>
                    <a:pt x="40794" y="232428"/>
                  </a:lnTo>
                  <a:lnTo>
                    <a:pt x="89315" y="183665"/>
                  </a:lnTo>
                  <a:lnTo>
                    <a:pt x="119885" y="160827"/>
                  </a:lnTo>
                  <a:lnTo>
                    <a:pt x="154387" y="139135"/>
                  </a:lnTo>
                  <a:lnTo>
                    <a:pt x="192615" y="118675"/>
                  </a:lnTo>
                  <a:lnTo>
                    <a:pt x="234362" y="99536"/>
                  </a:lnTo>
                  <a:lnTo>
                    <a:pt x="279423" y="81804"/>
                  </a:lnTo>
                  <a:lnTo>
                    <a:pt x="327592" y="65568"/>
                  </a:lnTo>
                  <a:lnTo>
                    <a:pt x="378663" y="50915"/>
                  </a:lnTo>
                  <a:lnTo>
                    <a:pt x="432430" y="37931"/>
                  </a:lnTo>
                  <a:lnTo>
                    <a:pt x="488686" y="26705"/>
                  </a:lnTo>
                  <a:lnTo>
                    <a:pt x="547225" y="17324"/>
                  </a:lnTo>
                  <a:lnTo>
                    <a:pt x="607842" y="9876"/>
                  </a:lnTo>
                  <a:lnTo>
                    <a:pt x="670331" y="4447"/>
                  </a:lnTo>
                  <a:lnTo>
                    <a:pt x="734486" y="1126"/>
                  </a:lnTo>
                  <a:lnTo>
                    <a:pt x="800100" y="0"/>
                  </a:lnTo>
                  <a:lnTo>
                    <a:pt x="865713" y="1126"/>
                  </a:lnTo>
                  <a:lnTo>
                    <a:pt x="929868" y="4447"/>
                  </a:lnTo>
                  <a:lnTo>
                    <a:pt x="992357" y="9876"/>
                  </a:lnTo>
                  <a:lnTo>
                    <a:pt x="1052974" y="17324"/>
                  </a:lnTo>
                  <a:lnTo>
                    <a:pt x="1111513" y="26705"/>
                  </a:lnTo>
                  <a:lnTo>
                    <a:pt x="1167769" y="37931"/>
                  </a:lnTo>
                  <a:lnTo>
                    <a:pt x="1221536" y="50915"/>
                  </a:lnTo>
                  <a:lnTo>
                    <a:pt x="1272607" y="65568"/>
                  </a:lnTo>
                  <a:lnTo>
                    <a:pt x="1320776" y="81804"/>
                  </a:lnTo>
                  <a:lnTo>
                    <a:pt x="1365837" y="99536"/>
                  </a:lnTo>
                  <a:lnTo>
                    <a:pt x="1407584" y="118675"/>
                  </a:lnTo>
                  <a:lnTo>
                    <a:pt x="1445812" y="139135"/>
                  </a:lnTo>
                  <a:lnTo>
                    <a:pt x="1480314" y="160827"/>
                  </a:lnTo>
                  <a:lnTo>
                    <a:pt x="1510884" y="183665"/>
                  </a:lnTo>
                  <a:lnTo>
                    <a:pt x="1559405" y="232428"/>
                  </a:lnTo>
                  <a:lnTo>
                    <a:pt x="1589726" y="284723"/>
                  </a:lnTo>
                  <a:lnTo>
                    <a:pt x="1600200" y="339851"/>
                  </a:lnTo>
                  <a:lnTo>
                    <a:pt x="1597547" y="367726"/>
                  </a:lnTo>
                  <a:lnTo>
                    <a:pt x="1576944" y="421525"/>
                  </a:lnTo>
                  <a:lnTo>
                    <a:pt x="1537317" y="472142"/>
                  </a:lnTo>
                  <a:lnTo>
                    <a:pt x="1480314" y="518876"/>
                  </a:lnTo>
                  <a:lnTo>
                    <a:pt x="1445812" y="540568"/>
                  </a:lnTo>
                  <a:lnTo>
                    <a:pt x="1407584" y="561028"/>
                  </a:lnTo>
                  <a:lnTo>
                    <a:pt x="1365837" y="580167"/>
                  </a:lnTo>
                  <a:lnTo>
                    <a:pt x="1320776" y="597899"/>
                  </a:lnTo>
                  <a:lnTo>
                    <a:pt x="1272607" y="614135"/>
                  </a:lnTo>
                  <a:lnTo>
                    <a:pt x="1221536" y="628788"/>
                  </a:lnTo>
                  <a:lnTo>
                    <a:pt x="1167769" y="641772"/>
                  </a:lnTo>
                  <a:lnTo>
                    <a:pt x="1111513" y="652998"/>
                  </a:lnTo>
                  <a:lnTo>
                    <a:pt x="1052974" y="662379"/>
                  </a:lnTo>
                  <a:lnTo>
                    <a:pt x="992357" y="669827"/>
                  </a:lnTo>
                  <a:lnTo>
                    <a:pt x="929868" y="675256"/>
                  </a:lnTo>
                  <a:lnTo>
                    <a:pt x="865713" y="678577"/>
                  </a:lnTo>
                  <a:lnTo>
                    <a:pt x="800100" y="679703"/>
                  </a:lnTo>
                  <a:lnTo>
                    <a:pt x="734486" y="678577"/>
                  </a:lnTo>
                  <a:lnTo>
                    <a:pt x="670331" y="675256"/>
                  </a:lnTo>
                  <a:lnTo>
                    <a:pt x="607842" y="669827"/>
                  </a:lnTo>
                  <a:lnTo>
                    <a:pt x="547225" y="662379"/>
                  </a:lnTo>
                  <a:lnTo>
                    <a:pt x="488686" y="652998"/>
                  </a:lnTo>
                  <a:lnTo>
                    <a:pt x="432430" y="641772"/>
                  </a:lnTo>
                  <a:lnTo>
                    <a:pt x="378663" y="628788"/>
                  </a:lnTo>
                  <a:lnTo>
                    <a:pt x="327592" y="614135"/>
                  </a:lnTo>
                  <a:lnTo>
                    <a:pt x="279423" y="597899"/>
                  </a:lnTo>
                  <a:lnTo>
                    <a:pt x="234362" y="580167"/>
                  </a:lnTo>
                  <a:lnTo>
                    <a:pt x="192615" y="561028"/>
                  </a:lnTo>
                  <a:lnTo>
                    <a:pt x="154387" y="540568"/>
                  </a:lnTo>
                  <a:lnTo>
                    <a:pt x="119885" y="518876"/>
                  </a:lnTo>
                  <a:lnTo>
                    <a:pt x="89315" y="496038"/>
                  </a:lnTo>
                  <a:lnTo>
                    <a:pt x="40794" y="447275"/>
                  </a:lnTo>
                  <a:lnTo>
                    <a:pt x="10473" y="394980"/>
                  </a:lnTo>
                  <a:lnTo>
                    <a:pt x="0" y="339851"/>
                  </a:lnTo>
                  <a:close/>
                </a:path>
              </a:pathLst>
            </a:custGeom>
            <a:ln w="28956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22141" y="2114041"/>
              <a:ext cx="2108835" cy="391795"/>
            </a:xfrm>
            <a:custGeom>
              <a:avLst/>
              <a:gdLst/>
              <a:ahLst/>
              <a:cxnLst/>
              <a:rect l="l" t="t" r="r" b="b"/>
              <a:pathLst>
                <a:path w="2108835" h="391794">
                  <a:moveTo>
                    <a:pt x="145284" y="57222"/>
                  </a:moveTo>
                  <a:lnTo>
                    <a:pt x="140843" y="85799"/>
                  </a:lnTo>
                  <a:lnTo>
                    <a:pt x="2103882" y="391287"/>
                  </a:lnTo>
                  <a:lnTo>
                    <a:pt x="2108454" y="362585"/>
                  </a:lnTo>
                  <a:lnTo>
                    <a:pt x="145284" y="57222"/>
                  </a:lnTo>
                  <a:close/>
                </a:path>
                <a:path w="2108835" h="391794">
                  <a:moveTo>
                    <a:pt x="154178" y="0"/>
                  </a:moveTo>
                  <a:lnTo>
                    <a:pt x="0" y="49275"/>
                  </a:lnTo>
                  <a:lnTo>
                    <a:pt x="131953" y="143002"/>
                  </a:lnTo>
                  <a:lnTo>
                    <a:pt x="140843" y="85799"/>
                  </a:lnTo>
                  <a:lnTo>
                    <a:pt x="126492" y="83566"/>
                  </a:lnTo>
                  <a:lnTo>
                    <a:pt x="130937" y="54991"/>
                  </a:lnTo>
                  <a:lnTo>
                    <a:pt x="145631" y="54991"/>
                  </a:lnTo>
                  <a:lnTo>
                    <a:pt x="154178" y="0"/>
                  </a:lnTo>
                  <a:close/>
                </a:path>
                <a:path w="2108835" h="391794">
                  <a:moveTo>
                    <a:pt x="130937" y="54991"/>
                  </a:moveTo>
                  <a:lnTo>
                    <a:pt x="126492" y="83566"/>
                  </a:lnTo>
                  <a:lnTo>
                    <a:pt x="140843" y="85799"/>
                  </a:lnTo>
                  <a:lnTo>
                    <a:pt x="145284" y="57222"/>
                  </a:lnTo>
                  <a:lnTo>
                    <a:pt x="130937" y="54991"/>
                  </a:lnTo>
                  <a:close/>
                </a:path>
                <a:path w="2108835" h="391794">
                  <a:moveTo>
                    <a:pt x="145631" y="54991"/>
                  </a:moveTo>
                  <a:lnTo>
                    <a:pt x="130937" y="54991"/>
                  </a:lnTo>
                  <a:lnTo>
                    <a:pt x="145284" y="57222"/>
                  </a:lnTo>
                  <a:lnTo>
                    <a:pt x="145631" y="54991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37097" y="2264156"/>
            <a:ext cx="1723389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Primary</a:t>
            </a:r>
            <a:r>
              <a:rPr sz="2600" spc="-5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Key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94560" y="2770632"/>
            <a:ext cx="5342890" cy="2314575"/>
            <a:chOff x="2194560" y="2770632"/>
            <a:chExt cx="5342890" cy="2314575"/>
          </a:xfrm>
        </p:grpSpPr>
        <p:sp>
          <p:nvSpPr>
            <p:cNvPr id="8" name="object 8"/>
            <p:cNvSpPr/>
            <p:nvPr/>
          </p:nvSpPr>
          <p:spPr>
            <a:xfrm>
              <a:off x="4630674" y="2785110"/>
              <a:ext cx="1371600" cy="716280"/>
            </a:xfrm>
            <a:custGeom>
              <a:avLst/>
              <a:gdLst/>
              <a:ahLst/>
              <a:cxnLst/>
              <a:rect l="l" t="t" r="r" b="b"/>
              <a:pathLst>
                <a:path w="1371600" h="716279">
                  <a:moveTo>
                    <a:pt x="0" y="358139"/>
                  </a:moveTo>
                  <a:lnTo>
                    <a:pt x="11050" y="293778"/>
                  </a:lnTo>
                  <a:lnTo>
                    <a:pt x="42910" y="233196"/>
                  </a:lnTo>
                  <a:lnTo>
                    <a:pt x="93641" y="177404"/>
                  </a:lnTo>
                  <a:lnTo>
                    <a:pt x="125477" y="151622"/>
                  </a:lnTo>
                  <a:lnTo>
                    <a:pt x="161305" y="127418"/>
                  </a:lnTo>
                  <a:lnTo>
                    <a:pt x="200882" y="104917"/>
                  </a:lnTo>
                  <a:lnTo>
                    <a:pt x="243965" y="84248"/>
                  </a:lnTo>
                  <a:lnTo>
                    <a:pt x="290312" y="65536"/>
                  </a:lnTo>
                  <a:lnTo>
                    <a:pt x="339682" y="48909"/>
                  </a:lnTo>
                  <a:lnTo>
                    <a:pt x="391832" y="34492"/>
                  </a:lnTo>
                  <a:lnTo>
                    <a:pt x="446519" y="22412"/>
                  </a:lnTo>
                  <a:lnTo>
                    <a:pt x="503502" y="12797"/>
                  </a:lnTo>
                  <a:lnTo>
                    <a:pt x="562537" y="5771"/>
                  </a:lnTo>
                  <a:lnTo>
                    <a:pt x="623384" y="1464"/>
                  </a:lnTo>
                  <a:lnTo>
                    <a:pt x="685800" y="0"/>
                  </a:lnTo>
                  <a:lnTo>
                    <a:pt x="748215" y="1464"/>
                  </a:lnTo>
                  <a:lnTo>
                    <a:pt x="809062" y="5771"/>
                  </a:lnTo>
                  <a:lnTo>
                    <a:pt x="868097" y="12797"/>
                  </a:lnTo>
                  <a:lnTo>
                    <a:pt x="925080" y="22412"/>
                  </a:lnTo>
                  <a:lnTo>
                    <a:pt x="979767" y="34492"/>
                  </a:lnTo>
                  <a:lnTo>
                    <a:pt x="1031917" y="48909"/>
                  </a:lnTo>
                  <a:lnTo>
                    <a:pt x="1081287" y="65536"/>
                  </a:lnTo>
                  <a:lnTo>
                    <a:pt x="1127634" y="84248"/>
                  </a:lnTo>
                  <a:lnTo>
                    <a:pt x="1170717" y="104917"/>
                  </a:lnTo>
                  <a:lnTo>
                    <a:pt x="1210294" y="127418"/>
                  </a:lnTo>
                  <a:lnTo>
                    <a:pt x="1246122" y="151622"/>
                  </a:lnTo>
                  <a:lnTo>
                    <a:pt x="1277958" y="177404"/>
                  </a:lnTo>
                  <a:lnTo>
                    <a:pt x="1305561" y="204638"/>
                  </a:lnTo>
                  <a:lnTo>
                    <a:pt x="1347099" y="262951"/>
                  </a:lnTo>
                  <a:lnTo>
                    <a:pt x="1368796" y="325550"/>
                  </a:lnTo>
                  <a:lnTo>
                    <a:pt x="1371600" y="358139"/>
                  </a:lnTo>
                  <a:lnTo>
                    <a:pt x="1368796" y="390729"/>
                  </a:lnTo>
                  <a:lnTo>
                    <a:pt x="1347099" y="453328"/>
                  </a:lnTo>
                  <a:lnTo>
                    <a:pt x="1305561" y="511641"/>
                  </a:lnTo>
                  <a:lnTo>
                    <a:pt x="1277958" y="538875"/>
                  </a:lnTo>
                  <a:lnTo>
                    <a:pt x="1246122" y="564657"/>
                  </a:lnTo>
                  <a:lnTo>
                    <a:pt x="1210294" y="588861"/>
                  </a:lnTo>
                  <a:lnTo>
                    <a:pt x="1170717" y="611362"/>
                  </a:lnTo>
                  <a:lnTo>
                    <a:pt x="1127634" y="632031"/>
                  </a:lnTo>
                  <a:lnTo>
                    <a:pt x="1081287" y="650743"/>
                  </a:lnTo>
                  <a:lnTo>
                    <a:pt x="1031917" y="667370"/>
                  </a:lnTo>
                  <a:lnTo>
                    <a:pt x="979767" y="681787"/>
                  </a:lnTo>
                  <a:lnTo>
                    <a:pt x="925080" y="693867"/>
                  </a:lnTo>
                  <a:lnTo>
                    <a:pt x="868097" y="703482"/>
                  </a:lnTo>
                  <a:lnTo>
                    <a:pt x="809062" y="710508"/>
                  </a:lnTo>
                  <a:lnTo>
                    <a:pt x="748215" y="714815"/>
                  </a:lnTo>
                  <a:lnTo>
                    <a:pt x="685800" y="716279"/>
                  </a:lnTo>
                  <a:lnTo>
                    <a:pt x="623384" y="714815"/>
                  </a:lnTo>
                  <a:lnTo>
                    <a:pt x="562537" y="710508"/>
                  </a:lnTo>
                  <a:lnTo>
                    <a:pt x="503502" y="703482"/>
                  </a:lnTo>
                  <a:lnTo>
                    <a:pt x="446519" y="693867"/>
                  </a:lnTo>
                  <a:lnTo>
                    <a:pt x="391832" y="681787"/>
                  </a:lnTo>
                  <a:lnTo>
                    <a:pt x="339682" y="667370"/>
                  </a:lnTo>
                  <a:lnTo>
                    <a:pt x="290312" y="650743"/>
                  </a:lnTo>
                  <a:lnTo>
                    <a:pt x="243965" y="632031"/>
                  </a:lnTo>
                  <a:lnTo>
                    <a:pt x="200882" y="611362"/>
                  </a:lnTo>
                  <a:lnTo>
                    <a:pt x="161305" y="588861"/>
                  </a:lnTo>
                  <a:lnTo>
                    <a:pt x="125477" y="564657"/>
                  </a:lnTo>
                  <a:lnTo>
                    <a:pt x="93641" y="538875"/>
                  </a:lnTo>
                  <a:lnTo>
                    <a:pt x="66038" y="511641"/>
                  </a:lnTo>
                  <a:lnTo>
                    <a:pt x="24500" y="453328"/>
                  </a:lnTo>
                  <a:lnTo>
                    <a:pt x="2803" y="390729"/>
                  </a:lnTo>
                  <a:lnTo>
                    <a:pt x="0" y="358139"/>
                  </a:lnTo>
                  <a:close/>
                </a:path>
              </a:pathLst>
            </a:custGeom>
            <a:ln w="28956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2274" y="3093974"/>
              <a:ext cx="1534795" cy="144780"/>
            </a:xfrm>
            <a:custGeom>
              <a:avLst/>
              <a:gdLst/>
              <a:ahLst/>
              <a:cxnLst/>
              <a:rect l="l" t="t" r="r" b="b"/>
              <a:pathLst>
                <a:path w="1534795" h="144780">
                  <a:moveTo>
                    <a:pt x="144906" y="0"/>
                  </a:moveTo>
                  <a:lnTo>
                    <a:pt x="0" y="72136"/>
                  </a:lnTo>
                  <a:lnTo>
                    <a:pt x="144652" y="144779"/>
                  </a:lnTo>
                  <a:lnTo>
                    <a:pt x="144754" y="86896"/>
                  </a:lnTo>
                  <a:lnTo>
                    <a:pt x="130301" y="86867"/>
                  </a:lnTo>
                  <a:lnTo>
                    <a:pt x="130301" y="57912"/>
                  </a:lnTo>
                  <a:lnTo>
                    <a:pt x="144805" y="57912"/>
                  </a:lnTo>
                  <a:lnTo>
                    <a:pt x="144906" y="0"/>
                  </a:lnTo>
                  <a:close/>
                </a:path>
                <a:path w="1534795" h="144780">
                  <a:moveTo>
                    <a:pt x="144805" y="57940"/>
                  </a:moveTo>
                  <a:lnTo>
                    <a:pt x="144754" y="86896"/>
                  </a:lnTo>
                  <a:lnTo>
                    <a:pt x="1534668" y="89662"/>
                  </a:lnTo>
                  <a:lnTo>
                    <a:pt x="1534668" y="60705"/>
                  </a:lnTo>
                  <a:lnTo>
                    <a:pt x="144805" y="57940"/>
                  </a:lnTo>
                  <a:close/>
                </a:path>
                <a:path w="1534795" h="144780">
                  <a:moveTo>
                    <a:pt x="130301" y="57912"/>
                  </a:moveTo>
                  <a:lnTo>
                    <a:pt x="130301" y="86867"/>
                  </a:lnTo>
                  <a:lnTo>
                    <a:pt x="144754" y="86896"/>
                  </a:lnTo>
                  <a:lnTo>
                    <a:pt x="144805" y="57940"/>
                  </a:lnTo>
                  <a:lnTo>
                    <a:pt x="130301" y="57912"/>
                  </a:lnTo>
                  <a:close/>
                </a:path>
                <a:path w="1534795" h="144780">
                  <a:moveTo>
                    <a:pt x="144805" y="57912"/>
                  </a:moveTo>
                  <a:lnTo>
                    <a:pt x="130301" y="57912"/>
                  </a:lnTo>
                  <a:lnTo>
                    <a:pt x="144805" y="5794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09038" y="4004310"/>
              <a:ext cx="2574290" cy="838200"/>
            </a:xfrm>
            <a:custGeom>
              <a:avLst/>
              <a:gdLst/>
              <a:ahLst/>
              <a:cxnLst/>
              <a:rect l="l" t="t" r="r" b="b"/>
              <a:pathLst>
                <a:path w="2574290" h="838200">
                  <a:moveTo>
                    <a:pt x="0" y="419100"/>
                  </a:moveTo>
                  <a:lnTo>
                    <a:pt x="7551" y="373424"/>
                  </a:lnTo>
                  <a:lnTo>
                    <a:pt x="29683" y="329175"/>
                  </a:lnTo>
                  <a:lnTo>
                    <a:pt x="65611" y="286609"/>
                  </a:lnTo>
                  <a:lnTo>
                    <a:pt x="114548" y="245981"/>
                  </a:lnTo>
                  <a:lnTo>
                    <a:pt x="175711" y="207546"/>
                  </a:lnTo>
                  <a:lnTo>
                    <a:pt x="210632" y="189230"/>
                  </a:lnTo>
                  <a:lnTo>
                    <a:pt x="248314" y="171559"/>
                  </a:lnTo>
                  <a:lnTo>
                    <a:pt x="288660" y="154564"/>
                  </a:lnTo>
                  <a:lnTo>
                    <a:pt x="331572" y="138277"/>
                  </a:lnTo>
                  <a:lnTo>
                    <a:pt x="376951" y="122729"/>
                  </a:lnTo>
                  <a:lnTo>
                    <a:pt x="424700" y="107953"/>
                  </a:lnTo>
                  <a:lnTo>
                    <a:pt x="474720" y="93981"/>
                  </a:lnTo>
                  <a:lnTo>
                    <a:pt x="526913" y="80845"/>
                  </a:lnTo>
                  <a:lnTo>
                    <a:pt x="581182" y="68576"/>
                  </a:lnTo>
                  <a:lnTo>
                    <a:pt x="637427" y="57206"/>
                  </a:lnTo>
                  <a:lnTo>
                    <a:pt x="695550" y="46768"/>
                  </a:lnTo>
                  <a:lnTo>
                    <a:pt x="755455" y="37293"/>
                  </a:lnTo>
                  <a:lnTo>
                    <a:pt x="817042" y="28813"/>
                  </a:lnTo>
                  <a:lnTo>
                    <a:pt x="880213" y="21360"/>
                  </a:lnTo>
                  <a:lnTo>
                    <a:pt x="944871" y="14966"/>
                  </a:lnTo>
                  <a:lnTo>
                    <a:pt x="1010916" y="9663"/>
                  </a:lnTo>
                  <a:lnTo>
                    <a:pt x="1078252" y="5483"/>
                  </a:lnTo>
                  <a:lnTo>
                    <a:pt x="1146779" y="2458"/>
                  </a:lnTo>
                  <a:lnTo>
                    <a:pt x="1216401" y="619"/>
                  </a:lnTo>
                  <a:lnTo>
                    <a:pt x="1287017" y="0"/>
                  </a:lnTo>
                  <a:lnTo>
                    <a:pt x="1357634" y="619"/>
                  </a:lnTo>
                  <a:lnTo>
                    <a:pt x="1427256" y="2458"/>
                  </a:lnTo>
                  <a:lnTo>
                    <a:pt x="1495783" y="5483"/>
                  </a:lnTo>
                  <a:lnTo>
                    <a:pt x="1563119" y="9663"/>
                  </a:lnTo>
                  <a:lnTo>
                    <a:pt x="1629164" y="14966"/>
                  </a:lnTo>
                  <a:lnTo>
                    <a:pt x="1693822" y="21360"/>
                  </a:lnTo>
                  <a:lnTo>
                    <a:pt x="1756993" y="28813"/>
                  </a:lnTo>
                  <a:lnTo>
                    <a:pt x="1818580" y="37293"/>
                  </a:lnTo>
                  <a:lnTo>
                    <a:pt x="1878485" y="46768"/>
                  </a:lnTo>
                  <a:lnTo>
                    <a:pt x="1936608" y="57206"/>
                  </a:lnTo>
                  <a:lnTo>
                    <a:pt x="1992853" y="68576"/>
                  </a:lnTo>
                  <a:lnTo>
                    <a:pt x="2047122" y="80845"/>
                  </a:lnTo>
                  <a:lnTo>
                    <a:pt x="2099315" y="93981"/>
                  </a:lnTo>
                  <a:lnTo>
                    <a:pt x="2149335" y="107953"/>
                  </a:lnTo>
                  <a:lnTo>
                    <a:pt x="2197084" y="122729"/>
                  </a:lnTo>
                  <a:lnTo>
                    <a:pt x="2242463" y="138277"/>
                  </a:lnTo>
                  <a:lnTo>
                    <a:pt x="2285375" y="154564"/>
                  </a:lnTo>
                  <a:lnTo>
                    <a:pt x="2325721" y="171559"/>
                  </a:lnTo>
                  <a:lnTo>
                    <a:pt x="2363403" y="189230"/>
                  </a:lnTo>
                  <a:lnTo>
                    <a:pt x="2398324" y="207546"/>
                  </a:lnTo>
                  <a:lnTo>
                    <a:pt x="2459487" y="245981"/>
                  </a:lnTo>
                  <a:lnTo>
                    <a:pt x="2508424" y="286609"/>
                  </a:lnTo>
                  <a:lnTo>
                    <a:pt x="2544352" y="329175"/>
                  </a:lnTo>
                  <a:lnTo>
                    <a:pt x="2566484" y="373424"/>
                  </a:lnTo>
                  <a:lnTo>
                    <a:pt x="2574036" y="419100"/>
                  </a:lnTo>
                  <a:lnTo>
                    <a:pt x="2572131" y="442100"/>
                  </a:lnTo>
                  <a:lnTo>
                    <a:pt x="2557191" y="487094"/>
                  </a:lnTo>
                  <a:lnTo>
                    <a:pt x="2528063" y="530533"/>
                  </a:lnTo>
                  <a:lnTo>
                    <a:pt x="2485533" y="572162"/>
                  </a:lnTo>
                  <a:lnTo>
                    <a:pt x="2430384" y="611726"/>
                  </a:lnTo>
                  <a:lnTo>
                    <a:pt x="2363403" y="648969"/>
                  </a:lnTo>
                  <a:lnTo>
                    <a:pt x="2325721" y="666640"/>
                  </a:lnTo>
                  <a:lnTo>
                    <a:pt x="2285375" y="683635"/>
                  </a:lnTo>
                  <a:lnTo>
                    <a:pt x="2242463" y="699922"/>
                  </a:lnTo>
                  <a:lnTo>
                    <a:pt x="2197084" y="715470"/>
                  </a:lnTo>
                  <a:lnTo>
                    <a:pt x="2149335" y="730246"/>
                  </a:lnTo>
                  <a:lnTo>
                    <a:pt x="2099315" y="744218"/>
                  </a:lnTo>
                  <a:lnTo>
                    <a:pt x="2047122" y="757354"/>
                  </a:lnTo>
                  <a:lnTo>
                    <a:pt x="1992853" y="769623"/>
                  </a:lnTo>
                  <a:lnTo>
                    <a:pt x="1936608" y="780993"/>
                  </a:lnTo>
                  <a:lnTo>
                    <a:pt x="1878485" y="791431"/>
                  </a:lnTo>
                  <a:lnTo>
                    <a:pt x="1818580" y="800906"/>
                  </a:lnTo>
                  <a:lnTo>
                    <a:pt x="1756993" y="809386"/>
                  </a:lnTo>
                  <a:lnTo>
                    <a:pt x="1693822" y="816839"/>
                  </a:lnTo>
                  <a:lnTo>
                    <a:pt x="1629164" y="823233"/>
                  </a:lnTo>
                  <a:lnTo>
                    <a:pt x="1563119" y="828536"/>
                  </a:lnTo>
                  <a:lnTo>
                    <a:pt x="1495783" y="832716"/>
                  </a:lnTo>
                  <a:lnTo>
                    <a:pt x="1427256" y="835741"/>
                  </a:lnTo>
                  <a:lnTo>
                    <a:pt x="1357634" y="837580"/>
                  </a:lnTo>
                  <a:lnTo>
                    <a:pt x="1287017" y="838200"/>
                  </a:lnTo>
                  <a:lnTo>
                    <a:pt x="1216401" y="837580"/>
                  </a:lnTo>
                  <a:lnTo>
                    <a:pt x="1146779" y="835741"/>
                  </a:lnTo>
                  <a:lnTo>
                    <a:pt x="1078252" y="832716"/>
                  </a:lnTo>
                  <a:lnTo>
                    <a:pt x="1010916" y="828536"/>
                  </a:lnTo>
                  <a:lnTo>
                    <a:pt x="944871" y="823233"/>
                  </a:lnTo>
                  <a:lnTo>
                    <a:pt x="880213" y="816839"/>
                  </a:lnTo>
                  <a:lnTo>
                    <a:pt x="817042" y="809386"/>
                  </a:lnTo>
                  <a:lnTo>
                    <a:pt x="755455" y="800906"/>
                  </a:lnTo>
                  <a:lnTo>
                    <a:pt x="695550" y="791431"/>
                  </a:lnTo>
                  <a:lnTo>
                    <a:pt x="637427" y="780993"/>
                  </a:lnTo>
                  <a:lnTo>
                    <a:pt x="581182" y="769623"/>
                  </a:lnTo>
                  <a:lnTo>
                    <a:pt x="526913" y="757354"/>
                  </a:lnTo>
                  <a:lnTo>
                    <a:pt x="474720" y="744218"/>
                  </a:lnTo>
                  <a:lnTo>
                    <a:pt x="424700" y="730246"/>
                  </a:lnTo>
                  <a:lnTo>
                    <a:pt x="376951" y="715470"/>
                  </a:lnTo>
                  <a:lnTo>
                    <a:pt x="331572" y="699922"/>
                  </a:lnTo>
                  <a:lnTo>
                    <a:pt x="288660" y="683635"/>
                  </a:lnTo>
                  <a:lnTo>
                    <a:pt x="248314" y="666640"/>
                  </a:lnTo>
                  <a:lnTo>
                    <a:pt x="210632" y="648969"/>
                  </a:lnTo>
                  <a:lnTo>
                    <a:pt x="175711" y="630653"/>
                  </a:lnTo>
                  <a:lnTo>
                    <a:pt x="114548" y="592218"/>
                  </a:lnTo>
                  <a:lnTo>
                    <a:pt x="65611" y="551590"/>
                  </a:lnTo>
                  <a:lnTo>
                    <a:pt x="29683" y="509024"/>
                  </a:lnTo>
                  <a:lnTo>
                    <a:pt x="7551" y="464775"/>
                  </a:lnTo>
                  <a:lnTo>
                    <a:pt x="0" y="419100"/>
                  </a:lnTo>
                  <a:close/>
                </a:path>
              </a:pathLst>
            </a:custGeom>
            <a:ln w="28956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54474" y="4651375"/>
              <a:ext cx="1689100" cy="434340"/>
            </a:xfrm>
            <a:custGeom>
              <a:avLst/>
              <a:gdLst/>
              <a:ahLst/>
              <a:cxnLst/>
              <a:rect l="l" t="t" r="r" b="b"/>
              <a:pathLst>
                <a:path w="1689100" h="434339">
                  <a:moveTo>
                    <a:pt x="144415" y="56530"/>
                  </a:moveTo>
                  <a:lnTo>
                    <a:pt x="138027" y="84715"/>
                  </a:lnTo>
                  <a:lnTo>
                    <a:pt x="1682368" y="433831"/>
                  </a:lnTo>
                  <a:lnTo>
                    <a:pt x="1688718" y="405638"/>
                  </a:lnTo>
                  <a:lnTo>
                    <a:pt x="144415" y="56530"/>
                  </a:lnTo>
                  <a:close/>
                </a:path>
                <a:path w="1689100" h="434339">
                  <a:moveTo>
                    <a:pt x="157225" y="0"/>
                  </a:moveTo>
                  <a:lnTo>
                    <a:pt x="0" y="38735"/>
                  </a:lnTo>
                  <a:lnTo>
                    <a:pt x="125222" y="141224"/>
                  </a:lnTo>
                  <a:lnTo>
                    <a:pt x="138027" y="84715"/>
                  </a:lnTo>
                  <a:lnTo>
                    <a:pt x="123951" y="81533"/>
                  </a:lnTo>
                  <a:lnTo>
                    <a:pt x="130301" y="53339"/>
                  </a:lnTo>
                  <a:lnTo>
                    <a:pt x="145138" y="53339"/>
                  </a:lnTo>
                  <a:lnTo>
                    <a:pt x="157225" y="0"/>
                  </a:lnTo>
                  <a:close/>
                </a:path>
                <a:path w="1689100" h="434339">
                  <a:moveTo>
                    <a:pt x="130301" y="53339"/>
                  </a:moveTo>
                  <a:lnTo>
                    <a:pt x="123951" y="81533"/>
                  </a:lnTo>
                  <a:lnTo>
                    <a:pt x="138027" y="84715"/>
                  </a:lnTo>
                  <a:lnTo>
                    <a:pt x="144415" y="56530"/>
                  </a:lnTo>
                  <a:lnTo>
                    <a:pt x="130301" y="53339"/>
                  </a:lnTo>
                  <a:close/>
                </a:path>
                <a:path w="1689100" h="434339">
                  <a:moveTo>
                    <a:pt x="145138" y="53339"/>
                  </a:moveTo>
                  <a:lnTo>
                    <a:pt x="130301" y="53339"/>
                  </a:lnTo>
                  <a:lnTo>
                    <a:pt x="144415" y="56530"/>
                  </a:lnTo>
                  <a:lnTo>
                    <a:pt x="145138" y="53339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478651" y="2729560"/>
            <a:ext cx="3683000" cy="2545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63625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Foreign</a:t>
            </a:r>
            <a:r>
              <a:rPr sz="2600" spc="-5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Key</a:t>
            </a:r>
            <a:endParaRPr sz="2600">
              <a:latin typeface="Times New Roman"/>
              <a:cs typeface="Times New Roman"/>
            </a:endParaRPr>
          </a:p>
          <a:p>
            <a:pPr marL="1063625" marR="227329">
              <a:lnSpc>
                <a:spcPct val="100000"/>
              </a:lnSpc>
              <a:spcBef>
                <a:spcPts val="45"/>
              </a:spcBef>
            </a:pPr>
            <a:r>
              <a:rPr sz="1600" spc="-5" dirty="0">
                <a:solidFill>
                  <a:srgbClr val="990000"/>
                </a:solidFill>
                <a:latin typeface="Times New Roman"/>
                <a:cs typeface="Times New Roman"/>
              </a:rPr>
              <a:t>(implements</a:t>
            </a:r>
            <a:r>
              <a:rPr sz="1600" spc="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990000"/>
                </a:solidFill>
                <a:latin typeface="Times New Roman"/>
                <a:cs typeface="Times New Roman"/>
              </a:rPr>
              <a:t>1:N</a:t>
            </a:r>
            <a:r>
              <a:rPr sz="16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990000"/>
                </a:solidFill>
                <a:latin typeface="Times New Roman"/>
                <a:cs typeface="Times New Roman"/>
              </a:rPr>
              <a:t>relationship </a:t>
            </a:r>
            <a:r>
              <a:rPr sz="1600" spc="-3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990000"/>
                </a:solidFill>
                <a:latin typeface="Times New Roman"/>
                <a:cs typeface="Times New Roman"/>
              </a:rPr>
              <a:t>between</a:t>
            </a:r>
            <a:r>
              <a:rPr sz="16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990000"/>
                </a:solidFill>
                <a:latin typeface="Times New Roman"/>
                <a:cs typeface="Times New Roman"/>
              </a:rPr>
              <a:t>customer</a:t>
            </a:r>
            <a:r>
              <a:rPr sz="1600" spc="4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990000"/>
                </a:solidFill>
                <a:latin typeface="Times New Roman"/>
                <a:cs typeface="Times New Roman"/>
              </a:rPr>
              <a:t>and order)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990000"/>
                </a:solidFill>
                <a:latin typeface="Times New Roman"/>
                <a:cs typeface="Times New Roman"/>
              </a:rPr>
              <a:t>Combined,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these are a </a:t>
            </a:r>
            <a:r>
              <a:rPr sz="1800" i="1" dirty="0">
                <a:solidFill>
                  <a:srgbClr val="990000"/>
                </a:solidFill>
                <a:latin typeface="Times New Roman"/>
                <a:cs typeface="Times New Roman"/>
              </a:rPr>
              <a:t>composite </a:t>
            </a:r>
            <a:r>
              <a:rPr sz="1800" i="1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i="1" spc="-5" dirty="0">
                <a:solidFill>
                  <a:srgbClr val="990000"/>
                </a:solidFill>
                <a:latin typeface="Times New Roman"/>
                <a:cs typeface="Times New Roman"/>
              </a:rPr>
              <a:t>primary </a:t>
            </a:r>
            <a:r>
              <a:rPr sz="1800" i="1" dirty="0">
                <a:solidFill>
                  <a:srgbClr val="990000"/>
                </a:solidFill>
                <a:latin typeface="Times New Roman"/>
                <a:cs typeface="Times New Roman"/>
              </a:rPr>
              <a:t>key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(uniquely identifies the </a:t>
            </a:r>
            <a:r>
              <a:rPr sz="18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order line)…individually they are </a:t>
            </a:r>
            <a:r>
              <a:rPr sz="18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i="1" spc="-10" dirty="0">
                <a:solidFill>
                  <a:srgbClr val="990000"/>
                </a:solidFill>
                <a:latin typeface="Times New Roman"/>
                <a:cs typeface="Times New Roman"/>
              </a:rPr>
              <a:t>foreign </a:t>
            </a:r>
            <a:r>
              <a:rPr sz="1800" i="1" dirty="0">
                <a:solidFill>
                  <a:srgbClr val="990000"/>
                </a:solidFill>
                <a:latin typeface="Times New Roman"/>
                <a:cs typeface="Times New Roman"/>
              </a:rPr>
              <a:t>keys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(implement </a:t>
            </a:r>
            <a:r>
              <a:rPr sz="1800" spc="-5" dirty="0">
                <a:solidFill>
                  <a:srgbClr val="990000"/>
                </a:solidFill>
                <a:latin typeface="Times New Roman"/>
                <a:cs typeface="Times New Roman"/>
              </a:rPr>
              <a:t>M:N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 relationship</a:t>
            </a:r>
            <a:r>
              <a:rPr sz="1800" spc="-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between</a:t>
            </a:r>
            <a:r>
              <a:rPr sz="1800" spc="-4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order</a:t>
            </a:r>
            <a:r>
              <a:rPr sz="18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and</a:t>
            </a:r>
            <a:r>
              <a:rPr sz="18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product)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2483866" y="667257"/>
            <a:ext cx="60001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Gill Sans MT"/>
                <a:cs typeface="Gill Sans MT"/>
              </a:rPr>
              <a:t>Schema</a:t>
            </a:r>
            <a:r>
              <a:rPr sz="2000" spc="-30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for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four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relations</a:t>
            </a:r>
            <a:r>
              <a:rPr sz="2000" spc="-4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(Pine</a:t>
            </a:r>
            <a:r>
              <a:rPr sz="2000" spc="-320" dirty="0">
                <a:latin typeface="Gill Sans MT"/>
                <a:cs typeface="Gill Sans MT"/>
              </a:rPr>
              <a:t> </a:t>
            </a:r>
            <a:r>
              <a:rPr sz="2000" spc="-30" dirty="0">
                <a:latin typeface="Gill Sans MT"/>
                <a:cs typeface="Gill Sans MT"/>
              </a:rPr>
              <a:t>Valley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Furniture</a:t>
            </a:r>
            <a:r>
              <a:rPr sz="2000" spc="-4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Company)</a:t>
            </a:r>
            <a:endParaRPr sz="2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990600"/>
            <a:ext cx="7696200" cy="5181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0666" y="495046"/>
            <a:ext cx="7306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Referential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integrity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constraints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(Pine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Valley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Furniture)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6787388" y="2459863"/>
            <a:ext cx="2445385" cy="2404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270" algn="ctr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Referential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integrity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constraints are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 drawn via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arrows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 from</a:t>
            </a:r>
            <a:r>
              <a:rPr sz="2600" spc="-5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dependent</a:t>
            </a:r>
            <a:r>
              <a:rPr sz="2600" spc="-7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to </a:t>
            </a:r>
            <a:r>
              <a:rPr sz="2600" spc="-6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parent</a:t>
            </a:r>
            <a:r>
              <a:rPr sz="26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table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1645" y="613613"/>
            <a:ext cx="21736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/>
              <a:t>SQL</a:t>
            </a:r>
            <a:r>
              <a:rPr sz="2000" spc="-35" dirty="0"/>
              <a:t> </a:t>
            </a:r>
            <a:r>
              <a:rPr sz="2000" dirty="0"/>
              <a:t>table</a:t>
            </a:r>
            <a:r>
              <a:rPr sz="2000" spc="-70" dirty="0"/>
              <a:t> </a:t>
            </a:r>
            <a:r>
              <a:rPr sz="2000" dirty="0"/>
              <a:t>definitions</a:t>
            </a:r>
            <a:endParaRPr sz="2000"/>
          </a:p>
        </p:txBody>
      </p:sp>
      <p:grpSp>
        <p:nvGrpSpPr>
          <p:cNvPr id="3" name="object 3"/>
          <p:cNvGrpSpPr/>
          <p:nvPr/>
        </p:nvGrpSpPr>
        <p:grpSpPr>
          <a:xfrm>
            <a:off x="1630430" y="1042416"/>
            <a:ext cx="6218555" cy="5413375"/>
            <a:chOff x="1630430" y="1042416"/>
            <a:chExt cx="6218555" cy="54133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1200" y="1042416"/>
              <a:ext cx="5867400" cy="54132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81200" y="3480816"/>
              <a:ext cx="5486400" cy="231775"/>
            </a:xfrm>
            <a:custGeom>
              <a:avLst/>
              <a:gdLst/>
              <a:ahLst/>
              <a:cxnLst/>
              <a:rect l="l" t="t" r="r" b="b"/>
              <a:pathLst>
                <a:path w="5486400" h="231775">
                  <a:moveTo>
                    <a:pt x="0" y="231648"/>
                  </a:moveTo>
                  <a:lnTo>
                    <a:pt x="5486400" y="231648"/>
                  </a:lnTo>
                  <a:lnTo>
                    <a:pt x="5486400" y="0"/>
                  </a:lnTo>
                  <a:lnTo>
                    <a:pt x="0" y="0"/>
                  </a:lnTo>
                  <a:lnTo>
                    <a:pt x="0" y="231648"/>
                  </a:lnTo>
                  <a:close/>
                </a:path>
              </a:pathLst>
            </a:custGeom>
            <a:ln w="15240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30430" y="1350010"/>
              <a:ext cx="953135" cy="2239010"/>
            </a:xfrm>
            <a:custGeom>
              <a:avLst/>
              <a:gdLst/>
              <a:ahLst/>
              <a:cxnLst/>
              <a:rect l="l" t="t" r="r" b="b"/>
              <a:pathLst>
                <a:path w="953135" h="2239010">
                  <a:moveTo>
                    <a:pt x="853111" y="79372"/>
                  </a:moveTo>
                  <a:lnTo>
                    <a:pt x="843529" y="87756"/>
                  </a:lnTo>
                  <a:lnTo>
                    <a:pt x="815970" y="110362"/>
                  </a:lnTo>
                  <a:lnTo>
                    <a:pt x="689605" y="212598"/>
                  </a:lnTo>
                  <a:lnTo>
                    <a:pt x="619501" y="270001"/>
                  </a:lnTo>
                  <a:lnTo>
                    <a:pt x="546730" y="330580"/>
                  </a:lnTo>
                  <a:lnTo>
                    <a:pt x="473070" y="394335"/>
                  </a:lnTo>
                  <a:lnTo>
                    <a:pt x="436240" y="427227"/>
                  </a:lnTo>
                  <a:lnTo>
                    <a:pt x="399791" y="460628"/>
                  </a:lnTo>
                  <a:lnTo>
                    <a:pt x="363850" y="494538"/>
                  </a:lnTo>
                  <a:lnTo>
                    <a:pt x="328544" y="528827"/>
                  </a:lnTo>
                  <a:lnTo>
                    <a:pt x="294254" y="563626"/>
                  </a:lnTo>
                  <a:lnTo>
                    <a:pt x="260980" y="598804"/>
                  </a:lnTo>
                  <a:lnTo>
                    <a:pt x="229103" y="634111"/>
                  </a:lnTo>
                  <a:lnTo>
                    <a:pt x="198496" y="669798"/>
                  </a:lnTo>
                  <a:lnTo>
                    <a:pt x="169540" y="705738"/>
                  </a:lnTo>
                  <a:lnTo>
                    <a:pt x="142616" y="741679"/>
                  </a:lnTo>
                  <a:lnTo>
                    <a:pt x="117724" y="777620"/>
                  </a:lnTo>
                  <a:lnTo>
                    <a:pt x="95118" y="813815"/>
                  </a:lnTo>
                  <a:lnTo>
                    <a:pt x="74798" y="849884"/>
                  </a:lnTo>
                  <a:lnTo>
                    <a:pt x="57145" y="885825"/>
                  </a:lnTo>
                  <a:lnTo>
                    <a:pt x="42413" y="921638"/>
                  </a:lnTo>
                  <a:lnTo>
                    <a:pt x="21458" y="993013"/>
                  </a:lnTo>
                  <a:lnTo>
                    <a:pt x="8123" y="1065402"/>
                  </a:lnTo>
                  <a:lnTo>
                    <a:pt x="1265" y="1139443"/>
                  </a:lnTo>
                  <a:lnTo>
                    <a:pt x="0" y="1176909"/>
                  </a:lnTo>
                  <a:lnTo>
                    <a:pt x="122" y="1214881"/>
                  </a:lnTo>
                  <a:lnTo>
                    <a:pt x="1646" y="1253109"/>
                  </a:lnTo>
                  <a:lnTo>
                    <a:pt x="4567" y="1291843"/>
                  </a:lnTo>
                  <a:lnTo>
                    <a:pt x="8758" y="1330705"/>
                  </a:lnTo>
                  <a:lnTo>
                    <a:pt x="14092" y="1369822"/>
                  </a:lnTo>
                  <a:lnTo>
                    <a:pt x="20569" y="1409318"/>
                  </a:lnTo>
                  <a:lnTo>
                    <a:pt x="28189" y="1449197"/>
                  </a:lnTo>
                  <a:lnTo>
                    <a:pt x="36825" y="1489202"/>
                  </a:lnTo>
                  <a:lnTo>
                    <a:pt x="46350" y="1529461"/>
                  </a:lnTo>
                  <a:lnTo>
                    <a:pt x="56891" y="1569974"/>
                  </a:lnTo>
                  <a:lnTo>
                    <a:pt x="68448" y="1610614"/>
                  </a:lnTo>
                  <a:lnTo>
                    <a:pt x="80640" y="1651635"/>
                  </a:lnTo>
                  <a:lnTo>
                    <a:pt x="93594" y="1692782"/>
                  </a:lnTo>
                  <a:lnTo>
                    <a:pt x="107310" y="1734057"/>
                  </a:lnTo>
                  <a:lnTo>
                    <a:pt x="121661" y="1775460"/>
                  </a:lnTo>
                  <a:lnTo>
                    <a:pt x="136520" y="1817115"/>
                  </a:lnTo>
                  <a:lnTo>
                    <a:pt x="168143" y="1900809"/>
                  </a:lnTo>
                  <a:lnTo>
                    <a:pt x="201417" y="1985010"/>
                  </a:lnTo>
                  <a:lnTo>
                    <a:pt x="235961" y="2069464"/>
                  </a:lnTo>
                  <a:lnTo>
                    <a:pt x="271521" y="2154174"/>
                  </a:lnTo>
                  <a:lnTo>
                    <a:pt x="307335" y="2238882"/>
                  </a:lnTo>
                  <a:lnTo>
                    <a:pt x="321432" y="2233041"/>
                  </a:lnTo>
                  <a:lnTo>
                    <a:pt x="285491" y="2148204"/>
                  </a:lnTo>
                  <a:lnTo>
                    <a:pt x="249931" y="2063623"/>
                  </a:lnTo>
                  <a:lnTo>
                    <a:pt x="215514" y="1979294"/>
                  </a:lnTo>
                  <a:lnTo>
                    <a:pt x="182367" y="1895220"/>
                  </a:lnTo>
                  <a:lnTo>
                    <a:pt x="150871" y="1811781"/>
                  </a:lnTo>
                  <a:lnTo>
                    <a:pt x="136012" y="1770379"/>
                  </a:lnTo>
                  <a:lnTo>
                    <a:pt x="121661" y="1728977"/>
                  </a:lnTo>
                  <a:lnTo>
                    <a:pt x="108072" y="1687956"/>
                  </a:lnTo>
                  <a:lnTo>
                    <a:pt x="95118" y="1647063"/>
                  </a:lnTo>
                  <a:lnTo>
                    <a:pt x="82926" y="1606295"/>
                  </a:lnTo>
                  <a:lnTo>
                    <a:pt x="71623" y="1565782"/>
                  </a:lnTo>
                  <a:lnTo>
                    <a:pt x="61209" y="1525524"/>
                  </a:lnTo>
                  <a:lnTo>
                    <a:pt x="51684" y="1485645"/>
                  </a:lnTo>
                  <a:lnTo>
                    <a:pt x="43048" y="1445894"/>
                  </a:lnTo>
                  <a:lnTo>
                    <a:pt x="35555" y="1406525"/>
                  </a:lnTo>
                  <a:lnTo>
                    <a:pt x="29078" y="1367409"/>
                  </a:lnTo>
                  <a:lnTo>
                    <a:pt x="23871" y="1328674"/>
                  </a:lnTo>
                  <a:lnTo>
                    <a:pt x="19680" y="1290192"/>
                  </a:lnTo>
                  <a:lnTo>
                    <a:pt x="16886" y="1252092"/>
                  </a:lnTo>
                  <a:lnTo>
                    <a:pt x="15235" y="1176909"/>
                  </a:lnTo>
                  <a:lnTo>
                    <a:pt x="16378" y="1139825"/>
                  </a:lnTo>
                  <a:lnTo>
                    <a:pt x="23236" y="1067180"/>
                  </a:lnTo>
                  <a:lnTo>
                    <a:pt x="36317" y="996061"/>
                  </a:lnTo>
                  <a:lnTo>
                    <a:pt x="50795" y="944117"/>
                  </a:lnTo>
                  <a:lnTo>
                    <a:pt x="71115" y="891793"/>
                  </a:lnTo>
                  <a:lnTo>
                    <a:pt x="88387" y="856741"/>
                  </a:lnTo>
                  <a:lnTo>
                    <a:pt x="108326" y="821436"/>
                  </a:lnTo>
                  <a:lnTo>
                    <a:pt x="130551" y="785876"/>
                  </a:lnTo>
                  <a:lnTo>
                    <a:pt x="155189" y="750442"/>
                  </a:lnTo>
                  <a:lnTo>
                    <a:pt x="181859" y="714755"/>
                  </a:lnTo>
                  <a:lnTo>
                    <a:pt x="210434" y="679450"/>
                  </a:lnTo>
                  <a:lnTo>
                    <a:pt x="240660" y="644016"/>
                  </a:lnTo>
                  <a:lnTo>
                    <a:pt x="272283" y="608964"/>
                  </a:lnTo>
                  <a:lnTo>
                    <a:pt x="305303" y="574166"/>
                  </a:lnTo>
                  <a:lnTo>
                    <a:pt x="339466" y="539623"/>
                  </a:lnTo>
                  <a:lnTo>
                    <a:pt x="374518" y="505332"/>
                  </a:lnTo>
                  <a:lnTo>
                    <a:pt x="410332" y="471677"/>
                  </a:lnTo>
                  <a:lnTo>
                    <a:pt x="446654" y="438403"/>
                  </a:lnTo>
                  <a:lnTo>
                    <a:pt x="483230" y="405638"/>
                  </a:lnTo>
                  <a:lnTo>
                    <a:pt x="519933" y="373634"/>
                  </a:lnTo>
                  <a:lnTo>
                    <a:pt x="556763" y="342138"/>
                  </a:lnTo>
                  <a:lnTo>
                    <a:pt x="593212" y="311530"/>
                  </a:lnTo>
                  <a:lnTo>
                    <a:pt x="699257" y="224409"/>
                  </a:lnTo>
                  <a:lnTo>
                    <a:pt x="825622" y="122174"/>
                  </a:lnTo>
                  <a:lnTo>
                    <a:pt x="853181" y="99440"/>
                  </a:lnTo>
                  <a:lnTo>
                    <a:pt x="863319" y="90677"/>
                  </a:lnTo>
                  <a:lnTo>
                    <a:pt x="853111" y="79372"/>
                  </a:lnTo>
                  <a:close/>
                </a:path>
                <a:path w="953135" h="2239010">
                  <a:moveTo>
                    <a:pt x="924942" y="70865"/>
                  </a:moveTo>
                  <a:lnTo>
                    <a:pt x="862833" y="70865"/>
                  </a:lnTo>
                  <a:lnTo>
                    <a:pt x="872866" y="82423"/>
                  </a:lnTo>
                  <a:lnTo>
                    <a:pt x="863319" y="90677"/>
                  </a:lnTo>
                  <a:lnTo>
                    <a:pt x="900933" y="132334"/>
                  </a:lnTo>
                  <a:lnTo>
                    <a:pt x="924942" y="70865"/>
                  </a:lnTo>
                  <a:close/>
                </a:path>
                <a:path w="953135" h="2239010">
                  <a:moveTo>
                    <a:pt x="862833" y="70865"/>
                  </a:moveTo>
                  <a:lnTo>
                    <a:pt x="853111" y="79372"/>
                  </a:lnTo>
                  <a:lnTo>
                    <a:pt x="863319" y="90677"/>
                  </a:lnTo>
                  <a:lnTo>
                    <a:pt x="872866" y="82423"/>
                  </a:lnTo>
                  <a:lnTo>
                    <a:pt x="862833" y="70865"/>
                  </a:lnTo>
                  <a:close/>
                </a:path>
                <a:path w="953135" h="2239010">
                  <a:moveTo>
                    <a:pt x="952622" y="0"/>
                  </a:moveTo>
                  <a:lnTo>
                    <a:pt x="815843" y="38100"/>
                  </a:lnTo>
                  <a:lnTo>
                    <a:pt x="853111" y="79372"/>
                  </a:lnTo>
                  <a:lnTo>
                    <a:pt x="862833" y="70865"/>
                  </a:lnTo>
                  <a:lnTo>
                    <a:pt x="924942" y="70865"/>
                  </a:lnTo>
                  <a:lnTo>
                    <a:pt x="952622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002905" y="2435479"/>
            <a:ext cx="2419985" cy="2800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Referential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integrity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constraints are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implemented</a:t>
            </a:r>
            <a:r>
              <a:rPr sz="2600" spc="-5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with </a:t>
            </a:r>
            <a:r>
              <a:rPr sz="2600" spc="-6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foreign key to </a:t>
            </a:r>
            <a:r>
              <a:rPr sz="26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primary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key </a:t>
            </a:r>
            <a:r>
              <a:rPr sz="26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references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7408" y="600455"/>
            <a:ext cx="10985500" cy="1369695"/>
            <a:chOff x="597408" y="600455"/>
            <a:chExt cx="10985500" cy="1369695"/>
          </a:xfrm>
        </p:grpSpPr>
        <p:sp>
          <p:nvSpPr>
            <p:cNvPr id="3" name="object 3"/>
            <p:cNvSpPr/>
            <p:nvPr/>
          </p:nvSpPr>
          <p:spPr>
            <a:xfrm>
              <a:off x="597408" y="600455"/>
              <a:ext cx="10985500" cy="1259205"/>
            </a:xfrm>
            <a:custGeom>
              <a:avLst/>
              <a:gdLst/>
              <a:ahLst/>
              <a:cxnLst/>
              <a:rect l="l" t="t" r="r" b="b"/>
              <a:pathLst>
                <a:path w="10985500" h="1259205">
                  <a:moveTo>
                    <a:pt x="10984992" y="0"/>
                  </a:moveTo>
                  <a:lnTo>
                    <a:pt x="0" y="0"/>
                  </a:lnTo>
                  <a:lnTo>
                    <a:pt x="0" y="1258824"/>
                  </a:lnTo>
                  <a:lnTo>
                    <a:pt x="10984992" y="1258824"/>
                  </a:lnTo>
                  <a:lnTo>
                    <a:pt x="10984992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652" y="1182623"/>
              <a:ext cx="8506206" cy="78714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7408" y="1271092"/>
            <a:ext cx="10985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</a:rPr>
              <a:t>TRANSFORMING </a:t>
            </a:r>
            <a:r>
              <a:rPr sz="2800" dirty="0">
                <a:solidFill>
                  <a:srgbClr val="FFFFFF"/>
                </a:solidFill>
              </a:rPr>
              <a:t>EER</a:t>
            </a:r>
            <a:r>
              <a:rPr sz="2800" spc="-5" dirty="0">
                <a:solidFill>
                  <a:srgbClr val="FFFFFF"/>
                </a:solidFill>
              </a:rPr>
              <a:t> </a:t>
            </a:r>
            <a:r>
              <a:rPr sz="2800" spc="-20" dirty="0">
                <a:solidFill>
                  <a:srgbClr val="FFFFFF"/>
                </a:solidFill>
              </a:rPr>
              <a:t>DIAGRAMS</a:t>
            </a:r>
            <a:r>
              <a:rPr sz="2800" spc="5" dirty="0">
                <a:solidFill>
                  <a:srgbClr val="FFFFFF"/>
                </a:solidFill>
              </a:rPr>
              <a:t> </a:t>
            </a:r>
            <a:r>
              <a:rPr sz="2800" spc="-50" dirty="0">
                <a:solidFill>
                  <a:srgbClr val="FFFFFF"/>
                </a:solidFill>
              </a:rPr>
              <a:t>INTO</a:t>
            </a:r>
            <a:r>
              <a:rPr sz="2800" spc="-15" dirty="0">
                <a:solidFill>
                  <a:srgbClr val="FFFFFF"/>
                </a:solidFill>
              </a:rPr>
              <a:t> </a:t>
            </a:r>
            <a:r>
              <a:rPr sz="2800" spc="-35" dirty="0">
                <a:solidFill>
                  <a:srgbClr val="FFFFFF"/>
                </a:solidFill>
              </a:rPr>
              <a:t>RELATIONS</a:t>
            </a:r>
            <a:endParaRPr sz="2800"/>
          </a:p>
        </p:txBody>
      </p:sp>
      <p:grpSp>
        <p:nvGrpSpPr>
          <p:cNvPr id="6" name="object 6"/>
          <p:cNvGrpSpPr/>
          <p:nvPr/>
        </p:nvGrpSpPr>
        <p:grpSpPr>
          <a:xfrm>
            <a:off x="990435" y="3212397"/>
            <a:ext cx="8900160" cy="1706880"/>
            <a:chOff x="990435" y="3212397"/>
            <a:chExt cx="8900160" cy="170688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0435" y="3212397"/>
              <a:ext cx="3434712" cy="22825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0475" y="3605166"/>
              <a:ext cx="1576689" cy="20471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07663" y="3482339"/>
              <a:ext cx="337553" cy="45491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73196" y="3482339"/>
              <a:ext cx="3777234" cy="45491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33372" y="3851147"/>
              <a:ext cx="5808726" cy="45491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33372" y="4219955"/>
              <a:ext cx="2012442" cy="45491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73780" y="4219955"/>
              <a:ext cx="374129" cy="45491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75887" y="4219955"/>
              <a:ext cx="6214110" cy="45491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33372" y="4463795"/>
              <a:ext cx="738377" cy="454913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467598" y="3620827"/>
            <a:ext cx="104116" cy="14146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35911" y="3985072"/>
            <a:ext cx="135803" cy="14602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40438" y="4353880"/>
            <a:ext cx="131277" cy="14602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57783" y="2986796"/>
            <a:ext cx="8740775" cy="179387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800" spc="-5" dirty="0">
                <a:latin typeface="Gill Sans MT"/>
                <a:cs typeface="Gill Sans MT"/>
              </a:rPr>
              <a:t>Mapping</a:t>
            </a:r>
            <a:r>
              <a:rPr sz="1800" spc="-30" dirty="0">
                <a:latin typeface="Gill Sans MT"/>
                <a:cs typeface="Gill Sans MT"/>
              </a:rPr>
              <a:t> </a:t>
            </a:r>
            <a:r>
              <a:rPr sz="1800" dirty="0">
                <a:latin typeface="Gill Sans MT"/>
                <a:cs typeface="Gill Sans MT"/>
              </a:rPr>
              <a:t>Regular</a:t>
            </a:r>
            <a:r>
              <a:rPr sz="1800" spc="-25" dirty="0">
                <a:latin typeface="Gill Sans MT"/>
                <a:cs typeface="Gill Sans MT"/>
              </a:rPr>
              <a:t> </a:t>
            </a:r>
            <a:r>
              <a:rPr sz="1800" dirty="0">
                <a:latin typeface="Gill Sans MT"/>
                <a:cs typeface="Gill Sans MT"/>
              </a:rPr>
              <a:t>Entities to</a:t>
            </a:r>
            <a:r>
              <a:rPr sz="1800" spc="-20" dirty="0">
                <a:latin typeface="Gill Sans MT"/>
                <a:cs typeface="Gill Sans MT"/>
              </a:rPr>
              <a:t> </a:t>
            </a:r>
            <a:r>
              <a:rPr sz="1800" spc="-5" dirty="0">
                <a:latin typeface="Gill Sans MT"/>
                <a:cs typeface="Gill Sans MT"/>
              </a:rPr>
              <a:t>Relations</a:t>
            </a:r>
            <a:endParaRPr sz="1800">
              <a:latin typeface="Gill Sans MT"/>
              <a:cs typeface="Gill Sans MT"/>
            </a:endParaRPr>
          </a:p>
          <a:p>
            <a:pPr marL="1003300" indent="-534035">
              <a:lnSpc>
                <a:spcPct val="100000"/>
              </a:lnSpc>
              <a:spcBef>
                <a:spcPts val="994"/>
              </a:spcBef>
              <a:buClr>
                <a:srgbClr val="4590B8"/>
              </a:buClr>
              <a:buSzPct val="90625"/>
              <a:buAutoNum type="arabicPeriod"/>
              <a:tabLst>
                <a:tab pos="1002665" algn="l"/>
                <a:tab pos="1003935" algn="l"/>
              </a:tabLst>
            </a:pPr>
            <a:r>
              <a:rPr sz="1600" spc="-5" dirty="0">
                <a:latin typeface="Gill Sans MT"/>
                <a:cs typeface="Gill Sans MT"/>
              </a:rPr>
              <a:t>Simple</a:t>
            </a:r>
            <a:r>
              <a:rPr sz="1600" spc="1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attributes:</a:t>
            </a:r>
            <a:r>
              <a:rPr sz="1600" spc="-140" dirty="0">
                <a:latin typeface="Gill Sans MT"/>
                <a:cs typeface="Gill Sans MT"/>
              </a:rPr>
              <a:t> </a:t>
            </a:r>
            <a:r>
              <a:rPr sz="1600" dirty="0">
                <a:latin typeface="Gill Sans MT"/>
                <a:cs typeface="Gill Sans MT"/>
              </a:rPr>
              <a:t>E-R</a:t>
            </a:r>
            <a:r>
              <a:rPr sz="1600" spc="5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attributes</a:t>
            </a:r>
            <a:r>
              <a:rPr sz="1600" spc="2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map</a:t>
            </a:r>
            <a:r>
              <a:rPr sz="1600" spc="15" dirty="0">
                <a:latin typeface="Gill Sans MT"/>
                <a:cs typeface="Gill Sans MT"/>
              </a:rPr>
              <a:t> </a:t>
            </a:r>
            <a:r>
              <a:rPr sz="1600" spc="-10" dirty="0">
                <a:latin typeface="Gill Sans MT"/>
                <a:cs typeface="Gill Sans MT"/>
              </a:rPr>
              <a:t>directly</a:t>
            </a:r>
            <a:r>
              <a:rPr sz="1600" spc="1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onto</a:t>
            </a:r>
            <a:r>
              <a:rPr sz="1600" spc="25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the</a:t>
            </a:r>
            <a:r>
              <a:rPr sz="1600" spc="20" dirty="0">
                <a:latin typeface="Gill Sans MT"/>
                <a:cs typeface="Gill Sans MT"/>
              </a:rPr>
              <a:t> </a:t>
            </a:r>
            <a:r>
              <a:rPr sz="1600" spc="-10" dirty="0">
                <a:latin typeface="Gill Sans MT"/>
                <a:cs typeface="Gill Sans MT"/>
              </a:rPr>
              <a:t>relation</a:t>
            </a:r>
            <a:endParaRPr sz="1600">
              <a:latin typeface="Gill Sans MT"/>
              <a:cs typeface="Gill Sans MT"/>
            </a:endParaRPr>
          </a:p>
          <a:p>
            <a:pPr marL="1003300" indent="-534035">
              <a:lnSpc>
                <a:spcPct val="100000"/>
              </a:lnSpc>
              <a:spcBef>
                <a:spcPts val="985"/>
              </a:spcBef>
              <a:buClr>
                <a:srgbClr val="4590B8"/>
              </a:buClr>
              <a:buSzPct val="90625"/>
              <a:buAutoNum type="arabicPeriod"/>
              <a:tabLst>
                <a:tab pos="1002665" algn="l"/>
                <a:tab pos="1003935" algn="l"/>
              </a:tabLst>
            </a:pPr>
            <a:r>
              <a:rPr sz="1600" spc="-5" dirty="0">
                <a:latin typeface="Gill Sans MT"/>
                <a:cs typeface="Gill Sans MT"/>
              </a:rPr>
              <a:t>Composite</a:t>
            </a:r>
            <a:r>
              <a:rPr sz="1600" spc="5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attributes:</a:t>
            </a:r>
            <a:r>
              <a:rPr sz="1600" spc="-135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Use</a:t>
            </a:r>
            <a:r>
              <a:rPr sz="1600" spc="15" dirty="0">
                <a:latin typeface="Gill Sans MT"/>
                <a:cs typeface="Gill Sans MT"/>
              </a:rPr>
              <a:t> </a:t>
            </a:r>
            <a:r>
              <a:rPr sz="1600" spc="-10" dirty="0">
                <a:latin typeface="Gill Sans MT"/>
                <a:cs typeface="Gill Sans MT"/>
              </a:rPr>
              <a:t>only</a:t>
            </a:r>
            <a:r>
              <a:rPr sz="1600" spc="1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their</a:t>
            </a:r>
            <a:r>
              <a:rPr sz="1600" spc="20" dirty="0">
                <a:latin typeface="Gill Sans MT"/>
                <a:cs typeface="Gill Sans MT"/>
              </a:rPr>
              <a:t> </a:t>
            </a:r>
            <a:r>
              <a:rPr sz="1600" dirty="0">
                <a:latin typeface="Gill Sans MT"/>
                <a:cs typeface="Gill Sans MT"/>
              </a:rPr>
              <a:t>simple,</a:t>
            </a:r>
            <a:r>
              <a:rPr sz="1600" spc="-17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component</a:t>
            </a:r>
            <a:r>
              <a:rPr sz="1600" spc="4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attributes</a:t>
            </a:r>
            <a:endParaRPr sz="1600">
              <a:latin typeface="Gill Sans MT"/>
              <a:cs typeface="Gill Sans MT"/>
            </a:endParaRPr>
          </a:p>
          <a:p>
            <a:pPr marL="1003300" marR="5080" indent="-533400">
              <a:lnSpc>
                <a:spcPct val="100000"/>
              </a:lnSpc>
              <a:spcBef>
                <a:spcPts val="985"/>
              </a:spcBef>
              <a:buClr>
                <a:srgbClr val="4590B8"/>
              </a:buClr>
              <a:buSzPct val="90625"/>
              <a:buAutoNum type="arabicPeriod"/>
              <a:tabLst>
                <a:tab pos="1002665" algn="l"/>
                <a:tab pos="1003935" algn="l"/>
              </a:tabLst>
            </a:pPr>
            <a:r>
              <a:rPr sz="1600" spc="-5" dirty="0">
                <a:latin typeface="Gill Sans MT"/>
                <a:cs typeface="Gill Sans MT"/>
              </a:rPr>
              <a:t>Multivalued</a:t>
            </a:r>
            <a:r>
              <a:rPr sz="1600" spc="-14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Attribute–Becomes</a:t>
            </a:r>
            <a:r>
              <a:rPr sz="1600" spc="3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a</a:t>
            </a:r>
            <a:r>
              <a:rPr sz="160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separate</a:t>
            </a:r>
            <a:r>
              <a:rPr sz="1600" spc="20" dirty="0">
                <a:latin typeface="Gill Sans MT"/>
                <a:cs typeface="Gill Sans MT"/>
              </a:rPr>
              <a:t> </a:t>
            </a:r>
            <a:r>
              <a:rPr sz="1600" spc="-10" dirty="0">
                <a:latin typeface="Gill Sans MT"/>
                <a:cs typeface="Gill Sans MT"/>
              </a:rPr>
              <a:t>relation</a:t>
            </a:r>
            <a:r>
              <a:rPr sz="1600" spc="45" dirty="0">
                <a:latin typeface="Gill Sans MT"/>
                <a:cs typeface="Gill Sans MT"/>
              </a:rPr>
              <a:t> </a:t>
            </a:r>
            <a:r>
              <a:rPr sz="1600" spc="-10" dirty="0">
                <a:latin typeface="Gill Sans MT"/>
                <a:cs typeface="Gill Sans MT"/>
              </a:rPr>
              <a:t>with</a:t>
            </a:r>
            <a:r>
              <a:rPr sz="1600" spc="2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a</a:t>
            </a:r>
            <a:r>
              <a:rPr sz="1600" spc="20" dirty="0">
                <a:latin typeface="Gill Sans MT"/>
                <a:cs typeface="Gill Sans MT"/>
              </a:rPr>
              <a:t> </a:t>
            </a:r>
            <a:r>
              <a:rPr sz="1600" spc="-10" dirty="0">
                <a:latin typeface="Gill Sans MT"/>
                <a:cs typeface="Gill Sans MT"/>
              </a:rPr>
              <a:t>foreign</a:t>
            </a:r>
            <a:r>
              <a:rPr sz="1600" spc="25" dirty="0">
                <a:latin typeface="Gill Sans MT"/>
                <a:cs typeface="Gill Sans MT"/>
              </a:rPr>
              <a:t> </a:t>
            </a:r>
            <a:r>
              <a:rPr sz="1600" spc="-30" dirty="0">
                <a:latin typeface="Gill Sans MT"/>
                <a:cs typeface="Gill Sans MT"/>
              </a:rPr>
              <a:t>key</a:t>
            </a:r>
            <a:r>
              <a:rPr sz="1600" dirty="0">
                <a:latin typeface="Gill Sans MT"/>
                <a:cs typeface="Gill Sans MT"/>
              </a:rPr>
              <a:t> </a:t>
            </a:r>
            <a:r>
              <a:rPr sz="1600" spc="-15" dirty="0">
                <a:latin typeface="Gill Sans MT"/>
                <a:cs typeface="Gill Sans MT"/>
              </a:rPr>
              <a:t>taken</a:t>
            </a:r>
            <a:r>
              <a:rPr sz="1600" spc="15" dirty="0">
                <a:latin typeface="Gill Sans MT"/>
                <a:cs typeface="Gill Sans MT"/>
              </a:rPr>
              <a:t> </a:t>
            </a:r>
            <a:r>
              <a:rPr sz="1600" spc="-15" dirty="0">
                <a:latin typeface="Gill Sans MT"/>
                <a:cs typeface="Gill Sans MT"/>
              </a:rPr>
              <a:t>from</a:t>
            </a:r>
            <a:r>
              <a:rPr sz="1600" spc="3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the</a:t>
            </a:r>
            <a:r>
              <a:rPr sz="1600" spc="25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superior </a:t>
            </a:r>
            <a:r>
              <a:rPr sz="1600" spc="-43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entity</a:t>
            </a:r>
            <a:endParaRPr sz="1600">
              <a:latin typeface="Gill Sans MT"/>
              <a:cs typeface="Gill Sans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037826" y="6062436"/>
            <a:ext cx="141605" cy="1581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23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2994" y="1216278"/>
            <a:ext cx="224536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990000"/>
                </a:solidFill>
                <a:latin typeface="Arial"/>
                <a:cs typeface="Arial"/>
              </a:rPr>
              <a:t>(a) </a:t>
            </a:r>
            <a:r>
              <a:rPr sz="2400" b="1" spc="-10" dirty="0">
                <a:solidFill>
                  <a:srgbClr val="990000"/>
                </a:solidFill>
                <a:latin typeface="Arial"/>
                <a:cs typeface="Arial"/>
              </a:rPr>
              <a:t>CUSTOMER </a:t>
            </a:r>
            <a:r>
              <a:rPr sz="2400" b="1" spc="-65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990000"/>
                </a:solidFill>
                <a:latin typeface="Arial"/>
                <a:cs typeface="Arial"/>
              </a:rPr>
              <a:t>entity</a:t>
            </a:r>
            <a:r>
              <a:rPr sz="2400" b="1" spc="-5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990000"/>
                </a:solidFill>
                <a:latin typeface="Arial"/>
                <a:cs typeface="Arial"/>
              </a:rPr>
              <a:t>type</a:t>
            </a:r>
            <a:r>
              <a:rPr sz="2400" b="1" spc="-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b="1" spc="5" dirty="0">
                <a:solidFill>
                  <a:srgbClr val="990000"/>
                </a:solidFill>
                <a:latin typeface="Arial"/>
                <a:cs typeface="Arial"/>
              </a:rPr>
              <a:t>with </a:t>
            </a:r>
            <a:r>
              <a:rPr sz="2400" b="1" spc="-65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990000"/>
                </a:solidFill>
                <a:latin typeface="Arial"/>
                <a:cs typeface="Arial"/>
              </a:rPr>
              <a:t>simple </a:t>
            </a:r>
            <a:r>
              <a:rPr sz="2400" b="1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990000"/>
                </a:solidFill>
                <a:latin typeface="Arial"/>
                <a:cs typeface="Arial"/>
              </a:rPr>
              <a:t>attributes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79394" y="25400"/>
            <a:ext cx="3298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Mapping 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regular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entity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7394" y="3988689"/>
            <a:ext cx="3423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990000"/>
                </a:solidFill>
                <a:latin typeface="Arial"/>
                <a:cs typeface="Arial"/>
              </a:rPr>
              <a:t>(b)</a:t>
            </a:r>
            <a:r>
              <a:rPr sz="2400" b="1" spc="-5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990000"/>
                </a:solidFill>
                <a:latin typeface="Arial"/>
                <a:cs typeface="Arial"/>
              </a:rPr>
              <a:t>CUSTOMER</a:t>
            </a:r>
            <a:r>
              <a:rPr sz="2400" b="1" spc="-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990000"/>
                </a:solidFill>
                <a:latin typeface="Arial"/>
                <a:cs typeface="Arial"/>
              </a:rPr>
              <a:t>relation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0" y="1069847"/>
            <a:ext cx="6103620" cy="20828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4639" y="4600955"/>
            <a:ext cx="6691669" cy="138836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1595" y="3724655"/>
            <a:ext cx="7661148" cy="22646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7400" y="1025652"/>
            <a:ext cx="7700772" cy="23682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36394" y="1016253"/>
            <a:ext cx="221932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990000"/>
                </a:solidFill>
                <a:latin typeface="Arial"/>
                <a:cs typeface="Arial"/>
              </a:rPr>
              <a:t>(a)</a:t>
            </a:r>
            <a:r>
              <a:rPr sz="2400" spc="-7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990000"/>
                </a:solidFill>
                <a:latin typeface="Arial"/>
                <a:cs typeface="Arial"/>
              </a:rPr>
              <a:t>CUSTOMER </a:t>
            </a:r>
            <a:r>
              <a:rPr sz="2400" spc="-65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Arial"/>
                <a:cs typeface="Arial"/>
              </a:rPr>
              <a:t>entity </a:t>
            </a:r>
            <a:r>
              <a:rPr sz="2400" dirty="0">
                <a:solidFill>
                  <a:srgbClr val="990000"/>
                </a:solidFill>
                <a:latin typeface="Arial"/>
                <a:cs typeface="Arial"/>
              </a:rPr>
              <a:t>type </a:t>
            </a:r>
            <a:r>
              <a:rPr sz="2400" spc="-5" dirty="0">
                <a:solidFill>
                  <a:srgbClr val="990000"/>
                </a:solidFill>
                <a:latin typeface="Arial"/>
                <a:cs typeface="Arial"/>
              </a:rPr>
              <a:t>with </a:t>
            </a:r>
            <a:r>
              <a:rPr sz="24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Arial"/>
                <a:cs typeface="Arial"/>
              </a:rPr>
              <a:t>composite </a:t>
            </a:r>
            <a:r>
              <a:rPr sz="24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Arial"/>
                <a:cs typeface="Arial"/>
              </a:rPr>
              <a:t>attribute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79394" y="25400"/>
            <a:ext cx="41109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Mapping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composite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attribute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55897" y="3883914"/>
            <a:ext cx="59150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990000"/>
                </a:solidFill>
                <a:latin typeface="Arial"/>
                <a:cs typeface="Arial"/>
              </a:rPr>
              <a:t>(b)</a:t>
            </a:r>
            <a:r>
              <a:rPr sz="24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990000"/>
                </a:solidFill>
                <a:latin typeface="Arial"/>
                <a:cs typeface="Arial"/>
              </a:rPr>
              <a:t>CUSTOMER</a:t>
            </a:r>
            <a:r>
              <a:rPr sz="24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Arial"/>
                <a:cs typeface="Arial"/>
              </a:rPr>
              <a:t>relation</a:t>
            </a:r>
            <a:r>
              <a:rPr sz="2400" spc="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Arial"/>
                <a:cs typeface="Arial"/>
              </a:rPr>
              <a:t>with</a:t>
            </a:r>
            <a:r>
              <a:rPr sz="24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Arial"/>
                <a:cs typeface="Arial"/>
              </a:rPr>
              <a:t>address</a:t>
            </a:r>
            <a:r>
              <a:rPr sz="24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Arial"/>
                <a:cs typeface="Arial"/>
              </a:rPr>
              <a:t>detail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08511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26</a:t>
            </a:r>
            <a:endParaRPr sz="900">
              <a:latin typeface="Gill Sans MT"/>
              <a:cs typeface="Gill Sans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8335" y="595883"/>
            <a:ext cx="6846868" cy="23850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96617" y="82422"/>
            <a:ext cx="6128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Mapping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an</a:t>
            </a:r>
            <a:r>
              <a:rPr sz="2400" dirty="0">
                <a:latin typeface="Arial"/>
                <a:cs typeface="Arial"/>
              </a:rPr>
              <a:t> entity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with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multivalued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attribute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6217" y="5890971"/>
            <a:ext cx="8792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990000"/>
                </a:solidFill>
                <a:latin typeface="Times New Roman"/>
                <a:cs typeface="Times New Roman"/>
              </a:rPr>
              <a:t>One–to–many</a:t>
            </a:r>
            <a:r>
              <a:rPr sz="2400" b="1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relationship</a:t>
            </a:r>
            <a:r>
              <a:rPr sz="2400" b="1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between</a:t>
            </a:r>
            <a:r>
              <a:rPr sz="2400" b="1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90000"/>
                </a:solidFill>
                <a:latin typeface="Times New Roman"/>
                <a:cs typeface="Times New Roman"/>
              </a:rPr>
              <a:t>original</a:t>
            </a:r>
            <a:r>
              <a:rPr sz="2400" b="1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90000"/>
                </a:solidFill>
                <a:latin typeface="Times New Roman"/>
                <a:cs typeface="Times New Roman"/>
              </a:rPr>
              <a:t>entity</a:t>
            </a:r>
            <a:r>
              <a:rPr sz="2400" b="1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and</a:t>
            </a:r>
            <a:r>
              <a:rPr sz="2400" b="1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new</a:t>
            </a:r>
            <a:r>
              <a:rPr sz="2400" b="1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990000"/>
                </a:solidFill>
                <a:latin typeface="Times New Roman"/>
                <a:cs typeface="Times New Roman"/>
              </a:rPr>
              <a:t>relation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24580" y="556005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(a)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05100" y="3704844"/>
            <a:ext cx="6893052" cy="21205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755394" y="3055492"/>
            <a:ext cx="8695690" cy="109283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400" b="1" dirty="0">
                <a:solidFill>
                  <a:srgbClr val="990000"/>
                </a:solidFill>
                <a:latin typeface="Times New Roman"/>
                <a:cs typeface="Times New Roman"/>
              </a:rPr>
              <a:t>Multivalued</a:t>
            </a:r>
            <a:r>
              <a:rPr sz="2400" b="1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90000"/>
                </a:solidFill>
                <a:latin typeface="Times New Roman"/>
                <a:cs typeface="Times New Roman"/>
              </a:rPr>
              <a:t>attribute</a:t>
            </a:r>
            <a:r>
              <a:rPr sz="2400" b="1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becomes</a:t>
            </a:r>
            <a:r>
              <a:rPr sz="2400" b="1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90000"/>
                </a:solidFill>
                <a:latin typeface="Times New Roman"/>
                <a:cs typeface="Times New Roman"/>
              </a:rPr>
              <a:t>a</a:t>
            </a:r>
            <a:r>
              <a:rPr sz="2400" b="1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90000"/>
                </a:solidFill>
                <a:latin typeface="Times New Roman"/>
                <a:cs typeface="Times New Roman"/>
              </a:rPr>
              <a:t>separate</a:t>
            </a:r>
            <a:r>
              <a:rPr sz="24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990000"/>
                </a:solidFill>
                <a:latin typeface="Times New Roman"/>
                <a:cs typeface="Times New Roman"/>
              </a:rPr>
              <a:t>relation</a:t>
            </a:r>
            <a:r>
              <a:rPr sz="2400" b="1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with</a:t>
            </a:r>
            <a:r>
              <a:rPr sz="2400" b="1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990000"/>
                </a:solidFill>
                <a:latin typeface="Times New Roman"/>
                <a:cs typeface="Times New Roman"/>
              </a:rPr>
              <a:t>foreign </a:t>
            </a:r>
            <a:r>
              <a:rPr sz="2400" b="1" dirty="0">
                <a:solidFill>
                  <a:srgbClr val="990000"/>
                </a:solidFill>
                <a:latin typeface="Times New Roman"/>
                <a:cs typeface="Times New Roman"/>
              </a:rPr>
              <a:t>key</a:t>
            </a:r>
            <a:endParaRPr sz="2400">
              <a:latin typeface="Times New Roman"/>
              <a:cs typeface="Times New Roman"/>
            </a:endParaRPr>
          </a:p>
          <a:p>
            <a:pPr marL="1308735">
              <a:lnSpc>
                <a:spcPct val="100000"/>
              </a:lnSpc>
              <a:spcBef>
                <a:spcPts val="1325"/>
              </a:spcBef>
            </a:pP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(b)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7408" y="600455"/>
            <a:ext cx="10985500" cy="1370965"/>
            <a:chOff x="597408" y="600455"/>
            <a:chExt cx="10985500" cy="1370965"/>
          </a:xfrm>
        </p:grpSpPr>
        <p:sp>
          <p:nvSpPr>
            <p:cNvPr id="3" name="object 3"/>
            <p:cNvSpPr/>
            <p:nvPr/>
          </p:nvSpPr>
          <p:spPr>
            <a:xfrm>
              <a:off x="597408" y="600455"/>
              <a:ext cx="10985500" cy="1259205"/>
            </a:xfrm>
            <a:custGeom>
              <a:avLst/>
              <a:gdLst/>
              <a:ahLst/>
              <a:cxnLst/>
              <a:rect l="l" t="t" r="r" b="b"/>
              <a:pathLst>
                <a:path w="10985500" h="1259205">
                  <a:moveTo>
                    <a:pt x="10984992" y="0"/>
                  </a:moveTo>
                  <a:lnTo>
                    <a:pt x="0" y="0"/>
                  </a:lnTo>
                  <a:lnTo>
                    <a:pt x="0" y="1258824"/>
                  </a:lnTo>
                  <a:lnTo>
                    <a:pt x="10984992" y="1258824"/>
                  </a:lnTo>
                  <a:lnTo>
                    <a:pt x="10984992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652" y="1184147"/>
              <a:ext cx="9725406" cy="78714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0037826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27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7408" y="1272921"/>
            <a:ext cx="10985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733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Gill Sans MT"/>
                <a:cs typeface="Gill Sans MT"/>
              </a:rPr>
              <a:t>TRANSFORMING</a:t>
            </a:r>
            <a:r>
              <a:rPr sz="2800" spc="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Gill Sans MT"/>
                <a:cs typeface="Gill Sans MT"/>
              </a:rPr>
              <a:t>ER </a:t>
            </a:r>
            <a:r>
              <a:rPr sz="2800" spc="-20" dirty="0">
                <a:solidFill>
                  <a:srgbClr val="FFFFFF"/>
                </a:solidFill>
                <a:latin typeface="Gill Sans MT"/>
                <a:cs typeface="Gill Sans MT"/>
              </a:rPr>
              <a:t>DIAGRAMS</a:t>
            </a:r>
            <a:r>
              <a:rPr sz="2800" spc="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Gill Sans MT"/>
                <a:cs typeface="Gill Sans MT"/>
              </a:rPr>
              <a:t>INTO</a:t>
            </a:r>
            <a:r>
              <a:rPr sz="2800" spc="-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Gill Sans MT"/>
                <a:cs typeface="Gill Sans MT"/>
              </a:rPr>
              <a:t>RELATIONS</a:t>
            </a:r>
            <a:r>
              <a:rPr sz="280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2800" spc="-60" dirty="0">
                <a:solidFill>
                  <a:srgbClr val="FFFFFF"/>
                </a:solidFill>
                <a:latin typeface="Gill Sans MT"/>
                <a:cs typeface="Gill Sans MT"/>
              </a:rPr>
              <a:t>(CONT.)</a:t>
            </a:r>
            <a:endParaRPr sz="2800">
              <a:latin typeface="Gill Sans MT"/>
              <a:cs typeface="Gill Sans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2168" y="1796795"/>
            <a:ext cx="4751070" cy="100965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52932" y="1913966"/>
            <a:ext cx="41789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</a:t>
            </a:r>
            <a:r>
              <a:rPr spc="-45" dirty="0"/>
              <a:t>a</a:t>
            </a:r>
            <a:r>
              <a:rPr dirty="0"/>
              <a:t>pping</a:t>
            </a:r>
            <a:r>
              <a:rPr spc="-455" dirty="0"/>
              <a:t> </a:t>
            </a:r>
            <a:r>
              <a:rPr spc="-325" dirty="0"/>
              <a:t>W</a:t>
            </a:r>
            <a:r>
              <a:rPr dirty="0"/>
              <a:t>eak Entities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984503" y="2537460"/>
            <a:ext cx="10487660" cy="3188970"/>
            <a:chOff x="984503" y="2537460"/>
            <a:chExt cx="10487660" cy="318897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4503" y="2634996"/>
              <a:ext cx="645414" cy="73532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3583" y="2537460"/>
              <a:ext cx="10228326" cy="8968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43583" y="3025140"/>
              <a:ext cx="3620262" cy="896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4503" y="3784092"/>
              <a:ext cx="645414" cy="73533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3583" y="3686556"/>
              <a:ext cx="4830318" cy="896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15211" y="4437888"/>
              <a:ext cx="566165" cy="64236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3811" y="4351020"/>
              <a:ext cx="4897374" cy="78714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15211" y="5026152"/>
              <a:ext cx="566165" cy="64236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43811" y="4939283"/>
              <a:ext cx="7482078" cy="78714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177544" y="2638425"/>
            <a:ext cx="9917430" cy="2841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  <a:spcBef>
                <a:spcPts val="105"/>
              </a:spcBef>
              <a:buClr>
                <a:srgbClr val="4590B8"/>
              </a:buClr>
              <a:buSzPct val="92187"/>
              <a:buFont typeface="Wingdings 2"/>
              <a:buChar char=""/>
              <a:tabLst>
                <a:tab pos="317500" algn="l"/>
              </a:tabLst>
            </a:pPr>
            <a:r>
              <a:rPr sz="3200" dirty="0">
                <a:latin typeface="Gill Sans MT"/>
                <a:cs typeface="Gill Sans MT"/>
              </a:rPr>
              <a:t>Becomes a separate </a:t>
            </a:r>
            <a:r>
              <a:rPr sz="3200" spc="-5" dirty="0">
                <a:latin typeface="Gill Sans MT"/>
                <a:cs typeface="Gill Sans MT"/>
              </a:rPr>
              <a:t>relation with </a:t>
            </a:r>
            <a:r>
              <a:rPr sz="3200" dirty="0">
                <a:latin typeface="Gill Sans MT"/>
                <a:cs typeface="Gill Sans MT"/>
              </a:rPr>
              <a:t>a </a:t>
            </a:r>
            <a:r>
              <a:rPr sz="3200" spc="-15" dirty="0">
                <a:latin typeface="Gill Sans MT"/>
                <a:cs typeface="Gill Sans MT"/>
              </a:rPr>
              <a:t>foreign </a:t>
            </a:r>
            <a:r>
              <a:rPr sz="3200" spc="-50" dirty="0">
                <a:latin typeface="Gill Sans MT"/>
                <a:cs typeface="Gill Sans MT"/>
              </a:rPr>
              <a:t>key </a:t>
            </a:r>
            <a:r>
              <a:rPr sz="3200" spc="-20" dirty="0">
                <a:latin typeface="Gill Sans MT"/>
                <a:cs typeface="Gill Sans MT"/>
              </a:rPr>
              <a:t>taken </a:t>
            </a:r>
            <a:r>
              <a:rPr sz="3200" spc="-25" dirty="0">
                <a:latin typeface="Gill Sans MT"/>
                <a:cs typeface="Gill Sans MT"/>
              </a:rPr>
              <a:t>from </a:t>
            </a:r>
            <a:r>
              <a:rPr sz="3200" spc="-875" dirty="0">
                <a:latin typeface="Gill Sans MT"/>
                <a:cs typeface="Gill Sans MT"/>
              </a:rPr>
              <a:t> </a:t>
            </a:r>
            <a:r>
              <a:rPr sz="3200" spc="-5" dirty="0">
                <a:latin typeface="Gill Sans MT"/>
                <a:cs typeface="Gill Sans MT"/>
              </a:rPr>
              <a:t>the </a:t>
            </a:r>
            <a:r>
              <a:rPr sz="3200" dirty="0">
                <a:latin typeface="Gill Sans MT"/>
                <a:cs typeface="Gill Sans MT"/>
              </a:rPr>
              <a:t>superior</a:t>
            </a:r>
            <a:r>
              <a:rPr sz="3200" spc="-45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entity</a:t>
            </a:r>
            <a:endParaRPr sz="32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365"/>
              </a:spcBef>
              <a:buClr>
                <a:srgbClr val="4590B8"/>
              </a:buClr>
              <a:buSzPct val="92187"/>
              <a:buFont typeface="Wingdings 2"/>
              <a:buChar char=""/>
              <a:tabLst>
                <a:tab pos="317500" algn="l"/>
              </a:tabLst>
            </a:pPr>
            <a:r>
              <a:rPr sz="3200" spc="15" dirty="0">
                <a:latin typeface="Gill Sans MT"/>
                <a:cs typeface="Gill Sans MT"/>
              </a:rPr>
              <a:t>Primary</a:t>
            </a:r>
            <a:r>
              <a:rPr sz="3200" spc="-50" dirty="0">
                <a:latin typeface="Gill Sans MT"/>
                <a:cs typeface="Gill Sans MT"/>
              </a:rPr>
              <a:t> key</a:t>
            </a:r>
            <a:r>
              <a:rPr sz="3200" spc="-30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composed</a:t>
            </a:r>
            <a:r>
              <a:rPr sz="3200" spc="-35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of:</a:t>
            </a:r>
            <a:endParaRPr sz="3200">
              <a:latin typeface="Gill Sans MT"/>
              <a:cs typeface="Gill Sans MT"/>
            </a:endParaRPr>
          </a:p>
          <a:p>
            <a:pPr marL="586740" lvl="1" indent="-269875">
              <a:lnSpc>
                <a:spcPct val="100000"/>
              </a:lnSpc>
              <a:spcBef>
                <a:spcPts val="1290"/>
              </a:spcBef>
              <a:buClr>
                <a:srgbClr val="4590B8"/>
              </a:buClr>
              <a:buSzPct val="91071"/>
              <a:buFont typeface="Wingdings 2"/>
              <a:buChar char=""/>
              <a:tabLst>
                <a:tab pos="587375" algn="l"/>
              </a:tabLst>
            </a:pPr>
            <a:r>
              <a:rPr sz="2800" spc="5" dirty="0">
                <a:latin typeface="Gill Sans MT"/>
                <a:cs typeface="Gill Sans MT"/>
              </a:rPr>
              <a:t>Partial</a:t>
            </a:r>
            <a:r>
              <a:rPr sz="2800" spc="1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identifier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of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spc="-20" dirty="0">
                <a:latin typeface="Gill Sans MT"/>
                <a:cs typeface="Gill Sans MT"/>
              </a:rPr>
              <a:t>weak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entity</a:t>
            </a:r>
            <a:endParaRPr sz="2800">
              <a:latin typeface="Gill Sans MT"/>
              <a:cs typeface="Gill Sans MT"/>
            </a:endParaRPr>
          </a:p>
          <a:p>
            <a:pPr marL="586740" lvl="1" indent="-269875">
              <a:lnSpc>
                <a:spcPct val="100000"/>
              </a:lnSpc>
              <a:spcBef>
                <a:spcPts val="1275"/>
              </a:spcBef>
              <a:buClr>
                <a:srgbClr val="4590B8"/>
              </a:buClr>
              <a:buSzPct val="91071"/>
              <a:buFont typeface="Wingdings 2"/>
              <a:buChar char=""/>
              <a:tabLst>
                <a:tab pos="587375" algn="l"/>
              </a:tabLst>
            </a:pPr>
            <a:r>
              <a:rPr sz="2800" spc="5" dirty="0">
                <a:latin typeface="Gill Sans MT"/>
                <a:cs typeface="Gill Sans MT"/>
              </a:rPr>
              <a:t>Primary</a:t>
            </a:r>
            <a:r>
              <a:rPr sz="2800" spc="20" dirty="0">
                <a:latin typeface="Gill Sans MT"/>
                <a:cs typeface="Gill Sans MT"/>
              </a:rPr>
              <a:t> </a:t>
            </a:r>
            <a:r>
              <a:rPr sz="2800" spc="-45" dirty="0">
                <a:latin typeface="Gill Sans MT"/>
                <a:cs typeface="Gill Sans MT"/>
              </a:rPr>
              <a:t>key</a:t>
            </a:r>
            <a:r>
              <a:rPr sz="2800" spc="-1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of</a:t>
            </a:r>
            <a:r>
              <a:rPr sz="280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identifying</a:t>
            </a:r>
            <a:r>
              <a:rPr sz="2800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relation</a:t>
            </a:r>
            <a:r>
              <a:rPr sz="2800" spc="15" dirty="0">
                <a:latin typeface="Gill Sans MT"/>
                <a:cs typeface="Gill Sans MT"/>
              </a:rPr>
              <a:t> </a:t>
            </a:r>
            <a:r>
              <a:rPr sz="2800" spc="-15" dirty="0">
                <a:latin typeface="Gill Sans MT"/>
                <a:cs typeface="Gill Sans MT"/>
              </a:rPr>
              <a:t>(strong</a:t>
            </a:r>
            <a:r>
              <a:rPr sz="2800" spc="1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entity)</a:t>
            </a:r>
            <a:endParaRPr sz="2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0216" y="1630679"/>
            <a:ext cx="7266432" cy="347776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39745" y="59258"/>
            <a:ext cx="46697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Example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mapping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 weak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entity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539745" y="791336"/>
            <a:ext cx="3928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a)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Weak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entity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DEPENDENT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87523" y="1636776"/>
            <a:ext cx="8067040" cy="3680460"/>
            <a:chOff x="2287523" y="1636776"/>
            <a:chExt cx="8067040" cy="3680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7523" y="1636776"/>
              <a:ext cx="8066531" cy="36804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573273" y="5028438"/>
              <a:ext cx="4784090" cy="228600"/>
            </a:xfrm>
            <a:custGeom>
              <a:avLst/>
              <a:gdLst/>
              <a:ahLst/>
              <a:cxnLst/>
              <a:rect l="l" t="t" r="r" b="b"/>
              <a:pathLst>
                <a:path w="4784090" h="228600">
                  <a:moveTo>
                    <a:pt x="0" y="0"/>
                  </a:moveTo>
                  <a:lnTo>
                    <a:pt x="24935" y="39880"/>
                  </a:lnTo>
                  <a:lnTo>
                    <a:pt x="93742" y="73639"/>
                  </a:lnTo>
                  <a:lnTo>
                    <a:pt x="141786" y="87415"/>
                  </a:lnTo>
                  <a:lnTo>
                    <a:pt x="197423" y="98693"/>
                  </a:lnTo>
                  <a:lnTo>
                    <a:pt x="259530" y="107148"/>
                  </a:lnTo>
                  <a:lnTo>
                    <a:pt x="326981" y="112458"/>
                  </a:lnTo>
                  <a:lnTo>
                    <a:pt x="398652" y="114300"/>
                  </a:lnTo>
                  <a:lnTo>
                    <a:pt x="1993264" y="114300"/>
                  </a:lnTo>
                  <a:lnTo>
                    <a:pt x="2064936" y="116141"/>
                  </a:lnTo>
                  <a:lnTo>
                    <a:pt x="2132387" y="121451"/>
                  </a:lnTo>
                  <a:lnTo>
                    <a:pt x="2194494" y="129906"/>
                  </a:lnTo>
                  <a:lnTo>
                    <a:pt x="2250131" y="141184"/>
                  </a:lnTo>
                  <a:lnTo>
                    <a:pt x="2298175" y="154960"/>
                  </a:lnTo>
                  <a:lnTo>
                    <a:pt x="2337500" y="170913"/>
                  </a:lnTo>
                  <a:lnTo>
                    <a:pt x="2385496" y="208056"/>
                  </a:lnTo>
                  <a:lnTo>
                    <a:pt x="2391917" y="228600"/>
                  </a:lnTo>
                  <a:lnTo>
                    <a:pt x="2398339" y="208056"/>
                  </a:lnTo>
                  <a:lnTo>
                    <a:pt x="2446335" y="170913"/>
                  </a:lnTo>
                  <a:lnTo>
                    <a:pt x="2485660" y="154960"/>
                  </a:lnTo>
                  <a:lnTo>
                    <a:pt x="2533704" y="141184"/>
                  </a:lnTo>
                  <a:lnTo>
                    <a:pt x="2589341" y="129906"/>
                  </a:lnTo>
                  <a:lnTo>
                    <a:pt x="2651448" y="121451"/>
                  </a:lnTo>
                  <a:lnTo>
                    <a:pt x="2718899" y="116141"/>
                  </a:lnTo>
                  <a:lnTo>
                    <a:pt x="2790571" y="114300"/>
                  </a:lnTo>
                  <a:lnTo>
                    <a:pt x="4385183" y="114300"/>
                  </a:lnTo>
                  <a:lnTo>
                    <a:pt x="4456854" y="112458"/>
                  </a:lnTo>
                  <a:lnTo>
                    <a:pt x="4524305" y="107148"/>
                  </a:lnTo>
                  <a:lnTo>
                    <a:pt x="4586412" y="98693"/>
                  </a:lnTo>
                  <a:lnTo>
                    <a:pt x="4642049" y="87415"/>
                  </a:lnTo>
                  <a:lnTo>
                    <a:pt x="4690093" y="73639"/>
                  </a:lnTo>
                  <a:lnTo>
                    <a:pt x="4729418" y="57686"/>
                  </a:lnTo>
                  <a:lnTo>
                    <a:pt x="4777414" y="20543"/>
                  </a:lnTo>
                  <a:lnTo>
                    <a:pt x="4783835" y="0"/>
                  </a:lnTo>
                </a:path>
              </a:pathLst>
            </a:custGeom>
            <a:ln w="28956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580513" y="808990"/>
            <a:ext cx="7319009" cy="321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b) Relations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resulting</a:t>
            </a:r>
            <a:r>
              <a:rPr sz="2400" dirty="0">
                <a:latin typeface="Arial"/>
                <a:cs typeface="Arial"/>
              </a:rPr>
              <a:t> from </a:t>
            </a:r>
            <a:r>
              <a:rPr sz="2400" spc="-5" dirty="0">
                <a:latin typeface="Arial"/>
                <a:cs typeface="Arial"/>
              </a:rPr>
              <a:t>weak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entity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 marL="4293235" marR="5080">
              <a:lnSpc>
                <a:spcPct val="100000"/>
              </a:lnSpc>
              <a:spcBef>
                <a:spcPts val="2240"/>
              </a:spcBef>
            </a:pP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NOTE:</a:t>
            </a:r>
            <a:r>
              <a:rPr sz="20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domain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constraint </a:t>
            </a:r>
            <a:r>
              <a:rPr sz="2000" spc="-484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for the foreign key should </a:t>
            </a:r>
            <a:r>
              <a:rPr sz="20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NOT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allow </a:t>
            </a:r>
            <a:r>
              <a:rPr sz="2000" i="1" dirty="0">
                <a:solidFill>
                  <a:srgbClr val="990000"/>
                </a:solidFill>
                <a:latin typeface="Times New Roman"/>
                <a:cs typeface="Times New Roman"/>
              </a:rPr>
              <a:t>null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value if </a:t>
            </a:r>
            <a:r>
              <a:rPr sz="20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DEPENDENT is a weak </a:t>
            </a:r>
            <a:r>
              <a:rPr sz="20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entity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50">
              <a:latin typeface="Times New Roman"/>
              <a:cs typeface="Times New Roman"/>
            </a:endParaRPr>
          </a:p>
          <a:p>
            <a:pPr marL="4356100">
              <a:lnSpc>
                <a:spcPct val="100000"/>
              </a:lnSpc>
            </a:pP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Foreign</a:t>
            </a:r>
            <a:r>
              <a:rPr sz="2000" spc="-7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key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3896105" y="5359095"/>
            <a:ext cx="24193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Composite</a:t>
            </a:r>
            <a:r>
              <a:rPr sz="2000" spc="-4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primary</a:t>
            </a:r>
            <a:r>
              <a:rPr sz="20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key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80513" y="77470"/>
            <a:ext cx="5618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Example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mapping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weak</a:t>
            </a:r>
            <a:r>
              <a:rPr sz="2400" dirty="0">
                <a:latin typeface="Arial"/>
                <a:cs typeface="Arial"/>
              </a:rPr>
              <a:t> entity </a:t>
            </a:r>
            <a:r>
              <a:rPr sz="2400" spc="-5" dirty="0">
                <a:latin typeface="Arial"/>
                <a:cs typeface="Arial"/>
              </a:rPr>
              <a:t>(cont.)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7408" y="600455"/>
            <a:ext cx="10985500" cy="1370965"/>
            <a:chOff x="597408" y="600455"/>
            <a:chExt cx="10985500" cy="1370965"/>
          </a:xfrm>
        </p:grpSpPr>
        <p:sp>
          <p:nvSpPr>
            <p:cNvPr id="3" name="object 3"/>
            <p:cNvSpPr/>
            <p:nvPr/>
          </p:nvSpPr>
          <p:spPr>
            <a:xfrm>
              <a:off x="597408" y="600455"/>
              <a:ext cx="10985500" cy="1259205"/>
            </a:xfrm>
            <a:custGeom>
              <a:avLst/>
              <a:gdLst/>
              <a:ahLst/>
              <a:cxnLst/>
              <a:rect l="l" t="t" r="r" b="b"/>
              <a:pathLst>
                <a:path w="10985500" h="1259205">
                  <a:moveTo>
                    <a:pt x="10984992" y="0"/>
                  </a:moveTo>
                  <a:lnTo>
                    <a:pt x="0" y="0"/>
                  </a:lnTo>
                  <a:lnTo>
                    <a:pt x="0" y="1258824"/>
                  </a:lnTo>
                  <a:lnTo>
                    <a:pt x="10984992" y="1258824"/>
                  </a:lnTo>
                  <a:lnTo>
                    <a:pt x="10984992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652" y="1184147"/>
              <a:ext cx="9725406" cy="78714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0037826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30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7408" y="1272921"/>
            <a:ext cx="10985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733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</a:rPr>
              <a:t>TRANSFORMING</a:t>
            </a:r>
            <a:r>
              <a:rPr sz="2800" spc="5" dirty="0">
                <a:solidFill>
                  <a:srgbClr val="FFFFFF"/>
                </a:solidFill>
              </a:rPr>
              <a:t> </a:t>
            </a:r>
            <a:r>
              <a:rPr sz="2800" spc="-5" dirty="0">
                <a:solidFill>
                  <a:srgbClr val="FFFFFF"/>
                </a:solidFill>
              </a:rPr>
              <a:t>ER </a:t>
            </a:r>
            <a:r>
              <a:rPr sz="2800" spc="-20" dirty="0">
                <a:solidFill>
                  <a:srgbClr val="FFFFFF"/>
                </a:solidFill>
              </a:rPr>
              <a:t>DIAGRAMS</a:t>
            </a:r>
            <a:r>
              <a:rPr sz="2800" spc="5" dirty="0">
                <a:solidFill>
                  <a:srgbClr val="FFFFFF"/>
                </a:solidFill>
              </a:rPr>
              <a:t> </a:t>
            </a:r>
            <a:r>
              <a:rPr sz="2800" spc="-50" dirty="0">
                <a:solidFill>
                  <a:srgbClr val="FFFFFF"/>
                </a:solidFill>
              </a:rPr>
              <a:t>INTO</a:t>
            </a:r>
            <a:r>
              <a:rPr sz="2800" spc="-5" dirty="0">
                <a:solidFill>
                  <a:srgbClr val="FFFFFF"/>
                </a:solidFill>
              </a:rPr>
              <a:t> </a:t>
            </a:r>
            <a:r>
              <a:rPr sz="2800" spc="-35" dirty="0">
                <a:solidFill>
                  <a:srgbClr val="FFFFFF"/>
                </a:solidFill>
              </a:rPr>
              <a:t>RELATIONS</a:t>
            </a:r>
            <a:r>
              <a:rPr sz="2800" dirty="0">
                <a:solidFill>
                  <a:srgbClr val="FFFFFF"/>
                </a:solidFill>
              </a:rPr>
              <a:t> </a:t>
            </a:r>
            <a:r>
              <a:rPr sz="2800" spc="-60" dirty="0">
                <a:solidFill>
                  <a:srgbClr val="FFFFFF"/>
                </a:solidFill>
              </a:rPr>
              <a:t>(CONT.)</a:t>
            </a:r>
            <a:endParaRPr sz="2800"/>
          </a:p>
        </p:txBody>
      </p:sp>
      <p:grpSp>
        <p:nvGrpSpPr>
          <p:cNvPr id="7" name="object 7"/>
          <p:cNvGrpSpPr/>
          <p:nvPr/>
        </p:nvGrpSpPr>
        <p:grpSpPr>
          <a:xfrm>
            <a:off x="902004" y="3341925"/>
            <a:ext cx="8841740" cy="1673225"/>
            <a:chOff x="902004" y="3341925"/>
            <a:chExt cx="8841740" cy="167322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004" y="3341925"/>
              <a:ext cx="5368685" cy="44771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03698" y="3945018"/>
              <a:ext cx="364453" cy="15921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32787" y="3822191"/>
              <a:ext cx="337553" cy="45491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98319" y="3822191"/>
              <a:ext cx="450342" cy="45491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76627" y="3822191"/>
              <a:ext cx="337553" cy="45491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42159" y="3822191"/>
              <a:ext cx="703326" cy="45491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73451" y="3822191"/>
              <a:ext cx="374129" cy="45491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75559" y="3822191"/>
              <a:ext cx="5950458" cy="45491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67027" y="4191000"/>
              <a:ext cx="703326" cy="45491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98319" y="4191000"/>
              <a:ext cx="337553" cy="45491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63851" y="4191000"/>
              <a:ext cx="450342" cy="45491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42159" y="4191000"/>
              <a:ext cx="337553" cy="45491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07691" y="4191000"/>
              <a:ext cx="703326" cy="45491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38983" y="4191000"/>
              <a:ext cx="374129" cy="45491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41091" y="4191000"/>
              <a:ext cx="1047750" cy="45491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16808" y="4191000"/>
              <a:ext cx="1386077" cy="45491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87240" y="4191000"/>
              <a:ext cx="5156454" cy="45491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85087" y="4608588"/>
              <a:ext cx="329958" cy="37412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67027" y="4559807"/>
              <a:ext cx="637794" cy="45491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32787" y="4559807"/>
              <a:ext cx="337553" cy="45491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98319" y="4559807"/>
              <a:ext cx="450342" cy="45491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76627" y="4559807"/>
              <a:ext cx="337553" cy="45491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42159" y="4559807"/>
              <a:ext cx="637794" cy="45491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07919" y="4559807"/>
              <a:ext cx="374129" cy="45491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10027" y="4559807"/>
              <a:ext cx="6773418" cy="454913"/>
            </a:xfrm>
            <a:prstGeom prst="rect">
              <a:avLst/>
            </a:prstGeom>
          </p:spPr>
        </p:pic>
      </p:grpSp>
      <p:pic>
        <p:nvPicPr>
          <p:cNvPr id="33" name="object 3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207127" y="3985036"/>
            <a:ext cx="85879" cy="86688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207127" y="4353844"/>
            <a:ext cx="85879" cy="86688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852932" y="2880741"/>
            <a:ext cx="8756650" cy="1995805"/>
          </a:xfrm>
          <a:prstGeom prst="rect">
            <a:avLst/>
          </a:prstGeom>
        </p:spPr>
        <p:txBody>
          <a:bodyPr vert="horz" wrap="square" lIns="0" tIns="317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0"/>
              </a:spcBef>
            </a:pPr>
            <a:r>
              <a:rPr sz="3600" spc="-10" dirty="0">
                <a:latin typeface="Gill Sans MT"/>
                <a:cs typeface="Gill Sans MT"/>
              </a:rPr>
              <a:t>Mapping</a:t>
            </a:r>
            <a:r>
              <a:rPr sz="3600" spc="-20" dirty="0">
                <a:latin typeface="Gill Sans MT"/>
                <a:cs typeface="Gill Sans MT"/>
              </a:rPr>
              <a:t> </a:t>
            </a:r>
            <a:r>
              <a:rPr sz="3600" spc="15" dirty="0">
                <a:latin typeface="Gill Sans MT"/>
                <a:cs typeface="Gill Sans MT"/>
              </a:rPr>
              <a:t>Binary</a:t>
            </a:r>
            <a:r>
              <a:rPr sz="3600" spc="-40" dirty="0">
                <a:latin typeface="Gill Sans MT"/>
                <a:cs typeface="Gill Sans MT"/>
              </a:rPr>
              <a:t> </a:t>
            </a:r>
            <a:r>
              <a:rPr sz="3600" dirty="0">
                <a:latin typeface="Gill Sans MT"/>
                <a:cs typeface="Gill Sans MT"/>
              </a:rPr>
              <a:t>Relationships</a:t>
            </a:r>
            <a:endParaRPr sz="3600">
              <a:latin typeface="Gill Sans MT"/>
              <a:cs typeface="Gill Sans MT"/>
            </a:endParaRPr>
          </a:p>
          <a:p>
            <a:pPr marL="641985" indent="-305435">
              <a:lnSpc>
                <a:spcPct val="100000"/>
              </a:lnSpc>
              <a:spcBef>
                <a:spcPts val="1060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spc="-5" dirty="0">
                <a:latin typeface="Gill Sans MT"/>
                <a:cs typeface="Gill Sans MT"/>
              </a:rPr>
              <a:t>One-to-Many–Primary</a:t>
            </a:r>
            <a:r>
              <a:rPr sz="1600" spc="35" dirty="0">
                <a:latin typeface="Gill Sans MT"/>
                <a:cs typeface="Gill Sans MT"/>
              </a:rPr>
              <a:t> </a:t>
            </a:r>
            <a:r>
              <a:rPr sz="1600" spc="-25" dirty="0">
                <a:latin typeface="Gill Sans MT"/>
                <a:cs typeface="Gill Sans MT"/>
              </a:rPr>
              <a:t>key</a:t>
            </a:r>
            <a:r>
              <a:rPr sz="1600" spc="5" dirty="0">
                <a:latin typeface="Gill Sans MT"/>
                <a:cs typeface="Gill Sans MT"/>
              </a:rPr>
              <a:t> </a:t>
            </a:r>
            <a:r>
              <a:rPr sz="1600" spc="-10" dirty="0">
                <a:latin typeface="Gill Sans MT"/>
                <a:cs typeface="Gill Sans MT"/>
              </a:rPr>
              <a:t>on</a:t>
            </a:r>
            <a:r>
              <a:rPr sz="1600" spc="2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the</a:t>
            </a:r>
            <a:r>
              <a:rPr sz="1600" spc="15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one</a:t>
            </a:r>
            <a:r>
              <a:rPr sz="1600" spc="25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side</a:t>
            </a:r>
            <a:r>
              <a:rPr sz="1600" spc="5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becomes</a:t>
            </a:r>
            <a:r>
              <a:rPr sz="1600" spc="5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a</a:t>
            </a:r>
            <a:r>
              <a:rPr sz="1600" spc="25" dirty="0">
                <a:latin typeface="Gill Sans MT"/>
                <a:cs typeface="Gill Sans MT"/>
              </a:rPr>
              <a:t> </a:t>
            </a:r>
            <a:r>
              <a:rPr sz="1600" spc="-10" dirty="0">
                <a:latin typeface="Gill Sans MT"/>
                <a:cs typeface="Gill Sans MT"/>
              </a:rPr>
              <a:t>foreign</a:t>
            </a:r>
            <a:r>
              <a:rPr sz="1600" spc="30" dirty="0">
                <a:latin typeface="Gill Sans MT"/>
                <a:cs typeface="Gill Sans MT"/>
              </a:rPr>
              <a:t> </a:t>
            </a:r>
            <a:r>
              <a:rPr sz="1600" spc="-25" dirty="0">
                <a:latin typeface="Gill Sans MT"/>
                <a:cs typeface="Gill Sans MT"/>
              </a:rPr>
              <a:t>key</a:t>
            </a:r>
            <a:r>
              <a:rPr sz="1600" spc="5" dirty="0">
                <a:latin typeface="Gill Sans MT"/>
                <a:cs typeface="Gill Sans MT"/>
              </a:rPr>
              <a:t> </a:t>
            </a:r>
            <a:r>
              <a:rPr sz="1600" spc="-10" dirty="0">
                <a:latin typeface="Gill Sans MT"/>
                <a:cs typeface="Gill Sans MT"/>
              </a:rPr>
              <a:t>on</a:t>
            </a:r>
            <a:r>
              <a:rPr sz="1600" spc="25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the</a:t>
            </a:r>
            <a:r>
              <a:rPr sz="1600" spc="10" dirty="0">
                <a:latin typeface="Gill Sans MT"/>
                <a:cs typeface="Gill Sans MT"/>
              </a:rPr>
              <a:t> </a:t>
            </a:r>
            <a:r>
              <a:rPr sz="1600" spc="-10" dirty="0">
                <a:latin typeface="Gill Sans MT"/>
                <a:cs typeface="Gill Sans MT"/>
              </a:rPr>
              <a:t>many</a:t>
            </a:r>
            <a:r>
              <a:rPr sz="1600" spc="3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side</a:t>
            </a:r>
            <a:endParaRPr sz="1600">
              <a:latin typeface="Gill Sans MT"/>
              <a:cs typeface="Gill Sans MT"/>
            </a:endParaRPr>
          </a:p>
          <a:p>
            <a:pPr marL="641985" indent="-305435">
              <a:lnSpc>
                <a:spcPct val="100000"/>
              </a:lnSpc>
              <a:spcBef>
                <a:spcPts val="990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spc="-10" dirty="0">
                <a:latin typeface="Gill Sans MT"/>
                <a:cs typeface="Gill Sans MT"/>
              </a:rPr>
              <a:t>Many-to-Many–Create</a:t>
            </a:r>
            <a:r>
              <a:rPr sz="1600" spc="5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a</a:t>
            </a:r>
            <a:r>
              <a:rPr sz="1600" spc="10" dirty="0">
                <a:latin typeface="Gill Sans MT"/>
                <a:cs typeface="Gill Sans MT"/>
              </a:rPr>
              <a:t> </a:t>
            </a:r>
            <a:r>
              <a:rPr sz="1600" b="1" i="1" spc="-10" dirty="0">
                <a:latin typeface="Gill Sans MT"/>
                <a:cs typeface="Gill Sans MT"/>
              </a:rPr>
              <a:t>new</a:t>
            </a:r>
            <a:r>
              <a:rPr sz="1600" b="1" i="1" spc="20" dirty="0">
                <a:latin typeface="Gill Sans MT"/>
                <a:cs typeface="Gill Sans MT"/>
              </a:rPr>
              <a:t> </a:t>
            </a:r>
            <a:r>
              <a:rPr sz="1600" b="1" i="1" spc="-5" dirty="0">
                <a:latin typeface="Gill Sans MT"/>
                <a:cs typeface="Gill Sans MT"/>
              </a:rPr>
              <a:t>relation</a:t>
            </a:r>
            <a:r>
              <a:rPr sz="1600" b="1" i="1" spc="5" dirty="0">
                <a:latin typeface="Gill Sans MT"/>
                <a:cs typeface="Gill Sans MT"/>
              </a:rPr>
              <a:t> </a:t>
            </a:r>
            <a:r>
              <a:rPr sz="1600" spc="-10" dirty="0">
                <a:latin typeface="Gill Sans MT"/>
                <a:cs typeface="Gill Sans MT"/>
              </a:rPr>
              <a:t>with</a:t>
            </a:r>
            <a:r>
              <a:rPr sz="1600" spc="15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the</a:t>
            </a:r>
            <a:r>
              <a:rPr sz="1600" spc="25" dirty="0">
                <a:latin typeface="Gill Sans MT"/>
                <a:cs typeface="Gill Sans MT"/>
              </a:rPr>
              <a:t> </a:t>
            </a:r>
            <a:r>
              <a:rPr sz="1600" spc="5" dirty="0">
                <a:latin typeface="Gill Sans MT"/>
                <a:cs typeface="Gill Sans MT"/>
              </a:rPr>
              <a:t>primary</a:t>
            </a:r>
            <a:r>
              <a:rPr sz="1600" spc="10" dirty="0">
                <a:latin typeface="Gill Sans MT"/>
                <a:cs typeface="Gill Sans MT"/>
              </a:rPr>
              <a:t> </a:t>
            </a:r>
            <a:r>
              <a:rPr sz="1600" spc="-20" dirty="0">
                <a:latin typeface="Gill Sans MT"/>
                <a:cs typeface="Gill Sans MT"/>
              </a:rPr>
              <a:t>keys</a:t>
            </a:r>
            <a:r>
              <a:rPr sz="160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of</a:t>
            </a:r>
            <a:r>
              <a:rPr sz="1600" spc="15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the</a:t>
            </a:r>
            <a:r>
              <a:rPr sz="1600" spc="5" dirty="0">
                <a:latin typeface="Gill Sans MT"/>
                <a:cs typeface="Gill Sans MT"/>
              </a:rPr>
              <a:t> </a:t>
            </a:r>
            <a:r>
              <a:rPr sz="1600" spc="-20" dirty="0">
                <a:latin typeface="Gill Sans MT"/>
                <a:cs typeface="Gill Sans MT"/>
              </a:rPr>
              <a:t>two</a:t>
            </a:r>
            <a:r>
              <a:rPr sz="1600" spc="35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entities</a:t>
            </a:r>
            <a:r>
              <a:rPr sz="1600" spc="15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as</a:t>
            </a:r>
            <a:r>
              <a:rPr sz="1600" spc="15" dirty="0">
                <a:latin typeface="Gill Sans MT"/>
                <a:cs typeface="Gill Sans MT"/>
              </a:rPr>
              <a:t> </a:t>
            </a:r>
            <a:r>
              <a:rPr sz="1600" spc="-10" dirty="0">
                <a:latin typeface="Gill Sans MT"/>
                <a:cs typeface="Gill Sans MT"/>
              </a:rPr>
              <a:t>its</a:t>
            </a:r>
            <a:r>
              <a:rPr sz="1600" spc="15" dirty="0">
                <a:latin typeface="Gill Sans MT"/>
                <a:cs typeface="Gill Sans MT"/>
              </a:rPr>
              <a:t> </a:t>
            </a:r>
            <a:r>
              <a:rPr sz="1600" spc="5" dirty="0">
                <a:latin typeface="Gill Sans MT"/>
                <a:cs typeface="Gill Sans MT"/>
              </a:rPr>
              <a:t>primary</a:t>
            </a:r>
            <a:r>
              <a:rPr sz="1600" spc="20" dirty="0">
                <a:latin typeface="Gill Sans MT"/>
                <a:cs typeface="Gill Sans MT"/>
              </a:rPr>
              <a:t> </a:t>
            </a:r>
            <a:r>
              <a:rPr sz="1600" spc="-30" dirty="0">
                <a:latin typeface="Gill Sans MT"/>
                <a:cs typeface="Gill Sans MT"/>
              </a:rPr>
              <a:t>key</a:t>
            </a:r>
            <a:endParaRPr sz="1600">
              <a:latin typeface="Gill Sans MT"/>
              <a:cs typeface="Gill Sans MT"/>
            </a:endParaRPr>
          </a:p>
          <a:p>
            <a:pPr marL="641985" indent="-305435">
              <a:lnSpc>
                <a:spcPct val="100000"/>
              </a:lnSpc>
              <a:spcBef>
                <a:spcPts val="985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spc="-5" dirty="0">
                <a:latin typeface="Gill Sans MT"/>
                <a:cs typeface="Gill Sans MT"/>
              </a:rPr>
              <a:t>One-to-One–Primary</a:t>
            </a:r>
            <a:r>
              <a:rPr sz="1600" spc="15" dirty="0">
                <a:latin typeface="Gill Sans MT"/>
                <a:cs typeface="Gill Sans MT"/>
              </a:rPr>
              <a:t> </a:t>
            </a:r>
            <a:r>
              <a:rPr sz="1600" spc="-30" dirty="0">
                <a:latin typeface="Gill Sans MT"/>
                <a:cs typeface="Gill Sans MT"/>
              </a:rPr>
              <a:t>key</a:t>
            </a:r>
            <a:r>
              <a:rPr sz="1600" dirty="0">
                <a:latin typeface="Gill Sans MT"/>
                <a:cs typeface="Gill Sans MT"/>
              </a:rPr>
              <a:t> </a:t>
            </a:r>
            <a:r>
              <a:rPr sz="1600" spc="-10" dirty="0">
                <a:latin typeface="Gill Sans MT"/>
                <a:cs typeface="Gill Sans MT"/>
              </a:rPr>
              <a:t>on</a:t>
            </a:r>
            <a:r>
              <a:rPr sz="1600" spc="3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the</a:t>
            </a:r>
            <a:r>
              <a:rPr sz="1600" spc="25" dirty="0">
                <a:latin typeface="Gill Sans MT"/>
                <a:cs typeface="Gill Sans MT"/>
              </a:rPr>
              <a:t> </a:t>
            </a:r>
            <a:r>
              <a:rPr sz="1600" dirty="0">
                <a:latin typeface="Gill Sans MT"/>
                <a:cs typeface="Gill Sans MT"/>
              </a:rPr>
              <a:t>mandatory</a:t>
            </a:r>
            <a:r>
              <a:rPr sz="1600" spc="4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side</a:t>
            </a:r>
            <a:r>
              <a:rPr sz="1600" spc="5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becomes</a:t>
            </a:r>
            <a:r>
              <a:rPr sz="1600" spc="5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a</a:t>
            </a:r>
            <a:r>
              <a:rPr sz="1600" spc="20" dirty="0">
                <a:latin typeface="Gill Sans MT"/>
                <a:cs typeface="Gill Sans MT"/>
              </a:rPr>
              <a:t> </a:t>
            </a:r>
            <a:r>
              <a:rPr sz="1600" spc="-10" dirty="0">
                <a:latin typeface="Gill Sans MT"/>
                <a:cs typeface="Gill Sans MT"/>
              </a:rPr>
              <a:t>foreign</a:t>
            </a:r>
            <a:r>
              <a:rPr sz="1600" spc="40" dirty="0">
                <a:latin typeface="Gill Sans MT"/>
                <a:cs typeface="Gill Sans MT"/>
              </a:rPr>
              <a:t> </a:t>
            </a:r>
            <a:r>
              <a:rPr sz="1600" spc="-30" dirty="0">
                <a:latin typeface="Gill Sans MT"/>
                <a:cs typeface="Gill Sans MT"/>
              </a:rPr>
              <a:t>key</a:t>
            </a:r>
            <a:r>
              <a:rPr sz="1600" spc="5" dirty="0">
                <a:latin typeface="Gill Sans MT"/>
                <a:cs typeface="Gill Sans MT"/>
              </a:rPr>
              <a:t> </a:t>
            </a:r>
            <a:r>
              <a:rPr sz="1600" spc="-10" dirty="0">
                <a:latin typeface="Gill Sans MT"/>
                <a:cs typeface="Gill Sans MT"/>
              </a:rPr>
              <a:t>on</a:t>
            </a:r>
            <a:r>
              <a:rPr sz="1600" spc="25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the</a:t>
            </a:r>
            <a:r>
              <a:rPr sz="1600" spc="1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optional</a:t>
            </a:r>
            <a:r>
              <a:rPr sz="1600" spc="55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side</a:t>
            </a:r>
            <a:endParaRPr sz="16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8504" y="1191767"/>
            <a:ext cx="7773924" cy="156057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60445" y="86995"/>
            <a:ext cx="5293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Example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mapping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1:M </a:t>
            </a:r>
            <a:r>
              <a:rPr sz="2400" spc="-5" dirty="0">
                <a:latin typeface="Arial"/>
                <a:cs typeface="Arial"/>
              </a:rPr>
              <a:t>relationship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38245" y="797178"/>
            <a:ext cx="6332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a)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Relationship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between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customers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and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orders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8697" y="2229357"/>
            <a:ext cx="4486910" cy="1093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82445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Note</a:t>
            </a:r>
            <a:r>
              <a:rPr sz="22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mandatory</a:t>
            </a:r>
            <a:r>
              <a:rPr sz="22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one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b)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Mapping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relationship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8692" y="3348228"/>
            <a:ext cx="7766304" cy="27066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544181" y="4766564"/>
            <a:ext cx="262255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Again, </a:t>
            </a:r>
            <a:r>
              <a:rPr sz="1800" spc="-5" dirty="0">
                <a:solidFill>
                  <a:srgbClr val="990000"/>
                </a:solidFill>
                <a:latin typeface="Times New Roman"/>
                <a:cs typeface="Times New Roman"/>
              </a:rPr>
              <a:t>no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null value in the </a:t>
            </a:r>
            <a:r>
              <a:rPr sz="18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foreign</a:t>
            </a:r>
            <a:r>
              <a:rPr sz="18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key…this</a:t>
            </a:r>
            <a:r>
              <a:rPr sz="1800" spc="-5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is</a:t>
            </a:r>
            <a:r>
              <a:rPr sz="18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because </a:t>
            </a:r>
            <a:r>
              <a:rPr sz="1800" spc="-434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of the </a:t>
            </a:r>
            <a:r>
              <a:rPr sz="1800" spc="-5" dirty="0">
                <a:solidFill>
                  <a:srgbClr val="990000"/>
                </a:solidFill>
                <a:latin typeface="Times New Roman"/>
                <a:cs typeface="Times New Roman"/>
              </a:rPr>
              <a:t>mandatory minimum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 cardinality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5845809" y="5755944"/>
            <a:ext cx="12446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Foreign</a:t>
            </a:r>
            <a:r>
              <a:rPr sz="2000" spc="-10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key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441959"/>
            <a:ext cx="3627120" cy="106680"/>
          </a:xfrm>
          <a:custGeom>
            <a:avLst/>
            <a:gdLst/>
            <a:ahLst/>
            <a:cxnLst/>
            <a:rect l="l" t="t" r="r" b="b"/>
            <a:pathLst>
              <a:path w="3627120" h="106679">
                <a:moveTo>
                  <a:pt x="3627120" y="0"/>
                </a:moveTo>
                <a:lnTo>
                  <a:pt x="0" y="0"/>
                </a:lnTo>
                <a:lnTo>
                  <a:pt x="0" y="106679"/>
                </a:lnTo>
                <a:lnTo>
                  <a:pt x="3627120" y="106679"/>
                </a:lnTo>
                <a:lnTo>
                  <a:pt x="36271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967471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8" y="0"/>
                </a:moveTo>
                <a:lnTo>
                  <a:pt x="0" y="0"/>
                </a:lnTo>
                <a:lnTo>
                  <a:pt x="0" y="106679"/>
                </a:lnTo>
                <a:lnTo>
                  <a:pt x="3614928" y="106679"/>
                </a:lnTo>
                <a:lnTo>
                  <a:pt x="3614928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8535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7" y="0"/>
                </a:moveTo>
                <a:lnTo>
                  <a:pt x="0" y="0"/>
                </a:lnTo>
                <a:lnTo>
                  <a:pt x="0" y="106679"/>
                </a:lnTo>
                <a:lnTo>
                  <a:pt x="3614927" y="106679"/>
                </a:lnTo>
                <a:lnTo>
                  <a:pt x="3614927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81247" y="67817"/>
            <a:ext cx="5746750" cy="1162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Example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" dirty="0">
                <a:latin typeface="Arial"/>
                <a:cs typeface="Arial"/>
              </a:rPr>
              <a:t> mapping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an </a:t>
            </a:r>
            <a:r>
              <a:rPr sz="2400" dirty="0">
                <a:latin typeface="Arial"/>
                <a:cs typeface="Arial"/>
              </a:rPr>
              <a:t>M:N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relationship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a)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Completes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relationship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(M:N)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7819" y="5433771"/>
            <a:ext cx="8200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990000"/>
                </a:solidFill>
                <a:latin typeface="Times New Roman"/>
                <a:cs typeface="Times New Roman"/>
              </a:rPr>
              <a:t>Completes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relationship</a:t>
            </a:r>
            <a:r>
              <a:rPr sz="2400" spc="-4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will</a:t>
            </a:r>
            <a:r>
              <a:rPr sz="24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need</a:t>
            </a:r>
            <a:r>
              <a:rPr sz="24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to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become</a:t>
            </a:r>
            <a:r>
              <a:rPr sz="24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a separate</a:t>
            </a:r>
            <a:r>
              <a:rPr sz="2400" spc="-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relation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24371" y="4877561"/>
            <a:ext cx="86995" cy="381000"/>
          </a:xfrm>
          <a:custGeom>
            <a:avLst/>
            <a:gdLst/>
            <a:ahLst/>
            <a:cxnLst/>
            <a:rect l="l" t="t" r="r" b="b"/>
            <a:pathLst>
              <a:path w="86995" h="381000">
                <a:moveTo>
                  <a:pt x="57912" y="72389"/>
                </a:moveTo>
                <a:lnTo>
                  <a:pt x="28955" y="72389"/>
                </a:lnTo>
                <a:lnTo>
                  <a:pt x="28955" y="381000"/>
                </a:lnTo>
                <a:lnTo>
                  <a:pt x="57912" y="381000"/>
                </a:lnTo>
                <a:lnTo>
                  <a:pt x="57912" y="72389"/>
                </a:lnTo>
                <a:close/>
              </a:path>
              <a:path w="86995" h="381000">
                <a:moveTo>
                  <a:pt x="43433" y="0"/>
                </a:moveTo>
                <a:lnTo>
                  <a:pt x="0" y="86868"/>
                </a:lnTo>
                <a:lnTo>
                  <a:pt x="28955" y="86868"/>
                </a:lnTo>
                <a:lnTo>
                  <a:pt x="28955" y="72389"/>
                </a:lnTo>
                <a:lnTo>
                  <a:pt x="79628" y="72389"/>
                </a:lnTo>
                <a:lnTo>
                  <a:pt x="43433" y="0"/>
                </a:lnTo>
                <a:close/>
              </a:path>
              <a:path w="86995" h="381000">
                <a:moveTo>
                  <a:pt x="79628" y="72389"/>
                </a:moveTo>
                <a:lnTo>
                  <a:pt x="57912" y="72389"/>
                </a:lnTo>
                <a:lnTo>
                  <a:pt x="57912" y="86868"/>
                </a:lnTo>
                <a:lnTo>
                  <a:pt x="86867" y="86868"/>
                </a:lnTo>
                <a:lnTo>
                  <a:pt x="79628" y="72389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6751" y="1345691"/>
            <a:ext cx="8113776" cy="326440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7107" y="1708404"/>
            <a:ext cx="8106156" cy="409194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360409" y="3733292"/>
            <a:ext cx="14668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2540" algn="ctr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New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990000"/>
                </a:solidFill>
                <a:latin typeface="Times New Roman"/>
                <a:cs typeface="Times New Roman"/>
              </a:rPr>
              <a:t>in</a:t>
            </a:r>
            <a:r>
              <a:rPr sz="2400" i="1" spc="5" dirty="0">
                <a:solidFill>
                  <a:srgbClr val="990000"/>
                </a:solidFill>
                <a:latin typeface="Times New Roman"/>
                <a:cs typeface="Times New Roman"/>
              </a:rPr>
              <a:t>t</a:t>
            </a:r>
            <a:r>
              <a:rPr sz="2400" i="1" spc="-5" dirty="0">
                <a:solidFill>
                  <a:srgbClr val="990000"/>
                </a:solidFill>
                <a:latin typeface="Times New Roman"/>
                <a:cs typeface="Times New Roman"/>
              </a:rPr>
              <a:t>ers</a:t>
            </a:r>
            <a:r>
              <a:rPr sz="2400" i="1" dirty="0">
                <a:solidFill>
                  <a:srgbClr val="990000"/>
                </a:solidFill>
                <a:latin typeface="Times New Roman"/>
                <a:cs typeface="Times New Roman"/>
              </a:rPr>
              <a:t>ection  </a:t>
            </a:r>
            <a:r>
              <a:rPr sz="2400" i="1" spc="-10" dirty="0">
                <a:solidFill>
                  <a:srgbClr val="990000"/>
                </a:solidFill>
                <a:latin typeface="Times New Roman"/>
                <a:cs typeface="Times New Roman"/>
              </a:rPr>
              <a:t>relation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79801" y="3763136"/>
            <a:ext cx="12471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Foreign</a:t>
            </a:r>
            <a:r>
              <a:rPr sz="2000" spc="-9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key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47435" y="4296917"/>
            <a:ext cx="12446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Foreign</a:t>
            </a:r>
            <a:r>
              <a:rPr sz="2000" spc="-10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key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91405" y="2758186"/>
            <a:ext cx="24193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Composite</a:t>
            </a:r>
            <a:r>
              <a:rPr sz="2000" spc="-4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primary</a:t>
            </a:r>
            <a:r>
              <a:rPr sz="20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key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91761" y="3115817"/>
            <a:ext cx="2743200" cy="228600"/>
          </a:xfrm>
          <a:custGeom>
            <a:avLst/>
            <a:gdLst/>
            <a:ahLst/>
            <a:cxnLst/>
            <a:rect l="l" t="t" r="r" b="b"/>
            <a:pathLst>
              <a:path w="2743200" h="228600">
                <a:moveTo>
                  <a:pt x="0" y="228600"/>
                </a:moveTo>
                <a:lnTo>
                  <a:pt x="31213" y="170913"/>
                </a:lnTo>
                <a:lnTo>
                  <a:pt x="66960" y="147780"/>
                </a:lnTo>
                <a:lnTo>
                  <a:pt x="113227" y="129906"/>
                </a:lnTo>
                <a:lnTo>
                  <a:pt x="167834" y="118383"/>
                </a:lnTo>
                <a:lnTo>
                  <a:pt x="228600" y="114300"/>
                </a:lnTo>
                <a:lnTo>
                  <a:pt x="1143000" y="114300"/>
                </a:lnTo>
                <a:lnTo>
                  <a:pt x="1203765" y="110216"/>
                </a:lnTo>
                <a:lnTo>
                  <a:pt x="1258372" y="98693"/>
                </a:lnTo>
                <a:lnTo>
                  <a:pt x="1304639" y="80819"/>
                </a:lnTo>
                <a:lnTo>
                  <a:pt x="1340386" y="57686"/>
                </a:lnTo>
                <a:lnTo>
                  <a:pt x="1371600" y="0"/>
                </a:lnTo>
                <a:lnTo>
                  <a:pt x="1379766" y="30382"/>
                </a:lnTo>
                <a:lnTo>
                  <a:pt x="1438560" y="80819"/>
                </a:lnTo>
                <a:lnTo>
                  <a:pt x="1484827" y="98693"/>
                </a:lnTo>
                <a:lnTo>
                  <a:pt x="1539434" y="110216"/>
                </a:lnTo>
                <a:lnTo>
                  <a:pt x="1600200" y="114300"/>
                </a:lnTo>
                <a:lnTo>
                  <a:pt x="2514599" y="114300"/>
                </a:lnTo>
                <a:lnTo>
                  <a:pt x="2575365" y="118383"/>
                </a:lnTo>
                <a:lnTo>
                  <a:pt x="2629972" y="129906"/>
                </a:lnTo>
                <a:lnTo>
                  <a:pt x="2676239" y="147780"/>
                </a:lnTo>
                <a:lnTo>
                  <a:pt x="2711986" y="170913"/>
                </a:lnTo>
                <a:lnTo>
                  <a:pt x="2735033" y="198217"/>
                </a:lnTo>
                <a:lnTo>
                  <a:pt x="2743199" y="228600"/>
                </a:lnTo>
              </a:path>
            </a:pathLst>
          </a:custGeom>
          <a:ln w="28956">
            <a:solidFill>
              <a:srgbClr val="99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011551" y="76580"/>
            <a:ext cx="6466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Example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mapping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an</a:t>
            </a:r>
            <a:r>
              <a:rPr sz="2400" dirty="0">
                <a:latin typeface="Arial"/>
                <a:cs typeface="Arial"/>
              </a:rPr>
              <a:t> M:N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relationship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(cont.)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3381247" y="838022"/>
            <a:ext cx="36449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b)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Three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resulting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relations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441959"/>
            <a:ext cx="3627120" cy="106680"/>
          </a:xfrm>
          <a:custGeom>
            <a:avLst/>
            <a:gdLst/>
            <a:ahLst/>
            <a:cxnLst/>
            <a:rect l="l" t="t" r="r" b="b"/>
            <a:pathLst>
              <a:path w="3627120" h="106679">
                <a:moveTo>
                  <a:pt x="3627120" y="0"/>
                </a:moveTo>
                <a:lnTo>
                  <a:pt x="0" y="0"/>
                </a:lnTo>
                <a:lnTo>
                  <a:pt x="0" y="106679"/>
                </a:lnTo>
                <a:lnTo>
                  <a:pt x="3627120" y="106679"/>
                </a:lnTo>
                <a:lnTo>
                  <a:pt x="36271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967471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8" y="0"/>
                </a:moveTo>
                <a:lnTo>
                  <a:pt x="0" y="0"/>
                </a:lnTo>
                <a:lnTo>
                  <a:pt x="0" y="106679"/>
                </a:lnTo>
                <a:lnTo>
                  <a:pt x="3614928" y="106679"/>
                </a:lnTo>
                <a:lnTo>
                  <a:pt x="3614928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8535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7" y="0"/>
                </a:moveTo>
                <a:lnTo>
                  <a:pt x="0" y="0"/>
                </a:lnTo>
                <a:lnTo>
                  <a:pt x="0" y="106679"/>
                </a:lnTo>
                <a:lnTo>
                  <a:pt x="3614927" y="106679"/>
                </a:lnTo>
                <a:lnTo>
                  <a:pt x="3614927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12033" y="67817"/>
            <a:ext cx="6124575" cy="1162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Example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mapping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 binary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1:1 </a:t>
            </a:r>
            <a:r>
              <a:rPr sz="2400" spc="-5" dirty="0">
                <a:latin typeface="Arial"/>
                <a:cs typeface="Arial"/>
              </a:rPr>
              <a:t>relationship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50">
              <a:latin typeface="Arial"/>
              <a:cs typeface="Arial"/>
            </a:endParaRPr>
          </a:p>
          <a:p>
            <a:pPr marL="8128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a)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In_charge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relationship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(1:1)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854451" y="1789176"/>
            <a:ext cx="7096125" cy="2998470"/>
            <a:chOff x="2854451" y="1789176"/>
            <a:chExt cx="7096125" cy="299847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4451" y="1789176"/>
              <a:ext cx="7095744" cy="284683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153655" y="4406646"/>
              <a:ext cx="86995" cy="381000"/>
            </a:xfrm>
            <a:custGeom>
              <a:avLst/>
              <a:gdLst/>
              <a:ahLst/>
              <a:cxnLst/>
              <a:rect l="l" t="t" r="r" b="b"/>
              <a:pathLst>
                <a:path w="86995" h="381000">
                  <a:moveTo>
                    <a:pt x="57912" y="72389"/>
                  </a:moveTo>
                  <a:lnTo>
                    <a:pt x="28955" y="72389"/>
                  </a:lnTo>
                  <a:lnTo>
                    <a:pt x="28955" y="380999"/>
                  </a:lnTo>
                  <a:lnTo>
                    <a:pt x="57912" y="380999"/>
                  </a:lnTo>
                  <a:lnTo>
                    <a:pt x="57912" y="72389"/>
                  </a:lnTo>
                  <a:close/>
                </a:path>
                <a:path w="86995" h="381000">
                  <a:moveTo>
                    <a:pt x="43434" y="0"/>
                  </a:moveTo>
                  <a:lnTo>
                    <a:pt x="0" y="86867"/>
                  </a:lnTo>
                  <a:lnTo>
                    <a:pt x="28955" y="86867"/>
                  </a:lnTo>
                  <a:lnTo>
                    <a:pt x="28955" y="72389"/>
                  </a:lnTo>
                  <a:lnTo>
                    <a:pt x="79629" y="72389"/>
                  </a:lnTo>
                  <a:lnTo>
                    <a:pt x="43434" y="0"/>
                  </a:lnTo>
                  <a:close/>
                </a:path>
                <a:path w="86995" h="381000">
                  <a:moveTo>
                    <a:pt x="79629" y="72389"/>
                  </a:moveTo>
                  <a:lnTo>
                    <a:pt x="57912" y="72389"/>
                  </a:lnTo>
                  <a:lnTo>
                    <a:pt x="57912" y="86867"/>
                  </a:lnTo>
                  <a:lnTo>
                    <a:pt x="86868" y="86867"/>
                  </a:lnTo>
                  <a:lnTo>
                    <a:pt x="79629" y="72389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236722" y="4962271"/>
            <a:ext cx="6310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Often</a:t>
            </a:r>
            <a:r>
              <a:rPr sz="24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in</a:t>
            </a:r>
            <a:r>
              <a:rPr sz="24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1:1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relationships,</a:t>
            </a:r>
            <a:r>
              <a:rPr sz="2400" spc="-4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one</a:t>
            </a:r>
            <a:r>
              <a:rPr sz="24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direction</a:t>
            </a:r>
            <a:r>
              <a:rPr sz="2400" spc="-5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is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optional.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441959"/>
            <a:ext cx="3627120" cy="106680"/>
          </a:xfrm>
          <a:custGeom>
            <a:avLst/>
            <a:gdLst/>
            <a:ahLst/>
            <a:cxnLst/>
            <a:rect l="l" t="t" r="r" b="b"/>
            <a:pathLst>
              <a:path w="3627120" h="106679">
                <a:moveTo>
                  <a:pt x="3627120" y="0"/>
                </a:moveTo>
                <a:lnTo>
                  <a:pt x="0" y="0"/>
                </a:lnTo>
                <a:lnTo>
                  <a:pt x="0" y="106679"/>
                </a:lnTo>
                <a:lnTo>
                  <a:pt x="3627120" y="106679"/>
                </a:lnTo>
                <a:lnTo>
                  <a:pt x="36271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967471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8" y="0"/>
                </a:moveTo>
                <a:lnTo>
                  <a:pt x="0" y="0"/>
                </a:lnTo>
                <a:lnTo>
                  <a:pt x="0" y="106679"/>
                </a:lnTo>
                <a:lnTo>
                  <a:pt x="3614928" y="106679"/>
                </a:lnTo>
                <a:lnTo>
                  <a:pt x="3614928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8535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7" y="0"/>
                </a:moveTo>
                <a:lnTo>
                  <a:pt x="0" y="0"/>
                </a:lnTo>
                <a:lnTo>
                  <a:pt x="0" y="106679"/>
                </a:lnTo>
                <a:lnTo>
                  <a:pt x="3614927" y="106679"/>
                </a:lnTo>
                <a:lnTo>
                  <a:pt x="3614927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651505" y="67817"/>
            <a:ext cx="7078345" cy="1152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Example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mapping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binary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1:1 </a:t>
            </a:r>
            <a:r>
              <a:rPr sz="2400" spc="-5" dirty="0">
                <a:latin typeface="Arial"/>
                <a:cs typeface="Arial"/>
              </a:rPr>
              <a:t>relationship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(cont.)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00">
              <a:latin typeface="Arial"/>
              <a:cs typeface="Arial"/>
            </a:endParaRPr>
          </a:p>
          <a:p>
            <a:pPr marL="12890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b)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Resulting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relations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09444" y="1530096"/>
            <a:ext cx="7859395" cy="3257550"/>
            <a:chOff x="2409444" y="1530096"/>
            <a:chExt cx="7859395" cy="32575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9444" y="1530096"/>
              <a:ext cx="7859268" cy="307915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153655" y="4406646"/>
              <a:ext cx="86995" cy="381000"/>
            </a:xfrm>
            <a:custGeom>
              <a:avLst/>
              <a:gdLst/>
              <a:ahLst/>
              <a:cxnLst/>
              <a:rect l="l" t="t" r="r" b="b"/>
              <a:pathLst>
                <a:path w="86995" h="381000">
                  <a:moveTo>
                    <a:pt x="57912" y="72389"/>
                  </a:moveTo>
                  <a:lnTo>
                    <a:pt x="28955" y="72389"/>
                  </a:lnTo>
                  <a:lnTo>
                    <a:pt x="28955" y="380999"/>
                  </a:lnTo>
                  <a:lnTo>
                    <a:pt x="57912" y="380999"/>
                  </a:lnTo>
                  <a:lnTo>
                    <a:pt x="57912" y="72389"/>
                  </a:lnTo>
                  <a:close/>
                </a:path>
                <a:path w="86995" h="381000">
                  <a:moveTo>
                    <a:pt x="43434" y="0"/>
                  </a:moveTo>
                  <a:lnTo>
                    <a:pt x="0" y="86867"/>
                  </a:lnTo>
                  <a:lnTo>
                    <a:pt x="28955" y="86867"/>
                  </a:lnTo>
                  <a:lnTo>
                    <a:pt x="28955" y="72389"/>
                  </a:lnTo>
                  <a:lnTo>
                    <a:pt x="79629" y="72389"/>
                  </a:lnTo>
                  <a:lnTo>
                    <a:pt x="43434" y="0"/>
                  </a:lnTo>
                  <a:close/>
                </a:path>
                <a:path w="86995" h="381000">
                  <a:moveTo>
                    <a:pt x="79629" y="72389"/>
                  </a:moveTo>
                  <a:lnTo>
                    <a:pt x="57912" y="72389"/>
                  </a:lnTo>
                  <a:lnTo>
                    <a:pt x="57912" y="86867"/>
                  </a:lnTo>
                  <a:lnTo>
                    <a:pt x="86868" y="86867"/>
                  </a:lnTo>
                  <a:lnTo>
                    <a:pt x="79629" y="72389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236722" y="4962271"/>
            <a:ext cx="64331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Foreign</a:t>
            </a:r>
            <a:r>
              <a:rPr sz="24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key goes</a:t>
            </a:r>
            <a:r>
              <a:rPr sz="24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in</a:t>
            </a:r>
            <a:r>
              <a:rPr sz="24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4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relation</a:t>
            </a:r>
            <a:r>
              <a:rPr sz="2400" spc="-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on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the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optional</a:t>
            </a:r>
            <a:r>
              <a:rPr sz="24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side, </a:t>
            </a:r>
            <a:r>
              <a:rPr sz="2400" spc="-5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Matching</a:t>
            </a:r>
            <a:r>
              <a:rPr sz="24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primary</a:t>
            </a:r>
            <a:r>
              <a:rPr sz="2400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key</a:t>
            </a:r>
            <a:r>
              <a:rPr sz="24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on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the mandatory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side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7408" y="600455"/>
            <a:ext cx="10985500" cy="1369695"/>
            <a:chOff x="597408" y="600455"/>
            <a:chExt cx="10985500" cy="1369695"/>
          </a:xfrm>
        </p:grpSpPr>
        <p:sp>
          <p:nvSpPr>
            <p:cNvPr id="3" name="object 3"/>
            <p:cNvSpPr/>
            <p:nvPr/>
          </p:nvSpPr>
          <p:spPr>
            <a:xfrm>
              <a:off x="597408" y="600455"/>
              <a:ext cx="10985500" cy="1259205"/>
            </a:xfrm>
            <a:custGeom>
              <a:avLst/>
              <a:gdLst/>
              <a:ahLst/>
              <a:cxnLst/>
              <a:rect l="l" t="t" r="r" b="b"/>
              <a:pathLst>
                <a:path w="10985500" h="1259205">
                  <a:moveTo>
                    <a:pt x="10984992" y="0"/>
                  </a:moveTo>
                  <a:lnTo>
                    <a:pt x="0" y="0"/>
                  </a:lnTo>
                  <a:lnTo>
                    <a:pt x="0" y="1258824"/>
                  </a:lnTo>
                  <a:lnTo>
                    <a:pt x="10984992" y="1258824"/>
                  </a:lnTo>
                  <a:lnTo>
                    <a:pt x="10984992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652" y="1182623"/>
              <a:ext cx="9903714" cy="78714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0037826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36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7408" y="1271092"/>
            <a:ext cx="10985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Gill Sans MT"/>
                <a:cs typeface="Gill Sans MT"/>
              </a:rPr>
              <a:t>TRANSFORMING</a:t>
            </a:r>
            <a:r>
              <a:rPr sz="2800" dirty="0">
                <a:solidFill>
                  <a:srgbClr val="FFFFFF"/>
                </a:solidFill>
                <a:latin typeface="Gill Sans MT"/>
                <a:cs typeface="Gill Sans MT"/>
              </a:rPr>
              <a:t> EER </a:t>
            </a:r>
            <a:r>
              <a:rPr sz="2800" spc="-20" dirty="0">
                <a:solidFill>
                  <a:srgbClr val="FFFFFF"/>
                </a:solidFill>
                <a:latin typeface="Gill Sans MT"/>
                <a:cs typeface="Gill Sans MT"/>
              </a:rPr>
              <a:t>DIAGRAMS</a:t>
            </a:r>
            <a:r>
              <a:rPr sz="2800" spc="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Gill Sans MT"/>
                <a:cs typeface="Gill Sans MT"/>
              </a:rPr>
              <a:t>INTO</a:t>
            </a:r>
            <a:r>
              <a:rPr sz="2800" spc="-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Gill Sans MT"/>
                <a:cs typeface="Gill Sans MT"/>
              </a:rPr>
              <a:t>RELATIONS</a:t>
            </a:r>
            <a:r>
              <a:rPr sz="280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2800" spc="-60" dirty="0">
                <a:solidFill>
                  <a:srgbClr val="FFFFFF"/>
                </a:solidFill>
                <a:latin typeface="Gill Sans MT"/>
                <a:cs typeface="Gill Sans MT"/>
              </a:rPr>
              <a:t>(CONT.)</a:t>
            </a:r>
            <a:endParaRPr sz="2800">
              <a:latin typeface="Gill Sans MT"/>
              <a:cs typeface="Gill Sans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2168" y="1630679"/>
            <a:ext cx="5759958" cy="100965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53846" y="1747850"/>
            <a:ext cx="51885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</a:t>
            </a:r>
            <a:r>
              <a:rPr spc="-45" dirty="0"/>
              <a:t>a</a:t>
            </a:r>
            <a:r>
              <a:rPr dirty="0"/>
              <a:t>pping</a:t>
            </a:r>
            <a:r>
              <a:rPr spc="-360" dirty="0"/>
              <a:t> </a:t>
            </a:r>
            <a:r>
              <a:rPr dirty="0"/>
              <a:t>As</a:t>
            </a:r>
            <a:r>
              <a:rPr spc="-20" dirty="0"/>
              <a:t>s</a:t>
            </a:r>
            <a:r>
              <a:rPr dirty="0"/>
              <a:t>ociati</a:t>
            </a:r>
            <a:r>
              <a:rPr spc="-75" dirty="0"/>
              <a:t>v</a:t>
            </a:r>
            <a:r>
              <a:rPr dirty="0"/>
              <a:t>e Entities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986027" y="2322576"/>
            <a:ext cx="10237470" cy="3496945"/>
            <a:chOff x="986027" y="2322576"/>
            <a:chExt cx="10237470" cy="349694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6027" y="2420112"/>
              <a:ext cx="645414" cy="73532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3584" y="2322576"/>
              <a:ext cx="4437126" cy="8968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15211" y="3031236"/>
              <a:ext cx="566165" cy="64236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3811" y="2944368"/>
              <a:ext cx="9679686" cy="78714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43811" y="3328416"/>
              <a:ext cx="9111234" cy="78714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6027" y="3962400"/>
              <a:ext cx="645414" cy="73533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43584" y="3864864"/>
              <a:ext cx="3647694" cy="896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15211" y="4573524"/>
              <a:ext cx="566165" cy="64236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43811" y="4486655"/>
              <a:ext cx="4879086" cy="78714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55792" y="4486655"/>
              <a:ext cx="581406" cy="78714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70092" y="4486655"/>
              <a:ext cx="1230630" cy="78714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15211" y="5119116"/>
              <a:ext cx="566165" cy="64236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43811" y="5032248"/>
              <a:ext cx="5663945" cy="78714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178458" y="2284528"/>
            <a:ext cx="9709150" cy="328866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316865" indent="-304800">
              <a:lnSpc>
                <a:spcPct val="100000"/>
              </a:lnSpc>
              <a:spcBef>
                <a:spcPts val="1195"/>
              </a:spcBef>
              <a:buClr>
                <a:srgbClr val="4590B8"/>
              </a:buClr>
              <a:buSzPct val="92187"/>
              <a:buFont typeface="Wingdings 2"/>
              <a:buChar char=""/>
              <a:tabLst>
                <a:tab pos="317500" algn="l"/>
              </a:tabLst>
            </a:pPr>
            <a:r>
              <a:rPr sz="3200" dirty="0">
                <a:latin typeface="Gill Sans MT"/>
                <a:cs typeface="Gill Sans MT"/>
              </a:rPr>
              <a:t>Ident</a:t>
            </a:r>
            <a:r>
              <a:rPr sz="3200" spc="10" dirty="0">
                <a:latin typeface="Gill Sans MT"/>
                <a:cs typeface="Gill Sans MT"/>
              </a:rPr>
              <a:t>i</a:t>
            </a:r>
            <a:r>
              <a:rPr sz="3200" dirty="0">
                <a:latin typeface="Gill Sans MT"/>
                <a:cs typeface="Gill Sans MT"/>
              </a:rPr>
              <a:t>fi</a:t>
            </a:r>
            <a:r>
              <a:rPr sz="3200" spc="5" dirty="0">
                <a:latin typeface="Gill Sans MT"/>
                <a:cs typeface="Gill Sans MT"/>
              </a:rPr>
              <a:t>e</a:t>
            </a:r>
            <a:r>
              <a:rPr sz="3200" dirty="0">
                <a:latin typeface="Gill Sans MT"/>
                <a:cs typeface="Gill Sans MT"/>
              </a:rPr>
              <a:t>r</a:t>
            </a:r>
            <a:r>
              <a:rPr sz="3200" spc="-35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N</a:t>
            </a:r>
            <a:r>
              <a:rPr sz="3200" spc="-10" dirty="0">
                <a:latin typeface="Gill Sans MT"/>
                <a:cs typeface="Gill Sans MT"/>
              </a:rPr>
              <a:t>o</a:t>
            </a:r>
            <a:r>
              <a:rPr sz="3200" dirty="0">
                <a:latin typeface="Gill Sans MT"/>
                <a:cs typeface="Gill Sans MT"/>
              </a:rPr>
              <a:t>t</a:t>
            </a:r>
            <a:r>
              <a:rPr sz="3200" spc="-330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Ass</a:t>
            </a:r>
            <a:r>
              <a:rPr sz="3200" spc="5" dirty="0">
                <a:latin typeface="Gill Sans MT"/>
                <a:cs typeface="Gill Sans MT"/>
              </a:rPr>
              <a:t>i</a:t>
            </a:r>
            <a:r>
              <a:rPr sz="3200" dirty="0">
                <a:latin typeface="Gill Sans MT"/>
                <a:cs typeface="Gill Sans MT"/>
              </a:rPr>
              <a:t>gned</a:t>
            </a:r>
            <a:endParaRPr sz="3200">
              <a:latin typeface="Gill Sans MT"/>
              <a:cs typeface="Gill Sans MT"/>
            </a:endParaRPr>
          </a:p>
          <a:p>
            <a:pPr marL="586740" marR="5080" lvl="1" indent="-269875">
              <a:lnSpc>
                <a:spcPts val="3020"/>
              </a:lnSpc>
              <a:spcBef>
                <a:spcPts val="1340"/>
              </a:spcBef>
              <a:buClr>
                <a:srgbClr val="4590B8"/>
              </a:buClr>
              <a:buSzPct val="91071"/>
              <a:buFont typeface="Wingdings 2"/>
              <a:buChar char=""/>
              <a:tabLst>
                <a:tab pos="587375" algn="l"/>
              </a:tabLst>
            </a:pPr>
            <a:r>
              <a:rPr sz="2800" spc="-5" dirty="0">
                <a:latin typeface="Gill Sans MT"/>
                <a:cs typeface="Gill Sans MT"/>
              </a:rPr>
              <a:t>Default</a:t>
            </a:r>
            <a:r>
              <a:rPr sz="2800" spc="10" dirty="0">
                <a:latin typeface="Gill Sans MT"/>
                <a:cs typeface="Gill Sans MT"/>
              </a:rPr>
              <a:t> </a:t>
            </a:r>
            <a:r>
              <a:rPr sz="2800" spc="5" dirty="0">
                <a:latin typeface="Gill Sans MT"/>
                <a:cs typeface="Gill Sans MT"/>
              </a:rPr>
              <a:t>primary</a:t>
            </a:r>
            <a:r>
              <a:rPr sz="2800" spc="25" dirty="0">
                <a:latin typeface="Gill Sans MT"/>
                <a:cs typeface="Gill Sans MT"/>
              </a:rPr>
              <a:t> </a:t>
            </a:r>
            <a:r>
              <a:rPr sz="2800" spc="-45" dirty="0">
                <a:latin typeface="Gill Sans MT"/>
                <a:cs typeface="Gill Sans MT"/>
              </a:rPr>
              <a:t>key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spc="-15" dirty="0">
                <a:latin typeface="Gill Sans MT"/>
                <a:cs typeface="Gill Sans MT"/>
              </a:rPr>
              <a:t>for</a:t>
            </a:r>
            <a:r>
              <a:rPr sz="2800" spc="1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the</a:t>
            </a:r>
            <a:r>
              <a:rPr sz="280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association</a:t>
            </a:r>
            <a:r>
              <a:rPr sz="2800" spc="20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relation</a:t>
            </a:r>
            <a:r>
              <a:rPr sz="2800" spc="3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is</a:t>
            </a:r>
            <a:r>
              <a:rPr sz="280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composed</a:t>
            </a:r>
            <a:r>
              <a:rPr sz="2800" spc="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of </a:t>
            </a:r>
            <a:r>
              <a:rPr sz="2800" spc="-76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the </a:t>
            </a:r>
            <a:r>
              <a:rPr sz="2800" spc="5" dirty="0">
                <a:latin typeface="Gill Sans MT"/>
                <a:cs typeface="Gill Sans MT"/>
              </a:rPr>
              <a:t>primary</a:t>
            </a:r>
            <a:r>
              <a:rPr sz="2800" spc="30" dirty="0">
                <a:latin typeface="Gill Sans MT"/>
                <a:cs typeface="Gill Sans MT"/>
              </a:rPr>
              <a:t> </a:t>
            </a:r>
            <a:r>
              <a:rPr sz="2800" spc="-35" dirty="0">
                <a:latin typeface="Gill Sans MT"/>
                <a:cs typeface="Gill Sans MT"/>
              </a:rPr>
              <a:t>keys</a:t>
            </a:r>
            <a:r>
              <a:rPr sz="2800" spc="-2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of</a:t>
            </a:r>
            <a:r>
              <a:rPr sz="2800" spc="1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the</a:t>
            </a:r>
            <a:r>
              <a:rPr sz="2800" spc="-15" dirty="0">
                <a:latin typeface="Gill Sans MT"/>
                <a:cs typeface="Gill Sans MT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two</a:t>
            </a:r>
            <a:r>
              <a:rPr sz="2800" spc="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entities</a:t>
            </a:r>
            <a:r>
              <a:rPr sz="2800" spc="-15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(as</a:t>
            </a:r>
            <a:r>
              <a:rPr sz="2800" spc="2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in</a:t>
            </a:r>
            <a:r>
              <a:rPr sz="280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M:N</a:t>
            </a:r>
            <a:r>
              <a:rPr sz="2800" spc="5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relationship)</a:t>
            </a:r>
            <a:endParaRPr sz="2800">
              <a:latin typeface="Gill Sans MT"/>
              <a:cs typeface="Gill Sans MT"/>
            </a:endParaRPr>
          </a:p>
          <a:p>
            <a:pPr marL="316865" indent="-304800">
              <a:lnSpc>
                <a:spcPct val="100000"/>
              </a:lnSpc>
              <a:spcBef>
                <a:spcPts val="930"/>
              </a:spcBef>
              <a:buClr>
                <a:srgbClr val="4590B8"/>
              </a:buClr>
              <a:buSzPct val="92187"/>
              <a:buFont typeface="Wingdings 2"/>
              <a:buChar char=""/>
              <a:tabLst>
                <a:tab pos="317500" algn="l"/>
              </a:tabLst>
            </a:pPr>
            <a:r>
              <a:rPr sz="3200" dirty="0">
                <a:latin typeface="Gill Sans MT"/>
                <a:cs typeface="Gill Sans MT"/>
              </a:rPr>
              <a:t>Ident</a:t>
            </a:r>
            <a:r>
              <a:rPr sz="3200" spc="10" dirty="0">
                <a:latin typeface="Gill Sans MT"/>
                <a:cs typeface="Gill Sans MT"/>
              </a:rPr>
              <a:t>i</a:t>
            </a:r>
            <a:r>
              <a:rPr sz="3200" dirty="0">
                <a:latin typeface="Gill Sans MT"/>
                <a:cs typeface="Gill Sans MT"/>
              </a:rPr>
              <a:t>fi</a:t>
            </a:r>
            <a:r>
              <a:rPr sz="3200" spc="5" dirty="0">
                <a:latin typeface="Gill Sans MT"/>
                <a:cs typeface="Gill Sans MT"/>
              </a:rPr>
              <a:t>e</a:t>
            </a:r>
            <a:r>
              <a:rPr sz="3200" dirty="0">
                <a:latin typeface="Gill Sans MT"/>
                <a:cs typeface="Gill Sans MT"/>
              </a:rPr>
              <a:t>r</a:t>
            </a:r>
            <a:r>
              <a:rPr sz="3200" spc="-360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Ass</a:t>
            </a:r>
            <a:r>
              <a:rPr sz="3200" spc="5" dirty="0">
                <a:latin typeface="Gill Sans MT"/>
                <a:cs typeface="Gill Sans MT"/>
              </a:rPr>
              <a:t>i</a:t>
            </a:r>
            <a:r>
              <a:rPr sz="3200" dirty="0">
                <a:latin typeface="Gill Sans MT"/>
                <a:cs typeface="Gill Sans MT"/>
              </a:rPr>
              <a:t>gned</a:t>
            </a:r>
            <a:endParaRPr sz="3200">
              <a:latin typeface="Gill Sans MT"/>
              <a:cs typeface="Gill Sans MT"/>
            </a:endParaRPr>
          </a:p>
          <a:p>
            <a:pPr marL="586740" lvl="1" indent="-270510">
              <a:lnSpc>
                <a:spcPct val="100000"/>
              </a:lnSpc>
              <a:spcBef>
                <a:spcPts val="950"/>
              </a:spcBef>
              <a:buClr>
                <a:srgbClr val="4590B8"/>
              </a:buClr>
              <a:buSzPct val="91071"/>
              <a:buFont typeface="Wingdings 2"/>
              <a:buChar char=""/>
              <a:tabLst>
                <a:tab pos="587375" algn="l"/>
              </a:tabLst>
            </a:pPr>
            <a:r>
              <a:rPr sz="2800" spc="-5" dirty="0">
                <a:latin typeface="Gill Sans MT"/>
                <a:cs typeface="Gill Sans MT"/>
              </a:rPr>
              <a:t>It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is natural</a:t>
            </a:r>
            <a:r>
              <a:rPr sz="2800" spc="2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and</a:t>
            </a:r>
            <a:r>
              <a:rPr sz="280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familiar</a:t>
            </a:r>
            <a:r>
              <a:rPr sz="2800" spc="1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to</a:t>
            </a:r>
            <a:r>
              <a:rPr sz="2800" dirty="0">
                <a:latin typeface="Gill Sans MT"/>
                <a:cs typeface="Gill Sans MT"/>
              </a:rPr>
              <a:t> end-users</a:t>
            </a:r>
            <a:endParaRPr sz="2800">
              <a:latin typeface="Gill Sans MT"/>
              <a:cs typeface="Gill Sans MT"/>
            </a:endParaRPr>
          </a:p>
          <a:p>
            <a:pPr marL="586740" lvl="1" indent="-270510">
              <a:lnSpc>
                <a:spcPct val="100000"/>
              </a:lnSpc>
              <a:spcBef>
                <a:spcPts val="935"/>
              </a:spcBef>
              <a:buClr>
                <a:srgbClr val="4590B8"/>
              </a:buClr>
              <a:buSzPct val="91071"/>
              <a:buFont typeface="Wingdings 2"/>
              <a:buChar char=""/>
              <a:tabLst>
                <a:tab pos="587375" algn="l"/>
              </a:tabLst>
            </a:pPr>
            <a:r>
              <a:rPr sz="2800" spc="-5" dirty="0">
                <a:latin typeface="Gill Sans MT"/>
                <a:cs typeface="Gill Sans MT"/>
              </a:rPr>
              <a:t>Default</a:t>
            </a:r>
            <a:r>
              <a:rPr sz="280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identifier</a:t>
            </a:r>
            <a:r>
              <a:rPr sz="2800" spc="-15" dirty="0">
                <a:latin typeface="Gill Sans MT"/>
                <a:cs typeface="Gill Sans MT"/>
              </a:rPr>
              <a:t> </a:t>
            </a:r>
            <a:r>
              <a:rPr sz="2800" spc="-40" dirty="0">
                <a:latin typeface="Gill Sans MT"/>
                <a:cs typeface="Gill Sans MT"/>
              </a:rPr>
              <a:t>may</a:t>
            </a:r>
            <a:r>
              <a:rPr sz="2800" spc="1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not</a:t>
            </a:r>
            <a:r>
              <a:rPr sz="2800" spc="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be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unique</a:t>
            </a:r>
            <a:endParaRPr sz="2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5652" y="58369"/>
            <a:ext cx="56362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Example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" dirty="0">
                <a:latin typeface="Arial"/>
                <a:cs typeface="Arial"/>
              </a:rPr>
              <a:t> mapping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5" dirty="0">
                <a:latin typeface="Arial"/>
                <a:cs typeface="Arial"/>
              </a:rPr>
              <a:t> associative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entity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81247" y="838022"/>
            <a:ext cx="31438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a)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associative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entity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5583" y="2274393"/>
            <a:ext cx="8319516" cy="17590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2270" y="112014"/>
            <a:ext cx="659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Example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mapping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an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associative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entity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(cont.)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81247" y="838022"/>
            <a:ext cx="36449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b)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Three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resulting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relations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98425" y="1812035"/>
            <a:ext cx="8048625" cy="3794125"/>
            <a:chOff x="2098425" y="1812035"/>
            <a:chExt cx="8048625" cy="37941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3432" y="1812035"/>
              <a:ext cx="7833359" cy="30176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61716" y="3121151"/>
              <a:ext cx="1888489" cy="565785"/>
            </a:xfrm>
            <a:custGeom>
              <a:avLst/>
              <a:gdLst/>
              <a:ahLst/>
              <a:cxnLst/>
              <a:rect l="l" t="t" r="r" b="b"/>
              <a:pathLst>
                <a:path w="1888489" h="565785">
                  <a:moveTo>
                    <a:pt x="0" y="565404"/>
                  </a:moveTo>
                  <a:lnTo>
                    <a:pt x="1888235" y="565404"/>
                  </a:lnTo>
                  <a:lnTo>
                    <a:pt x="1888235" y="0"/>
                  </a:lnTo>
                  <a:lnTo>
                    <a:pt x="0" y="0"/>
                  </a:lnTo>
                  <a:lnTo>
                    <a:pt x="0" y="565404"/>
                  </a:lnTo>
                  <a:close/>
                </a:path>
              </a:pathLst>
            </a:custGeom>
            <a:ln w="12192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98425" y="3508247"/>
              <a:ext cx="920750" cy="2098040"/>
            </a:xfrm>
            <a:custGeom>
              <a:avLst/>
              <a:gdLst/>
              <a:ahLst/>
              <a:cxnLst/>
              <a:rect l="l" t="t" r="r" b="b"/>
              <a:pathLst>
                <a:path w="920750" h="2098040">
                  <a:moveTo>
                    <a:pt x="795063" y="55736"/>
                  </a:moveTo>
                  <a:lnTo>
                    <a:pt x="748914" y="66548"/>
                  </a:lnTo>
                  <a:lnTo>
                    <a:pt x="665729" y="87122"/>
                  </a:lnTo>
                  <a:lnTo>
                    <a:pt x="624708" y="97789"/>
                  </a:lnTo>
                  <a:lnTo>
                    <a:pt x="584322" y="108712"/>
                  </a:lnTo>
                  <a:lnTo>
                    <a:pt x="544698" y="120141"/>
                  </a:lnTo>
                  <a:lnTo>
                    <a:pt x="505709" y="131825"/>
                  </a:lnTo>
                  <a:lnTo>
                    <a:pt x="467482" y="144144"/>
                  </a:lnTo>
                  <a:lnTo>
                    <a:pt x="430144" y="156844"/>
                  </a:lnTo>
                  <a:lnTo>
                    <a:pt x="393822" y="170052"/>
                  </a:lnTo>
                  <a:lnTo>
                    <a:pt x="324480" y="198246"/>
                  </a:lnTo>
                  <a:lnTo>
                    <a:pt x="260091" y="229234"/>
                  </a:lnTo>
                  <a:lnTo>
                    <a:pt x="201036" y="263270"/>
                  </a:lnTo>
                  <a:lnTo>
                    <a:pt x="148204" y="300735"/>
                  </a:lnTo>
                  <a:lnTo>
                    <a:pt x="102357" y="342010"/>
                  </a:lnTo>
                  <a:lnTo>
                    <a:pt x="64003" y="387603"/>
                  </a:lnTo>
                  <a:lnTo>
                    <a:pt x="34031" y="437514"/>
                  </a:lnTo>
                  <a:lnTo>
                    <a:pt x="17521" y="478281"/>
                  </a:lnTo>
                  <a:lnTo>
                    <a:pt x="6091" y="521843"/>
                  </a:lnTo>
                  <a:lnTo>
                    <a:pt x="630" y="568197"/>
                  </a:lnTo>
                  <a:lnTo>
                    <a:pt x="0" y="584326"/>
                  </a:lnTo>
                  <a:lnTo>
                    <a:pt x="122" y="600963"/>
                  </a:lnTo>
                  <a:lnTo>
                    <a:pt x="4440" y="652271"/>
                  </a:lnTo>
                  <a:lnTo>
                    <a:pt x="14219" y="706627"/>
                  </a:lnTo>
                  <a:lnTo>
                    <a:pt x="23744" y="744346"/>
                  </a:lnTo>
                  <a:lnTo>
                    <a:pt x="42159" y="803147"/>
                  </a:lnTo>
                  <a:lnTo>
                    <a:pt x="57145" y="843788"/>
                  </a:lnTo>
                  <a:lnTo>
                    <a:pt x="74290" y="885316"/>
                  </a:lnTo>
                  <a:lnTo>
                    <a:pt x="93213" y="927988"/>
                  </a:lnTo>
                  <a:lnTo>
                    <a:pt x="114168" y="971676"/>
                  </a:lnTo>
                  <a:lnTo>
                    <a:pt x="136901" y="1016253"/>
                  </a:lnTo>
                  <a:lnTo>
                    <a:pt x="161412" y="1061846"/>
                  </a:lnTo>
                  <a:lnTo>
                    <a:pt x="187447" y="1108202"/>
                  </a:lnTo>
                  <a:lnTo>
                    <a:pt x="215006" y="1155445"/>
                  </a:lnTo>
                  <a:lnTo>
                    <a:pt x="244216" y="1203452"/>
                  </a:lnTo>
                  <a:lnTo>
                    <a:pt x="274696" y="1252220"/>
                  </a:lnTo>
                  <a:lnTo>
                    <a:pt x="306446" y="1301622"/>
                  </a:lnTo>
                  <a:lnTo>
                    <a:pt x="339593" y="1351660"/>
                  </a:lnTo>
                  <a:lnTo>
                    <a:pt x="373756" y="1402460"/>
                  </a:lnTo>
                  <a:lnTo>
                    <a:pt x="408935" y="1453769"/>
                  </a:lnTo>
                  <a:lnTo>
                    <a:pt x="445257" y="1505458"/>
                  </a:lnTo>
                  <a:lnTo>
                    <a:pt x="482468" y="1557782"/>
                  </a:lnTo>
                  <a:lnTo>
                    <a:pt x="559049" y="1663700"/>
                  </a:lnTo>
                  <a:lnTo>
                    <a:pt x="598419" y="1717166"/>
                  </a:lnTo>
                  <a:lnTo>
                    <a:pt x="638424" y="1771014"/>
                  </a:lnTo>
                  <a:lnTo>
                    <a:pt x="719577" y="1879345"/>
                  </a:lnTo>
                  <a:lnTo>
                    <a:pt x="885439" y="2097824"/>
                  </a:lnTo>
                  <a:lnTo>
                    <a:pt x="895599" y="2090127"/>
                  </a:lnTo>
                  <a:lnTo>
                    <a:pt x="729737" y="1871599"/>
                  </a:lnTo>
                  <a:lnTo>
                    <a:pt x="648457" y="1763395"/>
                  </a:lnTo>
                  <a:lnTo>
                    <a:pt x="569336" y="1656207"/>
                  </a:lnTo>
                  <a:lnTo>
                    <a:pt x="530601" y="1602994"/>
                  </a:lnTo>
                  <a:lnTo>
                    <a:pt x="492755" y="1550415"/>
                  </a:lnTo>
                  <a:lnTo>
                    <a:pt x="455671" y="1498091"/>
                  </a:lnTo>
                  <a:lnTo>
                    <a:pt x="419349" y="1446402"/>
                  </a:lnTo>
                  <a:lnTo>
                    <a:pt x="384297" y="1395221"/>
                  </a:lnTo>
                  <a:lnTo>
                    <a:pt x="350134" y="1344676"/>
                  </a:lnTo>
                  <a:lnTo>
                    <a:pt x="317114" y="1294510"/>
                  </a:lnTo>
                  <a:lnTo>
                    <a:pt x="285364" y="1245234"/>
                  </a:lnTo>
                  <a:lnTo>
                    <a:pt x="255011" y="1196720"/>
                  </a:lnTo>
                  <a:lnTo>
                    <a:pt x="225801" y="1148841"/>
                  </a:lnTo>
                  <a:lnTo>
                    <a:pt x="198369" y="1101852"/>
                  </a:lnTo>
                  <a:lnTo>
                    <a:pt x="172461" y="1055624"/>
                  </a:lnTo>
                  <a:lnTo>
                    <a:pt x="148077" y="1010284"/>
                  </a:lnTo>
                  <a:lnTo>
                    <a:pt x="125471" y="965962"/>
                  </a:lnTo>
                  <a:lnTo>
                    <a:pt x="104770" y="922527"/>
                  </a:lnTo>
                  <a:lnTo>
                    <a:pt x="85847" y="880237"/>
                  </a:lnTo>
                  <a:lnTo>
                    <a:pt x="68956" y="838962"/>
                  </a:lnTo>
                  <a:lnTo>
                    <a:pt x="54097" y="798702"/>
                  </a:lnTo>
                  <a:lnTo>
                    <a:pt x="41397" y="759713"/>
                  </a:lnTo>
                  <a:lnTo>
                    <a:pt x="30983" y="722121"/>
                  </a:lnTo>
                  <a:lnTo>
                    <a:pt x="19553" y="667893"/>
                  </a:lnTo>
                  <a:lnTo>
                    <a:pt x="13584" y="616712"/>
                  </a:lnTo>
                  <a:lnTo>
                    <a:pt x="12695" y="584326"/>
                  </a:lnTo>
                  <a:lnTo>
                    <a:pt x="13330" y="568706"/>
                  </a:lnTo>
                  <a:lnTo>
                    <a:pt x="18664" y="523875"/>
                  </a:lnTo>
                  <a:lnTo>
                    <a:pt x="29586" y="481964"/>
                  </a:lnTo>
                  <a:lnTo>
                    <a:pt x="45588" y="442975"/>
                  </a:lnTo>
                  <a:lnTo>
                    <a:pt x="74671" y="394588"/>
                  </a:lnTo>
                  <a:lnTo>
                    <a:pt x="111755" y="350646"/>
                  </a:lnTo>
                  <a:lnTo>
                    <a:pt x="156459" y="310388"/>
                  </a:lnTo>
                  <a:lnTo>
                    <a:pt x="208148" y="273812"/>
                  </a:lnTo>
                  <a:lnTo>
                    <a:pt x="266187" y="240410"/>
                  </a:lnTo>
                  <a:lnTo>
                    <a:pt x="329814" y="209803"/>
                  </a:lnTo>
                  <a:lnTo>
                    <a:pt x="398521" y="181863"/>
                  </a:lnTo>
                  <a:lnTo>
                    <a:pt x="434589" y="168782"/>
                  </a:lnTo>
                  <a:lnTo>
                    <a:pt x="471546" y="156082"/>
                  </a:lnTo>
                  <a:lnTo>
                    <a:pt x="509519" y="144018"/>
                  </a:lnTo>
                  <a:lnTo>
                    <a:pt x="548254" y="132333"/>
                  </a:lnTo>
                  <a:lnTo>
                    <a:pt x="628010" y="109981"/>
                  </a:lnTo>
                  <a:lnTo>
                    <a:pt x="668904" y="99440"/>
                  </a:lnTo>
                  <a:lnTo>
                    <a:pt x="752089" y="78866"/>
                  </a:lnTo>
                  <a:lnTo>
                    <a:pt x="797910" y="68061"/>
                  </a:lnTo>
                  <a:lnTo>
                    <a:pt x="795063" y="55736"/>
                  </a:lnTo>
                  <a:close/>
                </a:path>
                <a:path w="920750" h="2098040">
                  <a:moveTo>
                    <a:pt x="896558" y="52831"/>
                  </a:moveTo>
                  <a:lnTo>
                    <a:pt x="807461" y="52831"/>
                  </a:lnTo>
                  <a:lnTo>
                    <a:pt x="810255" y="65150"/>
                  </a:lnTo>
                  <a:lnTo>
                    <a:pt x="797910" y="68061"/>
                  </a:lnTo>
                  <a:lnTo>
                    <a:pt x="810763" y="123697"/>
                  </a:lnTo>
                  <a:lnTo>
                    <a:pt x="896558" y="52831"/>
                  </a:lnTo>
                  <a:close/>
                </a:path>
                <a:path w="920750" h="2098040">
                  <a:moveTo>
                    <a:pt x="807461" y="52831"/>
                  </a:moveTo>
                  <a:lnTo>
                    <a:pt x="795063" y="55736"/>
                  </a:lnTo>
                  <a:lnTo>
                    <a:pt x="797910" y="68061"/>
                  </a:lnTo>
                  <a:lnTo>
                    <a:pt x="810255" y="65150"/>
                  </a:lnTo>
                  <a:lnTo>
                    <a:pt x="807461" y="52831"/>
                  </a:lnTo>
                  <a:close/>
                </a:path>
                <a:path w="920750" h="2098040">
                  <a:moveTo>
                    <a:pt x="782188" y="0"/>
                  </a:moveTo>
                  <a:lnTo>
                    <a:pt x="795063" y="55736"/>
                  </a:lnTo>
                  <a:lnTo>
                    <a:pt x="807461" y="52831"/>
                  </a:lnTo>
                  <a:lnTo>
                    <a:pt x="896558" y="52831"/>
                  </a:lnTo>
                  <a:lnTo>
                    <a:pt x="920237" y="33274"/>
                  </a:lnTo>
                  <a:lnTo>
                    <a:pt x="782188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131566" y="5444744"/>
            <a:ext cx="59118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Composite</a:t>
            </a:r>
            <a:r>
              <a:rPr sz="20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primary</a:t>
            </a:r>
            <a:r>
              <a:rPr sz="20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key</a:t>
            </a:r>
            <a:r>
              <a:rPr sz="20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formed</a:t>
            </a:r>
            <a:r>
              <a:rPr sz="20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from</a:t>
            </a:r>
            <a:r>
              <a:rPr sz="20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two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foreign</a:t>
            </a:r>
            <a:r>
              <a:rPr sz="2000" spc="-4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keys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6624" y="5270372"/>
            <a:ext cx="79216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Example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mapping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an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associative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entity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with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identifier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38321" y="1223848"/>
            <a:ext cx="43561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a)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SHIPMENT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associative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entity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3764" y="2756916"/>
            <a:ext cx="7016496" cy="148285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4179" y="574928"/>
            <a:ext cx="8874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Example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mapping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associative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entity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with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identifier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(cont.)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38321" y="1223848"/>
            <a:ext cx="36449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b)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Three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resulting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relations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4307" y="2305811"/>
            <a:ext cx="7336535" cy="3810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39639" y="3485515"/>
            <a:ext cx="387857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Primary</a:t>
            </a:r>
            <a:r>
              <a:rPr sz="20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key</a:t>
            </a:r>
            <a:r>
              <a:rPr sz="20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differs</a:t>
            </a:r>
            <a:r>
              <a:rPr sz="2000" spc="-4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990000"/>
                </a:solidFill>
                <a:latin typeface="Times New Roman"/>
                <a:cs typeface="Times New Roman"/>
              </a:rPr>
              <a:t>from</a:t>
            </a:r>
            <a:r>
              <a:rPr sz="20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foreign</a:t>
            </a:r>
            <a:r>
              <a:rPr sz="2000" spc="-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keys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7408" y="600455"/>
            <a:ext cx="10985500" cy="1370965"/>
            <a:chOff x="597408" y="600455"/>
            <a:chExt cx="10985500" cy="1370965"/>
          </a:xfrm>
        </p:grpSpPr>
        <p:sp>
          <p:nvSpPr>
            <p:cNvPr id="3" name="object 3"/>
            <p:cNvSpPr/>
            <p:nvPr/>
          </p:nvSpPr>
          <p:spPr>
            <a:xfrm>
              <a:off x="597408" y="600455"/>
              <a:ext cx="10985500" cy="1259205"/>
            </a:xfrm>
            <a:custGeom>
              <a:avLst/>
              <a:gdLst/>
              <a:ahLst/>
              <a:cxnLst/>
              <a:rect l="l" t="t" r="r" b="b"/>
              <a:pathLst>
                <a:path w="10985500" h="1259205">
                  <a:moveTo>
                    <a:pt x="10984992" y="0"/>
                  </a:moveTo>
                  <a:lnTo>
                    <a:pt x="0" y="0"/>
                  </a:lnTo>
                  <a:lnTo>
                    <a:pt x="0" y="1258824"/>
                  </a:lnTo>
                  <a:lnTo>
                    <a:pt x="10984992" y="1258824"/>
                  </a:lnTo>
                  <a:lnTo>
                    <a:pt x="10984992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652" y="1184147"/>
              <a:ext cx="9903714" cy="78714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97408" y="1272921"/>
            <a:ext cx="10985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733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Gill Sans MT"/>
                <a:cs typeface="Gill Sans MT"/>
              </a:rPr>
              <a:t>TRANSFORMING</a:t>
            </a:r>
            <a:r>
              <a:rPr sz="2800" spc="1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Gill Sans MT"/>
                <a:cs typeface="Gill Sans MT"/>
              </a:rPr>
              <a:t>EER</a:t>
            </a:r>
            <a:r>
              <a:rPr sz="280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Gill Sans MT"/>
                <a:cs typeface="Gill Sans MT"/>
              </a:rPr>
              <a:t>DIAGRAMS</a:t>
            </a:r>
            <a:r>
              <a:rPr sz="2800" spc="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Gill Sans MT"/>
                <a:cs typeface="Gill Sans MT"/>
              </a:rPr>
              <a:t>INTO</a:t>
            </a:r>
            <a:r>
              <a:rPr sz="280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Gill Sans MT"/>
                <a:cs typeface="Gill Sans MT"/>
              </a:rPr>
              <a:t>RELATIONS</a:t>
            </a:r>
            <a:r>
              <a:rPr sz="2800" spc="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2800" spc="-60" dirty="0">
                <a:solidFill>
                  <a:srgbClr val="FFFFFF"/>
                </a:solidFill>
                <a:latin typeface="Gill Sans MT"/>
                <a:cs typeface="Gill Sans MT"/>
              </a:rPr>
              <a:t>(CONT.)</a:t>
            </a:r>
            <a:endParaRPr sz="2800">
              <a:latin typeface="Gill Sans MT"/>
              <a:cs typeface="Gill Sans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2003" y="2724705"/>
            <a:ext cx="5336683" cy="44771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Mapping</a:t>
            </a:r>
            <a:r>
              <a:rPr spc="-30" dirty="0"/>
              <a:t> </a:t>
            </a:r>
            <a:r>
              <a:rPr spc="20" dirty="0"/>
              <a:t>Unary</a:t>
            </a:r>
            <a:r>
              <a:rPr spc="-25" dirty="0"/>
              <a:t> </a:t>
            </a:r>
            <a:r>
              <a:rPr dirty="0"/>
              <a:t>Relationships</a:t>
            </a: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7127" y="3367816"/>
            <a:ext cx="85879" cy="8668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7127" y="3736624"/>
            <a:ext cx="85879" cy="8668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315211" y="3204972"/>
            <a:ext cx="10107930" cy="2529205"/>
            <a:chOff x="1315211" y="3204972"/>
            <a:chExt cx="10107930" cy="252920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3698" y="3327798"/>
              <a:ext cx="364453" cy="1592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32787" y="3204972"/>
              <a:ext cx="337553" cy="45491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98319" y="3204972"/>
              <a:ext cx="450342" cy="45491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76627" y="3204972"/>
              <a:ext cx="337553" cy="45491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42159" y="3204972"/>
              <a:ext cx="703326" cy="45491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73451" y="3204972"/>
              <a:ext cx="374129" cy="45491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75559" y="3204972"/>
              <a:ext cx="3714750" cy="45491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67027" y="3573780"/>
              <a:ext cx="703326" cy="45491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98319" y="3573780"/>
              <a:ext cx="337553" cy="45491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63851" y="3573780"/>
              <a:ext cx="450342" cy="45491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42159" y="3573780"/>
              <a:ext cx="337553" cy="45491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07691" y="3573780"/>
              <a:ext cx="703326" cy="45491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38983" y="3573780"/>
              <a:ext cx="374129" cy="45491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41091" y="3573780"/>
              <a:ext cx="1430274" cy="45491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15211" y="4018788"/>
              <a:ext cx="566165" cy="64236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43811" y="3931920"/>
              <a:ext cx="3833622" cy="78714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15211" y="4607052"/>
              <a:ext cx="566165" cy="64236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43811" y="4520183"/>
              <a:ext cx="9879330" cy="78714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3811" y="4946904"/>
              <a:ext cx="8577834" cy="787145"/>
            </a:xfrm>
            <a:prstGeom prst="rect">
              <a:avLst/>
            </a:prstGeom>
          </p:spPr>
        </p:pic>
      </p:grpSp>
      <p:sp>
        <p:nvSpPr>
          <p:cNvPr id="30" name="object 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085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pc="-10" dirty="0"/>
              <a:t>One-to-Many–Recursive</a:t>
            </a:r>
            <a:r>
              <a:rPr spc="30" dirty="0"/>
              <a:t> </a:t>
            </a:r>
            <a:r>
              <a:rPr spc="-15" dirty="0"/>
              <a:t>foreign</a:t>
            </a:r>
            <a:r>
              <a:rPr spc="40" dirty="0"/>
              <a:t> </a:t>
            </a:r>
            <a:r>
              <a:rPr spc="-25" dirty="0"/>
              <a:t>key</a:t>
            </a:r>
            <a:r>
              <a:rPr spc="5" dirty="0"/>
              <a:t> </a:t>
            </a:r>
            <a:r>
              <a:rPr spc="-5" dirty="0"/>
              <a:t>in</a:t>
            </a:r>
            <a:r>
              <a:rPr spc="5" dirty="0"/>
              <a:t> </a:t>
            </a:r>
            <a:r>
              <a:rPr spc="-5" dirty="0"/>
              <a:t>the</a:t>
            </a:r>
            <a:r>
              <a:rPr spc="10" dirty="0"/>
              <a:t> </a:t>
            </a:r>
            <a:r>
              <a:rPr spc="-5" dirty="0"/>
              <a:t>same</a:t>
            </a:r>
            <a:r>
              <a:rPr spc="20" dirty="0"/>
              <a:t> </a:t>
            </a:r>
            <a:r>
              <a:rPr spc="-10" dirty="0"/>
              <a:t>relation</a:t>
            </a:r>
          </a:p>
          <a:p>
            <a:pPr marL="317500" indent="-304800">
              <a:lnSpc>
                <a:spcPct val="100000"/>
              </a:lnSpc>
              <a:spcBef>
                <a:spcPts val="980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pc="-25" dirty="0"/>
              <a:t>Many-to-Many–Two</a:t>
            </a:r>
            <a:r>
              <a:rPr spc="5" dirty="0"/>
              <a:t> </a:t>
            </a:r>
            <a:r>
              <a:rPr spc="-10" dirty="0"/>
              <a:t>relations:</a:t>
            </a:r>
          </a:p>
          <a:p>
            <a:pPr marL="586740" lvl="1" indent="-269875">
              <a:lnSpc>
                <a:spcPct val="100000"/>
              </a:lnSpc>
              <a:spcBef>
                <a:spcPts val="1230"/>
              </a:spcBef>
              <a:buClr>
                <a:srgbClr val="4590B8"/>
              </a:buClr>
              <a:buSzPct val="91071"/>
              <a:buFont typeface="Wingdings 2"/>
              <a:buChar char=""/>
              <a:tabLst>
                <a:tab pos="587375" algn="l"/>
              </a:tabLst>
            </a:pPr>
            <a:r>
              <a:rPr sz="2800" spc="-5" dirty="0">
                <a:latin typeface="Gill Sans MT"/>
                <a:cs typeface="Gill Sans MT"/>
              </a:rPr>
              <a:t>One</a:t>
            </a:r>
            <a:r>
              <a:rPr sz="2800" spc="-30" dirty="0">
                <a:latin typeface="Gill Sans MT"/>
                <a:cs typeface="Gill Sans MT"/>
              </a:rPr>
              <a:t> </a:t>
            </a:r>
            <a:r>
              <a:rPr sz="2800" spc="-15" dirty="0">
                <a:latin typeface="Gill Sans MT"/>
                <a:cs typeface="Gill Sans MT"/>
              </a:rPr>
              <a:t>for</a:t>
            </a:r>
            <a:r>
              <a:rPr sz="280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the</a:t>
            </a:r>
            <a:r>
              <a:rPr sz="2800" spc="-1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entity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type</a:t>
            </a:r>
            <a:endParaRPr sz="2800">
              <a:latin typeface="Gill Sans MT"/>
              <a:cs typeface="Gill Sans MT"/>
            </a:endParaRPr>
          </a:p>
          <a:p>
            <a:pPr marL="586740" marR="5080" lvl="1" indent="-269875">
              <a:lnSpc>
                <a:spcPct val="100000"/>
              </a:lnSpc>
              <a:spcBef>
                <a:spcPts val="1270"/>
              </a:spcBef>
              <a:buClr>
                <a:srgbClr val="4590B8"/>
              </a:buClr>
              <a:buSzPct val="91071"/>
              <a:buFont typeface="Wingdings 2"/>
              <a:buChar char=""/>
              <a:tabLst>
                <a:tab pos="587375" algn="l"/>
              </a:tabLst>
            </a:pPr>
            <a:r>
              <a:rPr sz="2800" spc="-5" dirty="0">
                <a:latin typeface="Gill Sans MT"/>
                <a:cs typeface="Gill Sans MT"/>
              </a:rPr>
              <a:t>One</a:t>
            </a:r>
            <a:r>
              <a:rPr sz="2800" spc="-20" dirty="0">
                <a:latin typeface="Gill Sans MT"/>
                <a:cs typeface="Gill Sans MT"/>
              </a:rPr>
              <a:t> </a:t>
            </a:r>
            <a:r>
              <a:rPr sz="2800" spc="-15" dirty="0">
                <a:latin typeface="Gill Sans MT"/>
                <a:cs typeface="Gill Sans MT"/>
              </a:rPr>
              <a:t>for</a:t>
            </a:r>
            <a:r>
              <a:rPr sz="2800" spc="1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an</a:t>
            </a:r>
            <a:r>
              <a:rPr sz="2800" spc="5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associative</a:t>
            </a:r>
            <a:r>
              <a:rPr sz="2800" spc="15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relation</a:t>
            </a:r>
            <a:r>
              <a:rPr sz="2800" spc="2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in</a:t>
            </a:r>
            <a:r>
              <a:rPr sz="280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which</a:t>
            </a:r>
            <a:r>
              <a:rPr sz="2800" spc="-2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the</a:t>
            </a:r>
            <a:r>
              <a:rPr sz="2800" dirty="0">
                <a:latin typeface="Gill Sans MT"/>
                <a:cs typeface="Gill Sans MT"/>
              </a:rPr>
              <a:t> </a:t>
            </a:r>
            <a:r>
              <a:rPr sz="2800" spc="5" dirty="0">
                <a:latin typeface="Gill Sans MT"/>
                <a:cs typeface="Gill Sans MT"/>
              </a:rPr>
              <a:t>primary</a:t>
            </a:r>
            <a:r>
              <a:rPr sz="2800" spc="20" dirty="0">
                <a:latin typeface="Gill Sans MT"/>
                <a:cs typeface="Gill Sans MT"/>
              </a:rPr>
              <a:t> </a:t>
            </a:r>
            <a:r>
              <a:rPr sz="2800" spc="-45" dirty="0">
                <a:latin typeface="Gill Sans MT"/>
                <a:cs typeface="Gill Sans MT"/>
              </a:rPr>
              <a:t>key</a:t>
            </a:r>
            <a:r>
              <a:rPr sz="2800" spc="-1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has</a:t>
            </a:r>
            <a:r>
              <a:rPr sz="2800" dirty="0">
                <a:latin typeface="Gill Sans MT"/>
                <a:cs typeface="Gill Sans MT"/>
              </a:rPr>
              <a:t> </a:t>
            </a:r>
            <a:r>
              <a:rPr sz="2800" spc="-20" dirty="0">
                <a:latin typeface="Gill Sans MT"/>
                <a:cs typeface="Gill Sans MT"/>
              </a:rPr>
              <a:t>two </a:t>
            </a:r>
            <a:r>
              <a:rPr sz="2800" spc="-76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attributes,</a:t>
            </a:r>
            <a:r>
              <a:rPr sz="2800" spc="-27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both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spc="-20" dirty="0">
                <a:latin typeface="Gill Sans MT"/>
                <a:cs typeface="Gill Sans MT"/>
              </a:rPr>
              <a:t>taken</a:t>
            </a:r>
            <a:r>
              <a:rPr sz="2800" dirty="0">
                <a:latin typeface="Gill Sans MT"/>
                <a:cs typeface="Gill Sans MT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from</a:t>
            </a:r>
            <a:r>
              <a:rPr sz="2800" spc="2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the</a:t>
            </a:r>
            <a:r>
              <a:rPr sz="2800" spc="-15" dirty="0">
                <a:latin typeface="Gill Sans MT"/>
                <a:cs typeface="Gill Sans MT"/>
              </a:rPr>
              <a:t> </a:t>
            </a:r>
            <a:r>
              <a:rPr sz="2800" spc="5" dirty="0">
                <a:latin typeface="Gill Sans MT"/>
                <a:cs typeface="Gill Sans MT"/>
              </a:rPr>
              <a:t>primary</a:t>
            </a:r>
            <a:r>
              <a:rPr sz="2800" spc="20" dirty="0">
                <a:latin typeface="Gill Sans MT"/>
                <a:cs typeface="Gill Sans MT"/>
              </a:rPr>
              <a:t> </a:t>
            </a:r>
            <a:r>
              <a:rPr sz="2800" spc="-45" dirty="0">
                <a:latin typeface="Gill Sans MT"/>
                <a:cs typeface="Gill Sans MT"/>
              </a:rPr>
              <a:t>key</a:t>
            </a:r>
            <a:r>
              <a:rPr sz="2800" spc="-1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of</a:t>
            </a:r>
            <a:r>
              <a:rPr sz="2800" spc="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the entity</a:t>
            </a:r>
            <a:endParaRPr sz="2800">
              <a:latin typeface="Gill Sans MT"/>
              <a:cs typeface="Gill Sans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037826" y="6062436"/>
            <a:ext cx="141605" cy="1581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41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3344" y="4373879"/>
            <a:ext cx="6438900" cy="13761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86100" y="1306067"/>
            <a:ext cx="6005865" cy="199562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36698" y="25400"/>
            <a:ext cx="4499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Mapping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unary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1:N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relationship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3142869" y="2813685"/>
            <a:ext cx="202755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990000"/>
                </a:solidFill>
                <a:latin typeface="Times New Roman"/>
                <a:cs typeface="Times New Roman"/>
              </a:rPr>
              <a:t>(a)</a:t>
            </a:r>
            <a:r>
              <a:rPr sz="1400" spc="-4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990000"/>
                </a:solidFill>
                <a:latin typeface="Times New Roman"/>
                <a:cs typeface="Times New Roman"/>
              </a:rPr>
              <a:t>EMPLOYEE</a:t>
            </a:r>
            <a:r>
              <a:rPr sz="14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990000"/>
                </a:solidFill>
                <a:latin typeface="Times New Roman"/>
                <a:cs typeface="Times New Roman"/>
              </a:rPr>
              <a:t>entity</a:t>
            </a:r>
            <a:r>
              <a:rPr sz="1400" spc="-5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990000"/>
                </a:solidFill>
                <a:latin typeface="Times New Roman"/>
                <a:cs typeface="Times New Roman"/>
              </a:rPr>
              <a:t>with </a:t>
            </a:r>
            <a:r>
              <a:rPr sz="1400" spc="-3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990000"/>
                </a:solidFill>
                <a:latin typeface="Times New Roman"/>
                <a:cs typeface="Times New Roman"/>
              </a:rPr>
              <a:t>unary</a:t>
            </a:r>
            <a:r>
              <a:rPr sz="14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990000"/>
                </a:solidFill>
                <a:latin typeface="Times New Roman"/>
                <a:cs typeface="Times New Roman"/>
              </a:rPr>
              <a:t>relationship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20544" y="4828413"/>
            <a:ext cx="1238250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990000"/>
                </a:solidFill>
                <a:latin typeface="Times New Roman"/>
                <a:cs typeface="Times New Roman"/>
              </a:rPr>
              <a:t>(b) </a:t>
            </a:r>
            <a:r>
              <a:rPr sz="1400" spc="-5" dirty="0">
                <a:solidFill>
                  <a:srgbClr val="990000"/>
                </a:solidFill>
                <a:latin typeface="Times New Roman"/>
                <a:cs typeface="Times New Roman"/>
              </a:rPr>
              <a:t>EMPLOYEE </a:t>
            </a:r>
            <a:r>
              <a:rPr sz="1400" spc="-3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990000"/>
                </a:solidFill>
                <a:latin typeface="Times New Roman"/>
                <a:cs typeface="Times New Roman"/>
              </a:rPr>
              <a:t>relation with </a:t>
            </a:r>
            <a:r>
              <a:rPr sz="14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990000"/>
                </a:solidFill>
                <a:latin typeface="Times New Roman"/>
                <a:cs typeface="Times New Roman"/>
              </a:rPr>
              <a:t>rec</a:t>
            </a:r>
            <a:r>
              <a:rPr sz="1400" spc="5" dirty="0">
                <a:solidFill>
                  <a:srgbClr val="990000"/>
                </a:solidFill>
                <a:latin typeface="Times New Roman"/>
                <a:cs typeface="Times New Roman"/>
              </a:rPr>
              <a:t>u</a:t>
            </a:r>
            <a:r>
              <a:rPr sz="1400" dirty="0">
                <a:solidFill>
                  <a:srgbClr val="990000"/>
                </a:solidFill>
                <a:latin typeface="Times New Roman"/>
                <a:cs typeface="Times New Roman"/>
              </a:rPr>
              <a:t>rsive</a:t>
            </a:r>
            <a:r>
              <a:rPr sz="1400" spc="-4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990000"/>
                </a:solidFill>
                <a:latin typeface="Times New Roman"/>
                <a:cs typeface="Times New Roman"/>
              </a:rPr>
              <a:t>f</a:t>
            </a:r>
            <a:r>
              <a:rPr sz="1400" spc="5" dirty="0">
                <a:solidFill>
                  <a:srgbClr val="990000"/>
                </a:solidFill>
                <a:latin typeface="Times New Roman"/>
                <a:cs typeface="Times New Roman"/>
              </a:rPr>
              <a:t>o</a:t>
            </a:r>
            <a:r>
              <a:rPr sz="1400" dirty="0">
                <a:solidFill>
                  <a:srgbClr val="990000"/>
                </a:solidFill>
                <a:latin typeface="Times New Roman"/>
                <a:cs typeface="Times New Roman"/>
              </a:rPr>
              <a:t>re</a:t>
            </a:r>
            <a:r>
              <a:rPr sz="1400" spc="5" dirty="0">
                <a:solidFill>
                  <a:srgbClr val="990000"/>
                </a:solidFill>
                <a:latin typeface="Times New Roman"/>
                <a:cs typeface="Times New Roman"/>
              </a:rPr>
              <a:t>i</a:t>
            </a:r>
            <a:r>
              <a:rPr sz="1400" dirty="0">
                <a:solidFill>
                  <a:srgbClr val="990000"/>
                </a:solidFill>
                <a:latin typeface="Times New Roman"/>
                <a:cs typeface="Times New Roman"/>
              </a:rPr>
              <a:t>gn  key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1764" y="25400"/>
            <a:ext cx="458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Mapping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unary</a:t>
            </a:r>
            <a:r>
              <a:rPr sz="2400" dirty="0">
                <a:latin typeface="Arial"/>
                <a:cs typeface="Arial"/>
              </a:rPr>
              <a:t> M:N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relationship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32854" y="1181481"/>
            <a:ext cx="206184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(a)</a:t>
            </a:r>
            <a:r>
              <a:rPr sz="2000" spc="-5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Bill-of-materials </a:t>
            </a:r>
            <a:r>
              <a:rPr sz="2000" spc="-484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relationships</a:t>
            </a:r>
            <a:r>
              <a:rPr sz="2000" spc="-1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(M:N)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60573" y="4258817"/>
            <a:ext cx="16097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(b) ITEM and </a:t>
            </a:r>
            <a:r>
              <a:rPr sz="20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COMPONENT  relations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7964" y="829055"/>
            <a:ext cx="4709160" cy="272203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2352" y="3706367"/>
            <a:ext cx="4789932" cy="255879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43</a:t>
            </a:fld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7408" y="600455"/>
            <a:ext cx="10985500" cy="1369695"/>
            <a:chOff x="597408" y="600455"/>
            <a:chExt cx="10985500" cy="1369695"/>
          </a:xfrm>
        </p:grpSpPr>
        <p:sp>
          <p:nvSpPr>
            <p:cNvPr id="3" name="object 3"/>
            <p:cNvSpPr/>
            <p:nvPr/>
          </p:nvSpPr>
          <p:spPr>
            <a:xfrm>
              <a:off x="597408" y="600455"/>
              <a:ext cx="10985500" cy="1259205"/>
            </a:xfrm>
            <a:custGeom>
              <a:avLst/>
              <a:gdLst/>
              <a:ahLst/>
              <a:cxnLst/>
              <a:rect l="l" t="t" r="r" b="b"/>
              <a:pathLst>
                <a:path w="10985500" h="1259205">
                  <a:moveTo>
                    <a:pt x="10984992" y="0"/>
                  </a:moveTo>
                  <a:lnTo>
                    <a:pt x="0" y="0"/>
                  </a:lnTo>
                  <a:lnTo>
                    <a:pt x="0" y="1258824"/>
                  </a:lnTo>
                  <a:lnTo>
                    <a:pt x="10984992" y="1258824"/>
                  </a:lnTo>
                  <a:lnTo>
                    <a:pt x="10984992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652" y="1182623"/>
              <a:ext cx="9903714" cy="78714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97408" y="1271092"/>
            <a:ext cx="10985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Gill Sans MT"/>
                <a:cs typeface="Gill Sans MT"/>
              </a:rPr>
              <a:t>TRANSFORMING</a:t>
            </a:r>
            <a:r>
              <a:rPr sz="2800" dirty="0">
                <a:solidFill>
                  <a:srgbClr val="FFFFFF"/>
                </a:solidFill>
                <a:latin typeface="Gill Sans MT"/>
                <a:cs typeface="Gill Sans MT"/>
              </a:rPr>
              <a:t> EER </a:t>
            </a:r>
            <a:r>
              <a:rPr sz="2800" spc="-20" dirty="0">
                <a:solidFill>
                  <a:srgbClr val="FFFFFF"/>
                </a:solidFill>
                <a:latin typeface="Gill Sans MT"/>
                <a:cs typeface="Gill Sans MT"/>
              </a:rPr>
              <a:t>DIAGRAMS</a:t>
            </a:r>
            <a:r>
              <a:rPr sz="2800" spc="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Gill Sans MT"/>
                <a:cs typeface="Gill Sans MT"/>
              </a:rPr>
              <a:t>INTO</a:t>
            </a:r>
            <a:r>
              <a:rPr sz="2800" spc="-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Gill Sans MT"/>
                <a:cs typeface="Gill Sans MT"/>
              </a:rPr>
              <a:t>RELATIONS</a:t>
            </a:r>
            <a:r>
              <a:rPr sz="280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2800" spc="-60" dirty="0">
                <a:solidFill>
                  <a:srgbClr val="FFFFFF"/>
                </a:solidFill>
                <a:latin typeface="Gill Sans MT"/>
                <a:cs typeface="Gill Sans MT"/>
              </a:rPr>
              <a:t>(CONT.)</a:t>
            </a:r>
            <a:endParaRPr sz="2800">
              <a:latin typeface="Gill Sans MT"/>
              <a:cs typeface="Gill Sans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51687" y="1891283"/>
            <a:ext cx="9283700" cy="1119505"/>
            <a:chOff x="551687" y="1891283"/>
            <a:chExt cx="9283700" cy="111950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687" y="1891283"/>
              <a:ext cx="5456682" cy="111937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46191" y="1891283"/>
              <a:ext cx="826769" cy="11193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10784" y="1891283"/>
              <a:ext cx="4324350" cy="1119377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53846" y="2020646"/>
            <a:ext cx="8645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Mapping</a:t>
            </a:r>
            <a:r>
              <a:rPr sz="4000" spc="-490" dirty="0"/>
              <a:t> </a:t>
            </a:r>
            <a:r>
              <a:rPr sz="4000" spc="-70" dirty="0"/>
              <a:t>Ternary</a:t>
            </a:r>
            <a:r>
              <a:rPr sz="4000" dirty="0"/>
              <a:t> </a:t>
            </a:r>
            <a:r>
              <a:rPr sz="4000" spc="-5" dirty="0"/>
              <a:t>(and </a:t>
            </a:r>
            <a:r>
              <a:rPr sz="4000" spc="20" dirty="0"/>
              <a:t>n-ary)</a:t>
            </a:r>
            <a:r>
              <a:rPr sz="4000" spc="-20" dirty="0"/>
              <a:t> </a:t>
            </a:r>
            <a:r>
              <a:rPr sz="4000" spc="-5" dirty="0"/>
              <a:t>Relationships</a:t>
            </a:r>
            <a:endParaRPr sz="4000"/>
          </a:p>
        </p:txBody>
      </p:sp>
      <p:grpSp>
        <p:nvGrpSpPr>
          <p:cNvPr id="11" name="object 11"/>
          <p:cNvGrpSpPr/>
          <p:nvPr/>
        </p:nvGrpSpPr>
        <p:grpSpPr>
          <a:xfrm>
            <a:off x="960119" y="2699004"/>
            <a:ext cx="10412730" cy="2841625"/>
            <a:chOff x="960119" y="2699004"/>
            <a:chExt cx="10412730" cy="284162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0119" y="2810256"/>
              <a:ext cx="726186" cy="8252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1579" y="2699004"/>
              <a:ext cx="8923782" cy="10096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11579" y="3247644"/>
              <a:ext cx="3736086" cy="10096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0119" y="4093464"/>
              <a:ext cx="726186" cy="82524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1579" y="3982212"/>
              <a:ext cx="10161270" cy="10096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11579" y="4530852"/>
              <a:ext cx="3480054" cy="100965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178458" y="2816733"/>
            <a:ext cx="9766300" cy="2406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1241425" indent="-304800">
              <a:lnSpc>
                <a:spcPct val="100000"/>
              </a:lnSpc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</a:tabLst>
            </a:pPr>
            <a:r>
              <a:rPr sz="3600" spc="-5" dirty="0">
                <a:latin typeface="Gill Sans MT"/>
                <a:cs typeface="Gill Sans MT"/>
              </a:rPr>
              <a:t>One </a:t>
            </a:r>
            <a:r>
              <a:rPr sz="3600" spc="-10" dirty="0">
                <a:latin typeface="Gill Sans MT"/>
                <a:cs typeface="Gill Sans MT"/>
              </a:rPr>
              <a:t>relation </a:t>
            </a:r>
            <a:r>
              <a:rPr sz="3600" spc="-15" dirty="0">
                <a:latin typeface="Gill Sans MT"/>
                <a:cs typeface="Gill Sans MT"/>
              </a:rPr>
              <a:t>for </a:t>
            </a:r>
            <a:r>
              <a:rPr sz="3600" dirty="0">
                <a:latin typeface="Gill Sans MT"/>
                <a:cs typeface="Gill Sans MT"/>
              </a:rPr>
              <a:t>each entity and one </a:t>
            </a:r>
            <a:r>
              <a:rPr sz="3600" spc="-15" dirty="0">
                <a:latin typeface="Gill Sans MT"/>
                <a:cs typeface="Gill Sans MT"/>
              </a:rPr>
              <a:t>for </a:t>
            </a:r>
            <a:r>
              <a:rPr sz="3600" spc="-5" dirty="0">
                <a:latin typeface="Gill Sans MT"/>
                <a:cs typeface="Gill Sans MT"/>
              </a:rPr>
              <a:t>the </a:t>
            </a:r>
            <a:r>
              <a:rPr sz="3600" spc="-990" dirty="0">
                <a:latin typeface="Gill Sans MT"/>
                <a:cs typeface="Gill Sans MT"/>
              </a:rPr>
              <a:t> </a:t>
            </a:r>
            <a:r>
              <a:rPr sz="3600" spc="-10" dirty="0">
                <a:latin typeface="Gill Sans MT"/>
                <a:cs typeface="Gill Sans MT"/>
              </a:rPr>
              <a:t>associative</a:t>
            </a:r>
            <a:r>
              <a:rPr sz="3600" spc="-5" dirty="0">
                <a:latin typeface="Gill Sans MT"/>
                <a:cs typeface="Gill Sans MT"/>
              </a:rPr>
              <a:t> </a:t>
            </a:r>
            <a:r>
              <a:rPr sz="3600" dirty="0">
                <a:latin typeface="Gill Sans MT"/>
                <a:cs typeface="Gill Sans MT"/>
              </a:rPr>
              <a:t>entity</a:t>
            </a:r>
            <a:endParaRPr sz="3600">
              <a:latin typeface="Gill Sans MT"/>
              <a:cs typeface="Gill Sans MT"/>
            </a:endParaRPr>
          </a:p>
          <a:p>
            <a:pPr marL="316865" marR="5080" indent="-304800">
              <a:lnSpc>
                <a:spcPct val="100000"/>
              </a:lnSpc>
              <a:spcBef>
                <a:spcPts val="146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</a:tabLst>
            </a:pPr>
            <a:r>
              <a:rPr sz="3600" spc="-10" dirty="0">
                <a:latin typeface="Gill Sans MT"/>
                <a:cs typeface="Gill Sans MT"/>
              </a:rPr>
              <a:t>Associative</a:t>
            </a:r>
            <a:r>
              <a:rPr sz="3600" spc="-5" dirty="0">
                <a:latin typeface="Gill Sans MT"/>
                <a:cs typeface="Gill Sans MT"/>
              </a:rPr>
              <a:t> </a:t>
            </a:r>
            <a:r>
              <a:rPr sz="3600" dirty="0">
                <a:latin typeface="Gill Sans MT"/>
                <a:cs typeface="Gill Sans MT"/>
              </a:rPr>
              <a:t>entity</a:t>
            </a:r>
            <a:r>
              <a:rPr sz="3600" spc="-5" dirty="0">
                <a:latin typeface="Gill Sans MT"/>
                <a:cs typeface="Gill Sans MT"/>
              </a:rPr>
              <a:t> </a:t>
            </a:r>
            <a:r>
              <a:rPr sz="3600" dirty="0">
                <a:latin typeface="Gill Sans MT"/>
                <a:cs typeface="Gill Sans MT"/>
              </a:rPr>
              <a:t>has</a:t>
            </a:r>
            <a:r>
              <a:rPr sz="3600" spc="-10" dirty="0">
                <a:latin typeface="Gill Sans MT"/>
                <a:cs typeface="Gill Sans MT"/>
              </a:rPr>
              <a:t> </a:t>
            </a:r>
            <a:r>
              <a:rPr sz="3600" spc="-15" dirty="0">
                <a:latin typeface="Gill Sans MT"/>
                <a:cs typeface="Gill Sans MT"/>
              </a:rPr>
              <a:t>foreign</a:t>
            </a:r>
            <a:r>
              <a:rPr sz="3600" spc="-20" dirty="0">
                <a:latin typeface="Gill Sans MT"/>
                <a:cs typeface="Gill Sans MT"/>
              </a:rPr>
              <a:t> </a:t>
            </a:r>
            <a:r>
              <a:rPr sz="3600" spc="-45" dirty="0">
                <a:latin typeface="Gill Sans MT"/>
                <a:cs typeface="Gill Sans MT"/>
              </a:rPr>
              <a:t>keys</a:t>
            </a:r>
            <a:r>
              <a:rPr sz="3600" spc="-5" dirty="0">
                <a:latin typeface="Gill Sans MT"/>
                <a:cs typeface="Gill Sans MT"/>
              </a:rPr>
              <a:t> to</a:t>
            </a:r>
            <a:r>
              <a:rPr sz="3600" spc="-10" dirty="0">
                <a:latin typeface="Gill Sans MT"/>
                <a:cs typeface="Gill Sans MT"/>
              </a:rPr>
              <a:t> </a:t>
            </a:r>
            <a:r>
              <a:rPr sz="3600" dirty="0">
                <a:latin typeface="Gill Sans MT"/>
                <a:cs typeface="Gill Sans MT"/>
              </a:rPr>
              <a:t>each</a:t>
            </a:r>
            <a:r>
              <a:rPr sz="3600" spc="-5" dirty="0">
                <a:latin typeface="Gill Sans MT"/>
                <a:cs typeface="Gill Sans MT"/>
              </a:rPr>
              <a:t> </a:t>
            </a:r>
            <a:r>
              <a:rPr sz="3600" dirty="0">
                <a:latin typeface="Gill Sans MT"/>
                <a:cs typeface="Gill Sans MT"/>
              </a:rPr>
              <a:t>entity</a:t>
            </a:r>
            <a:r>
              <a:rPr sz="3600" spc="-5" dirty="0">
                <a:latin typeface="Gill Sans MT"/>
                <a:cs typeface="Gill Sans MT"/>
              </a:rPr>
              <a:t> in </a:t>
            </a:r>
            <a:r>
              <a:rPr sz="3600" spc="-985" dirty="0">
                <a:latin typeface="Gill Sans MT"/>
                <a:cs typeface="Gill Sans MT"/>
              </a:rPr>
              <a:t> </a:t>
            </a:r>
            <a:r>
              <a:rPr sz="3600" spc="-5" dirty="0">
                <a:latin typeface="Gill Sans MT"/>
                <a:cs typeface="Gill Sans MT"/>
              </a:rPr>
              <a:t>the </a:t>
            </a:r>
            <a:r>
              <a:rPr sz="3600" spc="-10" dirty="0">
                <a:latin typeface="Gill Sans MT"/>
                <a:cs typeface="Gill Sans MT"/>
              </a:rPr>
              <a:t>relationship</a:t>
            </a:r>
            <a:endParaRPr sz="3600">
              <a:latin typeface="Gill Sans MT"/>
              <a:cs typeface="Gill Sans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037826" y="6062436"/>
            <a:ext cx="141605" cy="1581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44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5995" y="25400"/>
            <a:ext cx="4125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Mapping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ternary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relationship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2495" y="695705"/>
            <a:ext cx="68948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a) </a:t>
            </a:r>
            <a:r>
              <a:rPr sz="2400" spc="-55" dirty="0">
                <a:latin typeface="Arial"/>
                <a:cs typeface="Arial"/>
              </a:rPr>
              <a:t>PATIENT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TREATMENT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Ternary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relationship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with </a:t>
            </a:r>
            <a:r>
              <a:rPr sz="2400" spc="-6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associative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entity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1823" y="1798319"/>
            <a:ext cx="7680959" cy="41263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208511" y="6062436"/>
            <a:ext cx="141605" cy="1581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45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08511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46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28520" y="1012647"/>
            <a:ext cx="7975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b)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Mapping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 ternary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relationship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PATIENT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TREATMENT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1314" y="4650740"/>
            <a:ext cx="1258570" cy="155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Remember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that the </a:t>
            </a:r>
            <a:r>
              <a:rPr sz="20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primary</a:t>
            </a:r>
            <a:r>
              <a:rPr sz="2000" spc="-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key </a:t>
            </a:r>
            <a:r>
              <a:rPr sz="2000" spc="-484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MUST be </a:t>
            </a:r>
            <a:r>
              <a:rPr sz="20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unique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17647" y="25400"/>
            <a:ext cx="6723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Figure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5-19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Mapping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ternary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relationship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(cont.)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1135" y="1868423"/>
            <a:ext cx="8016240" cy="266865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645153" y="4701666"/>
            <a:ext cx="1534795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This is why </a:t>
            </a:r>
            <a:r>
              <a:rPr sz="20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treatment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date </a:t>
            </a:r>
            <a:r>
              <a:rPr sz="2000" spc="-484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and 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time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are </a:t>
            </a:r>
            <a:r>
              <a:rPr sz="20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included</a:t>
            </a:r>
            <a:r>
              <a:rPr sz="2000" spc="-6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in</a:t>
            </a:r>
            <a:r>
              <a:rPr sz="2000" spc="-5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the </a:t>
            </a:r>
            <a:r>
              <a:rPr sz="2000" spc="-484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composite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primary</a:t>
            </a:r>
            <a:r>
              <a:rPr sz="20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key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25515" y="4649215"/>
            <a:ext cx="170878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But</a:t>
            </a:r>
            <a:r>
              <a:rPr sz="2000" spc="-4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this</a:t>
            </a:r>
            <a:r>
              <a:rPr sz="2000" spc="-4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makes</a:t>
            </a:r>
            <a:r>
              <a:rPr sz="2000" spc="-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a </a:t>
            </a:r>
            <a:r>
              <a:rPr sz="2000" spc="-484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very awkward </a:t>
            </a:r>
            <a:r>
              <a:rPr sz="20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key…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59673" y="4613859"/>
            <a:ext cx="170688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It would be </a:t>
            </a:r>
            <a:r>
              <a:rPr sz="20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better</a:t>
            </a:r>
            <a:r>
              <a:rPr sz="2000" spc="-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to</a:t>
            </a:r>
            <a:r>
              <a:rPr sz="20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create</a:t>
            </a:r>
            <a:r>
              <a:rPr sz="2000" spc="-5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a </a:t>
            </a:r>
            <a:r>
              <a:rPr sz="2000" spc="-484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surrogate key </a:t>
            </a:r>
            <a:r>
              <a:rPr sz="20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like</a:t>
            </a:r>
            <a:r>
              <a:rPr sz="2000" spc="-7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Treatment#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7408" y="600455"/>
            <a:ext cx="10985500" cy="1336040"/>
            <a:chOff x="597408" y="600455"/>
            <a:chExt cx="10985500" cy="1336040"/>
          </a:xfrm>
        </p:grpSpPr>
        <p:sp>
          <p:nvSpPr>
            <p:cNvPr id="3" name="object 3"/>
            <p:cNvSpPr/>
            <p:nvPr/>
          </p:nvSpPr>
          <p:spPr>
            <a:xfrm>
              <a:off x="597408" y="600455"/>
              <a:ext cx="10985500" cy="1259205"/>
            </a:xfrm>
            <a:custGeom>
              <a:avLst/>
              <a:gdLst/>
              <a:ahLst/>
              <a:cxnLst/>
              <a:rect l="l" t="t" r="r" b="b"/>
              <a:pathLst>
                <a:path w="10985500" h="1259205">
                  <a:moveTo>
                    <a:pt x="10984992" y="0"/>
                  </a:moveTo>
                  <a:lnTo>
                    <a:pt x="0" y="0"/>
                  </a:lnTo>
                  <a:lnTo>
                    <a:pt x="0" y="1258824"/>
                  </a:lnTo>
                  <a:lnTo>
                    <a:pt x="10984992" y="1258824"/>
                  </a:lnTo>
                  <a:lnTo>
                    <a:pt x="10984992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6468" y="1149095"/>
              <a:ext cx="9903714" cy="78714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7408" y="1236674"/>
            <a:ext cx="10985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940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</a:rPr>
              <a:t>TRANSFORMING</a:t>
            </a:r>
            <a:r>
              <a:rPr sz="2800" dirty="0">
                <a:solidFill>
                  <a:srgbClr val="FFFFFF"/>
                </a:solidFill>
              </a:rPr>
              <a:t> EER </a:t>
            </a:r>
            <a:r>
              <a:rPr sz="2800" spc="-20" dirty="0">
                <a:solidFill>
                  <a:srgbClr val="FFFFFF"/>
                </a:solidFill>
              </a:rPr>
              <a:t>DIAGRAMS</a:t>
            </a:r>
            <a:r>
              <a:rPr sz="2800" spc="10" dirty="0">
                <a:solidFill>
                  <a:srgbClr val="FFFFFF"/>
                </a:solidFill>
              </a:rPr>
              <a:t> </a:t>
            </a:r>
            <a:r>
              <a:rPr sz="2800" spc="-50" dirty="0">
                <a:solidFill>
                  <a:srgbClr val="FFFFFF"/>
                </a:solidFill>
              </a:rPr>
              <a:t>INTO</a:t>
            </a:r>
            <a:r>
              <a:rPr sz="2800" spc="-5" dirty="0">
                <a:solidFill>
                  <a:srgbClr val="FFFFFF"/>
                </a:solidFill>
              </a:rPr>
              <a:t> </a:t>
            </a:r>
            <a:r>
              <a:rPr sz="2800" spc="-35" dirty="0">
                <a:solidFill>
                  <a:srgbClr val="FFFFFF"/>
                </a:solidFill>
              </a:rPr>
              <a:t>RELATIONS</a:t>
            </a:r>
            <a:r>
              <a:rPr sz="2800" dirty="0">
                <a:solidFill>
                  <a:srgbClr val="FFFFFF"/>
                </a:solidFill>
              </a:rPr>
              <a:t> </a:t>
            </a:r>
            <a:r>
              <a:rPr sz="2800" spc="-60" dirty="0">
                <a:solidFill>
                  <a:srgbClr val="FFFFFF"/>
                </a:solidFill>
              </a:rPr>
              <a:t>(CONT.)</a:t>
            </a:r>
            <a:endParaRPr sz="2800"/>
          </a:p>
        </p:txBody>
      </p:sp>
      <p:grpSp>
        <p:nvGrpSpPr>
          <p:cNvPr id="6" name="object 6"/>
          <p:cNvGrpSpPr/>
          <p:nvPr/>
        </p:nvGrpSpPr>
        <p:grpSpPr>
          <a:xfrm>
            <a:off x="1040743" y="2512465"/>
            <a:ext cx="10388600" cy="3656329"/>
            <a:chOff x="1040743" y="2512465"/>
            <a:chExt cx="10388600" cy="365632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0743" y="2512465"/>
              <a:ext cx="5542313" cy="32816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6180" y="3085424"/>
              <a:ext cx="141121" cy="14119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37132" y="2828543"/>
              <a:ext cx="6939533" cy="73380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0432" y="3419855"/>
              <a:ext cx="528066" cy="60121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37132" y="3340608"/>
              <a:ext cx="9992106" cy="73380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37132" y="3697224"/>
              <a:ext cx="3512058" cy="73380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0432" y="4288535"/>
              <a:ext cx="528066" cy="60121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37132" y="4209288"/>
              <a:ext cx="9335262" cy="73380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37132" y="4565904"/>
              <a:ext cx="7648194" cy="73380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0432" y="5157216"/>
              <a:ext cx="528066" cy="60121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37132" y="5077967"/>
              <a:ext cx="931926" cy="73380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32432" y="5077967"/>
              <a:ext cx="9426702" cy="73380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37132" y="5434583"/>
              <a:ext cx="4008882" cy="73380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002283" y="2282575"/>
            <a:ext cx="10116185" cy="3934460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600" spc="-5" dirty="0">
                <a:latin typeface="Gill Sans MT"/>
                <a:cs typeface="Gill Sans MT"/>
              </a:rPr>
              <a:t>Mapping</a:t>
            </a:r>
            <a:r>
              <a:rPr sz="2600" spc="-3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Supertype/Subtype</a:t>
            </a:r>
            <a:r>
              <a:rPr sz="2600" spc="-15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Relationships</a:t>
            </a:r>
            <a:endParaRPr sz="2600">
              <a:latin typeface="Gill Sans MT"/>
              <a:cs typeface="Gill Sans MT"/>
            </a:endParaRPr>
          </a:p>
          <a:p>
            <a:pPr marL="641985" indent="-305435">
              <a:lnSpc>
                <a:spcPct val="100000"/>
              </a:lnSpc>
              <a:spcBef>
                <a:spcPts val="915"/>
              </a:spcBef>
              <a:buClr>
                <a:srgbClr val="4590B8"/>
              </a:buClr>
              <a:buSzPct val="92307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2600" dirty="0">
                <a:latin typeface="Gill Sans MT"/>
                <a:cs typeface="Gill Sans MT"/>
              </a:rPr>
              <a:t>One</a:t>
            </a:r>
            <a:r>
              <a:rPr sz="2600" spc="-15" dirty="0">
                <a:latin typeface="Gill Sans MT"/>
                <a:cs typeface="Gill Sans MT"/>
              </a:rPr>
              <a:t> </a:t>
            </a:r>
            <a:r>
              <a:rPr sz="2600" spc="-5" dirty="0">
                <a:latin typeface="Gill Sans MT"/>
                <a:cs typeface="Gill Sans MT"/>
              </a:rPr>
              <a:t>relation</a:t>
            </a:r>
            <a:r>
              <a:rPr sz="2600" spc="-20" dirty="0">
                <a:latin typeface="Gill Sans MT"/>
                <a:cs typeface="Gill Sans MT"/>
              </a:rPr>
              <a:t> </a:t>
            </a:r>
            <a:r>
              <a:rPr sz="2600" spc="-10" dirty="0">
                <a:latin typeface="Gill Sans MT"/>
                <a:cs typeface="Gill Sans MT"/>
              </a:rPr>
              <a:t>for</a:t>
            </a:r>
            <a:r>
              <a:rPr sz="2600" dirty="0">
                <a:latin typeface="Gill Sans MT"/>
                <a:cs typeface="Gill Sans MT"/>
              </a:rPr>
              <a:t> </a:t>
            </a:r>
            <a:r>
              <a:rPr sz="2600" spc="5" dirty="0">
                <a:latin typeface="Gill Sans MT"/>
                <a:cs typeface="Gill Sans MT"/>
              </a:rPr>
              <a:t>supertype</a:t>
            </a:r>
            <a:r>
              <a:rPr sz="2600" spc="-3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and</a:t>
            </a:r>
            <a:r>
              <a:rPr sz="2600" spc="-10" dirty="0">
                <a:latin typeface="Gill Sans MT"/>
                <a:cs typeface="Gill Sans MT"/>
              </a:rPr>
              <a:t> for</a:t>
            </a:r>
            <a:r>
              <a:rPr sz="2600" dirty="0">
                <a:latin typeface="Gill Sans MT"/>
                <a:cs typeface="Gill Sans MT"/>
              </a:rPr>
              <a:t> each</a:t>
            </a:r>
            <a:r>
              <a:rPr sz="2600" spc="-2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subtype</a:t>
            </a:r>
            <a:endParaRPr sz="2600">
              <a:latin typeface="Gill Sans MT"/>
              <a:cs typeface="Gill Sans MT"/>
            </a:endParaRPr>
          </a:p>
          <a:p>
            <a:pPr marL="641985" marR="5080" indent="-304800">
              <a:lnSpc>
                <a:spcPts val="2810"/>
              </a:lnSpc>
              <a:spcBef>
                <a:spcPts val="1265"/>
              </a:spcBef>
              <a:buClr>
                <a:srgbClr val="4590B8"/>
              </a:buClr>
              <a:buSzPct val="90384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2600" spc="5" dirty="0">
                <a:latin typeface="Gill Sans MT"/>
                <a:cs typeface="Gill Sans MT"/>
              </a:rPr>
              <a:t>Supertype</a:t>
            </a:r>
            <a:r>
              <a:rPr sz="2600" spc="-2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attributes</a:t>
            </a:r>
            <a:r>
              <a:rPr sz="2600" spc="-25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(including</a:t>
            </a:r>
            <a:r>
              <a:rPr sz="2600" spc="-25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identifier and</a:t>
            </a:r>
            <a:r>
              <a:rPr sz="2600" spc="-1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subtype</a:t>
            </a:r>
            <a:r>
              <a:rPr sz="2600" spc="-2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discriminator)</a:t>
            </a:r>
            <a:r>
              <a:rPr sz="2600" spc="-35" dirty="0">
                <a:latin typeface="Gill Sans MT"/>
                <a:cs typeface="Gill Sans MT"/>
              </a:rPr>
              <a:t> </a:t>
            </a:r>
            <a:r>
              <a:rPr sz="2600" spc="-15" dirty="0">
                <a:latin typeface="Gill Sans MT"/>
                <a:cs typeface="Gill Sans MT"/>
              </a:rPr>
              <a:t>go </a:t>
            </a:r>
            <a:r>
              <a:rPr sz="2600" spc="-71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into</a:t>
            </a:r>
            <a:r>
              <a:rPr sz="2600" spc="-20" dirty="0">
                <a:latin typeface="Gill Sans MT"/>
                <a:cs typeface="Gill Sans MT"/>
              </a:rPr>
              <a:t> </a:t>
            </a:r>
            <a:r>
              <a:rPr sz="2600" spc="5" dirty="0">
                <a:latin typeface="Gill Sans MT"/>
                <a:cs typeface="Gill Sans MT"/>
              </a:rPr>
              <a:t>supertype</a:t>
            </a:r>
            <a:r>
              <a:rPr sz="2600" spc="-15" dirty="0">
                <a:latin typeface="Gill Sans MT"/>
                <a:cs typeface="Gill Sans MT"/>
              </a:rPr>
              <a:t> </a:t>
            </a:r>
            <a:r>
              <a:rPr sz="2600" spc="-5" dirty="0">
                <a:latin typeface="Gill Sans MT"/>
                <a:cs typeface="Gill Sans MT"/>
              </a:rPr>
              <a:t>relation</a:t>
            </a:r>
            <a:endParaRPr sz="2600">
              <a:latin typeface="Gill Sans MT"/>
              <a:cs typeface="Gill Sans MT"/>
            </a:endParaRPr>
          </a:p>
          <a:p>
            <a:pPr marL="641985" marR="657860" indent="-304800">
              <a:lnSpc>
                <a:spcPts val="2810"/>
              </a:lnSpc>
              <a:spcBef>
                <a:spcPts val="1220"/>
              </a:spcBef>
              <a:buClr>
                <a:srgbClr val="4590B8"/>
              </a:buClr>
              <a:buSzPct val="92307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2600" dirty="0">
                <a:latin typeface="Gill Sans MT"/>
                <a:cs typeface="Gill Sans MT"/>
              </a:rPr>
              <a:t>Subtype</a:t>
            </a:r>
            <a:r>
              <a:rPr sz="2600" spc="-2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attributes</a:t>
            </a:r>
            <a:r>
              <a:rPr sz="2600" spc="-35" dirty="0">
                <a:latin typeface="Gill Sans MT"/>
                <a:cs typeface="Gill Sans MT"/>
              </a:rPr>
              <a:t> </a:t>
            </a:r>
            <a:r>
              <a:rPr sz="2600" spc="-10" dirty="0">
                <a:latin typeface="Gill Sans MT"/>
                <a:cs typeface="Gill Sans MT"/>
              </a:rPr>
              <a:t>go</a:t>
            </a:r>
            <a:r>
              <a:rPr sz="2600" spc="5" dirty="0">
                <a:latin typeface="Gill Sans MT"/>
                <a:cs typeface="Gill Sans MT"/>
              </a:rPr>
              <a:t> </a:t>
            </a:r>
            <a:r>
              <a:rPr sz="2600" spc="-5" dirty="0">
                <a:latin typeface="Gill Sans MT"/>
                <a:cs typeface="Gill Sans MT"/>
              </a:rPr>
              <a:t>into</a:t>
            </a:r>
            <a:r>
              <a:rPr sz="2600" spc="5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each</a:t>
            </a:r>
            <a:r>
              <a:rPr sz="2600" spc="-5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subtype;</a:t>
            </a:r>
            <a:r>
              <a:rPr sz="2600" spc="-270" dirty="0">
                <a:latin typeface="Gill Sans MT"/>
                <a:cs typeface="Gill Sans MT"/>
              </a:rPr>
              <a:t> </a:t>
            </a:r>
            <a:r>
              <a:rPr sz="2600" spc="10" dirty="0">
                <a:latin typeface="Gill Sans MT"/>
                <a:cs typeface="Gill Sans MT"/>
              </a:rPr>
              <a:t>primary</a:t>
            </a:r>
            <a:r>
              <a:rPr sz="2600" spc="-25" dirty="0">
                <a:latin typeface="Gill Sans MT"/>
                <a:cs typeface="Gill Sans MT"/>
              </a:rPr>
              <a:t> </a:t>
            </a:r>
            <a:r>
              <a:rPr sz="2600" spc="-40" dirty="0">
                <a:latin typeface="Gill Sans MT"/>
                <a:cs typeface="Gill Sans MT"/>
              </a:rPr>
              <a:t>key</a:t>
            </a:r>
            <a:r>
              <a:rPr sz="2600" spc="5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of </a:t>
            </a:r>
            <a:r>
              <a:rPr sz="2600" spc="5" dirty="0">
                <a:latin typeface="Gill Sans MT"/>
                <a:cs typeface="Gill Sans MT"/>
              </a:rPr>
              <a:t>supertype </a:t>
            </a:r>
            <a:r>
              <a:rPr sz="2600" spc="-705" dirty="0">
                <a:latin typeface="Gill Sans MT"/>
                <a:cs typeface="Gill Sans MT"/>
              </a:rPr>
              <a:t> </a:t>
            </a:r>
            <a:r>
              <a:rPr sz="2600" spc="-5" dirty="0">
                <a:latin typeface="Gill Sans MT"/>
                <a:cs typeface="Gill Sans MT"/>
              </a:rPr>
              <a:t>relation</a:t>
            </a:r>
            <a:r>
              <a:rPr sz="2600" spc="-25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also</a:t>
            </a:r>
            <a:r>
              <a:rPr sz="2600" spc="-5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becomes</a:t>
            </a:r>
            <a:r>
              <a:rPr sz="2600" spc="-10" dirty="0">
                <a:latin typeface="Gill Sans MT"/>
                <a:cs typeface="Gill Sans MT"/>
              </a:rPr>
              <a:t> </a:t>
            </a:r>
            <a:r>
              <a:rPr sz="2600" spc="10" dirty="0">
                <a:latin typeface="Gill Sans MT"/>
                <a:cs typeface="Gill Sans MT"/>
              </a:rPr>
              <a:t>primary</a:t>
            </a:r>
            <a:r>
              <a:rPr sz="2600" spc="-30" dirty="0">
                <a:latin typeface="Gill Sans MT"/>
                <a:cs typeface="Gill Sans MT"/>
              </a:rPr>
              <a:t> </a:t>
            </a:r>
            <a:r>
              <a:rPr sz="2600" spc="-40" dirty="0">
                <a:latin typeface="Gill Sans MT"/>
                <a:cs typeface="Gill Sans MT"/>
              </a:rPr>
              <a:t>key</a:t>
            </a:r>
            <a:r>
              <a:rPr sz="2600" dirty="0">
                <a:latin typeface="Gill Sans MT"/>
                <a:cs typeface="Gill Sans MT"/>
              </a:rPr>
              <a:t> of</a:t>
            </a:r>
            <a:r>
              <a:rPr sz="2600" spc="-5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subtype</a:t>
            </a:r>
            <a:r>
              <a:rPr sz="2600" spc="-10" dirty="0">
                <a:latin typeface="Gill Sans MT"/>
                <a:cs typeface="Gill Sans MT"/>
              </a:rPr>
              <a:t> </a:t>
            </a:r>
            <a:r>
              <a:rPr sz="2600" spc="-5" dirty="0">
                <a:latin typeface="Gill Sans MT"/>
                <a:cs typeface="Gill Sans MT"/>
              </a:rPr>
              <a:t>relation</a:t>
            </a:r>
            <a:endParaRPr sz="2600">
              <a:latin typeface="Gill Sans MT"/>
              <a:cs typeface="Gill Sans MT"/>
            </a:endParaRPr>
          </a:p>
          <a:p>
            <a:pPr marL="641985" marR="74295" indent="-304800">
              <a:lnSpc>
                <a:spcPts val="2810"/>
              </a:lnSpc>
              <a:spcBef>
                <a:spcPts val="1220"/>
              </a:spcBef>
              <a:buClr>
                <a:srgbClr val="4590B8"/>
              </a:buClr>
              <a:buSzPct val="90384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2600" spc="5" dirty="0">
                <a:latin typeface="Gill Sans MT"/>
                <a:cs typeface="Gill Sans MT"/>
              </a:rPr>
              <a:t>1:1</a:t>
            </a:r>
            <a:r>
              <a:rPr sz="2600" spc="-10" dirty="0">
                <a:latin typeface="Gill Sans MT"/>
                <a:cs typeface="Gill Sans MT"/>
              </a:rPr>
              <a:t> </a:t>
            </a:r>
            <a:r>
              <a:rPr sz="2600" spc="-5" dirty="0">
                <a:latin typeface="Gill Sans MT"/>
                <a:cs typeface="Gill Sans MT"/>
              </a:rPr>
              <a:t>relationship</a:t>
            </a:r>
            <a:r>
              <a:rPr sz="2600" spc="-25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established</a:t>
            </a:r>
            <a:r>
              <a:rPr sz="2600" spc="-10" dirty="0">
                <a:latin typeface="Gill Sans MT"/>
                <a:cs typeface="Gill Sans MT"/>
              </a:rPr>
              <a:t> </a:t>
            </a:r>
            <a:r>
              <a:rPr sz="2600" spc="-5" dirty="0">
                <a:latin typeface="Gill Sans MT"/>
                <a:cs typeface="Gill Sans MT"/>
              </a:rPr>
              <a:t>between </a:t>
            </a:r>
            <a:r>
              <a:rPr sz="2600" spc="5" dirty="0">
                <a:latin typeface="Gill Sans MT"/>
                <a:cs typeface="Gill Sans MT"/>
              </a:rPr>
              <a:t>supertype</a:t>
            </a:r>
            <a:r>
              <a:rPr sz="2600" spc="-15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and</a:t>
            </a:r>
            <a:r>
              <a:rPr sz="2600" spc="-1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each</a:t>
            </a:r>
            <a:r>
              <a:rPr sz="2600" spc="-5" dirty="0">
                <a:latin typeface="Gill Sans MT"/>
                <a:cs typeface="Gill Sans MT"/>
              </a:rPr>
              <a:t> </a:t>
            </a:r>
            <a:r>
              <a:rPr sz="2600" spc="5" dirty="0">
                <a:latin typeface="Gill Sans MT"/>
                <a:cs typeface="Gill Sans MT"/>
              </a:rPr>
              <a:t>subtype,</a:t>
            </a:r>
            <a:r>
              <a:rPr sz="2600" spc="-275" dirty="0">
                <a:latin typeface="Gill Sans MT"/>
                <a:cs typeface="Gill Sans MT"/>
              </a:rPr>
              <a:t> </a:t>
            </a:r>
            <a:r>
              <a:rPr sz="2600" spc="-5" dirty="0">
                <a:latin typeface="Gill Sans MT"/>
                <a:cs typeface="Gill Sans MT"/>
              </a:rPr>
              <a:t>with </a:t>
            </a:r>
            <a:r>
              <a:rPr sz="2600" spc="-705" dirty="0">
                <a:latin typeface="Gill Sans MT"/>
                <a:cs typeface="Gill Sans MT"/>
              </a:rPr>
              <a:t> </a:t>
            </a:r>
            <a:r>
              <a:rPr sz="2600" spc="5" dirty="0">
                <a:latin typeface="Gill Sans MT"/>
                <a:cs typeface="Gill Sans MT"/>
              </a:rPr>
              <a:t>supertype</a:t>
            </a:r>
            <a:r>
              <a:rPr sz="2600" spc="-3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as </a:t>
            </a:r>
            <a:r>
              <a:rPr sz="2600" spc="10" dirty="0">
                <a:latin typeface="Gill Sans MT"/>
                <a:cs typeface="Gill Sans MT"/>
              </a:rPr>
              <a:t>primary</a:t>
            </a:r>
            <a:r>
              <a:rPr sz="2600" spc="-3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table</a:t>
            </a:r>
            <a:endParaRPr sz="2600">
              <a:latin typeface="Gill Sans MT"/>
              <a:cs typeface="Gill Sans MT"/>
            </a:endParaRPr>
          </a:p>
          <a:p>
            <a:pPr marR="943610" algn="r">
              <a:lnSpc>
                <a:spcPct val="100000"/>
              </a:lnSpc>
              <a:spcBef>
                <a:spcPts val="107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47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0794" y="112014"/>
            <a:ext cx="4361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Supertype/subtype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relationships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5727" y="1266444"/>
            <a:ext cx="7278624" cy="464874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48</a:t>
            </a:fld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9235" y="1505711"/>
            <a:ext cx="7944611" cy="331557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7394" y="720090"/>
            <a:ext cx="7195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Mapping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Supertype/subtype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relationships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relations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49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3959733" y="5060696"/>
            <a:ext cx="45935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015" marR="5080" indent="-150495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These are implemented as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one-to-one </a:t>
            </a:r>
            <a:r>
              <a:rPr sz="2400" spc="-5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relationships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7335">
                        <a:lnSpc>
                          <a:spcPct val="100000"/>
                        </a:lnSpc>
                        <a:spcBef>
                          <a:spcPts val="1940"/>
                        </a:spcBef>
                      </a:pPr>
                      <a:r>
                        <a:rPr sz="28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RELATIONAL</a:t>
                      </a:r>
                      <a:r>
                        <a:rPr sz="2800" b="1" spc="-1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LANGUAGES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036726" y="3098923"/>
            <a:ext cx="8432800" cy="142240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316865" indent="-304800">
              <a:lnSpc>
                <a:spcPct val="100000"/>
              </a:lnSpc>
              <a:spcBef>
                <a:spcPts val="121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b="1" spc="-50" dirty="0">
                <a:solidFill>
                  <a:srgbClr val="3C3C3C"/>
                </a:solidFill>
                <a:latin typeface="Trebuchet MS"/>
                <a:cs typeface="Trebuchet MS"/>
              </a:rPr>
              <a:t>Two</a:t>
            </a:r>
            <a:r>
              <a:rPr sz="1800" b="1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main</a:t>
            </a:r>
            <a:r>
              <a:rPr sz="1800" b="1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languages:</a:t>
            </a:r>
            <a:endParaRPr sz="1800">
              <a:latin typeface="Trebuchet MS"/>
              <a:cs typeface="Trebuchet MS"/>
            </a:endParaRPr>
          </a:p>
          <a:p>
            <a:pPr marL="641985" lvl="1" indent="-305435">
              <a:lnSpc>
                <a:spcPct val="100000"/>
              </a:lnSpc>
              <a:spcBef>
                <a:spcPts val="985"/>
              </a:spcBef>
              <a:buClr>
                <a:srgbClr val="4590B8"/>
              </a:buClr>
              <a:buSzPct val="75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SQL</a:t>
            </a:r>
            <a:r>
              <a:rPr sz="1600" b="1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(Structured</a:t>
            </a:r>
            <a:r>
              <a:rPr sz="1600" b="1" spc="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Query</a:t>
            </a:r>
            <a:r>
              <a:rPr sz="1600"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Language),</a:t>
            </a:r>
            <a:r>
              <a:rPr sz="1600"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standardized</a:t>
            </a:r>
            <a:r>
              <a:rPr sz="1600" b="1" spc="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by</a:t>
            </a:r>
            <a:r>
              <a:rPr sz="16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ISO.</a:t>
            </a:r>
            <a:endParaRPr sz="1600">
              <a:latin typeface="Trebuchet MS"/>
              <a:cs typeface="Trebuchet MS"/>
            </a:endParaRPr>
          </a:p>
          <a:p>
            <a:pPr marL="641985" marR="5080" lvl="1" indent="-304800">
              <a:lnSpc>
                <a:spcPct val="100000"/>
              </a:lnSpc>
              <a:spcBef>
                <a:spcPts val="980"/>
              </a:spcBef>
              <a:buClr>
                <a:srgbClr val="4590B8"/>
              </a:buClr>
              <a:buSzPct val="75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QBE</a:t>
            </a:r>
            <a:r>
              <a:rPr sz="1600" b="1" spc="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(Query-by-Example),</a:t>
            </a:r>
            <a:r>
              <a:rPr sz="1600" b="1" spc="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alternative</a:t>
            </a:r>
            <a:r>
              <a:rPr sz="1600" b="1" spc="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graphical</a:t>
            </a:r>
            <a:r>
              <a:rPr sz="1600" b="1" spc="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“point-and-click”</a:t>
            </a:r>
            <a:r>
              <a:rPr sz="1600" b="1" spc="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way</a:t>
            </a:r>
            <a:r>
              <a:rPr sz="16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of querying </a:t>
            </a:r>
            <a:r>
              <a:rPr sz="1600" b="1" spc="-4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database.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1885</Words>
  <Application>Microsoft Office PowerPoint</Application>
  <PresentationFormat>Widescreen</PresentationFormat>
  <Paragraphs>276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9" baseType="lpstr">
      <vt:lpstr>Arial</vt:lpstr>
      <vt:lpstr>Calibri</vt:lpstr>
      <vt:lpstr>Franklin Gothic Book</vt:lpstr>
      <vt:lpstr>Gill Sans MT</vt:lpstr>
      <vt:lpstr>Times New Roman</vt:lpstr>
      <vt:lpstr>Trebuchet MS</vt:lpstr>
      <vt:lpstr>Wingdings</vt:lpstr>
      <vt:lpstr>Wingdings 2</vt:lpstr>
      <vt:lpstr>Office Theme</vt:lpstr>
      <vt:lpstr>DATABASE MANAGEMENT SYSTEMS</vt:lpstr>
      <vt:lpstr>THE RELATIONAL DATABASE MODEL</vt:lpstr>
      <vt:lpstr>PowerPoint Presentation</vt:lpstr>
      <vt:lpstr>PowerPoint Presentation</vt:lpstr>
      <vt:lpstr>PowerPoint Presentation</vt:lpstr>
      <vt:lpstr>PowerPoint Presentation</vt:lpstr>
      <vt:lpstr> ALTERNATIVE TERMINOLOGY</vt:lpstr>
      <vt:lpstr>PowerPoint Presentation</vt:lpstr>
      <vt:lpstr>PowerPoint Presentation</vt:lpstr>
      <vt:lpstr> INSTANCES OF BRANCH AND STAFF (PART) RELATIONS</vt:lpstr>
      <vt:lpstr> EXAMPLE ATTRIBUTE DOMAINS</vt:lpstr>
      <vt:lpstr>PowerPoint Presentation</vt:lpstr>
      <vt:lpstr>PowerPoint Presentation</vt:lpstr>
      <vt:lpstr> RELATIONAL INTEGRITY</vt:lpstr>
      <vt:lpstr>PowerPoint Presentation</vt:lpstr>
      <vt:lpstr>PowerPoint Presentation</vt:lpstr>
      <vt:lpstr>PowerPoint Presentation</vt:lpstr>
      <vt:lpstr> TRANSFORMING ER MODEL TO RELATIONAL MODEL</vt:lpstr>
      <vt:lpstr> TRANSFORMING ER MODEL TO RELATIONAL MODEL</vt:lpstr>
      <vt:lpstr>Primary Key</vt:lpstr>
      <vt:lpstr>Referential integrity constraints (Pine Valley Furniture)</vt:lpstr>
      <vt:lpstr>SQL table definitions</vt:lpstr>
      <vt:lpstr>TRANSFORMING EER DIAGRAMS INTO RELATIONS</vt:lpstr>
      <vt:lpstr>Mapping a regular entity</vt:lpstr>
      <vt:lpstr>Mapping a composite attribute</vt:lpstr>
      <vt:lpstr>Mapping an entity with a multivalued attribute</vt:lpstr>
      <vt:lpstr>Mapping Weak Entities</vt:lpstr>
      <vt:lpstr>Example of mapping a weak entity</vt:lpstr>
      <vt:lpstr>Example of mapping a weak entity (cont.)</vt:lpstr>
      <vt:lpstr>TRANSFORMING ER DIAGRAMS INTO RELATIONS (CONT.)</vt:lpstr>
      <vt:lpstr>Example of mapping a 1:M relationship</vt:lpstr>
      <vt:lpstr>PowerPoint Presentation</vt:lpstr>
      <vt:lpstr>Example of mapping an M:N relationship (cont.)</vt:lpstr>
      <vt:lpstr>PowerPoint Presentation</vt:lpstr>
      <vt:lpstr>PowerPoint Presentation</vt:lpstr>
      <vt:lpstr>Mapping Associative Entities</vt:lpstr>
      <vt:lpstr>Example of mapping an associative entity</vt:lpstr>
      <vt:lpstr>Example of mapping an associative entity (cont.)</vt:lpstr>
      <vt:lpstr>a) SHIPMENT associative entity</vt:lpstr>
      <vt:lpstr>Example of mapping an associative entity with an identifier (cont.)</vt:lpstr>
      <vt:lpstr>Mapping Unary Relationships</vt:lpstr>
      <vt:lpstr>Mapping a unary 1:N relationship</vt:lpstr>
      <vt:lpstr>Mapping a unary M:N relationship</vt:lpstr>
      <vt:lpstr>Mapping Ternary (and n-ary) Relationships</vt:lpstr>
      <vt:lpstr>Mapping a ternary relationship</vt:lpstr>
      <vt:lpstr>Figure 5-19 Mapping a ternary relationship (cont.)</vt:lpstr>
      <vt:lpstr>TRANSFORMING EER DIAGRAMS INTO RELATIONS (CONT.)</vt:lpstr>
      <vt:lpstr>Supertype/subtype relationships</vt:lpstr>
      <vt:lpstr>Mapping Supertype/subtype relationships to relations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Zartasha Baloch</dc:creator>
  <cp:lastModifiedBy>Junaid Javed</cp:lastModifiedBy>
  <cp:revision>1</cp:revision>
  <dcterms:created xsi:type="dcterms:W3CDTF">2026-02-17T07:54:37Z</dcterms:created>
  <dcterms:modified xsi:type="dcterms:W3CDTF">2026-10-01T06:10:40Z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2020-06-08T00:00:00Z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2026-02-17T00:00:00Z</vt:filetime>
  </property>
</Properties>
</file>