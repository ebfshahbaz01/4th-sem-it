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jpg" ContentType="image/jp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0739" y="2705226"/>
            <a:ext cx="10510520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527" y="2703510"/>
            <a:ext cx="10300970" cy="1656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41023" y="6062436"/>
            <a:ext cx="146050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2491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90" b="1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dirty="0" sz="3600" spc="-60" b="1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 b="1">
                <a:solidFill>
                  <a:srgbClr val="1A315F"/>
                </a:solidFill>
                <a:latin typeface="Trebuchet MS"/>
                <a:cs typeface="Trebuchet MS"/>
              </a:rPr>
              <a:t>MANAGEMENT</a:t>
            </a:r>
            <a:r>
              <a:rPr dirty="0" sz="3600" spc="-105" b="1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 b="1">
                <a:solidFill>
                  <a:srgbClr val="1A315F"/>
                </a:solidFill>
                <a:latin typeface="Trebuchet MS"/>
                <a:cs typeface="Trebuchet MS"/>
              </a:rPr>
              <a:t>SYSTEMS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408" y="3086100"/>
            <a:ext cx="10986770" cy="3305810"/>
          </a:xfrm>
          <a:prstGeom prst="rect">
            <a:avLst/>
          </a:prstGeom>
          <a:solidFill>
            <a:srgbClr val="1A315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Times New Roman"/>
              <a:cs typeface="Times New Roman"/>
            </a:endParaRPr>
          </a:p>
          <a:p>
            <a:pPr algn="ctr" marR="18161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5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dirty="0" sz="18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56051" y="1870709"/>
            <a:ext cx="62915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1A315F"/>
                </a:solidFill>
              </a:rPr>
              <a:t>ENTITY-RELATIONSHIP </a:t>
            </a:r>
            <a:r>
              <a:rPr dirty="0" sz="3600">
                <a:solidFill>
                  <a:srgbClr val="1A315F"/>
                </a:solidFill>
              </a:rPr>
              <a:t>MODEL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11266423" y="6062436"/>
            <a:ext cx="82550" cy="1581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>
                <a:solidFill>
                  <a:srgbClr val="2E5AAC"/>
                </a:solidFill>
                <a:latin typeface="Gill Sans MT"/>
                <a:cs typeface="Gill Sans MT"/>
              </a:rPr>
              <a:t>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408" y="3086100"/>
            <a:ext cx="10986770" cy="3305810"/>
          </a:xfrm>
          <a:prstGeom prst="rect">
            <a:avLst/>
          </a:prstGeom>
          <a:solidFill>
            <a:srgbClr val="1A315F"/>
          </a:solidFill>
        </p:spPr>
        <p:txBody>
          <a:bodyPr wrap="square" lIns="0" tIns="288290" rIns="0" bIns="0" rtlCol="0" vert="horz">
            <a:spAutoFit/>
          </a:bodyPr>
          <a:lstStyle/>
          <a:p>
            <a:pPr algn="ctr" marR="1837689">
              <a:lnSpc>
                <a:spcPct val="100000"/>
              </a:lnSpc>
              <a:spcBef>
                <a:spcPts val="2270"/>
              </a:spcBef>
            </a:pP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dirty="0" sz="2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algn="just" marL="233679" marR="462280">
              <a:lnSpc>
                <a:spcPct val="100000"/>
              </a:lnSpc>
              <a:spcBef>
                <a:spcPts val="1739"/>
              </a:spcBef>
            </a:pPr>
            <a:r>
              <a:rPr dirty="0" sz="1600" spc="5" b="1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material used in this presentation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definitions/text and pictures/graphs </a:t>
            </a:r>
            <a:r>
              <a:rPr dirty="0" sz="1600" spc="5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does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not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solely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belong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The presenter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has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gathered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this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from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various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 on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 web/textbooks.</a:t>
            </a:r>
            <a:r>
              <a:rPr dirty="0" sz="16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dirty="0" sz="1600" spc="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especially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acknowledged:</a:t>
            </a:r>
            <a:endParaRPr sz="1600">
              <a:latin typeface="Gill Sans MT"/>
              <a:cs typeface="Gill Sans MT"/>
            </a:endParaRPr>
          </a:p>
          <a:p>
            <a:pPr marL="576580" marR="462280" indent="-342900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576580" algn="l"/>
                <a:tab pos="577215" algn="l"/>
              </a:tabLst>
            </a:pP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dirty="0" sz="1400" spc="13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Thomas</a:t>
            </a:r>
            <a:r>
              <a:rPr dirty="0" sz="1400" spc="27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dirty="0" sz="1400" spc="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7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dirty="0" sz="1400" spc="27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dirty="0" sz="1400" spc="1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dirty="0" sz="1400" spc="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27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dirty="0" sz="1400" spc="14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dirty="0" sz="1400" spc="2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 i="1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dirty="0" sz="1400" spc="2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dirty="0" sz="1400" spc="27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dirty="0" sz="1400" spc="26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design,</a:t>
            </a:r>
            <a:r>
              <a:rPr dirty="0" sz="1400" spc="13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dirty="0" sz="1400" spc="13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dirty="0" sz="1400" spc="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Pearson </a:t>
            </a:r>
            <a:r>
              <a:rPr dirty="0" sz="1400" spc="-37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dirty="0" sz="1400" spc="-1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576580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76580" algn="l"/>
                <a:tab pos="577215" algn="l"/>
              </a:tabLst>
            </a:pP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2.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Hoffer,</a:t>
            </a:r>
            <a:r>
              <a:rPr dirty="0" sz="1400" spc="-1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Jeffrey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A.,Venkataraman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Ramesh,</a:t>
            </a:r>
            <a:r>
              <a:rPr dirty="0" sz="1400" spc="-13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 Heikki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40">
                <a:solidFill>
                  <a:srgbClr val="FFFFCC"/>
                </a:solidFill>
                <a:latin typeface="Gill Sans MT"/>
                <a:cs typeface="Gill Sans MT"/>
              </a:rPr>
              <a:t>Topi.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Modern</a:t>
            </a:r>
            <a:r>
              <a:rPr dirty="0" sz="1400" spc="1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Upper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Saddle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30">
                <a:solidFill>
                  <a:srgbClr val="FFFFCC"/>
                </a:solidFill>
                <a:latin typeface="Gill Sans MT"/>
                <a:cs typeface="Gill Sans MT"/>
              </a:rPr>
              <a:t>River,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NJ:</a:t>
            </a:r>
            <a:r>
              <a:rPr dirty="0" sz="1400" spc="-1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Prentice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Hall,,</a:t>
            </a:r>
            <a:r>
              <a:rPr dirty="0" sz="1400" spc="-1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2011.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/>
          <a:solidFill>
            <a:srgbClr val="1A315F"/>
          </a:solidFill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4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IN</a:t>
            </a:r>
            <a:r>
              <a:rPr dirty="0" sz="3000" spc="-44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Gill Sans MT"/>
                <a:cs typeface="Gill Sans MT"/>
              </a:rPr>
              <a:t>THI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S</a:t>
            </a:r>
            <a:r>
              <a:rPr dirty="0" sz="3000" spc="-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spc="5" b="1">
                <a:solidFill>
                  <a:srgbClr val="FFFFFF"/>
                </a:solidFill>
                <a:latin typeface="Gill Sans MT"/>
                <a:cs typeface="Gill Sans MT"/>
              </a:rPr>
              <a:t>L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ECTURE</a:t>
            </a:r>
            <a:r>
              <a:rPr dirty="0" sz="3000" spc="-530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spc="-245" b="1">
                <a:solidFill>
                  <a:srgbClr val="FFFFFF"/>
                </a:solidFill>
                <a:latin typeface="Gill Sans MT"/>
                <a:cs typeface="Gill Sans MT"/>
              </a:rPr>
              <a:t>Y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OU</a:t>
            </a:r>
            <a:r>
              <a:rPr dirty="0" sz="3000" spc="-37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WILL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Gill Sans MT"/>
                <a:cs typeface="Gill Sans MT"/>
              </a:rPr>
              <a:t>LEAR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N</a:t>
            </a:r>
            <a:r>
              <a:rPr dirty="0" sz="3000" spc="-300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ABOU</a:t>
            </a:r>
            <a:r>
              <a:rPr dirty="0" sz="3000" spc="-85" b="1">
                <a:solidFill>
                  <a:srgbClr val="FFFFFF"/>
                </a:solidFill>
                <a:latin typeface="Gill Sans MT"/>
                <a:cs typeface="Gill Sans MT"/>
              </a:rPr>
              <a:t>T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:</a:t>
            </a:r>
            <a:endParaRPr sz="30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3846" y="2598800"/>
            <a:ext cx="6913880" cy="1177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95"/>
              </a:spcBef>
              <a:buClr>
                <a:srgbClr val="45CAE8"/>
              </a:buClr>
              <a:buSzPct val="91071"/>
              <a:buFont typeface="Wingdings 2"/>
              <a:buChar char=""/>
              <a:tabLst>
                <a:tab pos="317500" algn="l"/>
              </a:tabLst>
            </a:pPr>
            <a:r>
              <a:rPr dirty="0" sz="2800" spc="-5" b="1">
                <a:solidFill>
                  <a:srgbClr val="0D0D0D"/>
                </a:solidFill>
                <a:latin typeface="Gill Sans MT"/>
                <a:cs typeface="Gill Sans MT"/>
              </a:rPr>
              <a:t>What is E-R</a:t>
            </a:r>
            <a:r>
              <a:rPr dirty="0" sz="2800" spc="-10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800" spc="-5" b="1">
                <a:solidFill>
                  <a:srgbClr val="0D0D0D"/>
                </a:solidFill>
                <a:latin typeface="Gill Sans MT"/>
                <a:cs typeface="Gill Sans MT"/>
              </a:rPr>
              <a:t>Modeling</a:t>
            </a:r>
            <a:endParaRPr sz="2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2350"/>
              </a:spcBef>
              <a:buClr>
                <a:srgbClr val="45CAE8"/>
              </a:buClr>
              <a:buSzPct val="91071"/>
              <a:buFont typeface="Wingdings 2"/>
              <a:buChar char=""/>
              <a:tabLst>
                <a:tab pos="317500" algn="l"/>
              </a:tabLst>
            </a:pPr>
            <a:r>
              <a:rPr dirty="0" sz="2800" spc="-5" b="1">
                <a:solidFill>
                  <a:srgbClr val="0D0D0D"/>
                </a:solidFill>
                <a:latin typeface="Gill Sans MT"/>
                <a:cs typeface="Gill Sans MT"/>
              </a:rPr>
              <a:t>What</a:t>
            </a:r>
            <a:r>
              <a:rPr dirty="0" sz="2800" spc="5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800" spc="-5" b="1">
                <a:solidFill>
                  <a:srgbClr val="0D0D0D"/>
                </a:solidFill>
                <a:latin typeface="Gill Sans MT"/>
                <a:cs typeface="Gill Sans MT"/>
              </a:rPr>
              <a:t>is</a:t>
            </a:r>
            <a:r>
              <a:rPr dirty="0" sz="2800" spc="5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800" spc="-5" b="1">
                <a:solidFill>
                  <a:srgbClr val="0D0D0D"/>
                </a:solidFill>
                <a:latin typeface="Gill Sans MT"/>
                <a:cs typeface="Gill Sans MT"/>
              </a:rPr>
              <a:t>Entity,Attribute</a:t>
            </a:r>
            <a:r>
              <a:rPr dirty="0" sz="2800" spc="20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800" spc="-5" b="1">
                <a:solidFill>
                  <a:srgbClr val="0D0D0D"/>
                </a:solidFill>
                <a:latin typeface="Gill Sans MT"/>
                <a:cs typeface="Gill Sans MT"/>
              </a:rPr>
              <a:t>&amp;</a:t>
            </a:r>
            <a:r>
              <a:rPr dirty="0" sz="2800" spc="-10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800" spc="-5" b="1">
                <a:solidFill>
                  <a:srgbClr val="0D0D0D"/>
                </a:solidFill>
                <a:latin typeface="Gill Sans MT"/>
                <a:cs typeface="Gill Sans MT"/>
              </a:rPr>
              <a:t>Relationship</a:t>
            </a:r>
            <a:endParaRPr sz="2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/>
          <a:solidFill>
            <a:srgbClr val="1A315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  <a:spcBef>
                <a:spcPts val="2010"/>
              </a:spcBef>
            </a:pP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E-R</a:t>
            </a:r>
            <a:r>
              <a:rPr dirty="0" sz="3000" spc="-50" b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MODEL</a:t>
            </a:r>
            <a:endParaRPr sz="30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940" y="2158111"/>
            <a:ext cx="11008360" cy="3665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17500" marR="6350" indent="-304800">
              <a:lnSpc>
                <a:spcPct val="100000"/>
              </a:lnSpc>
              <a:spcBef>
                <a:spcPts val="9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An entity-relationship diagram (ERD)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graphical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representation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of an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information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system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that shows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relationship between 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people,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objects, places,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concepts or </a:t>
            </a:r>
            <a:r>
              <a:rPr dirty="0" sz="2200" spc="-20">
                <a:solidFill>
                  <a:srgbClr val="3C3C3C"/>
                </a:solidFill>
                <a:latin typeface="Gill Sans MT"/>
                <a:cs typeface="Gill Sans MT"/>
              </a:rPr>
              <a:t>events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within that 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system.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An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ERD is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data modeling technique that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help define business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processes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used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foundation</a:t>
            </a:r>
            <a:r>
              <a:rPr dirty="0" sz="22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database.</a:t>
            </a:r>
            <a:endParaRPr sz="2200">
              <a:latin typeface="Gill Sans MT"/>
              <a:cs typeface="Gill Sans MT"/>
            </a:endParaRPr>
          </a:p>
          <a:p>
            <a:pPr algn="just" marL="317500" marR="508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200" spc="3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Entity-Relationship</a:t>
            </a:r>
            <a:r>
              <a:rPr dirty="0" sz="2200" spc="36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(ER)</a:t>
            </a:r>
            <a:r>
              <a:rPr dirty="0" sz="2200" spc="3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3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model</a:t>
            </a:r>
            <a:r>
              <a:rPr dirty="0" sz="2200" spc="3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allows</a:t>
            </a:r>
            <a:r>
              <a:rPr dirty="0" sz="2200" spc="3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us</a:t>
            </a:r>
            <a:r>
              <a:rPr dirty="0" sz="2200" spc="3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200" spc="3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describe</a:t>
            </a:r>
            <a:r>
              <a:rPr dirty="0" sz="2200" spc="3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200" spc="3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3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20">
                <a:solidFill>
                  <a:srgbClr val="3C3C3C"/>
                </a:solidFill>
                <a:latin typeface="Gill Sans MT"/>
                <a:cs typeface="Gill Sans MT"/>
              </a:rPr>
              <a:t>involved</a:t>
            </a:r>
            <a:r>
              <a:rPr dirty="0" sz="2200" spc="36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200" spc="36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3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real- </a:t>
            </a:r>
            <a:r>
              <a:rPr dirty="0" sz="2200" spc="-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world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enterprise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terms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of objects and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their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relationships and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widely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used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develop 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an 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initial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dirty="0" sz="22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design.</a:t>
            </a:r>
            <a:endParaRPr sz="2200">
              <a:latin typeface="Gill Sans MT"/>
              <a:cs typeface="Gill Sans MT"/>
            </a:endParaRPr>
          </a:p>
          <a:p>
            <a:pPr algn="just" marL="317500" marR="5080" indent="-304800">
              <a:lnSpc>
                <a:spcPct val="100000"/>
              </a:lnSpc>
              <a:spcBef>
                <a:spcPts val="112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It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provides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useful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concepts that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allow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us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dirty="0" sz="2200" spc="-20">
                <a:solidFill>
                  <a:srgbClr val="3C3C3C"/>
                </a:solidFill>
                <a:latin typeface="Gill Sans MT"/>
                <a:cs typeface="Gill Sans MT"/>
              </a:rPr>
              <a:t>move from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an informal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description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of what users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want </a:t>
            </a:r>
            <a:r>
              <a:rPr dirty="0" sz="2200" spc="-20">
                <a:solidFill>
                  <a:srgbClr val="3C3C3C"/>
                </a:solidFill>
                <a:latin typeface="Gill Sans MT"/>
                <a:cs typeface="Gill Sans MT"/>
              </a:rPr>
              <a:t>from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their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database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more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detailed,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precise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description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implemented in a </a:t>
            </a:r>
            <a:r>
              <a:rPr dirty="0" sz="2200" spc="-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DBMS.</a:t>
            </a:r>
            <a:endParaRPr sz="2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02691" y="1857790"/>
            <a:ext cx="10975340" cy="411607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28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entity-relationship</a:t>
            </a:r>
            <a:r>
              <a:rPr dirty="0" sz="2200" spc="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diagram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(ERD)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has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following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main</a:t>
            </a:r>
            <a:r>
              <a:rPr dirty="0" sz="22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components.</a:t>
            </a:r>
            <a:endParaRPr sz="22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108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2000" b="1">
                <a:solidFill>
                  <a:srgbClr val="3C3C3C"/>
                </a:solidFill>
                <a:latin typeface="Gill Sans MT"/>
                <a:cs typeface="Gill Sans MT"/>
              </a:rPr>
              <a:t>ENTITY</a:t>
            </a:r>
            <a:endParaRPr sz="20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2000" spc="-35" b="1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endParaRPr sz="20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2000" spc="-25" b="1">
                <a:solidFill>
                  <a:srgbClr val="3C3C3C"/>
                </a:solidFill>
                <a:latin typeface="Gill Sans MT"/>
                <a:cs typeface="Gill Sans MT"/>
              </a:rPr>
              <a:t>RELATIONSHIP</a:t>
            </a:r>
            <a:endParaRPr sz="2000">
              <a:latin typeface="Gill Sans MT"/>
              <a:cs typeface="Gill Sans MT"/>
            </a:endParaRPr>
          </a:p>
          <a:p>
            <a:pPr lvl="1">
              <a:lnSpc>
                <a:spcPct val="100000"/>
              </a:lnSpc>
              <a:buClr>
                <a:srgbClr val="4590B8"/>
              </a:buClr>
              <a:buFont typeface="Wingdings 2"/>
              <a:buChar char=""/>
            </a:pPr>
            <a:endParaRPr sz="2300">
              <a:latin typeface="Gill Sans MT"/>
              <a:cs typeface="Gill Sans MT"/>
            </a:endParaRPr>
          </a:p>
          <a:p>
            <a:pPr algn="just" marL="317500" marR="5080" indent="-304800">
              <a:lnSpc>
                <a:spcPct val="100000"/>
              </a:lnSpc>
              <a:spcBef>
                <a:spcPts val="193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dirty="0" sz="2200" spc="-50" b="1">
                <a:solidFill>
                  <a:srgbClr val="3C3C3C"/>
                </a:solidFill>
                <a:latin typeface="Gill Sans MT"/>
                <a:cs typeface="Gill Sans MT"/>
              </a:rPr>
              <a:t>ENTITY,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 entity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real-world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object, either animate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or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inanimate, that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easily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identifiable.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example,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school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database, students, teachers,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classes,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courses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offered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considered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as entities.</a:t>
            </a:r>
            <a:r>
              <a:rPr dirty="0" sz="2000" spc="-229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Entities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represented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rectangle.</a:t>
            </a:r>
            <a:endParaRPr sz="2000">
              <a:latin typeface="Gill Sans MT"/>
              <a:cs typeface="Gill Sans MT"/>
            </a:endParaRPr>
          </a:p>
          <a:p>
            <a:pPr algn="just" marL="317500" marR="5080" indent="-304800">
              <a:lnSpc>
                <a:spcPct val="100000"/>
              </a:lnSpc>
              <a:spcBef>
                <a:spcPts val="109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 entity can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be a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weak </a:t>
            </a:r>
            <a:r>
              <a:rPr dirty="0" sz="2000" spc="-15" b="1" i="1">
                <a:solidFill>
                  <a:srgbClr val="3C3C3C"/>
                </a:solidFill>
                <a:latin typeface="Gill Sans MT"/>
                <a:cs typeface="Gill Sans MT"/>
              </a:rPr>
              <a:t>entity,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it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must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defined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by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foreign 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key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relationship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with another entity as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it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cannot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uniquely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identified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its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own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attributes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alone.</a:t>
            </a:r>
            <a:endParaRPr sz="2000">
              <a:latin typeface="Gill Sans MT"/>
              <a:cs typeface="Gill Sans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E-R</a:t>
                      </a:r>
                      <a:r>
                        <a:rPr dirty="0" sz="3000" spc="-5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MODEL</a:t>
                      </a:r>
                      <a:endParaRPr sz="3000">
                        <a:latin typeface="Constantia"/>
                        <a:cs typeface="Constant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205740">
                        <a:lnSpc>
                          <a:spcPct val="100000"/>
                        </a:lnSpc>
                        <a:spcBef>
                          <a:spcPts val="2215"/>
                        </a:spcBef>
                      </a:pP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E-R</a:t>
                      </a:r>
                      <a:r>
                        <a:rPr dirty="0" sz="3000" spc="-5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MODEL</a:t>
                      </a:r>
                      <a:endParaRPr sz="3000">
                        <a:latin typeface="Constantia"/>
                        <a:cs typeface="Constant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380" y="2059425"/>
            <a:ext cx="3265587" cy="3000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2873" y="1951685"/>
            <a:ext cx="328930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0000"/>
                </a:solidFill>
              </a:rPr>
              <a:t>What</a:t>
            </a:r>
            <a:r>
              <a:rPr dirty="0" sz="2400" spc="-2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Should</a:t>
            </a:r>
            <a:r>
              <a:rPr dirty="0" sz="2400" spc="-3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an</a:t>
            </a:r>
            <a:r>
              <a:rPr dirty="0" sz="2400" spc="-3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Entity</a:t>
            </a:r>
            <a:r>
              <a:rPr dirty="0" sz="2400" spc="-3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be?</a:t>
            </a:r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701040" y="2392679"/>
            <a:ext cx="6607809" cy="3367404"/>
            <a:chOff x="701040" y="2392679"/>
            <a:chExt cx="6607809" cy="336740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065" y="2630823"/>
              <a:ext cx="132378" cy="12714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0788" y="2392679"/>
              <a:ext cx="1687830" cy="6774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036" y="2973323"/>
              <a:ext cx="409194" cy="4640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5880" y="2909315"/>
              <a:ext cx="5982462" cy="5676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036" y="3415283"/>
              <a:ext cx="409194" cy="46405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25880" y="3351275"/>
              <a:ext cx="5916930" cy="5676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036" y="3857243"/>
              <a:ext cx="409194" cy="46405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5880" y="3793235"/>
              <a:ext cx="4254246" cy="5676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040" y="4308347"/>
              <a:ext cx="488429" cy="5539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0788" y="4233672"/>
              <a:ext cx="2193798" cy="6774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036" y="4814315"/>
              <a:ext cx="409194" cy="4640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25880" y="4750307"/>
              <a:ext cx="3507486" cy="56769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036" y="5256275"/>
              <a:ext cx="409194" cy="46405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5880" y="5192267"/>
              <a:ext cx="5285994" cy="56769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42873" y="2301394"/>
            <a:ext cx="6298565" cy="328549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40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400">
                <a:latin typeface="Gill Sans MT"/>
                <a:cs typeface="Gill Sans MT"/>
              </a:rPr>
              <a:t>Should</a:t>
            </a:r>
            <a:r>
              <a:rPr dirty="0" sz="2400" spc="-45">
                <a:latin typeface="Gill Sans MT"/>
                <a:cs typeface="Gill Sans MT"/>
              </a:rPr>
              <a:t> </a:t>
            </a:r>
            <a:r>
              <a:rPr dirty="0" sz="2400">
                <a:latin typeface="Gill Sans MT"/>
                <a:cs typeface="Gill Sans MT"/>
              </a:rPr>
              <a:t>be:</a:t>
            </a:r>
            <a:endParaRPr sz="24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109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2000">
                <a:latin typeface="Gill Sans MT"/>
                <a:cs typeface="Gill Sans MT"/>
              </a:rPr>
              <a:t>An</a:t>
            </a:r>
            <a:r>
              <a:rPr dirty="0" sz="2000" spc="-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object</a:t>
            </a:r>
            <a:r>
              <a:rPr dirty="0" sz="2000" spc="-3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that</a:t>
            </a:r>
            <a:r>
              <a:rPr dirty="0" sz="2000" spc="-3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will</a:t>
            </a:r>
            <a:r>
              <a:rPr dirty="0" sz="2000" spc="-25">
                <a:latin typeface="Gill Sans MT"/>
                <a:cs typeface="Gill Sans MT"/>
              </a:rPr>
              <a:t> </a:t>
            </a:r>
            <a:r>
              <a:rPr dirty="0" sz="2000" spc="-30">
                <a:latin typeface="Gill Sans MT"/>
                <a:cs typeface="Gill Sans MT"/>
              </a:rPr>
              <a:t>have</a:t>
            </a:r>
            <a:r>
              <a:rPr dirty="0" sz="2000" spc="-20">
                <a:latin typeface="Gill Sans MT"/>
                <a:cs typeface="Gill Sans MT"/>
              </a:rPr>
              <a:t> </a:t>
            </a:r>
            <a:r>
              <a:rPr dirty="0" sz="2000" spc="-10">
                <a:latin typeface="Gill Sans MT"/>
                <a:cs typeface="Gill Sans MT"/>
              </a:rPr>
              <a:t>many</a:t>
            </a:r>
            <a:r>
              <a:rPr dirty="0" sz="2000" spc="-4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instances</a:t>
            </a:r>
            <a:r>
              <a:rPr dirty="0" sz="2000" spc="-20">
                <a:latin typeface="Gill Sans MT"/>
                <a:cs typeface="Gill Sans MT"/>
              </a:rPr>
              <a:t> </a:t>
            </a:r>
            <a:r>
              <a:rPr dirty="0" sz="2000" spc="-5">
                <a:latin typeface="Gill Sans MT"/>
                <a:cs typeface="Gill Sans MT"/>
              </a:rPr>
              <a:t>in</a:t>
            </a:r>
            <a:r>
              <a:rPr dirty="0" sz="2000" spc="-2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the</a:t>
            </a:r>
            <a:r>
              <a:rPr dirty="0" sz="2000" spc="-2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database</a:t>
            </a:r>
            <a:endParaRPr sz="20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2000" spc="-5">
                <a:latin typeface="Gill Sans MT"/>
                <a:cs typeface="Gill Sans MT"/>
              </a:rPr>
              <a:t>An</a:t>
            </a:r>
            <a:r>
              <a:rPr dirty="0" sz="2000">
                <a:latin typeface="Gill Sans MT"/>
                <a:cs typeface="Gill Sans MT"/>
              </a:rPr>
              <a:t> object</a:t>
            </a:r>
            <a:r>
              <a:rPr dirty="0" sz="2000" spc="-3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that</a:t>
            </a:r>
            <a:r>
              <a:rPr dirty="0" sz="2000" spc="-25">
                <a:latin typeface="Gill Sans MT"/>
                <a:cs typeface="Gill Sans MT"/>
              </a:rPr>
              <a:t> </a:t>
            </a:r>
            <a:r>
              <a:rPr dirty="0" sz="2000" spc="-5">
                <a:latin typeface="Gill Sans MT"/>
                <a:cs typeface="Gill Sans MT"/>
              </a:rPr>
              <a:t>will</a:t>
            </a:r>
            <a:r>
              <a:rPr dirty="0" sz="2000" spc="-2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be</a:t>
            </a:r>
            <a:r>
              <a:rPr dirty="0" sz="2000" spc="-1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composed</a:t>
            </a:r>
            <a:r>
              <a:rPr dirty="0" sz="2000" spc="-2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of</a:t>
            </a:r>
            <a:r>
              <a:rPr dirty="0" sz="2000" spc="-15">
                <a:latin typeface="Gill Sans MT"/>
                <a:cs typeface="Gill Sans MT"/>
              </a:rPr>
              <a:t> </a:t>
            </a:r>
            <a:r>
              <a:rPr dirty="0" sz="2000" spc="-5">
                <a:latin typeface="Gill Sans MT"/>
                <a:cs typeface="Gill Sans MT"/>
              </a:rPr>
              <a:t>multiple</a:t>
            </a:r>
            <a:r>
              <a:rPr dirty="0" sz="2000" spc="-3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attributes</a:t>
            </a:r>
            <a:endParaRPr sz="20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108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2000">
                <a:latin typeface="Gill Sans MT"/>
                <a:cs typeface="Gill Sans MT"/>
              </a:rPr>
              <a:t>An</a:t>
            </a:r>
            <a:r>
              <a:rPr dirty="0" sz="2000" spc="-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object</a:t>
            </a:r>
            <a:r>
              <a:rPr dirty="0" sz="2000" spc="-4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that</a:t>
            </a:r>
            <a:r>
              <a:rPr dirty="0" sz="2000" spc="-35">
                <a:latin typeface="Gill Sans MT"/>
                <a:cs typeface="Gill Sans MT"/>
              </a:rPr>
              <a:t> </a:t>
            </a:r>
            <a:r>
              <a:rPr dirty="0" sz="2000" spc="-20">
                <a:latin typeface="Gill Sans MT"/>
                <a:cs typeface="Gill Sans MT"/>
              </a:rPr>
              <a:t>we </a:t>
            </a:r>
            <a:r>
              <a:rPr dirty="0" sz="2000" spc="-15">
                <a:latin typeface="Gill Sans MT"/>
                <a:cs typeface="Gill Sans MT"/>
              </a:rPr>
              <a:t>are</a:t>
            </a:r>
            <a:r>
              <a:rPr dirty="0" sz="2000" spc="-20">
                <a:latin typeface="Gill Sans MT"/>
                <a:cs typeface="Gill Sans MT"/>
              </a:rPr>
              <a:t> </a:t>
            </a:r>
            <a:r>
              <a:rPr dirty="0" sz="2000" spc="10">
                <a:latin typeface="Gill Sans MT"/>
                <a:cs typeface="Gill Sans MT"/>
              </a:rPr>
              <a:t>trying</a:t>
            </a:r>
            <a:r>
              <a:rPr dirty="0" sz="2000" spc="-3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to</a:t>
            </a:r>
            <a:r>
              <a:rPr dirty="0" sz="2000" spc="-3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model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6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400">
                <a:latin typeface="Gill Sans MT"/>
                <a:cs typeface="Gill Sans MT"/>
              </a:rPr>
              <a:t>Should</a:t>
            </a:r>
            <a:r>
              <a:rPr dirty="0" sz="2400" spc="-30">
                <a:latin typeface="Gill Sans MT"/>
                <a:cs typeface="Gill Sans MT"/>
              </a:rPr>
              <a:t> </a:t>
            </a:r>
            <a:r>
              <a:rPr dirty="0" sz="2400">
                <a:latin typeface="Gill Sans MT"/>
                <a:cs typeface="Gill Sans MT"/>
              </a:rPr>
              <a:t>not</a:t>
            </a:r>
            <a:r>
              <a:rPr dirty="0" sz="2400" spc="-25">
                <a:latin typeface="Gill Sans MT"/>
                <a:cs typeface="Gill Sans MT"/>
              </a:rPr>
              <a:t> </a:t>
            </a:r>
            <a:r>
              <a:rPr dirty="0" sz="2400">
                <a:latin typeface="Gill Sans MT"/>
                <a:cs typeface="Gill Sans MT"/>
              </a:rPr>
              <a:t>be:</a:t>
            </a:r>
            <a:endParaRPr sz="24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109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2000">
                <a:latin typeface="Gill Sans MT"/>
                <a:cs typeface="Gill Sans MT"/>
              </a:rPr>
              <a:t>A</a:t>
            </a:r>
            <a:r>
              <a:rPr dirty="0" sz="2000" spc="-2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user</a:t>
            </a:r>
            <a:r>
              <a:rPr dirty="0" sz="2000" spc="-10">
                <a:latin typeface="Gill Sans MT"/>
                <a:cs typeface="Gill Sans MT"/>
              </a:rPr>
              <a:t> </a:t>
            </a:r>
            <a:r>
              <a:rPr dirty="0" sz="2000" spc="-5">
                <a:latin typeface="Gill Sans MT"/>
                <a:cs typeface="Gill Sans MT"/>
              </a:rPr>
              <a:t>of</a:t>
            </a:r>
            <a:r>
              <a:rPr dirty="0" sz="2000" spc="-2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the</a:t>
            </a:r>
            <a:r>
              <a:rPr dirty="0" sz="2000" spc="-3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database</a:t>
            </a:r>
            <a:r>
              <a:rPr dirty="0" sz="2000" spc="-2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system</a:t>
            </a:r>
            <a:endParaRPr sz="20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108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2000">
                <a:latin typeface="Gill Sans MT"/>
                <a:cs typeface="Gill Sans MT"/>
              </a:rPr>
              <a:t>An</a:t>
            </a:r>
            <a:r>
              <a:rPr dirty="0" sz="200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out</a:t>
            </a:r>
            <a:r>
              <a:rPr dirty="0" sz="2000" spc="5">
                <a:latin typeface="Gill Sans MT"/>
                <a:cs typeface="Gill Sans MT"/>
              </a:rPr>
              <a:t>p</a:t>
            </a:r>
            <a:r>
              <a:rPr dirty="0" sz="2000">
                <a:latin typeface="Gill Sans MT"/>
                <a:cs typeface="Gill Sans MT"/>
              </a:rPr>
              <a:t>ut</a:t>
            </a:r>
            <a:r>
              <a:rPr dirty="0" sz="2000" spc="-4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of</a:t>
            </a:r>
            <a:r>
              <a:rPr dirty="0" sz="2000" spc="-1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t</a:t>
            </a:r>
            <a:r>
              <a:rPr dirty="0" sz="2000" spc="5">
                <a:latin typeface="Gill Sans MT"/>
                <a:cs typeface="Gill Sans MT"/>
              </a:rPr>
              <a:t>h</a:t>
            </a:r>
            <a:r>
              <a:rPr dirty="0" sz="2000">
                <a:latin typeface="Gill Sans MT"/>
                <a:cs typeface="Gill Sans MT"/>
              </a:rPr>
              <a:t>e</a:t>
            </a:r>
            <a:r>
              <a:rPr dirty="0" sz="2000" spc="-3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databa</a:t>
            </a:r>
            <a:r>
              <a:rPr dirty="0" sz="2000" spc="-10">
                <a:latin typeface="Gill Sans MT"/>
                <a:cs typeface="Gill Sans MT"/>
              </a:rPr>
              <a:t>s</a:t>
            </a:r>
            <a:r>
              <a:rPr dirty="0" sz="2000">
                <a:latin typeface="Gill Sans MT"/>
                <a:cs typeface="Gill Sans MT"/>
              </a:rPr>
              <a:t>e</a:t>
            </a:r>
            <a:r>
              <a:rPr dirty="0" sz="2000" spc="-15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sy</a:t>
            </a:r>
            <a:r>
              <a:rPr dirty="0" sz="2000" spc="-10">
                <a:latin typeface="Gill Sans MT"/>
                <a:cs typeface="Gill Sans MT"/>
              </a:rPr>
              <a:t>s</a:t>
            </a:r>
            <a:r>
              <a:rPr dirty="0" sz="2000">
                <a:latin typeface="Gill Sans MT"/>
                <a:cs typeface="Gill Sans MT"/>
              </a:rPr>
              <a:t>tem</a:t>
            </a:r>
            <a:r>
              <a:rPr dirty="0" sz="2000" spc="5">
                <a:latin typeface="Gill Sans MT"/>
                <a:cs typeface="Gill Sans MT"/>
              </a:rPr>
              <a:t> </a:t>
            </a:r>
            <a:r>
              <a:rPr dirty="0" sz="2000" spc="-5">
                <a:latin typeface="Gill Sans MT"/>
                <a:cs typeface="Gill Sans MT"/>
              </a:rPr>
              <a:t>(</a:t>
            </a:r>
            <a:r>
              <a:rPr dirty="0" sz="2000" spc="25">
                <a:latin typeface="Gill Sans MT"/>
                <a:cs typeface="Gill Sans MT"/>
              </a:rPr>
              <a:t>e</a:t>
            </a:r>
            <a:r>
              <a:rPr dirty="0" sz="2000" spc="-5">
                <a:latin typeface="Gill Sans MT"/>
                <a:cs typeface="Gill Sans MT"/>
              </a:rPr>
              <a:t>.g</a:t>
            </a:r>
            <a:r>
              <a:rPr dirty="0" sz="2000">
                <a:latin typeface="Gill Sans MT"/>
                <a:cs typeface="Gill Sans MT"/>
              </a:rPr>
              <a:t>.</a:t>
            </a:r>
            <a:r>
              <a:rPr dirty="0" sz="2000" spc="-220">
                <a:latin typeface="Gill Sans MT"/>
                <a:cs typeface="Gill Sans MT"/>
              </a:rPr>
              <a:t> </a:t>
            </a:r>
            <a:r>
              <a:rPr dirty="0" sz="2000">
                <a:latin typeface="Gill Sans MT"/>
                <a:cs typeface="Gill Sans MT"/>
              </a:rPr>
              <a:t>a</a:t>
            </a:r>
            <a:r>
              <a:rPr dirty="0" sz="2000" spc="-10">
                <a:latin typeface="Gill Sans MT"/>
                <a:cs typeface="Gill Sans MT"/>
              </a:rPr>
              <a:t> </a:t>
            </a:r>
            <a:r>
              <a:rPr dirty="0" sz="2000" spc="-40">
                <a:latin typeface="Gill Sans MT"/>
                <a:cs typeface="Gill Sans MT"/>
              </a:rPr>
              <a:t>r</a:t>
            </a:r>
            <a:r>
              <a:rPr dirty="0" sz="2000">
                <a:latin typeface="Gill Sans MT"/>
                <a:cs typeface="Gill Sans MT"/>
              </a:rPr>
              <a:t>epo</a:t>
            </a:r>
            <a:r>
              <a:rPr dirty="0" sz="2000" spc="30">
                <a:latin typeface="Gill Sans MT"/>
                <a:cs typeface="Gill Sans MT"/>
              </a:rPr>
              <a:t>r</a:t>
            </a:r>
            <a:r>
              <a:rPr dirty="0" sz="2000">
                <a:latin typeface="Gill Sans MT"/>
                <a:cs typeface="Gill Sans MT"/>
              </a:rPr>
              <a:t>t)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E-R</a:t>
                      </a:r>
                      <a:r>
                        <a:rPr dirty="0" sz="3000" spc="-5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MODEL</a:t>
                      </a:r>
                      <a:endParaRPr sz="3000">
                        <a:latin typeface="Constantia"/>
                        <a:cs typeface="Constant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0084" y="3507104"/>
            <a:ext cx="10496550" cy="1884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9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200" spc="-35" b="1">
                <a:solidFill>
                  <a:srgbClr val="3C3C3C"/>
                </a:solidFill>
                <a:latin typeface="Gill Sans MT"/>
                <a:cs typeface="Gill Sans MT"/>
              </a:rPr>
              <a:t>ATTRIBUTE,</a:t>
            </a:r>
            <a:r>
              <a:rPr dirty="0" sz="2200" spc="-130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properties</a:t>
            </a:r>
            <a:r>
              <a:rPr dirty="0" sz="2000" spc="6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2000" spc="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characteristics</a:t>
            </a:r>
            <a:r>
              <a:rPr dirty="0" sz="2000" spc="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000" spc="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dirty="0" sz="2000" spc="6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entity</a:t>
            </a:r>
            <a:r>
              <a:rPr dirty="0" sz="2000" spc="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2000" spc="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called</a:t>
            </a:r>
            <a:r>
              <a:rPr dirty="0" sz="2000" spc="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>
                <a:solidFill>
                  <a:srgbClr val="3C3C3C"/>
                </a:solidFill>
                <a:latin typeface="Gill Sans MT"/>
                <a:cs typeface="Gill Sans MT"/>
              </a:rPr>
              <a:t>attributes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r>
              <a:rPr dirty="0" sz="2000" spc="-1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All</a:t>
            </a:r>
            <a:r>
              <a:rPr dirty="0" sz="2000" spc="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attributes </a:t>
            </a:r>
            <a:r>
              <a:rPr dirty="0" sz="2000" spc="-5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have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values.</a:t>
            </a:r>
            <a:endParaRPr sz="2000">
              <a:latin typeface="Gill Sans MT"/>
              <a:cs typeface="Gill Sans MT"/>
            </a:endParaRPr>
          </a:p>
          <a:p>
            <a:pPr lvl="1" marL="968375" indent="-631825">
              <a:lnSpc>
                <a:spcPct val="100000"/>
              </a:lnSpc>
              <a:spcBef>
                <a:spcPts val="105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968375" algn="l"/>
                <a:tab pos="96901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0">
                <a:solidFill>
                  <a:srgbClr val="3C3C3C"/>
                </a:solidFill>
                <a:latin typeface="Gill Sans MT"/>
                <a:cs typeface="Gill Sans MT"/>
              </a:rPr>
              <a:t>k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uniqu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6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dis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ingui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shing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characteristic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entit</a:t>
            </a:r>
            <a:r>
              <a:rPr dirty="0" sz="1800" spc="-14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  <a:p>
            <a:pPr lvl="1" marL="927100" indent="-59055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927100" algn="l"/>
                <a:tab pos="927735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Attributes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represented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ovals.</a:t>
            </a:r>
            <a:endParaRPr sz="1800">
              <a:latin typeface="Gill Sans MT"/>
              <a:cs typeface="Gill Sans MT"/>
            </a:endParaRPr>
          </a:p>
          <a:p>
            <a:pPr lvl="1" marL="927100" indent="-59055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927100" algn="l"/>
                <a:tab pos="927735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be,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696" y="5384389"/>
            <a:ext cx="6525895" cy="81661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94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317500" algn="l"/>
                <a:tab pos="318135" algn="l"/>
              </a:tabLst>
            </a:pPr>
            <a:r>
              <a:rPr dirty="0" sz="1600" spc="-5" b="1" i="1">
                <a:solidFill>
                  <a:srgbClr val="3C3C3C"/>
                </a:solidFill>
                <a:latin typeface="Gill Sans MT"/>
                <a:cs typeface="Gill Sans MT"/>
              </a:rPr>
              <a:t>Composite</a:t>
            </a:r>
            <a:r>
              <a:rPr dirty="0" sz="1600" spc="1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 b="1" i="1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600" spc="-1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16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6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be further</a:t>
            </a:r>
            <a:r>
              <a:rPr dirty="0" sz="16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subdivided.</a:t>
            </a:r>
            <a:endParaRPr sz="1600">
              <a:latin typeface="Gill Sans MT"/>
              <a:cs typeface="Gill Sans MT"/>
            </a:endParaRPr>
          </a:p>
          <a:p>
            <a:pPr lvl="1" marL="587375" indent="-270510">
              <a:lnSpc>
                <a:spcPct val="100000"/>
              </a:lnSpc>
              <a:spcBef>
                <a:spcPts val="106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587375" algn="l"/>
                <a:tab pos="588010" algn="l"/>
              </a:tabLst>
            </a:pPr>
            <a:r>
              <a:rPr dirty="0" sz="2000" spc="-45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examp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ess</a:t>
            </a:r>
            <a:r>
              <a:rPr dirty="0" sz="20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divided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into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ci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 spc="-16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000" spc="-2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eet,</a:t>
            </a:r>
            <a:r>
              <a:rPr dirty="0" sz="2000" spc="-2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stat</a:t>
            </a:r>
            <a:r>
              <a:rPr dirty="0" sz="20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7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4561" y="1905761"/>
            <a:ext cx="1447800" cy="838200"/>
          </a:xfrm>
          <a:prstGeom prst="rect">
            <a:avLst/>
          </a:prstGeom>
          <a:ln w="22859">
            <a:solidFill>
              <a:srgbClr val="0F2144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Gill Sans MT"/>
                <a:cs typeface="Gill Sans MT"/>
              </a:rPr>
              <a:t>Entity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01561" y="1905761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0" y="838200"/>
                </a:moveTo>
                <a:lnTo>
                  <a:pt x="1447799" y="838200"/>
                </a:lnTo>
                <a:lnTo>
                  <a:pt x="1447799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22860">
            <a:solidFill>
              <a:srgbClr val="0F21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77761" y="1981961"/>
            <a:ext cx="1295400" cy="685800"/>
          </a:xfrm>
          <a:prstGeom prst="rect">
            <a:avLst/>
          </a:prstGeom>
          <a:ln w="22859">
            <a:solidFill>
              <a:srgbClr val="0F2144"/>
            </a:solidFill>
          </a:ln>
        </p:spPr>
        <p:txBody>
          <a:bodyPr wrap="square" lIns="0" tIns="59054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464"/>
              </a:spcBef>
            </a:pPr>
            <a:r>
              <a:rPr dirty="0" sz="1800" spc="-40">
                <a:latin typeface="Gill Sans MT"/>
                <a:cs typeface="Gill Sans MT"/>
              </a:rPr>
              <a:t>Weak</a:t>
            </a:r>
            <a:endParaRPr sz="1800">
              <a:latin typeface="Gill Sans MT"/>
              <a:cs typeface="Gill Sans MT"/>
            </a:endParaRPr>
          </a:p>
          <a:p>
            <a:pPr marL="381635">
              <a:lnSpc>
                <a:spcPct val="100000"/>
              </a:lnSpc>
            </a:pPr>
            <a:r>
              <a:rPr dirty="0" sz="1800">
                <a:latin typeface="Gill Sans MT"/>
                <a:cs typeface="Gill Sans MT"/>
              </a:rPr>
              <a:t>Entity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54161" y="5182361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0" y="533400"/>
                </a:moveTo>
                <a:lnTo>
                  <a:pt x="7999" y="461009"/>
                </a:lnTo>
                <a:lnTo>
                  <a:pt x="31300" y="391583"/>
                </a:lnTo>
                <a:lnTo>
                  <a:pt x="68859" y="325755"/>
                </a:lnTo>
                <a:lnTo>
                  <a:pt x="92660" y="294388"/>
                </a:lnTo>
                <a:lnTo>
                  <a:pt x="119634" y="264160"/>
                </a:lnTo>
                <a:lnTo>
                  <a:pt x="149650" y="235148"/>
                </a:lnTo>
                <a:lnTo>
                  <a:pt x="182579" y="207433"/>
                </a:lnTo>
                <a:lnTo>
                  <a:pt x="218289" y="181094"/>
                </a:lnTo>
                <a:lnTo>
                  <a:pt x="256651" y="156210"/>
                </a:lnTo>
                <a:lnTo>
                  <a:pt x="297533" y="132860"/>
                </a:lnTo>
                <a:lnTo>
                  <a:pt x="340806" y="111125"/>
                </a:lnTo>
                <a:lnTo>
                  <a:pt x="386339" y="91082"/>
                </a:lnTo>
                <a:lnTo>
                  <a:pt x="434001" y="72813"/>
                </a:lnTo>
                <a:lnTo>
                  <a:pt x="483662" y="56395"/>
                </a:lnTo>
                <a:lnTo>
                  <a:pt x="535191" y="41909"/>
                </a:lnTo>
                <a:lnTo>
                  <a:pt x="588459" y="29434"/>
                </a:lnTo>
                <a:lnTo>
                  <a:pt x="643334" y="19049"/>
                </a:lnTo>
                <a:lnTo>
                  <a:pt x="699686" y="10834"/>
                </a:lnTo>
                <a:lnTo>
                  <a:pt x="757385" y="4868"/>
                </a:lnTo>
                <a:lnTo>
                  <a:pt x="816299" y="1230"/>
                </a:lnTo>
                <a:lnTo>
                  <a:pt x="876300" y="0"/>
                </a:lnTo>
                <a:lnTo>
                  <a:pt x="936300" y="1230"/>
                </a:lnTo>
                <a:lnTo>
                  <a:pt x="995214" y="4868"/>
                </a:lnTo>
                <a:lnTo>
                  <a:pt x="1052913" y="10834"/>
                </a:lnTo>
                <a:lnTo>
                  <a:pt x="1109265" y="19050"/>
                </a:lnTo>
                <a:lnTo>
                  <a:pt x="1164140" y="29434"/>
                </a:lnTo>
                <a:lnTo>
                  <a:pt x="1217408" y="41910"/>
                </a:lnTo>
                <a:lnTo>
                  <a:pt x="1268937" y="56395"/>
                </a:lnTo>
                <a:lnTo>
                  <a:pt x="1318598" y="72813"/>
                </a:lnTo>
                <a:lnTo>
                  <a:pt x="1366260" y="91082"/>
                </a:lnTo>
                <a:lnTo>
                  <a:pt x="1411793" y="111125"/>
                </a:lnTo>
                <a:lnTo>
                  <a:pt x="1455066" y="132860"/>
                </a:lnTo>
                <a:lnTo>
                  <a:pt x="1495948" y="156210"/>
                </a:lnTo>
                <a:lnTo>
                  <a:pt x="1534310" y="181094"/>
                </a:lnTo>
                <a:lnTo>
                  <a:pt x="1570020" y="207433"/>
                </a:lnTo>
                <a:lnTo>
                  <a:pt x="1602949" y="235148"/>
                </a:lnTo>
                <a:lnTo>
                  <a:pt x="1632965" y="264160"/>
                </a:lnTo>
                <a:lnTo>
                  <a:pt x="1659939" y="294388"/>
                </a:lnTo>
                <a:lnTo>
                  <a:pt x="1683740" y="325755"/>
                </a:lnTo>
                <a:lnTo>
                  <a:pt x="1704237" y="358179"/>
                </a:lnTo>
                <a:lnTo>
                  <a:pt x="1734797" y="425886"/>
                </a:lnTo>
                <a:lnTo>
                  <a:pt x="1750578" y="496874"/>
                </a:lnTo>
                <a:lnTo>
                  <a:pt x="1752600" y="533400"/>
                </a:lnTo>
                <a:lnTo>
                  <a:pt x="1750578" y="569919"/>
                </a:lnTo>
                <a:lnTo>
                  <a:pt x="1734797" y="640898"/>
                </a:lnTo>
                <a:lnTo>
                  <a:pt x="1704237" y="708600"/>
                </a:lnTo>
                <a:lnTo>
                  <a:pt x="1683740" y="741023"/>
                </a:lnTo>
                <a:lnTo>
                  <a:pt x="1659939" y="772389"/>
                </a:lnTo>
                <a:lnTo>
                  <a:pt x="1632965" y="802617"/>
                </a:lnTo>
                <a:lnTo>
                  <a:pt x="1602949" y="831629"/>
                </a:lnTo>
                <a:lnTo>
                  <a:pt x="1570020" y="859345"/>
                </a:lnTo>
                <a:lnTo>
                  <a:pt x="1534310" y="885685"/>
                </a:lnTo>
                <a:lnTo>
                  <a:pt x="1495948" y="910570"/>
                </a:lnTo>
                <a:lnTo>
                  <a:pt x="1455066" y="933922"/>
                </a:lnTo>
                <a:lnTo>
                  <a:pt x="1411793" y="955659"/>
                </a:lnTo>
                <a:lnTo>
                  <a:pt x="1366260" y="975703"/>
                </a:lnTo>
                <a:lnTo>
                  <a:pt x="1318598" y="993975"/>
                </a:lnTo>
                <a:lnTo>
                  <a:pt x="1268937" y="1010394"/>
                </a:lnTo>
                <a:lnTo>
                  <a:pt x="1217408" y="1024882"/>
                </a:lnTo>
                <a:lnTo>
                  <a:pt x="1164140" y="1037359"/>
                </a:lnTo>
                <a:lnTo>
                  <a:pt x="1109265" y="1047746"/>
                </a:lnTo>
                <a:lnTo>
                  <a:pt x="1052913" y="1055963"/>
                </a:lnTo>
                <a:lnTo>
                  <a:pt x="995214" y="1061930"/>
                </a:lnTo>
                <a:lnTo>
                  <a:pt x="936300" y="1065569"/>
                </a:lnTo>
                <a:lnTo>
                  <a:pt x="876300" y="1066800"/>
                </a:lnTo>
                <a:lnTo>
                  <a:pt x="816299" y="1065569"/>
                </a:lnTo>
                <a:lnTo>
                  <a:pt x="757385" y="1061930"/>
                </a:lnTo>
                <a:lnTo>
                  <a:pt x="699686" y="1055963"/>
                </a:lnTo>
                <a:lnTo>
                  <a:pt x="643334" y="1047746"/>
                </a:lnTo>
                <a:lnTo>
                  <a:pt x="588459" y="1037359"/>
                </a:lnTo>
                <a:lnTo>
                  <a:pt x="535191" y="1024882"/>
                </a:lnTo>
                <a:lnTo>
                  <a:pt x="483662" y="1010394"/>
                </a:lnTo>
                <a:lnTo>
                  <a:pt x="434001" y="993975"/>
                </a:lnTo>
                <a:lnTo>
                  <a:pt x="386339" y="975703"/>
                </a:lnTo>
                <a:lnTo>
                  <a:pt x="340806" y="955659"/>
                </a:lnTo>
                <a:lnTo>
                  <a:pt x="297533" y="933922"/>
                </a:lnTo>
                <a:lnTo>
                  <a:pt x="256651" y="910570"/>
                </a:lnTo>
                <a:lnTo>
                  <a:pt x="218289" y="885685"/>
                </a:lnTo>
                <a:lnTo>
                  <a:pt x="182579" y="859345"/>
                </a:lnTo>
                <a:lnTo>
                  <a:pt x="149650" y="831629"/>
                </a:lnTo>
                <a:lnTo>
                  <a:pt x="119634" y="802617"/>
                </a:lnTo>
                <a:lnTo>
                  <a:pt x="92660" y="772389"/>
                </a:lnTo>
                <a:lnTo>
                  <a:pt x="68859" y="741023"/>
                </a:lnTo>
                <a:lnTo>
                  <a:pt x="48362" y="708600"/>
                </a:lnTo>
                <a:lnTo>
                  <a:pt x="17802" y="640898"/>
                </a:lnTo>
                <a:lnTo>
                  <a:pt x="2021" y="569919"/>
                </a:lnTo>
                <a:lnTo>
                  <a:pt x="0" y="533400"/>
                </a:lnTo>
                <a:close/>
              </a:path>
            </a:pathLst>
          </a:custGeom>
          <a:ln w="22860">
            <a:solidFill>
              <a:srgbClr val="0F21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87867" y="5557215"/>
            <a:ext cx="885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Gill Sans MT"/>
                <a:cs typeface="Gill Sans MT"/>
              </a:rPr>
              <a:t>Attribute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3600" b="1">
                          <a:latin typeface="Constantia"/>
                          <a:cs typeface="Constantia"/>
                        </a:rPr>
                        <a:t>E-R</a:t>
                      </a:r>
                      <a:r>
                        <a:rPr dirty="0" sz="3600" spc="-30" b="1"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600" spc="-5" b="1">
                          <a:latin typeface="Constantia"/>
                          <a:cs typeface="Constantia"/>
                        </a:rPr>
                        <a:t>MODEL</a:t>
                      </a:r>
                      <a:r>
                        <a:rPr dirty="0" sz="3600" spc="-105" b="1"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600" spc="-5" b="1">
                          <a:latin typeface="Constantia"/>
                          <a:cs typeface="Constantia"/>
                        </a:rPr>
                        <a:t>(CONT’D)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B="0" marT="9906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2847" y="2110867"/>
            <a:ext cx="10547350" cy="6356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pc="-10" b="1" i="1">
                <a:latin typeface="Gill Sans MT"/>
                <a:cs typeface="Gill Sans MT"/>
              </a:rPr>
              <a:t>Multivalued</a:t>
            </a:r>
            <a:r>
              <a:rPr dirty="0" spc="325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attribute</a:t>
            </a:r>
            <a:r>
              <a:rPr dirty="0" spc="330" b="1" i="1">
                <a:latin typeface="Gill Sans MT"/>
                <a:cs typeface="Gill Sans MT"/>
              </a:rPr>
              <a:t> </a:t>
            </a:r>
            <a:r>
              <a:rPr dirty="0" spc="-5"/>
              <a:t>that</a:t>
            </a:r>
            <a:r>
              <a:rPr dirty="0" spc="315"/>
              <a:t> </a:t>
            </a:r>
            <a:r>
              <a:rPr dirty="0" spc="-30"/>
              <a:t>have</a:t>
            </a:r>
            <a:r>
              <a:rPr dirty="0" spc="315"/>
              <a:t> </a:t>
            </a:r>
            <a:r>
              <a:rPr dirty="0" spc="-15"/>
              <a:t>more</a:t>
            </a:r>
            <a:r>
              <a:rPr dirty="0" spc="330"/>
              <a:t> </a:t>
            </a:r>
            <a:r>
              <a:rPr dirty="0" spc="-5"/>
              <a:t>than</a:t>
            </a:r>
            <a:r>
              <a:rPr dirty="0" spc="325"/>
              <a:t> </a:t>
            </a:r>
            <a:r>
              <a:rPr dirty="0"/>
              <a:t>one</a:t>
            </a:r>
            <a:r>
              <a:rPr dirty="0" spc="335"/>
              <a:t> </a:t>
            </a:r>
            <a:r>
              <a:rPr dirty="0"/>
              <a:t>value.</a:t>
            </a:r>
            <a:r>
              <a:rPr dirty="0" spc="110"/>
              <a:t> </a:t>
            </a:r>
            <a:r>
              <a:rPr dirty="0" spc="-15"/>
              <a:t>For</a:t>
            </a:r>
            <a:r>
              <a:rPr dirty="0" spc="325"/>
              <a:t> </a:t>
            </a:r>
            <a:r>
              <a:rPr dirty="0"/>
              <a:t>example,</a:t>
            </a:r>
            <a:r>
              <a:rPr dirty="0" spc="125"/>
              <a:t> </a:t>
            </a:r>
            <a:r>
              <a:rPr dirty="0" spc="-5"/>
              <a:t>an</a:t>
            </a:r>
            <a:r>
              <a:rPr dirty="0" spc="335"/>
              <a:t> </a:t>
            </a:r>
            <a:r>
              <a:rPr dirty="0" spc="-15"/>
              <a:t>employee</a:t>
            </a:r>
            <a:r>
              <a:rPr dirty="0" spc="315"/>
              <a:t> </a:t>
            </a:r>
            <a:r>
              <a:rPr dirty="0" spc="-5"/>
              <a:t>entity</a:t>
            </a:r>
            <a:r>
              <a:rPr dirty="0" spc="330"/>
              <a:t> </a:t>
            </a:r>
            <a:r>
              <a:rPr dirty="0" spc="-5"/>
              <a:t>can</a:t>
            </a:r>
            <a:r>
              <a:rPr dirty="0" spc="320"/>
              <a:t> </a:t>
            </a:r>
            <a:r>
              <a:rPr dirty="0" spc="-35"/>
              <a:t>have </a:t>
            </a:r>
            <a:r>
              <a:rPr dirty="0" spc="-540"/>
              <a:t> </a:t>
            </a:r>
            <a:r>
              <a:rPr dirty="0"/>
              <a:t>multiple</a:t>
            </a:r>
            <a:r>
              <a:rPr dirty="0" spc="-45"/>
              <a:t> </a:t>
            </a:r>
            <a:r>
              <a:rPr dirty="0"/>
              <a:t>skill</a:t>
            </a:r>
            <a:r>
              <a:rPr dirty="0" spc="-15"/>
              <a:t> </a:t>
            </a:r>
            <a:r>
              <a:rPr dirty="0"/>
              <a:t>values.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2847" y="4625721"/>
            <a:ext cx="10547985" cy="1591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Derived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attribute,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attributes that do not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exist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physical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database,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but their values 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derived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from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other attributes present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 the database.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example,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average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salary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department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should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not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saved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directly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in the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database, instead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it can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derived.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2000" spc="5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another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example,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age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derived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date_of_birth.</a:t>
            </a:r>
            <a:endParaRPr sz="2000">
              <a:latin typeface="Gill Sans MT"/>
              <a:cs typeface="Gill Sans MT"/>
            </a:endParaRPr>
          </a:p>
          <a:p>
            <a:pPr algn="r" marR="146685">
              <a:lnSpc>
                <a:spcPct val="100000"/>
              </a:lnSpc>
              <a:spcBef>
                <a:spcPts val="1645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8</a:t>
            </a:r>
            <a:endParaRPr sz="900">
              <a:latin typeface="Gill Sans MT"/>
              <a:cs typeface="Gill Sans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42332" y="2820923"/>
            <a:ext cx="2232660" cy="1089660"/>
            <a:chOff x="4942332" y="2820923"/>
            <a:chExt cx="2232660" cy="1089660"/>
          </a:xfrm>
        </p:grpSpPr>
        <p:sp>
          <p:nvSpPr>
            <p:cNvPr id="6" name="object 6"/>
            <p:cNvSpPr/>
            <p:nvPr/>
          </p:nvSpPr>
          <p:spPr>
            <a:xfrm>
              <a:off x="4953762" y="2832353"/>
              <a:ext cx="2209800" cy="1066800"/>
            </a:xfrm>
            <a:custGeom>
              <a:avLst/>
              <a:gdLst/>
              <a:ahLst/>
              <a:cxnLst/>
              <a:rect l="l" t="t" r="r" b="b"/>
              <a:pathLst>
                <a:path w="2209800" h="1066800">
                  <a:moveTo>
                    <a:pt x="0" y="533400"/>
                  </a:moveTo>
                  <a:lnTo>
                    <a:pt x="6933" y="473297"/>
                  </a:lnTo>
                  <a:lnTo>
                    <a:pt x="27238" y="415149"/>
                  </a:lnTo>
                  <a:lnTo>
                    <a:pt x="60166" y="359315"/>
                  </a:lnTo>
                  <a:lnTo>
                    <a:pt x="104973" y="306156"/>
                  </a:lnTo>
                  <a:lnTo>
                    <a:pt x="160912" y="256031"/>
                  </a:lnTo>
                  <a:lnTo>
                    <a:pt x="192823" y="232219"/>
                  </a:lnTo>
                  <a:lnTo>
                    <a:pt x="227237" y="209301"/>
                  </a:lnTo>
                  <a:lnTo>
                    <a:pt x="264061" y="187321"/>
                  </a:lnTo>
                  <a:lnTo>
                    <a:pt x="303201" y="166325"/>
                  </a:lnTo>
                  <a:lnTo>
                    <a:pt x="344566" y="146357"/>
                  </a:lnTo>
                  <a:lnTo>
                    <a:pt x="388060" y="127463"/>
                  </a:lnTo>
                  <a:lnTo>
                    <a:pt x="433591" y="109687"/>
                  </a:lnTo>
                  <a:lnTo>
                    <a:pt x="481066" y="93075"/>
                  </a:lnTo>
                  <a:lnTo>
                    <a:pt x="530392" y="77671"/>
                  </a:lnTo>
                  <a:lnTo>
                    <a:pt x="581474" y="63521"/>
                  </a:lnTo>
                  <a:lnTo>
                    <a:pt x="634220" y="50669"/>
                  </a:lnTo>
                  <a:lnTo>
                    <a:pt x="688537" y="39161"/>
                  </a:lnTo>
                  <a:lnTo>
                    <a:pt x="744332" y="29041"/>
                  </a:lnTo>
                  <a:lnTo>
                    <a:pt x="801510" y="20355"/>
                  </a:lnTo>
                  <a:lnTo>
                    <a:pt x="859979" y="13147"/>
                  </a:lnTo>
                  <a:lnTo>
                    <a:pt x="919646" y="7462"/>
                  </a:lnTo>
                  <a:lnTo>
                    <a:pt x="980417" y="3346"/>
                  </a:lnTo>
                  <a:lnTo>
                    <a:pt x="1042200" y="844"/>
                  </a:lnTo>
                  <a:lnTo>
                    <a:pt x="1104900" y="0"/>
                  </a:lnTo>
                  <a:lnTo>
                    <a:pt x="1167599" y="844"/>
                  </a:lnTo>
                  <a:lnTo>
                    <a:pt x="1229382" y="3346"/>
                  </a:lnTo>
                  <a:lnTo>
                    <a:pt x="1290153" y="7462"/>
                  </a:lnTo>
                  <a:lnTo>
                    <a:pt x="1349820" y="13147"/>
                  </a:lnTo>
                  <a:lnTo>
                    <a:pt x="1408289" y="20355"/>
                  </a:lnTo>
                  <a:lnTo>
                    <a:pt x="1465467" y="29041"/>
                  </a:lnTo>
                  <a:lnTo>
                    <a:pt x="1521262" y="39161"/>
                  </a:lnTo>
                  <a:lnTo>
                    <a:pt x="1575579" y="50669"/>
                  </a:lnTo>
                  <a:lnTo>
                    <a:pt x="1628325" y="63521"/>
                  </a:lnTo>
                  <a:lnTo>
                    <a:pt x="1679407" y="77671"/>
                  </a:lnTo>
                  <a:lnTo>
                    <a:pt x="1728733" y="93075"/>
                  </a:lnTo>
                  <a:lnTo>
                    <a:pt x="1776208" y="109687"/>
                  </a:lnTo>
                  <a:lnTo>
                    <a:pt x="1821739" y="127463"/>
                  </a:lnTo>
                  <a:lnTo>
                    <a:pt x="1865233" y="146357"/>
                  </a:lnTo>
                  <a:lnTo>
                    <a:pt x="1906598" y="166325"/>
                  </a:lnTo>
                  <a:lnTo>
                    <a:pt x="1945738" y="187321"/>
                  </a:lnTo>
                  <a:lnTo>
                    <a:pt x="1982562" y="209301"/>
                  </a:lnTo>
                  <a:lnTo>
                    <a:pt x="2016976" y="232219"/>
                  </a:lnTo>
                  <a:lnTo>
                    <a:pt x="2048887" y="256031"/>
                  </a:lnTo>
                  <a:lnTo>
                    <a:pt x="2078201" y="280692"/>
                  </a:lnTo>
                  <a:lnTo>
                    <a:pt x="2128668" y="332379"/>
                  </a:lnTo>
                  <a:lnTo>
                    <a:pt x="2167628" y="386920"/>
                  </a:lnTo>
                  <a:lnTo>
                    <a:pt x="2194338" y="443956"/>
                  </a:lnTo>
                  <a:lnTo>
                    <a:pt x="2208050" y="503126"/>
                  </a:lnTo>
                  <a:lnTo>
                    <a:pt x="2209799" y="533400"/>
                  </a:lnTo>
                  <a:lnTo>
                    <a:pt x="2208050" y="563673"/>
                  </a:lnTo>
                  <a:lnTo>
                    <a:pt x="2194338" y="622843"/>
                  </a:lnTo>
                  <a:lnTo>
                    <a:pt x="2167628" y="679879"/>
                  </a:lnTo>
                  <a:lnTo>
                    <a:pt x="2128668" y="734420"/>
                  </a:lnTo>
                  <a:lnTo>
                    <a:pt x="2078201" y="786107"/>
                  </a:lnTo>
                  <a:lnTo>
                    <a:pt x="2048887" y="810768"/>
                  </a:lnTo>
                  <a:lnTo>
                    <a:pt x="2016976" y="834580"/>
                  </a:lnTo>
                  <a:lnTo>
                    <a:pt x="1982562" y="857498"/>
                  </a:lnTo>
                  <a:lnTo>
                    <a:pt x="1945738" y="879478"/>
                  </a:lnTo>
                  <a:lnTo>
                    <a:pt x="1906598" y="900474"/>
                  </a:lnTo>
                  <a:lnTo>
                    <a:pt x="1865233" y="920442"/>
                  </a:lnTo>
                  <a:lnTo>
                    <a:pt x="1821739" y="939336"/>
                  </a:lnTo>
                  <a:lnTo>
                    <a:pt x="1776208" y="957112"/>
                  </a:lnTo>
                  <a:lnTo>
                    <a:pt x="1728733" y="973724"/>
                  </a:lnTo>
                  <a:lnTo>
                    <a:pt x="1679407" y="989128"/>
                  </a:lnTo>
                  <a:lnTo>
                    <a:pt x="1628325" y="1003278"/>
                  </a:lnTo>
                  <a:lnTo>
                    <a:pt x="1575579" y="1016130"/>
                  </a:lnTo>
                  <a:lnTo>
                    <a:pt x="1521262" y="1027638"/>
                  </a:lnTo>
                  <a:lnTo>
                    <a:pt x="1465467" y="1037758"/>
                  </a:lnTo>
                  <a:lnTo>
                    <a:pt x="1408289" y="1046444"/>
                  </a:lnTo>
                  <a:lnTo>
                    <a:pt x="1349820" y="1053652"/>
                  </a:lnTo>
                  <a:lnTo>
                    <a:pt x="1290153" y="1059337"/>
                  </a:lnTo>
                  <a:lnTo>
                    <a:pt x="1229382" y="1063453"/>
                  </a:lnTo>
                  <a:lnTo>
                    <a:pt x="1167599" y="1065955"/>
                  </a:lnTo>
                  <a:lnTo>
                    <a:pt x="1104900" y="1066800"/>
                  </a:lnTo>
                  <a:lnTo>
                    <a:pt x="1042200" y="1065955"/>
                  </a:lnTo>
                  <a:lnTo>
                    <a:pt x="980417" y="1063453"/>
                  </a:lnTo>
                  <a:lnTo>
                    <a:pt x="919646" y="1059337"/>
                  </a:lnTo>
                  <a:lnTo>
                    <a:pt x="859979" y="1053652"/>
                  </a:lnTo>
                  <a:lnTo>
                    <a:pt x="801510" y="1046444"/>
                  </a:lnTo>
                  <a:lnTo>
                    <a:pt x="744332" y="1037758"/>
                  </a:lnTo>
                  <a:lnTo>
                    <a:pt x="688537" y="1027638"/>
                  </a:lnTo>
                  <a:lnTo>
                    <a:pt x="634220" y="1016130"/>
                  </a:lnTo>
                  <a:lnTo>
                    <a:pt x="581474" y="1003278"/>
                  </a:lnTo>
                  <a:lnTo>
                    <a:pt x="530392" y="989128"/>
                  </a:lnTo>
                  <a:lnTo>
                    <a:pt x="481066" y="973724"/>
                  </a:lnTo>
                  <a:lnTo>
                    <a:pt x="433591" y="957112"/>
                  </a:lnTo>
                  <a:lnTo>
                    <a:pt x="388060" y="939336"/>
                  </a:lnTo>
                  <a:lnTo>
                    <a:pt x="344566" y="920442"/>
                  </a:lnTo>
                  <a:lnTo>
                    <a:pt x="303201" y="900474"/>
                  </a:lnTo>
                  <a:lnTo>
                    <a:pt x="264061" y="879478"/>
                  </a:lnTo>
                  <a:lnTo>
                    <a:pt x="227237" y="857498"/>
                  </a:lnTo>
                  <a:lnTo>
                    <a:pt x="192823" y="834580"/>
                  </a:lnTo>
                  <a:lnTo>
                    <a:pt x="160912" y="810768"/>
                  </a:lnTo>
                  <a:lnTo>
                    <a:pt x="131598" y="786107"/>
                  </a:lnTo>
                  <a:lnTo>
                    <a:pt x="81131" y="734420"/>
                  </a:lnTo>
                  <a:lnTo>
                    <a:pt x="42171" y="679879"/>
                  </a:lnTo>
                  <a:lnTo>
                    <a:pt x="15461" y="622843"/>
                  </a:lnTo>
                  <a:lnTo>
                    <a:pt x="1749" y="563673"/>
                  </a:lnTo>
                  <a:lnTo>
                    <a:pt x="0" y="533400"/>
                  </a:lnTo>
                  <a:close/>
                </a:path>
              </a:pathLst>
            </a:custGeom>
            <a:ln w="22860">
              <a:solidFill>
                <a:srgbClr val="0F21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06162" y="2908553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952500" y="0"/>
                  </a:moveTo>
                  <a:lnTo>
                    <a:pt x="889874" y="972"/>
                  </a:lnTo>
                  <a:lnTo>
                    <a:pt x="828330" y="3850"/>
                  </a:lnTo>
                  <a:lnTo>
                    <a:pt x="767993" y="8572"/>
                  </a:lnTo>
                  <a:lnTo>
                    <a:pt x="708989" y="15079"/>
                  </a:lnTo>
                  <a:lnTo>
                    <a:pt x="651442" y="23311"/>
                  </a:lnTo>
                  <a:lnTo>
                    <a:pt x="595479" y="33206"/>
                  </a:lnTo>
                  <a:lnTo>
                    <a:pt x="541225" y="44705"/>
                  </a:lnTo>
                  <a:lnTo>
                    <a:pt x="488806" y="57747"/>
                  </a:lnTo>
                  <a:lnTo>
                    <a:pt x="438347" y="72273"/>
                  </a:lnTo>
                  <a:lnTo>
                    <a:pt x="389973" y="88221"/>
                  </a:lnTo>
                  <a:lnTo>
                    <a:pt x="343810" y="105532"/>
                  </a:lnTo>
                  <a:lnTo>
                    <a:pt x="299984" y="124145"/>
                  </a:lnTo>
                  <a:lnTo>
                    <a:pt x="258620" y="144000"/>
                  </a:lnTo>
                  <a:lnTo>
                    <a:pt x="219844" y="165037"/>
                  </a:lnTo>
                  <a:lnTo>
                    <a:pt x="183782" y="187195"/>
                  </a:lnTo>
                  <a:lnTo>
                    <a:pt x="150558" y="210415"/>
                  </a:lnTo>
                  <a:lnTo>
                    <a:pt x="120298" y="234636"/>
                  </a:lnTo>
                  <a:lnTo>
                    <a:pt x="69174" y="285838"/>
                  </a:lnTo>
                  <a:lnTo>
                    <a:pt x="31413" y="340321"/>
                  </a:lnTo>
                  <a:lnTo>
                    <a:pt x="8020" y="397602"/>
                  </a:lnTo>
                  <a:lnTo>
                    <a:pt x="0" y="457200"/>
                  </a:lnTo>
                  <a:lnTo>
                    <a:pt x="2026" y="487257"/>
                  </a:lnTo>
                  <a:lnTo>
                    <a:pt x="17858" y="545757"/>
                  </a:lnTo>
                  <a:lnTo>
                    <a:pt x="48560" y="601699"/>
                  </a:lnTo>
                  <a:lnTo>
                    <a:pt x="93128" y="654602"/>
                  </a:lnTo>
                  <a:lnTo>
                    <a:pt x="150558" y="703984"/>
                  </a:lnTo>
                  <a:lnTo>
                    <a:pt x="183782" y="727204"/>
                  </a:lnTo>
                  <a:lnTo>
                    <a:pt x="219844" y="749362"/>
                  </a:lnTo>
                  <a:lnTo>
                    <a:pt x="258620" y="770399"/>
                  </a:lnTo>
                  <a:lnTo>
                    <a:pt x="299984" y="790254"/>
                  </a:lnTo>
                  <a:lnTo>
                    <a:pt x="343810" y="808867"/>
                  </a:lnTo>
                  <a:lnTo>
                    <a:pt x="389973" y="826178"/>
                  </a:lnTo>
                  <a:lnTo>
                    <a:pt x="438347" y="842126"/>
                  </a:lnTo>
                  <a:lnTo>
                    <a:pt x="488806" y="856652"/>
                  </a:lnTo>
                  <a:lnTo>
                    <a:pt x="541225" y="869694"/>
                  </a:lnTo>
                  <a:lnTo>
                    <a:pt x="595479" y="881193"/>
                  </a:lnTo>
                  <a:lnTo>
                    <a:pt x="651442" y="891088"/>
                  </a:lnTo>
                  <a:lnTo>
                    <a:pt x="708989" y="899320"/>
                  </a:lnTo>
                  <a:lnTo>
                    <a:pt x="767993" y="905827"/>
                  </a:lnTo>
                  <a:lnTo>
                    <a:pt x="828330" y="910549"/>
                  </a:lnTo>
                  <a:lnTo>
                    <a:pt x="889874" y="913427"/>
                  </a:lnTo>
                  <a:lnTo>
                    <a:pt x="952500" y="914400"/>
                  </a:lnTo>
                  <a:lnTo>
                    <a:pt x="1015125" y="913427"/>
                  </a:lnTo>
                  <a:lnTo>
                    <a:pt x="1076669" y="910549"/>
                  </a:lnTo>
                  <a:lnTo>
                    <a:pt x="1137006" y="905827"/>
                  </a:lnTo>
                  <a:lnTo>
                    <a:pt x="1196010" y="899320"/>
                  </a:lnTo>
                  <a:lnTo>
                    <a:pt x="1253557" y="891088"/>
                  </a:lnTo>
                  <a:lnTo>
                    <a:pt x="1309520" y="881193"/>
                  </a:lnTo>
                  <a:lnTo>
                    <a:pt x="1363774" y="869694"/>
                  </a:lnTo>
                  <a:lnTo>
                    <a:pt x="1416193" y="856652"/>
                  </a:lnTo>
                  <a:lnTo>
                    <a:pt x="1466652" y="842126"/>
                  </a:lnTo>
                  <a:lnTo>
                    <a:pt x="1515026" y="826178"/>
                  </a:lnTo>
                  <a:lnTo>
                    <a:pt x="1561189" y="808867"/>
                  </a:lnTo>
                  <a:lnTo>
                    <a:pt x="1605015" y="790254"/>
                  </a:lnTo>
                  <a:lnTo>
                    <a:pt x="1646379" y="770399"/>
                  </a:lnTo>
                  <a:lnTo>
                    <a:pt x="1685155" y="749362"/>
                  </a:lnTo>
                  <a:lnTo>
                    <a:pt x="1721217" y="727204"/>
                  </a:lnTo>
                  <a:lnTo>
                    <a:pt x="1754441" y="703984"/>
                  </a:lnTo>
                  <a:lnTo>
                    <a:pt x="1784701" y="679763"/>
                  </a:lnTo>
                  <a:lnTo>
                    <a:pt x="1835825" y="628561"/>
                  </a:lnTo>
                  <a:lnTo>
                    <a:pt x="1873586" y="574078"/>
                  </a:lnTo>
                  <a:lnTo>
                    <a:pt x="1896979" y="516797"/>
                  </a:lnTo>
                  <a:lnTo>
                    <a:pt x="1904999" y="457200"/>
                  </a:lnTo>
                  <a:lnTo>
                    <a:pt x="1902973" y="427142"/>
                  </a:lnTo>
                  <a:lnTo>
                    <a:pt x="1887141" y="368642"/>
                  </a:lnTo>
                  <a:lnTo>
                    <a:pt x="1856439" y="312700"/>
                  </a:lnTo>
                  <a:lnTo>
                    <a:pt x="1811871" y="259797"/>
                  </a:lnTo>
                  <a:lnTo>
                    <a:pt x="1754441" y="210415"/>
                  </a:lnTo>
                  <a:lnTo>
                    <a:pt x="1721217" y="187195"/>
                  </a:lnTo>
                  <a:lnTo>
                    <a:pt x="1685155" y="165037"/>
                  </a:lnTo>
                  <a:lnTo>
                    <a:pt x="1646379" y="144000"/>
                  </a:lnTo>
                  <a:lnTo>
                    <a:pt x="1605015" y="124145"/>
                  </a:lnTo>
                  <a:lnTo>
                    <a:pt x="1561189" y="105532"/>
                  </a:lnTo>
                  <a:lnTo>
                    <a:pt x="1515026" y="88221"/>
                  </a:lnTo>
                  <a:lnTo>
                    <a:pt x="1466652" y="72273"/>
                  </a:lnTo>
                  <a:lnTo>
                    <a:pt x="1416193" y="57747"/>
                  </a:lnTo>
                  <a:lnTo>
                    <a:pt x="1363774" y="44705"/>
                  </a:lnTo>
                  <a:lnTo>
                    <a:pt x="1309520" y="33206"/>
                  </a:lnTo>
                  <a:lnTo>
                    <a:pt x="1253557" y="23311"/>
                  </a:lnTo>
                  <a:lnTo>
                    <a:pt x="1196010" y="15079"/>
                  </a:lnTo>
                  <a:lnTo>
                    <a:pt x="1137006" y="8572"/>
                  </a:lnTo>
                  <a:lnTo>
                    <a:pt x="1076669" y="3850"/>
                  </a:lnTo>
                  <a:lnTo>
                    <a:pt x="1015125" y="972"/>
                  </a:lnTo>
                  <a:lnTo>
                    <a:pt x="952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06162" y="2908553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0" y="457200"/>
                  </a:moveTo>
                  <a:lnTo>
                    <a:pt x="8020" y="397602"/>
                  </a:lnTo>
                  <a:lnTo>
                    <a:pt x="31413" y="340321"/>
                  </a:lnTo>
                  <a:lnTo>
                    <a:pt x="69174" y="285838"/>
                  </a:lnTo>
                  <a:lnTo>
                    <a:pt x="120298" y="234636"/>
                  </a:lnTo>
                  <a:lnTo>
                    <a:pt x="150558" y="210415"/>
                  </a:lnTo>
                  <a:lnTo>
                    <a:pt x="183782" y="187195"/>
                  </a:lnTo>
                  <a:lnTo>
                    <a:pt x="219844" y="165037"/>
                  </a:lnTo>
                  <a:lnTo>
                    <a:pt x="258620" y="144000"/>
                  </a:lnTo>
                  <a:lnTo>
                    <a:pt x="299984" y="124145"/>
                  </a:lnTo>
                  <a:lnTo>
                    <a:pt x="343810" y="105532"/>
                  </a:lnTo>
                  <a:lnTo>
                    <a:pt x="389973" y="88221"/>
                  </a:lnTo>
                  <a:lnTo>
                    <a:pt x="438347" y="72273"/>
                  </a:lnTo>
                  <a:lnTo>
                    <a:pt x="488806" y="57747"/>
                  </a:lnTo>
                  <a:lnTo>
                    <a:pt x="541225" y="44705"/>
                  </a:lnTo>
                  <a:lnTo>
                    <a:pt x="595479" y="33206"/>
                  </a:lnTo>
                  <a:lnTo>
                    <a:pt x="651442" y="23311"/>
                  </a:lnTo>
                  <a:lnTo>
                    <a:pt x="708989" y="15079"/>
                  </a:lnTo>
                  <a:lnTo>
                    <a:pt x="767993" y="8572"/>
                  </a:lnTo>
                  <a:lnTo>
                    <a:pt x="828330" y="3850"/>
                  </a:lnTo>
                  <a:lnTo>
                    <a:pt x="889874" y="972"/>
                  </a:lnTo>
                  <a:lnTo>
                    <a:pt x="952500" y="0"/>
                  </a:lnTo>
                  <a:lnTo>
                    <a:pt x="1015125" y="972"/>
                  </a:lnTo>
                  <a:lnTo>
                    <a:pt x="1076669" y="3850"/>
                  </a:lnTo>
                  <a:lnTo>
                    <a:pt x="1137006" y="8572"/>
                  </a:lnTo>
                  <a:lnTo>
                    <a:pt x="1196010" y="15079"/>
                  </a:lnTo>
                  <a:lnTo>
                    <a:pt x="1253557" y="23311"/>
                  </a:lnTo>
                  <a:lnTo>
                    <a:pt x="1309520" y="33206"/>
                  </a:lnTo>
                  <a:lnTo>
                    <a:pt x="1363774" y="44705"/>
                  </a:lnTo>
                  <a:lnTo>
                    <a:pt x="1416193" y="57747"/>
                  </a:lnTo>
                  <a:lnTo>
                    <a:pt x="1466652" y="72273"/>
                  </a:lnTo>
                  <a:lnTo>
                    <a:pt x="1515026" y="88221"/>
                  </a:lnTo>
                  <a:lnTo>
                    <a:pt x="1561189" y="105532"/>
                  </a:lnTo>
                  <a:lnTo>
                    <a:pt x="1605015" y="124145"/>
                  </a:lnTo>
                  <a:lnTo>
                    <a:pt x="1646379" y="144000"/>
                  </a:lnTo>
                  <a:lnTo>
                    <a:pt x="1685155" y="165037"/>
                  </a:lnTo>
                  <a:lnTo>
                    <a:pt x="1721217" y="187195"/>
                  </a:lnTo>
                  <a:lnTo>
                    <a:pt x="1754441" y="210415"/>
                  </a:lnTo>
                  <a:lnTo>
                    <a:pt x="1784701" y="234636"/>
                  </a:lnTo>
                  <a:lnTo>
                    <a:pt x="1835825" y="285838"/>
                  </a:lnTo>
                  <a:lnTo>
                    <a:pt x="1873586" y="340321"/>
                  </a:lnTo>
                  <a:lnTo>
                    <a:pt x="1896979" y="397602"/>
                  </a:lnTo>
                  <a:lnTo>
                    <a:pt x="1904999" y="457200"/>
                  </a:lnTo>
                  <a:lnTo>
                    <a:pt x="1902973" y="487257"/>
                  </a:lnTo>
                  <a:lnTo>
                    <a:pt x="1887141" y="545757"/>
                  </a:lnTo>
                  <a:lnTo>
                    <a:pt x="1856439" y="601699"/>
                  </a:lnTo>
                  <a:lnTo>
                    <a:pt x="1811871" y="654602"/>
                  </a:lnTo>
                  <a:lnTo>
                    <a:pt x="1754441" y="703984"/>
                  </a:lnTo>
                  <a:lnTo>
                    <a:pt x="1721217" y="727204"/>
                  </a:lnTo>
                  <a:lnTo>
                    <a:pt x="1685155" y="749362"/>
                  </a:lnTo>
                  <a:lnTo>
                    <a:pt x="1646379" y="770399"/>
                  </a:lnTo>
                  <a:lnTo>
                    <a:pt x="1605015" y="790254"/>
                  </a:lnTo>
                  <a:lnTo>
                    <a:pt x="1561189" y="808867"/>
                  </a:lnTo>
                  <a:lnTo>
                    <a:pt x="1515026" y="826178"/>
                  </a:lnTo>
                  <a:lnTo>
                    <a:pt x="1466652" y="842126"/>
                  </a:lnTo>
                  <a:lnTo>
                    <a:pt x="1416193" y="856652"/>
                  </a:lnTo>
                  <a:lnTo>
                    <a:pt x="1363774" y="869694"/>
                  </a:lnTo>
                  <a:lnTo>
                    <a:pt x="1309520" y="881193"/>
                  </a:lnTo>
                  <a:lnTo>
                    <a:pt x="1253557" y="891088"/>
                  </a:lnTo>
                  <a:lnTo>
                    <a:pt x="1196010" y="899320"/>
                  </a:lnTo>
                  <a:lnTo>
                    <a:pt x="1137006" y="905827"/>
                  </a:lnTo>
                  <a:lnTo>
                    <a:pt x="1076669" y="910549"/>
                  </a:lnTo>
                  <a:lnTo>
                    <a:pt x="1015125" y="913427"/>
                  </a:lnTo>
                  <a:lnTo>
                    <a:pt x="952500" y="914400"/>
                  </a:lnTo>
                  <a:lnTo>
                    <a:pt x="889874" y="913427"/>
                  </a:lnTo>
                  <a:lnTo>
                    <a:pt x="828330" y="910549"/>
                  </a:lnTo>
                  <a:lnTo>
                    <a:pt x="767993" y="905827"/>
                  </a:lnTo>
                  <a:lnTo>
                    <a:pt x="708989" y="899320"/>
                  </a:lnTo>
                  <a:lnTo>
                    <a:pt x="651442" y="891088"/>
                  </a:lnTo>
                  <a:lnTo>
                    <a:pt x="595479" y="881193"/>
                  </a:lnTo>
                  <a:lnTo>
                    <a:pt x="541225" y="869694"/>
                  </a:lnTo>
                  <a:lnTo>
                    <a:pt x="488806" y="856652"/>
                  </a:lnTo>
                  <a:lnTo>
                    <a:pt x="438347" y="842126"/>
                  </a:lnTo>
                  <a:lnTo>
                    <a:pt x="389973" y="826178"/>
                  </a:lnTo>
                  <a:lnTo>
                    <a:pt x="343810" y="808867"/>
                  </a:lnTo>
                  <a:lnTo>
                    <a:pt x="299984" y="790254"/>
                  </a:lnTo>
                  <a:lnTo>
                    <a:pt x="258620" y="770399"/>
                  </a:lnTo>
                  <a:lnTo>
                    <a:pt x="219844" y="749362"/>
                  </a:lnTo>
                  <a:lnTo>
                    <a:pt x="183782" y="727204"/>
                  </a:lnTo>
                  <a:lnTo>
                    <a:pt x="150558" y="703984"/>
                  </a:lnTo>
                  <a:lnTo>
                    <a:pt x="120298" y="679763"/>
                  </a:lnTo>
                  <a:lnTo>
                    <a:pt x="69174" y="628561"/>
                  </a:lnTo>
                  <a:lnTo>
                    <a:pt x="31413" y="574078"/>
                  </a:lnTo>
                  <a:lnTo>
                    <a:pt x="8020" y="516797"/>
                  </a:lnTo>
                  <a:lnTo>
                    <a:pt x="0" y="457200"/>
                  </a:lnTo>
                  <a:close/>
                </a:path>
              </a:pathLst>
            </a:custGeom>
            <a:ln w="22860">
              <a:solidFill>
                <a:srgbClr val="0F21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577078" y="3101086"/>
            <a:ext cx="9639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Gill Sans MT"/>
                <a:cs typeface="Gill Sans MT"/>
              </a:rPr>
              <a:t>M</a:t>
            </a:r>
            <a:r>
              <a:rPr dirty="0" sz="1600">
                <a:latin typeface="Gill Sans MT"/>
                <a:cs typeface="Gill Sans MT"/>
              </a:rPr>
              <a:t>u</a:t>
            </a:r>
            <a:r>
              <a:rPr dirty="0" sz="1600" spc="-10">
                <a:latin typeface="Gill Sans MT"/>
                <a:cs typeface="Gill Sans MT"/>
              </a:rPr>
              <a:t>l</a:t>
            </a:r>
            <a:r>
              <a:rPr dirty="0" sz="1600" spc="-15">
                <a:latin typeface="Gill Sans MT"/>
                <a:cs typeface="Gill Sans MT"/>
              </a:rPr>
              <a:t>t</a:t>
            </a:r>
            <a:r>
              <a:rPr dirty="0" sz="1600" spc="-10">
                <a:latin typeface="Gill Sans MT"/>
                <a:cs typeface="Gill Sans MT"/>
              </a:rPr>
              <a:t>ivalu</a:t>
            </a:r>
            <a:r>
              <a:rPr dirty="0" sz="1600" spc="-5">
                <a:latin typeface="Gill Sans MT"/>
                <a:cs typeface="Gill Sans MT"/>
              </a:rPr>
              <a:t>ed  </a:t>
            </a:r>
            <a:r>
              <a:rPr dirty="0" sz="1600" spc="-5">
                <a:latin typeface="Gill Sans MT"/>
                <a:cs typeface="Gill Sans MT"/>
              </a:rPr>
              <a:t>Attribute</a:t>
            </a:r>
            <a:endParaRPr sz="1600">
              <a:latin typeface="Gill Sans MT"/>
              <a:cs typeface="Gill Sans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5997" y="2896361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0" y="533400"/>
                </a:moveTo>
                <a:lnTo>
                  <a:pt x="7999" y="461010"/>
                </a:lnTo>
                <a:lnTo>
                  <a:pt x="31300" y="391583"/>
                </a:lnTo>
                <a:lnTo>
                  <a:pt x="68859" y="325755"/>
                </a:lnTo>
                <a:lnTo>
                  <a:pt x="92660" y="294388"/>
                </a:lnTo>
                <a:lnTo>
                  <a:pt x="119634" y="264160"/>
                </a:lnTo>
                <a:lnTo>
                  <a:pt x="149650" y="235148"/>
                </a:lnTo>
                <a:lnTo>
                  <a:pt x="182579" y="207433"/>
                </a:lnTo>
                <a:lnTo>
                  <a:pt x="218289" y="181094"/>
                </a:lnTo>
                <a:lnTo>
                  <a:pt x="256651" y="156210"/>
                </a:lnTo>
                <a:lnTo>
                  <a:pt x="297533" y="132860"/>
                </a:lnTo>
                <a:lnTo>
                  <a:pt x="340806" y="111125"/>
                </a:lnTo>
                <a:lnTo>
                  <a:pt x="386339" y="91082"/>
                </a:lnTo>
                <a:lnTo>
                  <a:pt x="434001" y="72813"/>
                </a:lnTo>
                <a:lnTo>
                  <a:pt x="483662" y="56395"/>
                </a:lnTo>
                <a:lnTo>
                  <a:pt x="535191" y="41910"/>
                </a:lnTo>
                <a:lnTo>
                  <a:pt x="588459" y="29434"/>
                </a:lnTo>
                <a:lnTo>
                  <a:pt x="643334" y="19050"/>
                </a:lnTo>
                <a:lnTo>
                  <a:pt x="699686" y="10834"/>
                </a:lnTo>
                <a:lnTo>
                  <a:pt x="757385" y="4868"/>
                </a:lnTo>
                <a:lnTo>
                  <a:pt x="816299" y="1230"/>
                </a:lnTo>
                <a:lnTo>
                  <a:pt x="876300" y="0"/>
                </a:lnTo>
                <a:lnTo>
                  <a:pt x="936300" y="1230"/>
                </a:lnTo>
                <a:lnTo>
                  <a:pt x="995214" y="4868"/>
                </a:lnTo>
                <a:lnTo>
                  <a:pt x="1052913" y="10834"/>
                </a:lnTo>
                <a:lnTo>
                  <a:pt x="1109265" y="19050"/>
                </a:lnTo>
                <a:lnTo>
                  <a:pt x="1164140" y="29434"/>
                </a:lnTo>
                <a:lnTo>
                  <a:pt x="1217408" y="41909"/>
                </a:lnTo>
                <a:lnTo>
                  <a:pt x="1268937" y="56395"/>
                </a:lnTo>
                <a:lnTo>
                  <a:pt x="1318598" y="72813"/>
                </a:lnTo>
                <a:lnTo>
                  <a:pt x="1366260" y="91082"/>
                </a:lnTo>
                <a:lnTo>
                  <a:pt x="1411793" y="111124"/>
                </a:lnTo>
                <a:lnTo>
                  <a:pt x="1455066" y="132860"/>
                </a:lnTo>
                <a:lnTo>
                  <a:pt x="1495948" y="156209"/>
                </a:lnTo>
                <a:lnTo>
                  <a:pt x="1534310" y="181094"/>
                </a:lnTo>
                <a:lnTo>
                  <a:pt x="1570020" y="207433"/>
                </a:lnTo>
                <a:lnTo>
                  <a:pt x="1602949" y="235148"/>
                </a:lnTo>
                <a:lnTo>
                  <a:pt x="1632965" y="264160"/>
                </a:lnTo>
                <a:lnTo>
                  <a:pt x="1659939" y="294388"/>
                </a:lnTo>
                <a:lnTo>
                  <a:pt x="1683740" y="325754"/>
                </a:lnTo>
                <a:lnTo>
                  <a:pt x="1704237" y="358179"/>
                </a:lnTo>
                <a:lnTo>
                  <a:pt x="1734797" y="425886"/>
                </a:lnTo>
                <a:lnTo>
                  <a:pt x="1750578" y="496874"/>
                </a:lnTo>
                <a:lnTo>
                  <a:pt x="1752600" y="533400"/>
                </a:lnTo>
                <a:lnTo>
                  <a:pt x="1750578" y="569925"/>
                </a:lnTo>
                <a:lnTo>
                  <a:pt x="1734797" y="640913"/>
                </a:lnTo>
                <a:lnTo>
                  <a:pt x="1704237" y="708620"/>
                </a:lnTo>
                <a:lnTo>
                  <a:pt x="1683740" y="741044"/>
                </a:lnTo>
                <a:lnTo>
                  <a:pt x="1659939" y="772411"/>
                </a:lnTo>
                <a:lnTo>
                  <a:pt x="1632965" y="802639"/>
                </a:lnTo>
                <a:lnTo>
                  <a:pt x="1602949" y="831651"/>
                </a:lnTo>
                <a:lnTo>
                  <a:pt x="1570020" y="859366"/>
                </a:lnTo>
                <a:lnTo>
                  <a:pt x="1534310" y="885705"/>
                </a:lnTo>
                <a:lnTo>
                  <a:pt x="1495948" y="910589"/>
                </a:lnTo>
                <a:lnTo>
                  <a:pt x="1455066" y="933939"/>
                </a:lnTo>
                <a:lnTo>
                  <a:pt x="1411793" y="955674"/>
                </a:lnTo>
                <a:lnTo>
                  <a:pt x="1366260" y="975717"/>
                </a:lnTo>
                <a:lnTo>
                  <a:pt x="1318598" y="993986"/>
                </a:lnTo>
                <a:lnTo>
                  <a:pt x="1268937" y="1010404"/>
                </a:lnTo>
                <a:lnTo>
                  <a:pt x="1217408" y="1024889"/>
                </a:lnTo>
                <a:lnTo>
                  <a:pt x="1164140" y="1037365"/>
                </a:lnTo>
                <a:lnTo>
                  <a:pt x="1109265" y="1047749"/>
                </a:lnTo>
                <a:lnTo>
                  <a:pt x="1052913" y="1055965"/>
                </a:lnTo>
                <a:lnTo>
                  <a:pt x="995214" y="1061931"/>
                </a:lnTo>
                <a:lnTo>
                  <a:pt x="936300" y="1065569"/>
                </a:lnTo>
                <a:lnTo>
                  <a:pt x="876300" y="1066800"/>
                </a:lnTo>
                <a:lnTo>
                  <a:pt x="816299" y="1065569"/>
                </a:lnTo>
                <a:lnTo>
                  <a:pt x="757385" y="1061931"/>
                </a:lnTo>
                <a:lnTo>
                  <a:pt x="699686" y="1055965"/>
                </a:lnTo>
                <a:lnTo>
                  <a:pt x="643334" y="1047749"/>
                </a:lnTo>
                <a:lnTo>
                  <a:pt x="588459" y="1037365"/>
                </a:lnTo>
                <a:lnTo>
                  <a:pt x="535191" y="1024889"/>
                </a:lnTo>
                <a:lnTo>
                  <a:pt x="483662" y="1010404"/>
                </a:lnTo>
                <a:lnTo>
                  <a:pt x="434001" y="993986"/>
                </a:lnTo>
                <a:lnTo>
                  <a:pt x="386339" y="975717"/>
                </a:lnTo>
                <a:lnTo>
                  <a:pt x="340806" y="955674"/>
                </a:lnTo>
                <a:lnTo>
                  <a:pt x="297533" y="933939"/>
                </a:lnTo>
                <a:lnTo>
                  <a:pt x="256651" y="910589"/>
                </a:lnTo>
                <a:lnTo>
                  <a:pt x="218289" y="885705"/>
                </a:lnTo>
                <a:lnTo>
                  <a:pt x="182579" y="859366"/>
                </a:lnTo>
                <a:lnTo>
                  <a:pt x="149650" y="831651"/>
                </a:lnTo>
                <a:lnTo>
                  <a:pt x="119634" y="802639"/>
                </a:lnTo>
                <a:lnTo>
                  <a:pt x="92660" y="772411"/>
                </a:lnTo>
                <a:lnTo>
                  <a:pt x="68859" y="741044"/>
                </a:lnTo>
                <a:lnTo>
                  <a:pt x="48362" y="708620"/>
                </a:lnTo>
                <a:lnTo>
                  <a:pt x="17802" y="640913"/>
                </a:lnTo>
                <a:lnTo>
                  <a:pt x="2021" y="569925"/>
                </a:lnTo>
                <a:lnTo>
                  <a:pt x="0" y="533400"/>
                </a:lnTo>
                <a:close/>
              </a:path>
            </a:pathLst>
          </a:custGeom>
          <a:ln w="22860">
            <a:solidFill>
              <a:srgbClr val="0F2144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849106" y="3165474"/>
            <a:ext cx="78867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Gill Sans MT"/>
                <a:cs typeface="Gill Sans MT"/>
              </a:rPr>
              <a:t>Derived </a:t>
            </a:r>
            <a:r>
              <a:rPr dirty="0" sz="1600" spc="-430">
                <a:latin typeface="Gill Sans MT"/>
                <a:cs typeface="Gill Sans MT"/>
              </a:rPr>
              <a:t> </a:t>
            </a:r>
            <a:r>
              <a:rPr dirty="0" sz="1600" spc="-5">
                <a:latin typeface="Gill Sans MT"/>
                <a:cs typeface="Gill Sans MT"/>
              </a:rPr>
              <a:t>Attribute</a:t>
            </a:r>
            <a:endParaRPr sz="160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3600" b="1">
                          <a:latin typeface="Constantia"/>
                          <a:cs typeface="Constantia"/>
                        </a:rPr>
                        <a:t>E-R</a:t>
                      </a:r>
                      <a:r>
                        <a:rPr dirty="0" sz="3600" spc="-30" b="1"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600" spc="-5" b="1">
                          <a:latin typeface="Constantia"/>
                          <a:cs typeface="Constantia"/>
                        </a:rPr>
                        <a:t>MODEL</a:t>
                      </a:r>
                      <a:r>
                        <a:rPr dirty="0" sz="3600" spc="-105" b="1"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600" spc="-5" b="1">
                          <a:latin typeface="Constantia"/>
                          <a:cs typeface="Constantia"/>
                        </a:rPr>
                        <a:t>(CONT’D)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B="0" marT="9906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9208" y="2212670"/>
            <a:ext cx="1088644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60" b="1">
                <a:latin typeface="Gill Sans MT"/>
                <a:cs typeface="Gill Sans MT"/>
              </a:rPr>
              <a:t>RELATIONSHIP,</a:t>
            </a:r>
            <a:r>
              <a:rPr dirty="0" sz="2200" spc="110" b="1">
                <a:latin typeface="Gill Sans MT"/>
                <a:cs typeface="Gill Sans MT"/>
              </a:rPr>
              <a:t> </a:t>
            </a:r>
            <a:r>
              <a:rPr dirty="0"/>
              <a:t>The</a:t>
            </a:r>
            <a:r>
              <a:rPr dirty="0" spc="290"/>
              <a:t> </a:t>
            </a:r>
            <a:r>
              <a:rPr dirty="0" spc="-5"/>
              <a:t>association</a:t>
            </a:r>
            <a:r>
              <a:rPr dirty="0" spc="290"/>
              <a:t> </a:t>
            </a:r>
            <a:r>
              <a:rPr dirty="0" spc="-10"/>
              <a:t>among</a:t>
            </a:r>
            <a:r>
              <a:rPr dirty="0" spc="280"/>
              <a:t> </a:t>
            </a:r>
            <a:r>
              <a:rPr dirty="0" spc="-5"/>
              <a:t>entities</a:t>
            </a:r>
            <a:r>
              <a:rPr dirty="0" spc="270"/>
              <a:t> </a:t>
            </a:r>
            <a:r>
              <a:rPr dirty="0"/>
              <a:t>is</a:t>
            </a:r>
            <a:r>
              <a:rPr dirty="0" spc="275"/>
              <a:t> </a:t>
            </a:r>
            <a:r>
              <a:rPr dirty="0"/>
              <a:t>called</a:t>
            </a:r>
            <a:r>
              <a:rPr dirty="0" spc="280"/>
              <a:t> </a:t>
            </a:r>
            <a:r>
              <a:rPr dirty="0"/>
              <a:t>a</a:t>
            </a:r>
            <a:r>
              <a:rPr dirty="0" spc="265"/>
              <a:t> </a:t>
            </a:r>
            <a:r>
              <a:rPr dirty="0" spc="-10"/>
              <a:t>relationship.</a:t>
            </a:r>
            <a:r>
              <a:rPr dirty="0" spc="70"/>
              <a:t> </a:t>
            </a:r>
            <a:r>
              <a:rPr dirty="0"/>
              <a:t>A</a:t>
            </a:r>
            <a:r>
              <a:rPr dirty="0" spc="275"/>
              <a:t> </a:t>
            </a:r>
            <a:r>
              <a:rPr dirty="0" spc="-10"/>
              <a:t>relationship</a:t>
            </a:r>
            <a:r>
              <a:rPr dirty="0" spc="280"/>
              <a:t> </a:t>
            </a:r>
            <a:r>
              <a:rPr dirty="0"/>
              <a:t>is</a:t>
            </a:r>
            <a:r>
              <a:rPr dirty="0" spc="265"/>
              <a:t> </a:t>
            </a:r>
            <a:r>
              <a:rPr dirty="0" spc="-5"/>
              <a:t>how</a:t>
            </a:r>
            <a:r>
              <a:rPr dirty="0" spc="270"/>
              <a:t> </a:t>
            </a:r>
            <a:r>
              <a:rPr dirty="0" spc="-5"/>
              <a:t>the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208" y="2411958"/>
            <a:ext cx="10888980" cy="240347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180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shared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between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entities.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example,</a:t>
            </a:r>
            <a:r>
              <a:rPr dirty="0" sz="2000" spc="-1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dirty="0" sz="2000" spc="10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r>
              <a:rPr dirty="0" sz="2000" spc="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works</a:t>
            </a:r>
            <a:r>
              <a:rPr dirty="0" sz="2000" spc="9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at</a:t>
            </a:r>
            <a:r>
              <a:rPr dirty="0" sz="2000" spc="8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department,</a:t>
            </a:r>
            <a:r>
              <a:rPr dirty="0" sz="2000" spc="-1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student</a:t>
            </a:r>
            <a:r>
              <a:rPr dirty="0" sz="2000" spc="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 b="1" i="1">
                <a:solidFill>
                  <a:srgbClr val="3C3C3C"/>
                </a:solidFill>
                <a:latin typeface="Gill Sans MT"/>
                <a:cs typeface="Gill Sans MT"/>
              </a:rPr>
              <a:t>enrolls</a:t>
            </a:r>
            <a:r>
              <a:rPr dirty="0" sz="2000" spc="10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000" spc="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course.</a:t>
            </a:r>
            <a:r>
              <a:rPr dirty="0" sz="2000" spc="-10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Here,</a:t>
            </a:r>
            <a:r>
              <a:rPr dirty="0" sz="2000" spc="-10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30" b="1" i="1">
                <a:solidFill>
                  <a:srgbClr val="3C3C3C"/>
                </a:solidFill>
                <a:latin typeface="Gill Sans MT"/>
                <a:cs typeface="Gill Sans MT"/>
              </a:rPr>
              <a:t>Works</a:t>
            </a:r>
            <a:r>
              <a:rPr dirty="0" sz="2000" spc="9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at</a:t>
            </a:r>
            <a:r>
              <a:rPr dirty="0" sz="2000" spc="8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dirty="0" sz="2000" spc="-10" b="1" i="1">
                <a:solidFill>
                  <a:srgbClr val="3C3C3C"/>
                </a:solidFill>
                <a:latin typeface="Gill Sans MT"/>
                <a:cs typeface="Gill Sans MT"/>
              </a:rPr>
              <a:t>enrolls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called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relationships.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Relationships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represented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diamond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shapes.</a:t>
            </a:r>
            <a:endParaRPr sz="2000">
              <a:latin typeface="Gill Sans MT"/>
              <a:cs typeface="Gill Sans MT"/>
            </a:endParaRPr>
          </a:p>
          <a:p>
            <a:pPr marL="317500" marR="7620" indent="-304800">
              <a:lnSpc>
                <a:spcPct val="100000"/>
              </a:lnSpc>
              <a:spcBef>
                <a:spcPts val="1080"/>
              </a:spcBef>
            </a:pP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Degree</a:t>
            </a:r>
            <a:r>
              <a:rPr dirty="0" sz="2000" spc="9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000" spc="10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Relationship,</a:t>
            </a:r>
            <a:r>
              <a:rPr dirty="0" sz="2000" spc="-114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10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dirty="0" sz="2000" spc="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participating</a:t>
            </a:r>
            <a:r>
              <a:rPr dirty="0" sz="2000" spc="11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entities</a:t>
            </a:r>
            <a:r>
              <a:rPr dirty="0" sz="2000" spc="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000" spc="1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relationship</a:t>
            </a:r>
            <a:r>
              <a:rPr dirty="0" sz="2000" spc="1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defines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10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degree</a:t>
            </a:r>
            <a:r>
              <a:rPr dirty="0" sz="2000" spc="10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5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relationship.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4008" y="4790298"/>
            <a:ext cx="680720" cy="909319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Unary</a:t>
            </a:r>
            <a:endParaRPr sz="2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Bi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5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7110" y="4790298"/>
            <a:ext cx="1158875" cy="909319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=</a:t>
            </a:r>
            <a:r>
              <a:rPr dirty="0" sz="20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degree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1</a:t>
            </a:r>
            <a:endParaRPr sz="2000">
              <a:latin typeface="Gill Sans MT"/>
              <a:cs typeface="Gill Sans MT"/>
            </a:endParaRPr>
          </a:p>
          <a:p>
            <a:pPr marL="30480">
              <a:lnSpc>
                <a:spcPct val="100000"/>
              </a:lnSpc>
              <a:spcBef>
                <a:spcPts val="1080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=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degree</a:t>
            </a:r>
            <a:r>
              <a:rPr dirty="0" sz="20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2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4008" y="5810503"/>
            <a:ext cx="2002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Ternary</a:t>
            </a:r>
            <a:r>
              <a:rPr dirty="0" sz="20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=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degree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3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9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34961" y="4882134"/>
            <a:ext cx="2667000" cy="1371600"/>
          </a:xfrm>
          <a:custGeom>
            <a:avLst/>
            <a:gdLst/>
            <a:ahLst/>
            <a:cxnLst/>
            <a:rect l="l" t="t" r="r" b="b"/>
            <a:pathLst>
              <a:path w="2667000" h="1371600">
                <a:moveTo>
                  <a:pt x="0" y="685800"/>
                </a:moveTo>
                <a:lnTo>
                  <a:pt x="1333500" y="0"/>
                </a:lnTo>
                <a:lnTo>
                  <a:pt x="2667000" y="685800"/>
                </a:lnTo>
                <a:lnTo>
                  <a:pt x="1333500" y="1371600"/>
                </a:lnTo>
                <a:lnTo>
                  <a:pt x="0" y="685800"/>
                </a:lnTo>
                <a:close/>
              </a:path>
            </a:pathLst>
          </a:custGeom>
          <a:ln w="22860">
            <a:solidFill>
              <a:srgbClr val="0F21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754493" y="5426760"/>
            <a:ext cx="1026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Gill Sans MT"/>
                <a:cs typeface="Gill Sans MT"/>
              </a:rPr>
              <a:t>Relationship</a:t>
            </a:r>
            <a:endParaRPr sz="16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CARDINALITY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4727" y="2092832"/>
            <a:ext cx="10605770" cy="6356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105"/>
              </a:spcBef>
              <a:tabLst>
                <a:tab pos="1553210" algn="l"/>
              </a:tabLst>
            </a:pPr>
            <a:r>
              <a:rPr dirty="0" spc="-20" b="1">
                <a:latin typeface="Gill Sans MT"/>
                <a:cs typeface="Gill Sans MT"/>
              </a:rPr>
              <a:t>Cardinality,	</a:t>
            </a:r>
            <a:r>
              <a:rPr dirty="0"/>
              <a:t>it</a:t>
            </a:r>
            <a:r>
              <a:rPr dirty="0" spc="265"/>
              <a:t> </a:t>
            </a:r>
            <a:r>
              <a:rPr dirty="0"/>
              <a:t>defines</a:t>
            </a:r>
            <a:r>
              <a:rPr dirty="0" spc="270"/>
              <a:t> </a:t>
            </a:r>
            <a:r>
              <a:rPr dirty="0" spc="-5"/>
              <a:t>the</a:t>
            </a:r>
            <a:r>
              <a:rPr dirty="0" spc="270"/>
              <a:t> </a:t>
            </a:r>
            <a:r>
              <a:rPr dirty="0" spc="-5"/>
              <a:t>number</a:t>
            </a:r>
            <a:r>
              <a:rPr dirty="0" spc="275"/>
              <a:t> </a:t>
            </a:r>
            <a:r>
              <a:rPr dirty="0" spc="-10"/>
              <a:t>of</a:t>
            </a:r>
            <a:r>
              <a:rPr dirty="0" spc="280"/>
              <a:t> </a:t>
            </a:r>
            <a:r>
              <a:rPr dirty="0" spc="-5"/>
              <a:t>entities</a:t>
            </a:r>
            <a:r>
              <a:rPr dirty="0" spc="275"/>
              <a:t> </a:t>
            </a:r>
            <a:r>
              <a:rPr dirty="0" spc="-5"/>
              <a:t>in</a:t>
            </a:r>
            <a:r>
              <a:rPr dirty="0" spc="280"/>
              <a:t> </a:t>
            </a:r>
            <a:r>
              <a:rPr dirty="0" spc="-5"/>
              <a:t>one</a:t>
            </a:r>
            <a:r>
              <a:rPr dirty="0" spc="280"/>
              <a:t> </a:t>
            </a:r>
            <a:r>
              <a:rPr dirty="0" spc="-5"/>
              <a:t>entity</a:t>
            </a:r>
            <a:r>
              <a:rPr dirty="0" spc="260"/>
              <a:t> </a:t>
            </a:r>
            <a:r>
              <a:rPr dirty="0"/>
              <a:t>set,</a:t>
            </a:r>
            <a:r>
              <a:rPr dirty="0" spc="75"/>
              <a:t> </a:t>
            </a:r>
            <a:r>
              <a:rPr dirty="0" spc="-5"/>
              <a:t>which</a:t>
            </a:r>
            <a:r>
              <a:rPr dirty="0" spc="265"/>
              <a:t> </a:t>
            </a:r>
            <a:r>
              <a:rPr dirty="0"/>
              <a:t>can</a:t>
            </a:r>
            <a:r>
              <a:rPr dirty="0" spc="265"/>
              <a:t> </a:t>
            </a:r>
            <a:r>
              <a:rPr dirty="0"/>
              <a:t>be</a:t>
            </a:r>
            <a:r>
              <a:rPr dirty="0" spc="275"/>
              <a:t> </a:t>
            </a:r>
            <a:r>
              <a:rPr dirty="0" spc="-5"/>
              <a:t>associated</a:t>
            </a:r>
            <a:r>
              <a:rPr dirty="0" spc="270"/>
              <a:t> </a:t>
            </a:r>
            <a:r>
              <a:rPr dirty="0" spc="-5"/>
              <a:t>with</a:t>
            </a:r>
            <a:r>
              <a:rPr dirty="0" spc="270"/>
              <a:t> </a:t>
            </a:r>
            <a:r>
              <a:rPr dirty="0" spc="-5"/>
              <a:t>the </a:t>
            </a:r>
            <a:r>
              <a:rPr dirty="0" spc="-540"/>
              <a:t> </a:t>
            </a:r>
            <a:r>
              <a:rPr dirty="0" spc="-5"/>
              <a:t>number</a:t>
            </a:r>
            <a:r>
              <a:rPr dirty="0" spc="-40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/>
              <a:t>entities</a:t>
            </a:r>
            <a:r>
              <a:rPr dirty="0" spc="-2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/>
              <a:t>other</a:t>
            </a:r>
            <a:r>
              <a:rPr dirty="0" spc="-30"/>
              <a:t> </a:t>
            </a:r>
            <a:r>
              <a:rPr dirty="0"/>
              <a:t>set</a:t>
            </a:r>
            <a:r>
              <a:rPr dirty="0" spc="-5"/>
              <a:t> </a:t>
            </a:r>
            <a:r>
              <a:rPr dirty="0"/>
              <a:t>via</a:t>
            </a:r>
            <a:r>
              <a:rPr dirty="0" spc="-20"/>
              <a:t> </a:t>
            </a:r>
            <a:r>
              <a:rPr dirty="0" spc="-5"/>
              <a:t>relationship</a:t>
            </a:r>
            <a:r>
              <a:rPr dirty="0" spc="-60"/>
              <a:t> </a:t>
            </a:r>
            <a:r>
              <a:rPr dirty="0"/>
              <a:t>set.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three</a:t>
            </a:r>
            <a:r>
              <a:rPr dirty="0" spc="-25"/>
              <a:t> </a:t>
            </a:r>
            <a:r>
              <a:rPr dirty="0"/>
              <a:t>main</a:t>
            </a:r>
            <a:r>
              <a:rPr dirty="0" spc="-20"/>
              <a:t> </a:t>
            </a:r>
            <a:r>
              <a:rPr dirty="0" spc="-5"/>
              <a:t>cardinal</a:t>
            </a:r>
            <a:r>
              <a:rPr dirty="0" spc="-30"/>
              <a:t> </a:t>
            </a:r>
            <a:r>
              <a:rPr dirty="0" spc="-5"/>
              <a:t>relationships</a:t>
            </a:r>
            <a:r>
              <a:rPr dirty="0" spc="-25"/>
              <a:t> </a:t>
            </a:r>
            <a:r>
              <a:rPr dirty="0" spc="-5"/>
              <a:t>are,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2298700" algn="l"/>
              </a:tabLst>
            </a:pPr>
            <a:r>
              <a:rPr dirty="0" spc="-5" b="1" i="1">
                <a:latin typeface="Gill Sans MT"/>
                <a:cs typeface="Gill Sans MT"/>
              </a:rPr>
              <a:t>One-to-One</a:t>
            </a:r>
            <a:r>
              <a:rPr dirty="0" spc="235" b="1" i="1">
                <a:latin typeface="Gill Sans MT"/>
                <a:cs typeface="Gill Sans MT"/>
              </a:rPr>
              <a:t> </a:t>
            </a:r>
            <a:r>
              <a:rPr dirty="0" spc="-5" b="1">
                <a:latin typeface="Gill Sans MT"/>
                <a:cs typeface="Gill Sans MT"/>
              </a:rPr>
              <a:t>(1:1).	</a:t>
            </a:r>
            <a:r>
              <a:rPr dirty="0"/>
              <a:t>One</a:t>
            </a:r>
            <a:r>
              <a:rPr dirty="0" spc="245"/>
              <a:t> </a:t>
            </a:r>
            <a:r>
              <a:rPr dirty="0"/>
              <a:t>entity</a:t>
            </a:r>
            <a:r>
              <a:rPr dirty="0" spc="235"/>
              <a:t> </a:t>
            </a:r>
            <a:r>
              <a:rPr dirty="0" spc="-20"/>
              <a:t>from</a:t>
            </a:r>
            <a:r>
              <a:rPr dirty="0" spc="245"/>
              <a:t> </a:t>
            </a:r>
            <a:r>
              <a:rPr dirty="0" spc="-5"/>
              <a:t>entity</a:t>
            </a:r>
            <a:r>
              <a:rPr dirty="0" spc="235"/>
              <a:t> </a:t>
            </a:r>
            <a:r>
              <a:rPr dirty="0"/>
              <a:t>set</a:t>
            </a:r>
            <a:r>
              <a:rPr dirty="0" spc="229"/>
              <a:t> </a:t>
            </a:r>
            <a:r>
              <a:rPr dirty="0"/>
              <a:t>A</a:t>
            </a:r>
            <a:r>
              <a:rPr dirty="0" spc="235"/>
              <a:t> </a:t>
            </a:r>
            <a:r>
              <a:rPr dirty="0" spc="-5"/>
              <a:t>can</a:t>
            </a:r>
            <a:r>
              <a:rPr dirty="0" spc="229"/>
              <a:t> </a:t>
            </a:r>
            <a:r>
              <a:rPr dirty="0"/>
              <a:t>be</a:t>
            </a:r>
            <a:r>
              <a:rPr dirty="0" spc="229"/>
              <a:t> </a:t>
            </a:r>
            <a:r>
              <a:rPr dirty="0"/>
              <a:t>associated</a:t>
            </a:r>
            <a:r>
              <a:rPr dirty="0" spc="235"/>
              <a:t> </a:t>
            </a:r>
            <a:r>
              <a:rPr dirty="0" spc="-5"/>
              <a:t>with</a:t>
            </a:r>
            <a:r>
              <a:rPr dirty="0" spc="245"/>
              <a:t> </a:t>
            </a:r>
            <a:r>
              <a:rPr dirty="0" spc="-10"/>
              <a:t>at</a:t>
            </a:r>
            <a:r>
              <a:rPr dirty="0" spc="229"/>
              <a:t> </a:t>
            </a:r>
            <a:r>
              <a:rPr dirty="0" spc="-5"/>
              <a:t>most</a:t>
            </a:r>
            <a:r>
              <a:rPr dirty="0" spc="229"/>
              <a:t> </a:t>
            </a:r>
            <a:r>
              <a:rPr dirty="0"/>
              <a:t>one</a:t>
            </a:r>
            <a:r>
              <a:rPr dirty="0" spc="235"/>
              <a:t> </a:t>
            </a:r>
            <a:r>
              <a:rPr dirty="0" spc="-5"/>
              <a:t>entity</a:t>
            </a:r>
            <a:r>
              <a:rPr dirty="0" spc="225"/>
              <a:t> </a:t>
            </a:r>
            <a:r>
              <a:rPr dirty="0" spc="-5"/>
              <a:t>of</a:t>
            </a:r>
          </a:p>
          <a:p>
            <a:pPr marL="12700">
              <a:lnSpc>
                <a:spcPct val="100000"/>
              </a:lnSpc>
            </a:pPr>
            <a:r>
              <a:rPr dirty="0"/>
              <a:t>entity</a:t>
            </a:r>
            <a:r>
              <a:rPr dirty="0" spc="-45"/>
              <a:t> </a:t>
            </a:r>
            <a:r>
              <a:rPr dirty="0"/>
              <a:t>set</a:t>
            </a:r>
            <a:r>
              <a:rPr dirty="0" spc="-10"/>
              <a:t> </a:t>
            </a:r>
            <a:r>
              <a:rPr dirty="0"/>
              <a:t>B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vice</a:t>
            </a:r>
            <a:r>
              <a:rPr dirty="0" spc="-20"/>
              <a:t> </a:t>
            </a:r>
            <a:r>
              <a:rPr dirty="0" spc="-10"/>
              <a:t>versa.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pc="-15"/>
              <a:t>For</a:t>
            </a:r>
            <a:r>
              <a:rPr dirty="0" spc="-10"/>
              <a:t> </a:t>
            </a:r>
            <a:r>
              <a:rPr dirty="0" spc="5"/>
              <a:t>example,</a:t>
            </a:r>
            <a:r>
              <a:rPr dirty="0" spc="-229"/>
              <a:t> </a:t>
            </a:r>
            <a:r>
              <a:rPr dirty="0"/>
              <a:t>if</a:t>
            </a:r>
            <a:r>
              <a:rPr dirty="0" spc="-15"/>
              <a:t> </a:t>
            </a:r>
            <a:r>
              <a:rPr dirty="0"/>
              <a:t>each</a:t>
            </a:r>
            <a:r>
              <a:rPr dirty="0" spc="-10"/>
              <a:t> </a:t>
            </a:r>
            <a:r>
              <a:rPr dirty="0"/>
              <a:t>customer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database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5"/>
              <a:t> associated</a:t>
            </a:r>
            <a:r>
              <a:rPr dirty="0"/>
              <a:t> with</a:t>
            </a:r>
            <a:r>
              <a:rPr dirty="0" spc="-30"/>
              <a:t> </a:t>
            </a:r>
            <a:r>
              <a:rPr dirty="0"/>
              <a:t>one</a:t>
            </a:r>
            <a:r>
              <a:rPr dirty="0" spc="-10"/>
              <a:t> </a:t>
            </a:r>
            <a:r>
              <a:rPr dirty="0"/>
              <a:t>mailing</a:t>
            </a:r>
            <a:r>
              <a:rPr dirty="0" spc="-40"/>
              <a:t> </a:t>
            </a:r>
            <a:r>
              <a:rPr dirty="0" spc="-10"/>
              <a:t>address.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10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4564378"/>
            <a:ext cx="3105911" cy="21526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CARDINALITY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9670" y="2562225"/>
            <a:ext cx="10382250" cy="6356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2481580" algn="l"/>
              </a:tabLst>
            </a:pPr>
            <a:r>
              <a:rPr dirty="0" spc="-10" b="1" i="1">
                <a:latin typeface="Gill Sans MT"/>
                <a:cs typeface="Gill Sans MT"/>
              </a:rPr>
              <a:t>One-to-Many</a:t>
            </a:r>
            <a:r>
              <a:rPr dirty="0" spc="80" b="1" i="1">
                <a:latin typeface="Gill Sans MT"/>
                <a:cs typeface="Gill Sans MT"/>
              </a:rPr>
              <a:t> </a:t>
            </a:r>
            <a:r>
              <a:rPr dirty="0" spc="-5" b="1">
                <a:latin typeface="Gill Sans MT"/>
                <a:cs typeface="Gill Sans MT"/>
              </a:rPr>
              <a:t>(1:M).	</a:t>
            </a:r>
            <a:r>
              <a:rPr dirty="0" spc="-5"/>
              <a:t>One</a:t>
            </a:r>
            <a:r>
              <a:rPr dirty="0" spc="100"/>
              <a:t> </a:t>
            </a:r>
            <a:r>
              <a:rPr dirty="0" spc="-5"/>
              <a:t>entity</a:t>
            </a:r>
            <a:r>
              <a:rPr dirty="0" spc="95"/>
              <a:t> </a:t>
            </a:r>
            <a:r>
              <a:rPr dirty="0" spc="-20"/>
              <a:t>from</a:t>
            </a:r>
            <a:r>
              <a:rPr dirty="0" spc="85"/>
              <a:t> </a:t>
            </a:r>
            <a:r>
              <a:rPr dirty="0" spc="-5"/>
              <a:t>entity</a:t>
            </a:r>
            <a:r>
              <a:rPr dirty="0" spc="90"/>
              <a:t> </a:t>
            </a:r>
            <a:r>
              <a:rPr dirty="0"/>
              <a:t>set</a:t>
            </a:r>
            <a:r>
              <a:rPr dirty="0" spc="90"/>
              <a:t> </a:t>
            </a:r>
            <a:r>
              <a:rPr dirty="0"/>
              <a:t>A</a:t>
            </a:r>
            <a:r>
              <a:rPr dirty="0" spc="80"/>
              <a:t> </a:t>
            </a:r>
            <a:r>
              <a:rPr dirty="0"/>
              <a:t>can</a:t>
            </a:r>
            <a:r>
              <a:rPr dirty="0" spc="75"/>
              <a:t> </a:t>
            </a:r>
            <a:r>
              <a:rPr dirty="0"/>
              <a:t>be</a:t>
            </a:r>
            <a:r>
              <a:rPr dirty="0" spc="85"/>
              <a:t> </a:t>
            </a:r>
            <a:r>
              <a:rPr dirty="0" spc="-5"/>
              <a:t>associated</a:t>
            </a:r>
            <a:r>
              <a:rPr dirty="0" spc="95"/>
              <a:t> </a:t>
            </a:r>
            <a:r>
              <a:rPr dirty="0" spc="-5"/>
              <a:t>with</a:t>
            </a:r>
            <a:r>
              <a:rPr dirty="0" spc="85"/>
              <a:t> </a:t>
            </a:r>
            <a:r>
              <a:rPr dirty="0" spc="-15"/>
              <a:t>more</a:t>
            </a:r>
            <a:r>
              <a:rPr dirty="0" spc="85"/>
              <a:t> </a:t>
            </a:r>
            <a:r>
              <a:rPr dirty="0" spc="-5"/>
              <a:t>than</a:t>
            </a:r>
            <a:r>
              <a:rPr dirty="0" spc="100"/>
              <a:t> </a:t>
            </a:r>
            <a:r>
              <a:rPr dirty="0" spc="-5"/>
              <a:t>one</a:t>
            </a:r>
            <a:r>
              <a:rPr dirty="0" spc="95"/>
              <a:t> </a:t>
            </a:r>
            <a:r>
              <a:rPr dirty="0" spc="-5"/>
              <a:t>entities </a:t>
            </a:r>
            <a:r>
              <a:rPr dirty="0" spc="-54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/>
              <a:t>entity</a:t>
            </a:r>
            <a:r>
              <a:rPr dirty="0" spc="-30"/>
              <a:t> </a:t>
            </a:r>
            <a:r>
              <a:rPr dirty="0"/>
              <a:t>set</a:t>
            </a:r>
            <a:r>
              <a:rPr dirty="0" spc="-5"/>
              <a:t> </a:t>
            </a:r>
            <a:r>
              <a:rPr dirty="0"/>
              <a:t>B </a:t>
            </a:r>
            <a:r>
              <a:rPr dirty="0" spc="-20"/>
              <a:t>however</a:t>
            </a:r>
            <a:r>
              <a:rPr dirty="0" spc="-10"/>
              <a:t> </a:t>
            </a:r>
            <a:r>
              <a:rPr dirty="0" spc="-5"/>
              <a:t>an </a:t>
            </a:r>
            <a:r>
              <a:rPr dirty="0"/>
              <a:t>entity</a:t>
            </a:r>
            <a:r>
              <a:rPr dirty="0" spc="-35"/>
              <a:t> </a:t>
            </a:r>
            <a:r>
              <a:rPr dirty="0" spc="-15"/>
              <a:t>from</a:t>
            </a:r>
            <a:r>
              <a:rPr dirty="0" spc="-35"/>
              <a:t> </a:t>
            </a:r>
            <a:r>
              <a:rPr dirty="0"/>
              <a:t>entity</a:t>
            </a:r>
            <a:r>
              <a:rPr dirty="0" spc="-35"/>
              <a:t> </a:t>
            </a:r>
            <a:r>
              <a:rPr dirty="0"/>
              <a:t>set</a:t>
            </a:r>
            <a:r>
              <a:rPr dirty="0" spc="-10"/>
              <a:t> </a:t>
            </a:r>
            <a:r>
              <a:rPr dirty="0" spc="-5"/>
              <a:t>B,</a:t>
            </a:r>
            <a:r>
              <a:rPr dirty="0" spc="-200"/>
              <a:t> </a:t>
            </a:r>
            <a:r>
              <a:rPr dirty="0"/>
              <a:t>can</a:t>
            </a:r>
            <a:r>
              <a:rPr dirty="0" spc="-15"/>
              <a:t> </a:t>
            </a:r>
            <a:r>
              <a:rPr dirty="0"/>
              <a:t>be</a:t>
            </a:r>
            <a:r>
              <a:rPr dirty="0" spc="-15"/>
              <a:t> </a:t>
            </a:r>
            <a:r>
              <a:rPr dirty="0" spc="-5"/>
              <a:t>associated</a:t>
            </a:r>
            <a:r>
              <a:rPr dirty="0" spc="5"/>
              <a:t> </a:t>
            </a:r>
            <a:r>
              <a:rPr dirty="0"/>
              <a:t>with</a:t>
            </a:r>
            <a:r>
              <a:rPr dirty="0" spc="-35"/>
              <a:t> </a:t>
            </a:r>
            <a:r>
              <a:rPr dirty="0" spc="-5"/>
              <a:t>at</a:t>
            </a:r>
            <a:r>
              <a:rPr dirty="0" spc="-10"/>
              <a:t> </a:t>
            </a:r>
            <a:r>
              <a:rPr dirty="0"/>
              <a:t>most</a:t>
            </a:r>
            <a:r>
              <a:rPr dirty="0" spc="-10"/>
              <a:t> </a:t>
            </a:r>
            <a:r>
              <a:rPr dirty="0"/>
              <a:t>one</a:t>
            </a:r>
            <a:r>
              <a:rPr dirty="0" spc="-10"/>
              <a:t> </a:t>
            </a:r>
            <a:r>
              <a:rPr dirty="0" spc="-20"/>
              <a:t>entity.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9670" y="3308984"/>
            <a:ext cx="1038098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example, a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single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customer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might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place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order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multiple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products. The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customer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is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associated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with multiple entities,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but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all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those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entities 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have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single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connection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back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the same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customer.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11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4532374"/>
            <a:ext cx="3105911" cy="21526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CARDINALITY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pc="-15" b="1" i="1">
                <a:latin typeface="Gill Sans MT"/>
                <a:cs typeface="Gill Sans MT"/>
              </a:rPr>
              <a:t>Many-to-Many</a:t>
            </a:r>
            <a:r>
              <a:rPr dirty="0" spc="75" b="1" i="1">
                <a:latin typeface="Gill Sans MT"/>
                <a:cs typeface="Gill Sans MT"/>
              </a:rPr>
              <a:t> </a:t>
            </a:r>
            <a:r>
              <a:rPr dirty="0" spc="-5" b="1">
                <a:latin typeface="Gill Sans MT"/>
                <a:cs typeface="Gill Sans MT"/>
              </a:rPr>
              <a:t>(M:N).</a:t>
            </a:r>
            <a:r>
              <a:rPr dirty="0" spc="-135" b="1">
                <a:latin typeface="Gill Sans MT"/>
                <a:cs typeface="Gill Sans MT"/>
              </a:rPr>
              <a:t> </a:t>
            </a:r>
            <a:r>
              <a:rPr dirty="0" spc="-5"/>
              <a:t>One</a:t>
            </a:r>
            <a:r>
              <a:rPr dirty="0" spc="70"/>
              <a:t> </a:t>
            </a:r>
            <a:r>
              <a:rPr dirty="0"/>
              <a:t>entity</a:t>
            </a:r>
            <a:r>
              <a:rPr dirty="0" spc="80"/>
              <a:t> </a:t>
            </a:r>
            <a:r>
              <a:rPr dirty="0" spc="-20"/>
              <a:t>from</a:t>
            </a:r>
            <a:r>
              <a:rPr dirty="0" spc="60"/>
              <a:t> </a:t>
            </a:r>
            <a:r>
              <a:rPr dirty="0"/>
              <a:t>A</a:t>
            </a:r>
            <a:r>
              <a:rPr dirty="0" spc="65"/>
              <a:t> </a:t>
            </a:r>
            <a:r>
              <a:rPr dirty="0"/>
              <a:t>can</a:t>
            </a:r>
            <a:r>
              <a:rPr dirty="0" spc="80"/>
              <a:t> </a:t>
            </a:r>
            <a:r>
              <a:rPr dirty="0"/>
              <a:t>be</a:t>
            </a:r>
            <a:r>
              <a:rPr dirty="0" spc="70"/>
              <a:t> </a:t>
            </a:r>
            <a:r>
              <a:rPr dirty="0" spc="-5"/>
              <a:t>associated</a:t>
            </a:r>
            <a:r>
              <a:rPr dirty="0" spc="80"/>
              <a:t> </a:t>
            </a:r>
            <a:r>
              <a:rPr dirty="0" spc="-5"/>
              <a:t>with</a:t>
            </a:r>
            <a:r>
              <a:rPr dirty="0" spc="60"/>
              <a:t> </a:t>
            </a:r>
            <a:r>
              <a:rPr dirty="0" spc="-20"/>
              <a:t>more</a:t>
            </a:r>
            <a:r>
              <a:rPr dirty="0" spc="75"/>
              <a:t> </a:t>
            </a:r>
            <a:r>
              <a:rPr dirty="0" spc="-5"/>
              <a:t>than</a:t>
            </a:r>
            <a:r>
              <a:rPr dirty="0" spc="85"/>
              <a:t> </a:t>
            </a:r>
            <a:r>
              <a:rPr dirty="0" spc="-5"/>
              <a:t>one</a:t>
            </a:r>
            <a:r>
              <a:rPr dirty="0" spc="75"/>
              <a:t> </a:t>
            </a:r>
            <a:r>
              <a:rPr dirty="0" spc="-5"/>
              <a:t>entity</a:t>
            </a:r>
            <a:r>
              <a:rPr dirty="0" spc="65"/>
              <a:t> </a:t>
            </a:r>
            <a:r>
              <a:rPr dirty="0" spc="-15"/>
              <a:t>from</a:t>
            </a:r>
            <a:r>
              <a:rPr dirty="0" spc="75"/>
              <a:t> </a:t>
            </a:r>
            <a:r>
              <a:rPr dirty="0"/>
              <a:t>B</a:t>
            </a:r>
            <a:r>
              <a:rPr dirty="0" spc="70"/>
              <a:t> </a:t>
            </a:r>
            <a:r>
              <a:rPr dirty="0" spc="-5"/>
              <a:t>and </a:t>
            </a:r>
            <a:r>
              <a:rPr dirty="0" spc="-540"/>
              <a:t> </a:t>
            </a:r>
            <a:r>
              <a:rPr dirty="0"/>
              <a:t>vice</a:t>
            </a:r>
            <a:r>
              <a:rPr dirty="0" spc="-20"/>
              <a:t> </a:t>
            </a:r>
            <a:r>
              <a:rPr dirty="0" spc="-10"/>
              <a:t>versa.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0739" y="3451682"/>
            <a:ext cx="1050925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example,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at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company where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all call center agents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work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with multiple customers,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each agent is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associated with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multiple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customers, and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multiple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customers might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also be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associated with multiple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agents.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12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4335779"/>
            <a:ext cx="3115055" cy="21526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CARDINALITY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60194" y="3383102"/>
            <a:ext cx="1338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3C3C3C"/>
                </a:solidFill>
                <a:latin typeface="Gill Sans MT"/>
                <a:cs typeface="Gill Sans MT"/>
              </a:rPr>
              <a:t>Cardinality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2114" y="3413843"/>
            <a:ext cx="4648200" cy="295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65"/>
              </a:lnSpc>
            </a:pPr>
            <a:r>
              <a:rPr dirty="0" sz="2000" spc="-5" b="1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dirty="0" sz="2000" spc="5" b="1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b="1">
                <a:solidFill>
                  <a:srgbClr val="3C3C3C"/>
                </a:solidFill>
                <a:latin typeface="Gill Sans MT"/>
                <a:cs typeface="Gill Sans MT"/>
              </a:rPr>
              <a:t>tion</a:t>
            </a:r>
            <a:r>
              <a:rPr dirty="0" sz="2000" spc="-10" b="1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000" b="1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000" spc="-254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opt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onal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mand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000" spc="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 spc="-16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000" spc="-2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87910" y="3383102"/>
            <a:ext cx="8223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ese</a:t>
            </a:r>
            <a:r>
              <a:rPr dirty="0" sz="2000" spc="-6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are;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13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2209799"/>
            <a:ext cx="4724400" cy="357682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5/29/2020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85781" y="6054344"/>
            <a:ext cx="4940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5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/2</a:t>
            </a: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9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/2</a:t>
            </a: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02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0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14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838200"/>
            <a:ext cx="8077200" cy="4686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46397" y="6044895"/>
            <a:ext cx="39198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Gill Sans MT"/>
                <a:cs typeface="Gill Sans MT"/>
              </a:rPr>
              <a:t>Simple</a:t>
            </a:r>
            <a:r>
              <a:rPr dirty="0" sz="1800" spc="-5">
                <a:latin typeface="Gill Sans MT"/>
                <a:cs typeface="Gill Sans MT"/>
              </a:rPr>
              <a:t> E-R Model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of</a:t>
            </a:r>
            <a:r>
              <a:rPr dirty="0" sz="1800" spc="-2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Customer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&amp;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 spc="-10">
                <a:latin typeface="Gill Sans MT"/>
                <a:cs typeface="Gill Sans MT"/>
              </a:rPr>
              <a:t>Product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85781" y="6054344"/>
            <a:ext cx="4940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5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/2</a:t>
            </a: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9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/2</a:t>
            </a: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02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0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15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914400"/>
            <a:ext cx="6858000" cy="4953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08167" y="6044895"/>
            <a:ext cx="995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Gill Sans MT"/>
                <a:cs typeface="Gill Sans MT"/>
              </a:rPr>
              <a:t>E-R</a:t>
            </a:r>
            <a:r>
              <a:rPr dirty="0" sz="1800" spc="-60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Model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85781" y="6054344"/>
            <a:ext cx="4940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5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/2</a:t>
            </a: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9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/2</a:t>
            </a: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02</a:t>
            </a: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0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16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370" y="1091029"/>
            <a:ext cx="4046706" cy="17164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61429" y="1473454"/>
            <a:ext cx="30651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Gill Sans MT"/>
                <a:cs typeface="Gill Sans MT"/>
              </a:rPr>
              <a:t>Student</a:t>
            </a:r>
            <a:r>
              <a:rPr dirty="0" sz="1600" b="1">
                <a:latin typeface="Gill Sans MT"/>
                <a:cs typeface="Gill Sans MT"/>
              </a:rPr>
              <a:t> Department</a:t>
            </a:r>
            <a:r>
              <a:rPr dirty="0" sz="1600" spc="30" b="1">
                <a:latin typeface="Gill Sans MT"/>
                <a:cs typeface="Gill Sans MT"/>
              </a:rPr>
              <a:t> </a:t>
            </a:r>
            <a:r>
              <a:rPr dirty="0" sz="1600" spc="-5" b="1">
                <a:latin typeface="Gill Sans MT"/>
                <a:cs typeface="Gill Sans MT"/>
              </a:rPr>
              <a:t>E-R</a:t>
            </a:r>
            <a:r>
              <a:rPr dirty="0" sz="1600" b="1">
                <a:latin typeface="Gill Sans MT"/>
                <a:cs typeface="Gill Sans MT"/>
              </a:rPr>
              <a:t> </a:t>
            </a:r>
            <a:r>
              <a:rPr dirty="0" sz="1600" spc="-5" b="1">
                <a:latin typeface="Gill Sans MT"/>
                <a:cs typeface="Gill Sans MT"/>
              </a:rPr>
              <a:t>Model</a:t>
            </a:r>
            <a:endParaRPr sz="16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2994" y="4445889"/>
            <a:ext cx="2484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Gill Sans MT"/>
                <a:cs typeface="Gill Sans MT"/>
              </a:rPr>
              <a:t>Doctor</a:t>
            </a:r>
            <a:r>
              <a:rPr dirty="0" sz="1600" spc="-20" b="1">
                <a:latin typeface="Gill Sans MT"/>
                <a:cs typeface="Gill Sans MT"/>
              </a:rPr>
              <a:t> </a:t>
            </a:r>
            <a:r>
              <a:rPr dirty="0" sz="1600" spc="-10" b="1">
                <a:latin typeface="Gill Sans MT"/>
                <a:cs typeface="Gill Sans MT"/>
              </a:rPr>
              <a:t>Patient</a:t>
            </a:r>
            <a:r>
              <a:rPr dirty="0" sz="1600" spc="20" b="1">
                <a:latin typeface="Gill Sans MT"/>
                <a:cs typeface="Gill Sans MT"/>
              </a:rPr>
              <a:t> </a:t>
            </a:r>
            <a:r>
              <a:rPr dirty="0" sz="1600" spc="-10" b="1">
                <a:latin typeface="Gill Sans MT"/>
                <a:cs typeface="Gill Sans MT"/>
              </a:rPr>
              <a:t>E-R</a:t>
            </a:r>
            <a:r>
              <a:rPr dirty="0" sz="1600" b="1">
                <a:latin typeface="Gill Sans MT"/>
                <a:cs typeface="Gill Sans MT"/>
              </a:rPr>
              <a:t> </a:t>
            </a:r>
            <a:r>
              <a:rPr dirty="0" sz="1600" spc="-5" b="1">
                <a:latin typeface="Gill Sans MT"/>
                <a:cs typeface="Gill Sans MT"/>
              </a:rPr>
              <a:t>Model</a:t>
            </a:r>
            <a:endParaRPr sz="160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3400" y="3048000"/>
            <a:ext cx="6019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DATABASE</a:t>
                      </a:r>
                      <a:r>
                        <a:rPr dirty="0" sz="2800" spc="-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KEYS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9066" y="2027047"/>
            <a:ext cx="237553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25" b="1">
                <a:latin typeface="Gill Sans MT"/>
                <a:cs typeface="Gill Sans MT"/>
              </a:rPr>
              <a:t>D</a:t>
            </a:r>
            <a:r>
              <a:rPr dirty="0" sz="2200" spc="-270" b="1">
                <a:latin typeface="Gill Sans MT"/>
                <a:cs typeface="Gill Sans MT"/>
              </a:rPr>
              <a:t>A</a:t>
            </a:r>
            <a:r>
              <a:rPr dirty="0" sz="2200" spc="-265" b="1">
                <a:latin typeface="Gill Sans MT"/>
                <a:cs typeface="Gill Sans MT"/>
              </a:rPr>
              <a:t>T</a:t>
            </a:r>
            <a:r>
              <a:rPr dirty="0" sz="2200" spc="-5" b="1">
                <a:latin typeface="Gill Sans MT"/>
                <a:cs typeface="Gill Sans MT"/>
              </a:rPr>
              <a:t>ABA</a:t>
            </a:r>
            <a:r>
              <a:rPr dirty="0" sz="2200" b="1">
                <a:latin typeface="Gill Sans MT"/>
                <a:cs typeface="Gill Sans MT"/>
              </a:rPr>
              <a:t>S</a:t>
            </a:r>
            <a:r>
              <a:rPr dirty="0" sz="2200" spc="-5" b="1">
                <a:latin typeface="Gill Sans MT"/>
                <a:cs typeface="Gill Sans MT"/>
              </a:rPr>
              <a:t>E</a:t>
            </a:r>
            <a:r>
              <a:rPr dirty="0" sz="2200" spc="-15" b="1">
                <a:latin typeface="Gill Sans MT"/>
                <a:cs typeface="Gill Sans MT"/>
              </a:rPr>
              <a:t> </a:t>
            </a:r>
            <a:r>
              <a:rPr dirty="0" sz="2200" spc="-10" b="1">
                <a:latin typeface="Gill Sans MT"/>
                <a:cs typeface="Gill Sans MT"/>
              </a:rPr>
              <a:t>KE</a:t>
            </a:r>
            <a:r>
              <a:rPr dirty="0" sz="2200" spc="-70" b="1">
                <a:latin typeface="Gill Sans MT"/>
                <a:cs typeface="Gill Sans MT"/>
              </a:rPr>
              <a:t>Y</a:t>
            </a:r>
            <a:r>
              <a:rPr dirty="0" sz="2200" spc="-5" b="1">
                <a:latin typeface="Gill Sans MT"/>
                <a:cs typeface="Gill Sans MT"/>
              </a:rPr>
              <a:t>S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066" y="2499487"/>
            <a:ext cx="10656570" cy="2571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16865" marR="5080" indent="-3048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3C3C3C"/>
                </a:solidFill>
                <a:latin typeface="Gill Sans MT"/>
                <a:cs typeface="Gill Sans MT"/>
              </a:rPr>
              <a:t>Primary</a:t>
            </a:r>
            <a:r>
              <a:rPr dirty="0" sz="2000" spc="95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80" b="1">
                <a:solidFill>
                  <a:srgbClr val="3C3C3C"/>
                </a:solidFill>
                <a:latin typeface="Gill Sans MT"/>
                <a:cs typeface="Gill Sans MT"/>
              </a:rPr>
              <a:t>Key,</a:t>
            </a:r>
            <a:r>
              <a:rPr dirty="0" sz="2000" spc="-114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candidate</a:t>
            </a:r>
            <a:r>
              <a:rPr dirty="0" sz="2000" spc="10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key</a:t>
            </a:r>
            <a:r>
              <a:rPr dirty="0" sz="2000" spc="1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2000" spc="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chosen</a:t>
            </a:r>
            <a:r>
              <a:rPr dirty="0" sz="2000" spc="1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2000" spc="8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10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dirty="0" sz="2000" spc="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designer</a:t>
            </a:r>
            <a:r>
              <a:rPr dirty="0" sz="2000" spc="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000" spc="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identify</a:t>
            </a:r>
            <a:r>
              <a:rPr dirty="0" sz="2000" spc="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entities</a:t>
            </a:r>
            <a:r>
              <a:rPr dirty="0" sz="2000" spc="1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dirty="0" sz="2000" spc="7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2000" spc="-5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 entity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set.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Primary 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key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 the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minimal super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keys.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 the ER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diagram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primary 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key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represented 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by </a:t>
            </a:r>
            <a:r>
              <a:rPr dirty="0" sz="2000" spc="-5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underlining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primary 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key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attribute. Ideally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primary  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key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composed of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only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single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attribute.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But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possible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have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5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primary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key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composed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more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than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attribute.</a:t>
            </a:r>
            <a:endParaRPr sz="2000">
              <a:latin typeface="Gill Sans MT"/>
              <a:cs typeface="Gill Sans MT"/>
            </a:endParaRPr>
          </a:p>
          <a:p>
            <a:pPr algn="just" marL="12700">
              <a:lnSpc>
                <a:spcPct val="100000"/>
              </a:lnSpc>
              <a:spcBef>
                <a:spcPts val="1080"/>
              </a:spcBef>
            </a:pPr>
            <a:r>
              <a:rPr dirty="0" sz="2000" spc="-15" b="1">
                <a:solidFill>
                  <a:srgbClr val="3C3C3C"/>
                </a:solidFill>
                <a:latin typeface="Gill Sans MT"/>
                <a:cs typeface="Gill Sans MT"/>
              </a:rPr>
              <a:t>Foreign</a:t>
            </a:r>
            <a:r>
              <a:rPr dirty="0" sz="2000" spc="-30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80" b="1">
                <a:solidFill>
                  <a:srgbClr val="3C3C3C"/>
                </a:solidFill>
                <a:latin typeface="Gill Sans MT"/>
                <a:cs typeface="Gill Sans MT"/>
              </a:rPr>
              <a:t>Key,</a:t>
            </a:r>
            <a:r>
              <a:rPr dirty="0" sz="2000" spc="-5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Fields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refer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primary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key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another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table.</a:t>
            </a:r>
            <a:endParaRPr sz="2000">
              <a:latin typeface="Gill Sans MT"/>
              <a:cs typeface="Gill Sans MT"/>
            </a:endParaRPr>
          </a:p>
          <a:p>
            <a:pPr algn="just" marL="316865">
              <a:lnSpc>
                <a:spcPct val="100000"/>
              </a:lnSpc>
              <a:spcBef>
                <a:spcPts val="1080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field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must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exactly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match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contained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primary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key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field.</a:t>
            </a:r>
            <a:endParaRPr sz="2000">
              <a:latin typeface="Gill Sans MT"/>
              <a:cs typeface="Gill Sans MT"/>
            </a:endParaRPr>
          </a:p>
          <a:p>
            <a:pPr algn="just" marL="12700">
              <a:lnSpc>
                <a:spcPct val="100000"/>
              </a:lnSpc>
              <a:spcBef>
                <a:spcPts val="1080"/>
              </a:spcBef>
            </a:pPr>
            <a:r>
              <a:rPr dirty="0" sz="2000" b="1">
                <a:solidFill>
                  <a:srgbClr val="3C3C3C"/>
                </a:solidFill>
                <a:latin typeface="Gill Sans MT"/>
                <a:cs typeface="Gill Sans MT"/>
              </a:rPr>
              <a:t>Composite</a:t>
            </a:r>
            <a:r>
              <a:rPr dirty="0" sz="2000" spc="-40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80" b="1">
                <a:solidFill>
                  <a:srgbClr val="3C3C3C"/>
                </a:solidFill>
                <a:latin typeface="Gill Sans MT"/>
                <a:cs typeface="Gill Sans MT"/>
              </a:rPr>
              <a:t>Key,</a:t>
            </a:r>
            <a:r>
              <a:rPr dirty="0" sz="2000" spc="-215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Composite</a:t>
            </a:r>
            <a:r>
              <a:rPr dirty="0" sz="2000" spc="5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key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consists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of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more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than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attributes.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6520688"/>
            <a:ext cx="6445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93939"/>
                </a:solidFill>
                <a:latin typeface="Gill Sans MT"/>
                <a:cs typeface="Gill Sans MT"/>
              </a:rPr>
              <a:t>5/29/2020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17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Zartasha Baloch</dc:creator>
  <dc:title>Database Management Systems</dc:title>
  <dcterms:created xsi:type="dcterms:W3CDTF">2026-02-17T07:54:06Z</dcterms:created>
  <dcterms:modified xsi:type="dcterms:W3CDTF">2026-02-17T07:54:06Z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