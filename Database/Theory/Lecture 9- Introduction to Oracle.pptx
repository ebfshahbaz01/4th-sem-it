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2854" y="2754557"/>
            <a:ext cx="9747885" cy="698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789582"/>
            <a:ext cx="11221085" cy="4105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44500" y="6530588"/>
            <a:ext cx="644525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93939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3086100"/>
            <a:ext cx="10986770" cy="3305810"/>
          </a:xfrm>
          <a:custGeom>
            <a:avLst/>
            <a:gdLst/>
            <a:ahLst/>
            <a:cxnLst/>
            <a:rect l="l" t="t" r="r" b="b"/>
            <a:pathLst>
              <a:path w="10986770" h="3305810">
                <a:moveTo>
                  <a:pt x="10986516" y="0"/>
                </a:moveTo>
                <a:lnTo>
                  <a:pt x="0" y="0"/>
                </a:lnTo>
                <a:lnTo>
                  <a:pt x="0" y="3305555"/>
                </a:lnTo>
                <a:lnTo>
                  <a:pt x="10986516" y="3305555"/>
                </a:lnTo>
                <a:lnTo>
                  <a:pt x="10986516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3764" y="1874773"/>
            <a:ext cx="72504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90" b="1">
                <a:solidFill>
                  <a:srgbClr val="1A315F"/>
                </a:solidFill>
                <a:latin typeface="Trebuchet MS"/>
                <a:cs typeface="Trebuchet MS"/>
              </a:rPr>
              <a:t>DATABASE</a:t>
            </a:r>
            <a:r>
              <a:rPr dirty="0" sz="3600" spc="-30" b="1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dirty="0" sz="3600" spc="-5" b="1">
                <a:solidFill>
                  <a:srgbClr val="1A315F"/>
                </a:solidFill>
                <a:latin typeface="Trebuchet MS"/>
                <a:cs typeface="Trebuchet MS"/>
              </a:rPr>
              <a:t>MANAGEMENT</a:t>
            </a:r>
            <a:r>
              <a:rPr dirty="0" sz="3600" spc="-80" b="1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dirty="0" sz="3600" spc="-5" b="1">
                <a:solidFill>
                  <a:srgbClr val="1A315F"/>
                </a:solidFill>
                <a:latin typeface="Trebuchet MS"/>
                <a:cs typeface="Trebuchet MS"/>
              </a:rPr>
              <a:t>SYSTEMS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2550" y="4467081"/>
            <a:ext cx="33578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Subject</a:t>
            </a:r>
            <a:r>
              <a:rPr dirty="0" sz="18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5">
                <a:solidFill>
                  <a:srgbClr val="FFFFFF"/>
                </a:solidFill>
                <a:latin typeface="Times New Roman"/>
                <a:cs typeface="Times New Roman"/>
              </a:rPr>
              <a:t>Teacher:</a:t>
            </a:r>
            <a:r>
              <a:rPr dirty="0" sz="18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Times New Roman"/>
                <a:cs typeface="Times New Roman"/>
              </a:rPr>
              <a:t>Junaid</a:t>
            </a:r>
            <a:r>
              <a:rPr dirty="0" sz="18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Javed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Times New Roman"/>
                <a:cs typeface="Times New Roman"/>
              </a:rPr>
              <a:t>Korai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3086100"/>
            <a:ext cx="10986770" cy="3305810"/>
          </a:xfrm>
          <a:custGeom>
            <a:avLst/>
            <a:gdLst/>
            <a:ahLst/>
            <a:cxnLst/>
            <a:rect l="l" t="t" r="r" b="b"/>
            <a:pathLst>
              <a:path w="10986770" h="3305810">
                <a:moveTo>
                  <a:pt x="10986516" y="0"/>
                </a:moveTo>
                <a:lnTo>
                  <a:pt x="0" y="0"/>
                </a:lnTo>
                <a:lnTo>
                  <a:pt x="0" y="3305555"/>
                </a:lnTo>
                <a:lnTo>
                  <a:pt x="10986516" y="3305555"/>
                </a:lnTo>
                <a:lnTo>
                  <a:pt x="10986516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7458" y="1870095"/>
            <a:ext cx="60477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1A315F"/>
                </a:solidFill>
              </a:rPr>
              <a:t>I</a:t>
            </a:r>
            <a:r>
              <a:rPr dirty="0" sz="3600" spc="-5">
                <a:solidFill>
                  <a:srgbClr val="1A315F"/>
                </a:solidFill>
              </a:rPr>
              <a:t>NT</a:t>
            </a:r>
            <a:r>
              <a:rPr dirty="0" sz="3600" spc="-220">
                <a:solidFill>
                  <a:srgbClr val="1A315F"/>
                </a:solidFill>
              </a:rPr>
              <a:t>R</a:t>
            </a:r>
            <a:r>
              <a:rPr dirty="0" sz="3600">
                <a:solidFill>
                  <a:srgbClr val="1A315F"/>
                </a:solidFill>
              </a:rPr>
              <a:t>OD</a:t>
            </a:r>
            <a:r>
              <a:rPr dirty="0" sz="3600" spc="-5">
                <a:solidFill>
                  <a:srgbClr val="1A315F"/>
                </a:solidFill>
              </a:rPr>
              <a:t>UCT</a:t>
            </a:r>
            <a:r>
              <a:rPr dirty="0" sz="3600">
                <a:solidFill>
                  <a:srgbClr val="1A315F"/>
                </a:solidFill>
              </a:rPr>
              <a:t>ION</a:t>
            </a:r>
            <a:r>
              <a:rPr dirty="0" sz="3600" spc="-430">
                <a:solidFill>
                  <a:srgbClr val="1A315F"/>
                </a:solidFill>
              </a:rPr>
              <a:t> </a:t>
            </a:r>
            <a:r>
              <a:rPr dirty="0" sz="3600" spc="-235">
                <a:solidFill>
                  <a:srgbClr val="1A315F"/>
                </a:solidFill>
              </a:rPr>
              <a:t>T</a:t>
            </a:r>
            <a:r>
              <a:rPr dirty="0" sz="3600">
                <a:solidFill>
                  <a:srgbClr val="1A315F"/>
                </a:solidFill>
              </a:rPr>
              <a:t>O</a:t>
            </a:r>
            <a:r>
              <a:rPr dirty="0" sz="3600" spc="-5">
                <a:solidFill>
                  <a:srgbClr val="1A315F"/>
                </a:solidFill>
              </a:rPr>
              <a:t> </a:t>
            </a:r>
            <a:r>
              <a:rPr dirty="0" sz="3600">
                <a:solidFill>
                  <a:srgbClr val="1A315F"/>
                </a:solidFill>
              </a:rPr>
              <a:t>O</a:t>
            </a:r>
            <a:r>
              <a:rPr dirty="0" sz="3600" spc="-5">
                <a:solidFill>
                  <a:srgbClr val="1A315F"/>
                </a:solidFill>
              </a:rPr>
              <a:t>R</a:t>
            </a:r>
            <a:r>
              <a:rPr dirty="0" sz="3600" spc="-150">
                <a:solidFill>
                  <a:srgbClr val="1A315F"/>
                </a:solidFill>
              </a:rPr>
              <a:t>A</a:t>
            </a:r>
            <a:r>
              <a:rPr dirty="0" sz="3600" spc="-5">
                <a:solidFill>
                  <a:srgbClr val="1A315F"/>
                </a:solidFill>
              </a:rPr>
              <a:t>C</a:t>
            </a:r>
            <a:r>
              <a:rPr dirty="0" sz="3600">
                <a:solidFill>
                  <a:srgbClr val="1A315F"/>
                </a:solidFill>
              </a:rPr>
              <a:t>LE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11264900" y="6061104"/>
            <a:ext cx="82550" cy="1581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>
                <a:solidFill>
                  <a:srgbClr val="2E5AAC"/>
                </a:solidFill>
                <a:latin typeface="Gill Sans MT"/>
                <a:cs typeface="Gill Sans MT"/>
              </a:rPr>
              <a:t>2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662" y="3146146"/>
            <a:ext cx="10199370" cy="2973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80975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dirty="0" sz="2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algn="just" marL="12700" marR="5715" indent="-635">
              <a:lnSpc>
                <a:spcPct val="100000"/>
              </a:lnSpc>
            </a:pPr>
            <a:r>
              <a:rPr dirty="0" sz="1600" spc="5" b="1">
                <a:solidFill>
                  <a:srgbClr val="FFFFCC"/>
                </a:solidFill>
                <a:latin typeface="Gill Sans MT"/>
                <a:cs typeface="Gill Sans MT"/>
              </a:rPr>
              <a:t>Disclaimer: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material used in this presentation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deliver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i.e.,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definitions/text and pictures/graphs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etc.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does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not solely belong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author/presenter.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presenter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has gathered this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material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from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various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 on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web/textbooks.</a:t>
            </a:r>
            <a:r>
              <a:rPr dirty="0" sz="16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Following</a:t>
            </a:r>
            <a:r>
              <a:rPr dirty="0" sz="1600" spc="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</a:t>
            </a:r>
            <a:r>
              <a:rPr dirty="0" sz="1600" spc="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are</a:t>
            </a:r>
            <a:r>
              <a:rPr dirty="0" sz="16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especially acknowledged:</a:t>
            </a:r>
            <a:endParaRPr sz="1600">
              <a:latin typeface="Gill Sans MT"/>
              <a:cs typeface="Gill Sans MT"/>
            </a:endParaRPr>
          </a:p>
          <a:p>
            <a:pPr marL="354965" marR="5080" indent="-342900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Connolly,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Thomas</a:t>
            </a:r>
            <a:r>
              <a:rPr dirty="0" sz="1400" spc="2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M.,</a:t>
            </a:r>
            <a:r>
              <a:rPr dirty="0" sz="1400" spc="9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29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Carolyn</a:t>
            </a:r>
            <a:r>
              <a:rPr dirty="0" sz="1400" spc="2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E.</a:t>
            </a:r>
            <a:r>
              <a:rPr dirty="0" sz="1400" spc="8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Begg.</a:t>
            </a:r>
            <a:r>
              <a:rPr dirty="0" sz="1400" spc="9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229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systems:</a:t>
            </a:r>
            <a:r>
              <a:rPr dirty="0" sz="1400" spc="8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practical</a:t>
            </a:r>
            <a:r>
              <a:rPr dirty="0" sz="1400" spc="22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approach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dirty="0" sz="1400" spc="229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design,</a:t>
            </a:r>
            <a:r>
              <a:rPr dirty="0" sz="1400" spc="8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implementation,</a:t>
            </a:r>
            <a:r>
              <a:rPr dirty="0" sz="1400" spc="8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Pearson </a:t>
            </a:r>
            <a:r>
              <a:rPr dirty="0" sz="1400" spc="-37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Education,</a:t>
            </a:r>
            <a:r>
              <a:rPr dirty="0" sz="1400" spc="-18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2005.</a:t>
            </a:r>
            <a:endParaRPr sz="1400">
              <a:latin typeface="Gill Sans MT"/>
              <a:cs typeface="Gill Sans MT"/>
            </a:endParaRPr>
          </a:p>
          <a:p>
            <a:pPr marL="354965" indent="-3429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Gorman,Tim,</a:t>
            </a:r>
            <a:r>
              <a:rPr dirty="0" sz="1400" spc="-14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Inger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Jorgensen,</a:t>
            </a:r>
            <a:r>
              <a:rPr dirty="0" sz="1400" spc="-15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Melanie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Caffrey,</a:t>
            </a:r>
            <a:r>
              <a:rPr dirty="0" sz="1400" spc="-14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Lex</a:t>
            </a:r>
            <a:r>
              <a:rPr dirty="0" sz="1400" spc="1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deHaan.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Beginning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Oracle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SQL:</a:t>
            </a:r>
            <a:r>
              <a:rPr dirty="0" sz="14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For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Oracle</a:t>
            </a:r>
            <a:r>
              <a:rPr dirty="0" sz="1400" spc="1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12c.Apress,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2014.</a:t>
            </a:r>
            <a:endParaRPr sz="1400">
              <a:latin typeface="Gill Sans MT"/>
              <a:cs typeface="Gill Sans MT"/>
            </a:endParaRPr>
          </a:p>
          <a:p>
            <a:pPr marL="354965" indent="-3429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Greenberg,</a:t>
            </a:r>
            <a:r>
              <a:rPr dirty="0" sz="1400" spc="-15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Nancy,</a:t>
            </a:r>
            <a:r>
              <a:rPr dirty="0" sz="1400" spc="-15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Instructor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Guide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PriyaNathan.</a:t>
            </a:r>
            <a:r>
              <a:rPr dirty="0" sz="1400" spc="-16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"Introduction</a:t>
            </a:r>
            <a:r>
              <a:rPr dirty="0" sz="1400" spc="-3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Oracle9i: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SQL."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ORACLE,</a:t>
            </a:r>
            <a:r>
              <a:rPr dirty="0" sz="1400" spc="-15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USA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(2001).</a:t>
            </a:r>
            <a:endParaRPr sz="1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3439" y="1333691"/>
            <a:ext cx="68516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Gill Sans MT"/>
                <a:cs typeface="Gill Sans MT"/>
              </a:rPr>
              <a:t>IN</a:t>
            </a:r>
            <a:r>
              <a:rPr dirty="0" sz="2400" spc="-365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400" b="1">
                <a:solidFill>
                  <a:srgbClr val="FFFFFF"/>
                </a:solidFill>
                <a:latin typeface="Gill Sans MT"/>
                <a:cs typeface="Gill Sans MT"/>
              </a:rPr>
              <a:t>THIS</a:t>
            </a:r>
            <a:r>
              <a:rPr dirty="0" sz="2400" spc="-20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Gill Sans MT"/>
                <a:cs typeface="Gill Sans MT"/>
              </a:rPr>
              <a:t>LEC</a:t>
            </a:r>
            <a:r>
              <a:rPr dirty="0" sz="2400" b="1">
                <a:solidFill>
                  <a:srgbClr val="FFFFFF"/>
                </a:solidFill>
                <a:latin typeface="Gill Sans MT"/>
                <a:cs typeface="Gill Sans MT"/>
              </a:rPr>
              <a:t>TU</a:t>
            </a:r>
            <a:r>
              <a:rPr dirty="0" sz="2400" spc="-5" b="1">
                <a:solidFill>
                  <a:srgbClr val="FFFFFF"/>
                </a:solidFill>
                <a:latin typeface="Gill Sans MT"/>
                <a:cs typeface="Gill Sans MT"/>
              </a:rPr>
              <a:t>R</a:t>
            </a:r>
            <a:r>
              <a:rPr dirty="0" sz="2400" b="1">
                <a:solidFill>
                  <a:srgbClr val="FFFFFF"/>
                </a:solidFill>
                <a:latin typeface="Gill Sans MT"/>
                <a:cs typeface="Gill Sans MT"/>
              </a:rPr>
              <a:t>E</a:t>
            </a:r>
            <a:r>
              <a:rPr dirty="0" sz="2400" spc="-430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400" spc="-190" b="1">
                <a:solidFill>
                  <a:srgbClr val="FFFFFF"/>
                </a:solidFill>
                <a:latin typeface="Gill Sans MT"/>
                <a:cs typeface="Gill Sans MT"/>
              </a:rPr>
              <a:t>Y</a:t>
            </a:r>
            <a:r>
              <a:rPr dirty="0" sz="2400" b="1">
                <a:solidFill>
                  <a:srgbClr val="FFFFFF"/>
                </a:solidFill>
                <a:latin typeface="Gill Sans MT"/>
                <a:cs typeface="Gill Sans MT"/>
              </a:rPr>
              <a:t>OU</a:t>
            </a:r>
            <a:r>
              <a:rPr dirty="0" sz="2400" spc="-315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Gill Sans MT"/>
                <a:cs typeface="Gill Sans MT"/>
              </a:rPr>
              <a:t>W</a:t>
            </a:r>
            <a:r>
              <a:rPr dirty="0" sz="2400" b="1">
                <a:solidFill>
                  <a:srgbClr val="FFFFFF"/>
                </a:solidFill>
                <a:latin typeface="Gill Sans MT"/>
                <a:cs typeface="Gill Sans MT"/>
              </a:rPr>
              <a:t>I</a:t>
            </a:r>
            <a:r>
              <a:rPr dirty="0" sz="2400" spc="-5" b="1">
                <a:solidFill>
                  <a:srgbClr val="FFFFFF"/>
                </a:solidFill>
                <a:latin typeface="Gill Sans MT"/>
                <a:cs typeface="Gill Sans MT"/>
              </a:rPr>
              <a:t>L</a:t>
            </a:r>
            <a:r>
              <a:rPr dirty="0" sz="2400" b="1">
                <a:solidFill>
                  <a:srgbClr val="FFFFFF"/>
                </a:solidFill>
                <a:latin typeface="Gill Sans MT"/>
                <a:cs typeface="Gill Sans MT"/>
              </a:rPr>
              <a:t>L </a:t>
            </a:r>
            <a:r>
              <a:rPr dirty="0" sz="2400" spc="-5" b="1">
                <a:solidFill>
                  <a:srgbClr val="FFFFFF"/>
                </a:solidFill>
                <a:latin typeface="Gill Sans MT"/>
                <a:cs typeface="Gill Sans MT"/>
              </a:rPr>
              <a:t>LEAR</a:t>
            </a:r>
            <a:r>
              <a:rPr dirty="0" sz="2400" b="1">
                <a:solidFill>
                  <a:srgbClr val="FFFFFF"/>
                </a:solidFill>
                <a:latin typeface="Gill Sans MT"/>
                <a:cs typeface="Gill Sans MT"/>
              </a:rPr>
              <a:t>N</a:t>
            </a:r>
            <a:r>
              <a:rPr dirty="0" sz="2400" spc="-245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Gill Sans MT"/>
                <a:cs typeface="Gill Sans MT"/>
              </a:rPr>
              <a:t>A</a:t>
            </a:r>
            <a:r>
              <a:rPr dirty="0" sz="2400" b="1">
                <a:solidFill>
                  <a:srgbClr val="FFFFFF"/>
                </a:solidFill>
                <a:latin typeface="Gill Sans MT"/>
                <a:cs typeface="Gill Sans MT"/>
              </a:rPr>
              <a:t>BOU</a:t>
            </a:r>
            <a:r>
              <a:rPr dirty="0" sz="2400" spc="-75" b="1">
                <a:solidFill>
                  <a:srgbClr val="FFFFFF"/>
                </a:solidFill>
                <a:latin typeface="Gill Sans MT"/>
                <a:cs typeface="Gill Sans MT"/>
              </a:rPr>
              <a:t>T</a:t>
            </a:r>
            <a:r>
              <a:rPr dirty="0" sz="2400" b="1">
                <a:solidFill>
                  <a:srgbClr val="FFFFFF"/>
                </a:solidFill>
                <a:latin typeface="Gill Sans MT"/>
                <a:cs typeface="Gill Sans MT"/>
              </a:rPr>
              <a:t>: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1297" y="2343106"/>
            <a:ext cx="7539355" cy="1635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400" spc="-10" b="1">
                <a:solidFill>
                  <a:srgbClr val="0D0D0D"/>
                </a:solidFill>
                <a:latin typeface="Gill Sans MT"/>
                <a:cs typeface="Gill Sans MT"/>
              </a:rPr>
              <a:t>Introduction</a:t>
            </a:r>
            <a:r>
              <a:rPr dirty="0" sz="2400" spc="-30" b="1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dirty="0" sz="2400" spc="-5" b="1">
                <a:solidFill>
                  <a:srgbClr val="0D0D0D"/>
                </a:solidFill>
                <a:latin typeface="Gill Sans MT"/>
                <a:cs typeface="Gill Sans MT"/>
              </a:rPr>
              <a:t>to</a:t>
            </a:r>
            <a:r>
              <a:rPr dirty="0" sz="2400" spc="10" b="1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dirty="0" sz="2400" spc="-10" b="1">
                <a:solidFill>
                  <a:srgbClr val="0D0D0D"/>
                </a:solidFill>
                <a:latin typeface="Gill Sans MT"/>
                <a:cs typeface="Gill Sans MT"/>
              </a:rPr>
              <a:t>Structured </a:t>
            </a:r>
            <a:r>
              <a:rPr dirty="0" sz="2400" spc="10" b="1">
                <a:solidFill>
                  <a:srgbClr val="0D0D0D"/>
                </a:solidFill>
                <a:latin typeface="Gill Sans MT"/>
                <a:cs typeface="Gill Sans MT"/>
              </a:rPr>
              <a:t>Query</a:t>
            </a:r>
            <a:r>
              <a:rPr dirty="0" sz="2400" spc="-5" b="1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dirty="0" sz="2400" spc="-15" b="1">
                <a:solidFill>
                  <a:srgbClr val="0D0D0D"/>
                </a:solidFill>
                <a:latin typeface="Gill Sans MT"/>
                <a:cs typeface="Gill Sans MT"/>
              </a:rPr>
              <a:t>Language</a:t>
            </a:r>
            <a:r>
              <a:rPr dirty="0" sz="2400" spc="5" b="1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dirty="0" sz="2400" b="1">
                <a:solidFill>
                  <a:srgbClr val="0D0D0D"/>
                </a:solidFill>
                <a:latin typeface="Gill Sans MT"/>
                <a:cs typeface="Gill Sans MT"/>
              </a:rPr>
              <a:t>(SQL)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2014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400" spc="-10" b="1">
                <a:solidFill>
                  <a:srgbClr val="0D0D0D"/>
                </a:solidFill>
                <a:latin typeface="Gill Sans MT"/>
                <a:cs typeface="Gill Sans MT"/>
              </a:rPr>
              <a:t>Introduction</a:t>
            </a:r>
            <a:r>
              <a:rPr dirty="0" sz="2400" spc="-45" b="1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dirty="0" sz="2400" spc="-5" b="1">
                <a:solidFill>
                  <a:srgbClr val="0D0D0D"/>
                </a:solidFill>
                <a:latin typeface="Gill Sans MT"/>
                <a:cs typeface="Gill Sans MT"/>
              </a:rPr>
              <a:t>to Oracle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2014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400" spc="-5" b="1">
                <a:solidFill>
                  <a:srgbClr val="0D0D0D"/>
                </a:solidFill>
                <a:latin typeface="Gill Sans MT"/>
                <a:cs typeface="Gill Sans MT"/>
              </a:rPr>
              <a:t>Dat</a:t>
            </a:r>
            <a:r>
              <a:rPr dirty="0" sz="2400" b="1">
                <a:solidFill>
                  <a:srgbClr val="0D0D0D"/>
                </a:solidFill>
                <a:latin typeface="Gill Sans MT"/>
                <a:cs typeface="Gill Sans MT"/>
              </a:rPr>
              <a:t>a</a:t>
            </a:r>
            <a:r>
              <a:rPr dirty="0" sz="2400" spc="-360" b="1">
                <a:solidFill>
                  <a:srgbClr val="0D0D0D"/>
                </a:solidFill>
                <a:latin typeface="Gill Sans MT"/>
                <a:cs typeface="Gill Sans MT"/>
              </a:rPr>
              <a:t> T</a:t>
            </a:r>
            <a:r>
              <a:rPr dirty="0" sz="2400" spc="-5" b="1">
                <a:solidFill>
                  <a:srgbClr val="0D0D0D"/>
                </a:solidFill>
                <a:latin typeface="Gill Sans MT"/>
                <a:cs typeface="Gill Sans MT"/>
              </a:rPr>
              <a:t>y</a:t>
            </a:r>
            <a:r>
              <a:rPr dirty="0" sz="2400" b="1">
                <a:solidFill>
                  <a:srgbClr val="0D0D0D"/>
                </a:solidFill>
                <a:latin typeface="Gill Sans MT"/>
                <a:cs typeface="Gill Sans MT"/>
              </a:rPr>
              <a:t>p</a:t>
            </a:r>
            <a:r>
              <a:rPr dirty="0" sz="2400" spc="-5" b="1">
                <a:solidFill>
                  <a:srgbClr val="0D0D0D"/>
                </a:solidFill>
                <a:latin typeface="Gill Sans MT"/>
                <a:cs typeface="Gill Sans MT"/>
              </a:rPr>
              <a:t>e</a:t>
            </a:r>
            <a:r>
              <a:rPr dirty="0" sz="2400" b="1">
                <a:solidFill>
                  <a:srgbClr val="0D0D0D"/>
                </a:solidFill>
                <a:latin typeface="Gill Sans MT"/>
                <a:cs typeface="Gill Sans MT"/>
              </a:rPr>
              <a:t>s </a:t>
            </a:r>
            <a:r>
              <a:rPr dirty="0" sz="2400" spc="-5" b="1">
                <a:solidFill>
                  <a:srgbClr val="0D0D0D"/>
                </a:solidFill>
                <a:latin typeface="Gill Sans MT"/>
                <a:cs typeface="Gill Sans MT"/>
              </a:rPr>
              <a:t>i</a:t>
            </a:r>
            <a:r>
              <a:rPr dirty="0" sz="2400" b="1">
                <a:solidFill>
                  <a:srgbClr val="0D0D0D"/>
                </a:solidFill>
                <a:latin typeface="Gill Sans MT"/>
                <a:cs typeface="Gill Sans MT"/>
              </a:rPr>
              <a:t>n</a:t>
            </a:r>
            <a:r>
              <a:rPr dirty="0" sz="2400" spc="-5" b="1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dirty="0" sz="2400" b="1">
                <a:solidFill>
                  <a:srgbClr val="0D0D0D"/>
                </a:solidFill>
                <a:latin typeface="Gill Sans MT"/>
                <a:cs typeface="Gill Sans MT"/>
              </a:rPr>
              <a:t>Or</a:t>
            </a:r>
            <a:r>
              <a:rPr dirty="0" sz="2400" spc="-5" b="1">
                <a:solidFill>
                  <a:srgbClr val="0D0D0D"/>
                </a:solidFill>
                <a:latin typeface="Gill Sans MT"/>
                <a:cs typeface="Gill Sans MT"/>
              </a:rPr>
              <a:t>a</a:t>
            </a:r>
            <a:r>
              <a:rPr dirty="0" sz="2400" b="1">
                <a:solidFill>
                  <a:srgbClr val="0D0D0D"/>
                </a:solidFill>
                <a:latin typeface="Gill Sans MT"/>
                <a:cs typeface="Gill Sans MT"/>
              </a:rPr>
              <a:t>c</a:t>
            </a:r>
            <a:r>
              <a:rPr dirty="0" sz="2400" spc="-5" b="1">
                <a:solidFill>
                  <a:srgbClr val="0D0D0D"/>
                </a:solidFill>
                <a:latin typeface="Gill Sans MT"/>
                <a:cs typeface="Gill Sans MT"/>
              </a:rPr>
              <a:t>le</a:t>
            </a:r>
            <a:endParaRPr sz="2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4922" y="1388996"/>
            <a:ext cx="66598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FFFFF"/>
                </a:solidFill>
                <a:latin typeface="Gill Sans MT"/>
                <a:cs typeface="Gill Sans MT"/>
              </a:rPr>
              <a:t>STRUCTURED</a:t>
            </a:r>
            <a:r>
              <a:rPr dirty="0" sz="3000" spc="-50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3000" spc="-65" b="1">
                <a:solidFill>
                  <a:srgbClr val="FFFFFF"/>
                </a:solidFill>
                <a:latin typeface="Gill Sans MT"/>
                <a:cs typeface="Gill Sans MT"/>
              </a:rPr>
              <a:t>QUERY</a:t>
            </a:r>
            <a:r>
              <a:rPr dirty="0" sz="3000" spc="-45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3000" spc="-35" b="1">
                <a:solidFill>
                  <a:srgbClr val="FFFFFF"/>
                </a:solidFill>
                <a:latin typeface="Gill Sans MT"/>
                <a:cs typeface="Gill Sans MT"/>
              </a:rPr>
              <a:t>LANGUAGE</a:t>
            </a:r>
            <a:endParaRPr sz="30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4922" y="2034198"/>
            <a:ext cx="6645275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9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  <a:tab pos="1722120" algn="l"/>
                <a:tab pos="2660650" algn="l"/>
                <a:tab pos="3883025" algn="l"/>
                <a:tab pos="4753610" algn="l"/>
                <a:tab pos="5116195" algn="l"/>
                <a:tab pos="5431790" algn="l"/>
              </a:tabLst>
            </a:pP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2200" spc="-6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ed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Q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 spc="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ag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(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SQL)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ci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liz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 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communicate</a:t>
            </a:r>
            <a:r>
              <a:rPr dirty="0" sz="22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with</a:t>
            </a:r>
            <a:r>
              <a:rPr dirty="0" sz="22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database.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8782" y="2034198"/>
            <a:ext cx="408368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58339" algn="l"/>
                <a:tab pos="3105785" algn="l"/>
                <a:tab pos="3823970" algn="l"/>
              </a:tabLst>
            </a:pP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-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dirty="0" sz="2200" spc="-6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la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ag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ed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4922" y="3009558"/>
            <a:ext cx="10899775" cy="295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9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  <a:tab pos="995680" algn="l"/>
                <a:tab pos="2033270" algn="l"/>
                <a:tab pos="2583180" algn="l"/>
                <a:tab pos="3314700" algn="l"/>
                <a:tab pos="4525010" algn="l"/>
                <a:tab pos="5041265" algn="l"/>
                <a:tab pos="6925309" algn="l"/>
                <a:tab pos="7604759" algn="l"/>
                <a:tab pos="8155305" algn="l"/>
                <a:tab pos="9310370" algn="l"/>
                <a:tab pos="10002520" algn="l"/>
                <a:tab pos="10410190" algn="l"/>
              </a:tabLst>
            </a:pP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dirty="0" sz="2200" spc="-7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 spc="-3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v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id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b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asi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un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3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com</a:t>
            </a:r>
            <a:r>
              <a:rPr dirty="0" sz="2200" spc="-30">
                <a:solidFill>
                  <a:srgbClr val="3C3C3C"/>
                </a:solidFill>
                <a:latin typeface="Gill Sans MT"/>
                <a:cs typeface="Gill Sans MT"/>
              </a:rPr>
              <a:t>m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un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th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da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b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 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manipulation,</a:t>
            </a:r>
            <a:r>
              <a:rPr dirty="0" sz="2200" spc="-1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2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transaction,</a:t>
            </a:r>
            <a:r>
              <a:rPr dirty="0" sz="2200" spc="-18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retrieval</a:t>
            </a:r>
            <a:r>
              <a:rPr dirty="0" sz="2200" spc="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2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25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dirty="0" sz="2200" spc="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database.</a:t>
            </a:r>
            <a:endParaRPr sz="22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4590B8"/>
              </a:buClr>
              <a:buFont typeface="Wingdings 2"/>
              <a:buChar char=""/>
            </a:pPr>
            <a:endParaRPr sz="2050">
              <a:latin typeface="Gill Sans MT"/>
              <a:cs typeface="Gill Sans MT"/>
            </a:endParaRPr>
          </a:p>
          <a:p>
            <a:pPr marL="317500" marR="5080" indent="-305435">
              <a:lnSpc>
                <a:spcPct val="100000"/>
              </a:lnSpc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200" spc="114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statements</a:t>
            </a:r>
            <a:r>
              <a:rPr dirty="0" sz="2200" spc="1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2200" spc="1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2200" spc="1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(also</a:t>
            </a:r>
            <a:r>
              <a:rPr dirty="0" sz="2200" spc="1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known</a:t>
            </a:r>
            <a:r>
              <a:rPr dirty="0" sz="2200" spc="1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dirty="0" sz="2200" spc="1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 spc="1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5" b="1" i="1">
                <a:solidFill>
                  <a:srgbClr val="3C3C3C"/>
                </a:solidFill>
                <a:latin typeface="Gill Sans MT"/>
                <a:cs typeface="Gill Sans MT"/>
              </a:rPr>
              <a:t>Query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)</a:t>
            </a:r>
            <a:r>
              <a:rPr dirty="0" sz="2200" spc="1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2200" spc="1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used</a:t>
            </a:r>
            <a:r>
              <a:rPr dirty="0" sz="2200" spc="1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2200" spc="1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perform</a:t>
            </a:r>
            <a:r>
              <a:rPr dirty="0" sz="2200" spc="1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various</a:t>
            </a:r>
            <a:r>
              <a:rPr dirty="0" sz="2200" spc="1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tasks</a:t>
            </a:r>
            <a:r>
              <a:rPr dirty="0" sz="2200" spc="1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such</a:t>
            </a:r>
            <a:r>
              <a:rPr dirty="0" sz="2200" spc="1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as </a:t>
            </a:r>
            <a:r>
              <a:rPr dirty="0" sz="2200" spc="-5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inserting,</a:t>
            </a:r>
            <a:r>
              <a:rPr dirty="0" sz="2200" spc="-1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deleting,</a:t>
            </a:r>
            <a:r>
              <a:rPr dirty="0" sz="2200" spc="-1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updating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retrieving</a:t>
            </a:r>
            <a:r>
              <a:rPr dirty="0" sz="2200" spc="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2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25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dirty="0" sz="22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database.</a:t>
            </a:r>
            <a:endParaRPr sz="22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4590B8"/>
              </a:buClr>
              <a:buFont typeface="Wingdings 2"/>
              <a:buChar char=""/>
            </a:pPr>
            <a:endParaRPr sz="205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query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 is</a:t>
            </a:r>
            <a:r>
              <a:rPr dirty="0" sz="22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request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information</a:t>
            </a:r>
            <a:r>
              <a:rPr dirty="0" sz="2200" spc="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25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dirty="0" sz="22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database.</a:t>
            </a:r>
            <a:endParaRPr sz="22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4590B8"/>
              </a:buClr>
              <a:buFont typeface="Wingdings 2"/>
              <a:buChar char=""/>
            </a:pPr>
            <a:endParaRPr sz="205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SQL is</a:t>
            </a:r>
            <a:r>
              <a:rPr dirty="0" sz="22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standard</a:t>
            </a:r>
            <a:r>
              <a:rPr dirty="0" sz="2200" spc="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language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Relational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DBMS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(RDBMS).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64900" y="6053011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4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 algn="ctr" marL="11430">
                        <a:lnSpc>
                          <a:spcPts val="3970"/>
                        </a:lnSpc>
                      </a:pPr>
                      <a:r>
                        <a:rPr dirty="0" sz="3600" b="1">
                          <a:latin typeface="Gill Sans MT"/>
                          <a:cs typeface="Gill Sans MT"/>
                        </a:rPr>
                        <a:t>SQL</a:t>
                      </a:r>
                      <a:r>
                        <a:rPr dirty="0" sz="3600" spc="-114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3600" spc="-90" b="1">
                          <a:latin typeface="Gill Sans MT"/>
                          <a:cs typeface="Gill Sans MT"/>
                        </a:rPr>
                        <a:t>STATEMENTS</a:t>
                      </a:r>
                      <a:endParaRPr sz="3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11399" y="1743317"/>
            <a:ext cx="9593580" cy="413385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algn="just" marL="317500" indent="-304800">
              <a:lnSpc>
                <a:spcPct val="100000"/>
              </a:lnSpc>
              <a:spcBef>
                <a:spcPts val="12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dirty="0" sz="24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4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400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24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400" spc="-5">
                <a:solidFill>
                  <a:srgbClr val="3C3C3C"/>
                </a:solidFill>
                <a:latin typeface="Gill Sans MT"/>
                <a:cs typeface="Gill Sans MT"/>
              </a:rPr>
              <a:t>statements</a:t>
            </a:r>
            <a:r>
              <a:rPr dirty="0" sz="24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400" spc="-20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24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400" spc="-5">
                <a:solidFill>
                  <a:srgbClr val="3C3C3C"/>
                </a:solidFill>
                <a:latin typeface="Gill Sans MT"/>
                <a:cs typeface="Gill Sans MT"/>
              </a:rPr>
              <a:t>divided</a:t>
            </a:r>
            <a:r>
              <a:rPr dirty="0" sz="24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400">
                <a:solidFill>
                  <a:srgbClr val="3C3C3C"/>
                </a:solidFill>
                <a:latin typeface="Gill Sans MT"/>
                <a:cs typeface="Gill Sans MT"/>
              </a:rPr>
              <a:t>into</a:t>
            </a:r>
            <a:r>
              <a:rPr dirty="0" sz="24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400">
                <a:solidFill>
                  <a:srgbClr val="3C3C3C"/>
                </a:solidFill>
                <a:latin typeface="Gill Sans MT"/>
                <a:cs typeface="Gill Sans MT"/>
              </a:rPr>
              <a:t>05</a:t>
            </a:r>
            <a:r>
              <a:rPr dirty="0" sz="24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400" spc="-5">
                <a:solidFill>
                  <a:srgbClr val="3C3C3C"/>
                </a:solidFill>
                <a:latin typeface="Gill Sans MT"/>
                <a:cs typeface="Gill Sans MT"/>
              </a:rPr>
              <a:t>categories.</a:t>
            </a:r>
            <a:endParaRPr sz="2400">
              <a:latin typeface="Gill Sans MT"/>
              <a:cs typeface="Gill Sans MT"/>
            </a:endParaRPr>
          </a:p>
          <a:p>
            <a:pPr algn="just" marL="469900" marR="7620" indent="-457834">
              <a:lnSpc>
                <a:spcPct val="113900"/>
              </a:lnSpc>
              <a:spcBef>
                <a:spcPts val="775"/>
              </a:spcBef>
              <a:buClr>
                <a:srgbClr val="959FA7"/>
              </a:buClr>
              <a:buSzPct val="90909"/>
              <a:buAutoNum type="arabicParenR"/>
              <a:tabLst>
                <a:tab pos="469900" algn="l"/>
              </a:tabLst>
            </a:pPr>
            <a:r>
              <a:rPr dirty="0" sz="2200" spc="-5" b="1">
                <a:solidFill>
                  <a:srgbClr val="3C3C3C"/>
                </a:solidFill>
                <a:latin typeface="Gill Sans MT"/>
                <a:cs typeface="Gill Sans MT"/>
              </a:rPr>
              <a:t>Data </a:t>
            </a:r>
            <a:r>
              <a:rPr dirty="0" sz="2200" spc="10" b="1">
                <a:solidFill>
                  <a:srgbClr val="3C3C3C"/>
                </a:solidFill>
                <a:latin typeface="Gill Sans MT"/>
                <a:cs typeface="Gill Sans MT"/>
              </a:rPr>
              <a:t>Query </a:t>
            </a:r>
            <a:r>
              <a:rPr dirty="0" sz="2200" spc="-15" b="1">
                <a:solidFill>
                  <a:srgbClr val="3C3C3C"/>
                </a:solidFill>
                <a:latin typeface="Gill Sans MT"/>
                <a:cs typeface="Gill Sans MT"/>
              </a:rPr>
              <a:t>Language</a:t>
            </a:r>
            <a:r>
              <a:rPr dirty="0" sz="2400" spc="-15">
                <a:solidFill>
                  <a:srgbClr val="3C3C3C"/>
                </a:solidFill>
                <a:latin typeface="Gill Sans MT"/>
                <a:cs typeface="Gill Sans MT"/>
              </a:rPr>
              <a:t>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these statements 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used to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fetch information 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from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database.</a:t>
            </a:r>
            <a:r>
              <a:rPr dirty="0" sz="2000" spc="-2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SELECT</a:t>
            </a:r>
            <a:r>
              <a:rPr dirty="0" sz="2000" spc="-2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only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statement</a:t>
            </a:r>
            <a:r>
              <a:rPr dirty="0" sz="2000" spc="-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used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10">
                <a:solidFill>
                  <a:srgbClr val="3C3C3C"/>
                </a:solidFill>
                <a:latin typeface="Gill Sans MT"/>
                <a:cs typeface="Gill Sans MT"/>
              </a:rPr>
              <a:t>query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language.</a:t>
            </a:r>
            <a:endParaRPr sz="2000">
              <a:latin typeface="Gill Sans MT"/>
              <a:cs typeface="Gill Sans MT"/>
            </a:endParaRPr>
          </a:p>
          <a:p>
            <a:pPr algn="just" marL="469265" marR="6350" indent="-457200">
              <a:lnSpc>
                <a:spcPct val="102800"/>
              </a:lnSpc>
              <a:spcBef>
                <a:spcPts val="1145"/>
              </a:spcBef>
              <a:buClr>
                <a:srgbClr val="959FA7"/>
              </a:buClr>
              <a:buSzPct val="90909"/>
              <a:buAutoNum type="arabicParenR"/>
              <a:tabLst>
                <a:tab pos="469900" algn="l"/>
              </a:tabLst>
            </a:pPr>
            <a:r>
              <a:rPr dirty="0" sz="2200" spc="-5" b="1">
                <a:solidFill>
                  <a:srgbClr val="3C3C3C"/>
                </a:solidFill>
                <a:latin typeface="Gill Sans MT"/>
                <a:cs typeface="Gill Sans MT"/>
              </a:rPr>
              <a:t>Data Manipulation </a:t>
            </a:r>
            <a:r>
              <a:rPr dirty="0" sz="2200" spc="-15" b="1">
                <a:solidFill>
                  <a:srgbClr val="3C3C3C"/>
                </a:solidFill>
                <a:latin typeface="Gill Sans MT"/>
                <a:cs typeface="Gill Sans MT"/>
              </a:rPr>
              <a:t>Language </a:t>
            </a:r>
            <a:r>
              <a:rPr dirty="0" sz="2200" spc="-5" b="1">
                <a:solidFill>
                  <a:srgbClr val="3C3C3C"/>
                </a:solidFill>
                <a:latin typeface="Gill Sans MT"/>
                <a:cs typeface="Gill Sans MT"/>
              </a:rPr>
              <a:t>(DML),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DML statements 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used to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manipulate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data using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various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processes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such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as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inserting,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updating,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deleting and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retrieving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data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database objects </a:t>
            </a:r>
            <a:r>
              <a:rPr dirty="0" sz="2000" spc="-30" b="1" i="1">
                <a:solidFill>
                  <a:srgbClr val="3C3C3C"/>
                </a:solidFill>
                <a:latin typeface="Gill Sans MT"/>
                <a:cs typeface="Gill Sans MT"/>
              </a:rPr>
              <a:t>(Tables, </a:t>
            </a:r>
            <a:r>
              <a:rPr dirty="0" sz="2000" spc="-10" b="1" i="1">
                <a:solidFill>
                  <a:srgbClr val="3C3C3C"/>
                </a:solidFill>
                <a:latin typeface="Gill Sans MT"/>
                <a:cs typeface="Gill Sans MT"/>
              </a:rPr>
              <a:t>Indexes, </a:t>
            </a:r>
            <a:r>
              <a:rPr dirty="0" sz="2000" spc="5" b="1" i="1">
                <a:solidFill>
                  <a:srgbClr val="3C3C3C"/>
                </a:solidFill>
                <a:latin typeface="Gill Sans MT"/>
                <a:cs typeface="Gill Sans MT"/>
              </a:rPr>
              <a:t>Views,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Sequences)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.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DML contains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0" b="1" i="1">
                <a:solidFill>
                  <a:srgbClr val="3C3C3C"/>
                </a:solidFill>
                <a:latin typeface="Gill Sans MT"/>
                <a:cs typeface="Gill Sans MT"/>
              </a:rPr>
              <a:t>INSERT,</a:t>
            </a:r>
            <a:r>
              <a:rPr dirty="0" sz="2000" spc="-220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40" b="1" i="1">
                <a:solidFill>
                  <a:srgbClr val="3C3C3C"/>
                </a:solidFill>
                <a:latin typeface="Gill Sans MT"/>
                <a:cs typeface="Gill Sans MT"/>
              </a:rPr>
              <a:t>UPDATE</a:t>
            </a:r>
            <a:r>
              <a:rPr dirty="0" sz="2000" spc="-10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DELETE</a:t>
            </a:r>
            <a:r>
              <a:rPr dirty="0" sz="2000" spc="-2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statements.</a:t>
            </a:r>
            <a:endParaRPr sz="2000">
              <a:latin typeface="Gill Sans MT"/>
              <a:cs typeface="Gill Sans MT"/>
            </a:endParaRPr>
          </a:p>
          <a:p>
            <a:pPr algn="just" marL="469900" marR="5080" indent="-457834">
              <a:lnSpc>
                <a:spcPct val="100000"/>
              </a:lnSpc>
              <a:spcBef>
                <a:spcPts val="1165"/>
              </a:spcBef>
              <a:buClr>
                <a:srgbClr val="959FA7"/>
              </a:buClr>
              <a:buSzPct val="90909"/>
              <a:buAutoNum type="arabicParenR"/>
              <a:tabLst>
                <a:tab pos="469900" algn="l"/>
              </a:tabLst>
            </a:pPr>
            <a:r>
              <a:rPr dirty="0" sz="2200" spc="-5" b="1">
                <a:solidFill>
                  <a:srgbClr val="3C3C3C"/>
                </a:solidFill>
                <a:latin typeface="Gill Sans MT"/>
                <a:cs typeface="Gill Sans MT"/>
              </a:rPr>
              <a:t>Data Definition </a:t>
            </a:r>
            <a:r>
              <a:rPr dirty="0" sz="2200" spc="-15" b="1">
                <a:solidFill>
                  <a:srgbClr val="3C3C3C"/>
                </a:solidFill>
                <a:latin typeface="Gill Sans MT"/>
                <a:cs typeface="Gill Sans MT"/>
              </a:rPr>
              <a:t>Language </a:t>
            </a:r>
            <a:r>
              <a:rPr dirty="0" sz="2200" spc="-5" b="1">
                <a:solidFill>
                  <a:srgbClr val="3C3C3C"/>
                </a:solidFill>
                <a:latin typeface="Gill Sans MT"/>
                <a:cs typeface="Gill Sans MT"/>
              </a:rPr>
              <a:t>(DDL),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DDL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statements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used to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create, 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alter,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dirty="0" sz="2000" spc="-5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drop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database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objects.</a:t>
            </a:r>
            <a:endParaRPr sz="2000">
              <a:latin typeface="Gill Sans MT"/>
              <a:cs typeface="Gill Sans MT"/>
            </a:endParaRPr>
          </a:p>
          <a:p>
            <a:pPr marL="469900">
              <a:lnSpc>
                <a:spcPct val="100000"/>
              </a:lnSpc>
              <a:spcBef>
                <a:spcPts val="1570"/>
              </a:spcBef>
            </a:pP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DD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co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0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CR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000" spc="-210" b="1" i="1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TE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2000" spc="-370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-204" b="1" i="1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TE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R,</a:t>
            </a:r>
            <a:r>
              <a:rPr dirty="0" sz="2000" spc="-21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2000" spc="-35" b="1" i="1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dirty="0" sz="2000" spc="-20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000" spc="30" b="1" i="1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AM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000" spc="-10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teme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64900" y="6053011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5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  <a:p>
                      <a:pPr marL="165100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dirty="0" sz="3000" b="1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SQL</a:t>
                      </a:r>
                      <a:r>
                        <a:rPr dirty="0" sz="3000" spc="-25" b="1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3000" spc="-75" b="1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STATEMENTS</a:t>
                      </a:r>
                      <a:r>
                        <a:rPr dirty="0" sz="3000" spc="-35" b="1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(CONT’D)</a:t>
                      </a:r>
                      <a:endParaRPr sz="30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469900" marR="5080" indent="-457834">
              <a:lnSpc>
                <a:spcPct val="100600"/>
              </a:lnSpc>
              <a:spcBef>
                <a:spcPts val="80"/>
              </a:spcBef>
            </a:pPr>
            <a:r>
              <a:rPr dirty="0" sz="2200" spc="-5" b="1">
                <a:solidFill>
                  <a:srgbClr val="959FA7"/>
                </a:solidFill>
                <a:latin typeface="Gill Sans MT"/>
                <a:cs typeface="Gill Sans MT"/>
              </a:rPr>
              <a:t>4)</a:t>
            </a:r>
            <a:r>
              <a:rPr dirty="0" sz="2200" spc="270" b="1">
                <a:solidFill>
                  <a:srgbClr val="959FA7"/>
                </a:solidFill>
                <a:latin typeface="Gill Sans MT"/>
                <a:cs typeface="Gill Sans MT"/>
              </a:rPr>
              <a:t> </a:t>
            </a:r>
            <a:r>
              <a:rPr dirty="0" sz="2200" spc="-5" b="1">
                <a:latin typeface="Gill Sans MT"/>
                <a:cs typeface="Gill Sans MT"/>
              </a:rPr>
              <a:t>Data</a:t>
            </a:r>
            <a:r>
              <a:rPr dirty="0" sz="2200" spc="165" b="1">
                <a:latin typeface="Gill Sans MT"/>
                <a:cs typeface="Gill Sans MT"/>
              </a:rPr>
              <a:t> </a:t>
            </a:r>
            <a:r>
              <a:rPr dirty="0" sz="2200" spc="-30" b="1">
                <a:latin typeface="Gill Sans MT"/>
                <a:cs typeface="Gill Sans MT"/>
              </a:rPr>
              <a:t>Transaction</a:t>
            </a:r>
            <a:r>
              <a:rPr dirty="0" sz="2200" spc="170" b="1">
                <a:latin typeface="Gill Sans MT"/>
                <a:cs typeface="Gill Sans MT"/>
              </a:rPr>
              <a:t> </a:t>
            </a:r>
            <a:r>
              <a:rPr dirty="0" sz="2200" spc="-15" b="1">
                <a:latin typeface="Gill Sans MT"/>
                <a:cs typeface="Gill Sans MT"/>
              </a:rPr>
              <a:t>Language</a:t>
            </a:r>
            <a:r>
              <a:rPr dirty="0" sz="2200" spc="180" b="1">
                <a:latin typeface="Gill Sans MT"/>
                <a:cs typeface="Gill Sans MT"/>
              </a:rPr>
              <a:t> </a:t>
            </a:r>
            <a:r>
              <a:rPr dirty="0" sz="2200" spc="-5" b="1">
                <a:latin typeface="Gill Sans MT"/>
                <a:cs typeface="Gill Sans MT"/>
              </a:rPr>
              <a:t>(DTL)</a:t>
            </a:r>
            <a:r>
              <a:rPr dirty="0" sz="2400" spc="-5"/>
              <a:t>,</a:t>
            </a:r>
            <a:r>
              <a:rPr dirty="0" sz="2400" spc="-20"/>
              <a:t> </a:t>
            </a:r>
            <a:r>
              <a:rPr dirty="0"/>
              <a:t>DTL</a:t>
            </a:r>
            <a:r>
              <a:rPr dirty="0" spc="114"/>
              <a:t> </a:t>
            </a:r>
            <a:r>
              <a:rPr dirty="0" spc="-5"/>
              <a:t>statements</a:t>
            </a:r>
            <a:r>
              <a:rPr dirty="0" spc="125"/>
              <a:t> </a:t>
            </a:r>
            <a:r>
              <a:rPr dirty="0" spc="-20"/>
              <a:t>are</a:t>
            </a:r>
            <a:r>
              <a:rPr dirty="0" spc="114"/>
              <a:t> </a:t>
            </a:r>
            <a:r>
              <a:rPr dirty="0"/>
              <a:t>used</a:t>
            </a:r>
            <a:r>
              <a:rPr dirty="0" spc="125"/>
              <a:t> </a:t>
            </a:r>
            <a:r>
              <a:rPr dirty="0" spc="-10"/>
              <a:t>for</a:t>
            </a:r>
            <a:r>
              <a:rPr dirty="0" spc="110"/>
              <a:t> </a:t>
            </a:r>
            <a:r>
              <a:rPr dirty="0"/>
              <a:t>the</a:t>
            </a:r>
            <a:r>
              <a:rPr dirty="0" spc="114"/>
              <a:t> </a:t>
            </a:r>
            <a:r>
              <a:rPr dirty="0" spc="-5"/>
              <a:t>transaction </a:t>
            </a:r>
            <a:r>
              <a:rPr dirty="0" spc="-540"/>
              <a:t> </a:t>
            </a:r>
            <a:r>
              <a:rPr dirty="0"/>
              <a:t>purpose</a:t>
            </a:r>
            <a:r>
              <a:rPr dirty="0" spc="-30"/>
              <a:t> </a:t>
            </a:r>
            <a:r>
              <a:rPr dirty="0"/>
              <a:t>while</a:t>
            </a:r>
            <a:r>
              <a:rPr dirty="0" spc="-30"/>
              <a:t> </a:t>
            </a:r>
            <a:r>
              <a:rPr dirty="0"/>
              <a:t>manipulating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data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5"/>
              <a:t>Data</a:t>
            </a:r>
            <a:r>
              <a:rPr dirty="0" spc="-30"/>
              <a:t> </a:t>
            </a:r>
            <a:r>
              <a:rPr dirty="0"/>
              <a:t>Manipulating</a:t>
            </a:r>
            <a:r>
              <a:rPr dirty="0" spc="-40"/>
              <a:t> </a:t>
            </a:r>
            <a:r>
              <a:rPr dirty="0"/>
              <a:t>Language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database.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854" y="3434096"/>
            <a:ext cx="9748520" cy="171640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125"/>
              </a:spcBef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DTL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contains</a:t>
            </a:r>
            <a:r>
              <a:rPr dirty="0" sz="2000" spc="-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COMMIT</a:t>
            </a:r>
            <a:r>
              <a:rPr dirty="0" sz="2000" spc="-1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 b="1" i="1">
                <a:solidFill>
                  <a:srgbClr val="3C3C3C"/>
                </a:solidFill>
                <a:latin typeface="Gill Sans MT"/>
                <a:cs typeface="Gill Sans MT"/>
              </a:rPr>
              <a:t>ROLLBACK</a:t>
            </a:r>
            <a:r>
              <a:rPr dirty="0" sz="2000" spc="-4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statements.</a:t>
            </a:r>
            <a:endParaRPr sz="2000">
              <a:latin typeface="Gill Sans MT"/>
              <a:cs typeface="Gill Sans MT"/>
            </a:endParaRPr>
          </a:p>
          <a:p>
            <a:pPr marL="469900" marR="5080" indent="-457834">
              <a:lnSpc>
                <a:spcPct val="100000"/>
              </a:lnSpc>
              <a:spcBef>
                <a:spcPts val="1120"/>
              </a:spcBef>
              <a:tabLst>
                <a:tab pos="469265" algn="l"/>
              </a:tabLst>
            </a:pPr>
            <a:r>
              <a:rPr dirty="0" sz="2000" spc="10" b="1">
                <a:solidFill>
                  <a:srgbClr val="959FA7"/>
                </a:solidFill>
                <a:latin typeface="Gill Sans MT"/>
                <a:cs typeface="Gill Sans MT"/>
              </a:rPr>
              <a:t>5)	</a:t>
            </a:r>
            <a:r>
              <a:rPr dirty="0" sz="2200" spc="-5" b="1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200" spc="55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5" b="1">
                <a:solidFill>
                  <a:srgbClr val="3C3C3C"/>
                </a:solidFill>
                <a:latin typeface="Gill Sans MT"/>
                <a:cs typeface="Gill Sans MT"/>
              </a:rPr>
              <a:t>Control</a:t>
            </a:r>
            <a:r>
              <a:rPr dirty="0" sz="2200" spc="70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5" b="1">
                <a:solidFill>
                  <a:srgbClr val="3C3C3C"/>
                </a:solidFill>
                <a:latin typeface="Gill Sans MT"/>
                <a:cs typeface="Gill Sans MT"/>
              </a:rPr>
              <a:t>Language</a:t>
            </a:r>
            <a:r>
              <a:rPr dirty="0" sz="2200" spc="60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 b="1">
                <a:solidFill>
                  <a:srgbClr val="3C3C3C"/>
                </a:solidFill>
                <a:latin typeface="Gill Sans MT"/>
                <a:cs typeface="Gill Sans MT"/>
              </a:rPr>
              <a:t>(DCL),</a:t>
            </a:r>
            <a:r>
              <a:rPr dirty="0" sz="2200" spc="-145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DCL</a:t>
            </a:r>
            <a:r>
              <a:rPr dirty="0" sz="20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statements</a:t>
            </a:r>
            <a:r>
              <a:rPr dirty="0" sz="20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used</a:t>
            </a:r>
            <a:r>
              <a:rPr dirty="0" sz="20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control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access</a:t>
            </a:r>
            <a:r>
              <a:rPr dirty="0" sz="20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dirty="0" sz="2000" spc="-5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database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well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control</a:t>
            </a:r>
            <a:r>
              <a:rPr dirty="0" sz="2000" spc="-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transaction.</a:t>
            </a:r>
            <a:endParaRPr sz="2000">
              <a:latin typeface="Gill Sans MT"/>
              <a:cs typeface="Gill Sans MT"/>
            </a:endParaRPr>
          </a:p>
          <a:p>
            <a:pPr marL="470534">
              <a:lnSpc>
                <a:spcPct val="100000"/>
              </a:lnSpc>
              <a:spcBef>
                <a:spcPts val="1325"/>
              </a:spcBef>
            </a:pP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DCL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contains</a:t>
            </a:r>
            <a:r>
              <a:rPr dirty="0" sz="2000" spc="-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GRANT</a:t>
            </a:r>
            <a:r>
              <a:rPr dirty="0" sz="2000" spc="-20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 b="1" i="1">
                <a:solidFill>
                  <a:srgbClr val="3C3C3C"/>
                </a:solidFill>
                <a:latin typeface="Gill Sans MT"/>
                <a:cs typeface="Gill Sans MT"/>
              </a:rPr>
              <a:t>REVOKE</a:t>
            </a:r>
            <a:r>
              <a:rPr dirty="0" sz="2000" spc="-50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statements.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64900" y="6053011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6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245" y="1304598"/>
            <a:ext cx="568706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FFFFFF"/>
                </a:solidFill>
                <a:latin typeface="Gill Sans MT"/>
                <a:cs typeface="Gill Sans MT"/>
              </a:rPr>
              <a:t>IN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T</a:t>
            </a:r>
            <a:r>
              <a:rPr dirty="0" sz="3000" spc="-55" b="1">
                <a:solidFill>
                  <a:srgbClr val="FFFFFF"/>
                </a:solidFill>
                <a:latin typeface="Gill Sans MT"/>
                <a:cs typeface="Gill Sans MT"/>
              </a:rPr>
              <a:t>R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O</a:t>
            </a:r>
            <a:r>
              <a:rPr dirty="0" sz="3000" spc="-10" b="1">
                <a:solidFill>
                  <a:srgbClr val="FFFFFF"/>
                </a:solidFill>
                <a:latin typeface="Gill Sans MT"/>
                <a:cs typeface="Gill Sans MT"/>
              </a:rPr>
              <a:t>D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UCT</a:t>
            </a:r>
            <a:r>
              <a:rPr dirty="0" sz="3000" spc="-5" b="1">
                <a:solidFill>
                  <a:srgbClr val="FFFFFF"/>
                </a:solidFill>
                <a:latin typeface="Gill Sans MT"/>
                <a:cs typeface="Gill Sans MT"/>
              </a:rPr>
              <a:t>I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ON</a:t>
            </a:r>
            <a:r>
              <a:rPr dirty="0" sz="3000" spc="-430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3000" spc="-190" b="1">
                <a:solidFill>
                  <a:srgbClr val="FFFFFF"/>
                </a:solidFill>
                <a:latin typeface="Gill Sans MT"/>
                <a:cs typeface="Gill Sans MT"/>
              </a:rPr>
              <a:t>T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O</a:t>
            </a:r>
            <a:r>
              <a:rPr dirty="0" sz="3000" spc="-5" b="1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O</a:t>
            </a:r>
            <a:r>
              <a:rPr dirty="0" sz="3000" spc="-5" b="1">
                <a:solidFill>
                  <a:srgbClr val="FFFFFF"/>
                </a:solidFill>
                <a:latin typeface="Gill Sans MT"/>
                <a:cs typeface="Gill Sans MT"/>
              </a:rPr>
              <a:t>R</a:t>
            </a:r>
            <a:r>
              <a:rPr dirty="0" sz="3000" spc="-125" b="1">
                <a:solidFill>
                  <a:srgbClr val="FFFFFF"/>
                </a:solidFill>
                <a:latin typeface="Gill Sans MT"/>
                <a:cs typeface="Gill Sans MT"/>
              </a:rPr>
              <a:t>A</a:t>
            </a:r>
            <a:r>
              <a:rPr dirty="0" sz="3000" b="1">
                <a:solidFill>
                  <a:srgbClr val="FFFFFF"/>
                </a:solidFill>
                <a:latin typeface="Gill Sans MT"/>
                <a:cs typeface="Gill Sans MT"/>
              </a:rPr>
              <a:t>CLE</a:t>
            </a:r>
            <a:endParaRPr sz="30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4664" y="2162962"/>
            <a:ext cx="10834370" cy="328104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algn="just" marL="317500" indent="-304800">
              <a:lnSpc>
                <a:spcPct val="100000"/>
              </a:lnSpc>
              <a:spcBef>
                <a:spcPts val="122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database</a:t>
            </a:r>
            <a:r>
              <a:rPr dirty="0" sz="2200" spc="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collection</a:t>
            </a:r>
            <a:r>
              <a:rPr dirty="0" sz="2200" spc="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200" spc="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22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used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store</a:t>
            </a:r>
            <a:r>
              <a:rPr dirty="0" sz="2200" spc="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25">
                <a:solidFill>
                  <a:srgbClr val="3C3C3C"/>
                </a:solidFill>
                <a:latin typeface="Gill Sans MT"/>
                <a:cs typeface="Gill Sans MT"/>
              </a:rPr>
              <a:t>retrieve</a:t>
            </a:r>
            <a:r>
              <a:rPr dirty="0" sz="2200" spc="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related</a:t>
            </a:r>
            <a:r>
              <a:rPr dirty="0" sz="2200" spc="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information.</a:t>
            </a:r>
            <a:endParaRPr sz="2200">
              <a:latin typeface="Gill Sans MT"/>
              <a:cs typeface="Gill Sans MT"/>
            </a:endParaRPr>
          </a:p>
          <a:p>
            <a:pPr algn="just" marL="316865" marR="32384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Oracle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database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fourth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generation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relational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database management system, which </a:t>
            </a:r>
            <a:r>
              <a:rPr dirty="0" sz="2200" spc="-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manages a large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amount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of data and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provides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multi-user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environment.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Thus, multiple users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concurrently</a:t>
            </a:r>
            <a:r>
              <a:rPr dirty="0" sz="2200" spc="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access</a:t>
            </a:r>
            <a:r>
              <a:rPr dirty="0" sz="22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 same</a:t>
            </a:r>
            <a:r>
              <a:rPr dirty="0" sz="22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database.</a:t>
            </a:r>
            <a:endParaRPr sz="2200">
              <a:latin typeface="Gill Sans MT"/>
              <a:cs typeface="Gill Sans MT"/>
            </a:endParaRPr>
          </a:p>
          <a:p>
            <a:pPr algn="just" marL="316865" marR="34925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Oracle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database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is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relational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 database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is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20">
                <a:solidFill>
                  <a:srgbClr val="3C3C3C"/>
                </a:solidFill>
                <a:latin typeface="Gill Sans MT"/>
                <a:cs typeface="Gill Sans MT"/>
              </a:rPr>
              <a:t>therefore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called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Relational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Database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Management System</a:t>
            </a:r>
            <a:r>
              <a:rPr dirty="0" sz="22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(RDBMS).</a:t>
            </a:r>
            <a:endParaRPr sz="2200">
              <a:latin typeface="Gill Sans MT"/>
              <a:cs typeface="Gill Sans MT"/>
            </a:endParaRPr>
          </a:p>
          <a:p>
            <a:pPr algn="just" marL="317500" marR="5080" indent="-304800">
              <a:lnSpc>
                <a:spcPct val="100000"/>
              </a:lnSpc>
              <a:spcBef>
                <a:spcPts val="112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Oracle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provides </a:t>
            </a:r>
            <a:r>
              <a:rPr dirty="0" sz="2200" spc="-20">
                <a:solidFill>
                  <a:srgbClr val="3C3C3C"/>
                </a:solidFill>
                <a:latin typeface="Gill Sans MT"/>
                <a:cs typeface="Gill Sans MT"/>
              </a:rPr>
              <a:t>several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useful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features for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database 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developers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such as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integrity constraints, 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200" spc="-1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sac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dirty="0" sz="2200" spc="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200" spc="-7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ls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2200" spc="-17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2200" spc="-6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ed</a:t>
            </a:r>
            <a:r>
              <a:rPr dirty="0" sz="2200" spc="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dirty="0" sz="2200" spc="-7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2200" spc="-6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es</a:t>
            </a:r>
            <a:r>
              <a:rPr dirty="0" sz="22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22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ac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k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ag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200" spc="-1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2200" spc="-5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22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64900" y="6053011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7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880" y="1289579"/>
            <a:ext cx="43961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14" b="1">
                <a:solidFill>
                  <a:srgbClr val="FFFFFF"/>
                </a:solidFill>
                <a:latin typeface="Constantia"/>
                <a:cs typeface="Constantia"/>
              </a:rPr>
              <a:t>D</a:t>
            </a:r>
            <a:r>
              <a:rPr dirty="0" sz="3000" spc="-150" b="1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dirty="0" sz="3000" spc="-175" b="1">
                <a:solidFill>
                  <a:srgbClr val="FFFFFF"/>
                </a:solidFill>
                <a:latin typeface="Constantia"/>
                <a:cs typeface="Constantia"/>
              </a:rPr>
              <a:t>T</a:t>
            </a: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dirty="0" sz="3000" spc="-90" b="1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dirty="0" sz="3000" spc="100" b="1">
                <a:solidFill>
                  <a:srgbClr val="FFFFFF"/>
                </a:solidFill>
                <a:latin typeface="Constantia"/>
                <a:cs typeface="Constantia"/>
              </a:rPr>
              <a:t>T</a:t>
            </a:r>
            <a:r>
              <a:rPr dirty="0" sz="3000" spc="-5" b="1">
                <a:solidFill>
                  <a:srgbClr val="FFFFFF"/>
                </a:solidFill>
                <a:latin typeface="Constantia"/>
                <a:cs typeface="Constantia"/>
              </a:rPr>
              <a:t>Y</a:t>
            </a:r>
            <a:r>
              <a:rPr dirty="0" sz="3000" spc="-70" b="1">
                <a:solidFill>
                  <a:srgbClr val="FFFFFF"/>
                </a:solidFill>
                <a:latin typeface="Constantia"/>
                <a:cs typeface="Constantia"/>
              </a:rPr>
              <a:t>P</a:t>
            </a:r>
            <a:r>
              <a:rPr dirty="0" sz="3000" spc="5" b="1">
                <a:solidFill>
                  <a:srgbClr val="FFFFFF"/>
                </a:solidFill>
                <a:latin typeface="Constantia"/>
                <a:cs typeface="Constantia"/>
              </a:rPr>
              <a:t>E</a:t>
            </a: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S</a:t>
            </a:r>
            <a:r>
              <a:rPr dirty="0" sz="3000" spc="-10" b="1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dirty="0" sz="3000" spc="-10" b="1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r>
              <a:rPr dirty="0" sz="3000" spc="-90" b="1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C</a:t>
            </a:r>
            <a:r>
              <a:rPr dirty="0" sz="3000" spc="-5" b="1">
                <a:solidFill>
                  <a:srgbClr val="FFFFFF"/>
                </a:solidFill>
                <a:latin typeface="Constantia"/>
                <a:cs typeface="Constantia"/>
              </a:rPr>
              <a:t>LE</a:t>
            </a:r>
            <a:endParaRPr sz="3000">
              <a:latin typeface="Constantia"/>
              <a:cs typeface="Constant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557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22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/>
              <a:t>The</a:t>
            </a:r>
            <a:r>
              <a:rPr dirty="0" spc="-10"/>
              <a:t> </a:t>
            </a:r>
            <a:r>
              <a:rPr dirty="0" spc="-5"/>
              <a:t>data</a:t>
            </a:r>
            <a:r>
              <a:rPr dirty="0" spc="15"/>
              <a:t> </a:t>
            </a:r>
            <a:r>
              <a:rPr dirty="0" spc="-5"/>
              <a:t>type</a:t>
            </a:r>
            <a:r>
              <a:rPr dirty="0" spc="10"/>
              <a:t> </a:t>
            </a:r>
            <a:r>
              <a:rPr dirty="0" spc="-5"/>
              <a:t>is</a:t>
            </a:r>
            <a:r>
              <a:rPr dirty="0" spc="25"/>
              <a:t> </a:t>
            </a:r>
            <a:r>
              <a:rPr dirty="0" spc="-5"/>
              <a:t>one of</a:t>
            </a:r>
            <a:r>
              <a:rPr dirty="0" spc="5"/>
              <a:t> </a:t>
            </a:r>
            <a:r>
              <a:rPr dirty="0" spc="-5"/>
              <a:t>the</a:t>
            </a:r>
            <a:r>
              <a:rPr dirty="0" spc="-10"/>
              <a:t> </a:t>
            </a:r>
            <a:r>
              <a:rPr dirty="0" spc="-5"/>
              <a:t>attributes</a:t>
            </a:r>
            <a:r>
              <a:rPr dirty="0" spc="35"/>
              <a:t> </a:t>
            </a:r>
            <a:r>
              <a:rPr dirty="0" spc="-15"/>
              <a:t>for</a:t>
            </a:r>
            <a:r>
              <a:rPr dirty="0" spc="10"/>
              <a:t> </a:t>
            </a:r>
            <a:r>
              <a:rPr dirty="0" spc="-5"/>
              <a:t>a</a:t>
            </a:r>
            <a:r>
              <a:rPr dirty="0"/>
              <a:t> </a:t>
            </a:r>
            <a:r>
              <a:rPr dirty="0" spc="-5"/>
              <a:t>column</a:t>
            </a:r>
            <a:r>
              <a:rPr dirty="0" spc="25"/>
              <a:t> </a:t>
            </a:r>
            <a:r>
              <a:rPr dirty="0" spc="-5"/>
              <a:t>or</a:t>
            </a:r>
            <a:r>
              <a:rPr dirty="0" spc="10"/>
              <a:t> </a:t>
            </a:r>
            <a:r>
              <a:rPr dirty="0" spc="-5"/>
              <a:t>a</a:t>
            </a:r>
            <a:r>
              <a:rPr dirty="0"/>
              <a:t> </a:t>
            </a:r>
            <a:r>
              <a:rPr dirty="0" spc="-10"/>
              <a:t>variable</a:t>
            </a:r>
            <a:r>
              <a:rPr dirty="0" spc="25"/>
              <a:t> </a:t>
            </a:r>
            <a:r>
              <a:rPr dirty="0" spc="-5"/>
              <a:t>in</a:t>
            </a:r>
            <a:r>
              <a:rPr dirty="0" spc="20"/>
              <a:t> </a:t>
            </a:r>
            <a:r>
              <a:rPr dirty="0" spc="-5"/>
              <a:t>a</a:t>
            </a:r>
            <a:r>
              <a:rPr dirty="0"/>
              <a:t> </a:t>
            </a:r>
            <a:r>
              <a:rPr dirty="0" spc="-15"/>
              <a:t>stored</a:t>
            </a:r>
            <a:r>
              <a:rPr dirty="0" spc="40"/>
              <a:t> </a:t>
            </a:r>
            <a:r>
              <a:rPr dirty="0" spc="-10"/>
              <a:t>procedure.</a:t>
            </a:r>
          </a:p>
          <a:p>
            <a:pPr marL="317500" marR="8255" indent="-305435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pc="-5"/>
              <a:t>A</a:t>
            </a:r>
            <a:r>
              <a:rPr dirty="0" spc="180"/>
              <a:t> </a:t>
            </a:r>
            <a:r>
              <a:rPr dirty="0" spc="-5"/>
              <a:t>data</a:t>
            </a:r>
            <a:r>
              <a:rPr dirty="0" spc="190"/>
              <a:t> </a:t>
            </a:r>
            <a:r>
              <a:rPr dirty="0"/>
              <a:t>type</a:t>
            </a:r>
            <a:r>
              <a:rPr dirty="0" spc="185"/>
              <a:t> </a:t>
            </a:r>
            <a:r>
              <a:rPr dirty="0" spc="-5"/>
              <a:t>describes</a:t>
            </a:r>
            <a:r>
              <a:rPr dirty="0" spc="180"/>
              <a:t> </a:t>
            </a:r>
            <a:r>
              <a:rPr dirty="0" spc="-5"/>
              <a:t>and</a:t>
            </a:r>
            <a:r>
              <a:rPr dirty="0" spc="180"/>
              <a:t> </a:t>
            </a:r>
            <a:r>
              <a:rPr dirty="0"/>
              <a:t>limits</a:t>
            </a:r>
            <a:r>
              <a:rPr dirty="0" spc="195"/>
              <a:t> </a:t>
            </a:r>
            <a:r>
              <a:rPr dirty="0" spc="-5"/>
              <a:t>the</a:t>
            </a:r>
            <a:r>
              <a:rPr dirty="0" spc="190"/>
              <a:t> </a:t>
            </a:r>
            <a:r>
              <a:rPr dirty="0" spc="-5"/>
              <a:t>type</a:t>
            </a:r>
            <a:r>
              <a:rPr dirty="0" spc="195"/>
              <a:t> </a:t>
            </a:r>
            <a:r>
              <a:rPr dirty="0" spc="-5"/>
              <a:t>of</a:t>
            </a:r>
            <a:r>
              <a:rPr dirty="0" spc="185"/>
              <a:t> </a:t>
            </a:r>
            <a:r>
              <a:rPr dirty="0" spc="-10"/>
              <a:t>information</a:t>
            </a:r>
            <a:r>
              <a:rPr dirty="0" spc="195"/>
              <a:t> </a:t>
            </a:r>
            <a:r>
              <a:rPr dirty="0" spc="-10"/>
              <a:t>stored</a:t>
            </a:r>
            <a:r>
              <a:rPr dirty="0" spc="180"/>
              <a:t> </a:t>
            </a:r>
            <a:r>
              <a:rPr dirty="0" spc="-5"/>
              <a:t>in</a:t>
            </a:r>
            <a:r>
              <a:rPr dirty="0" spc="195"/>
              <a:t> </a:t>
            </a:r>
            <a:r>
              <a:rPr dirty="0" spc="-5"/>
              <a:t>a</a:t>
            </a:r>
            <a:r>
              <a:rPr dirty="0" spc="180"/>
              <a:t> </a:t>
            </a:r>
            <a:r>
              <a:rPr dirty="0"/>
              <a:t>column,</a:t>
            </a:r>
            <a:r>
              <a:rPr dirty="0" spc="-35"/>
              <a:t> </a:t>
            </a:r>
            <a:r>
              <a:rPr dirty="0" spc="-5"/>
              <a:t>and</a:t>
            </a:r>
            <a:r>
              <a:rPr dirty="0" spc="185"/>
              <a:t> </a:t>
            </a:r>
            <a:r>
              <a:rPr dirty="0" spc="-10"/>
              <a:t>can</a:t>
            </a:r>
            <a:r>
              <a:rPr dirty="0" spc="190"/>
              <a:t> </a:t>
            </a:r>
            <a:r>
              <a:rPr dirty="0"/>
              <a:t>limit</a:t>
            </a:r>
            <a:r>
              <a:rPr dirty="0" spc="190"/>
              <a:t> </a:t>
            </a:r>
            <a:r>
              <a:rPr dirty="0" spc="-5"/>
              <a:t>the </a:t>
            </a:r>
            <a:r>
              <a:rPr dirty="0" spc="-595"/>
              <a:t> </a:t>
            </a:r>
            <a:r>
              <a:rPr dirty="0" spc="-5"/>
              <a:t>operations</a:t>
            </a:r>
            <a:r>
              <a:rPr dirty="0" spc="15"/>
              <a:t> </a:t>
            </a:r>
            <a:r>
              <a:rPr dirty="0" spc="-5"/>
              <a:t>that</a:t>
            </a:r>
            <a:r>
              <a:rPr dirty="0" spc="5"/>
              <a:t> </a:t>
            </a:r>
            <a:r>
              <a:rPr dirty="0" spc="-25"/>
              <a:t>you</a:t>
            </a:r>
            <a:r>
              <a:rPr dirty="0" spc="5"/>
              <a:t> </a:t>
            </a:r>
            <a:r>
              <a:rPr dirty="0" spc="-10"/>
              <a:t>can</a:t>
            </a:r>
            <a:r>
              <a:rPr dirty="0" spc="5"/>
              <a:t> </a:t>
            </a:r>
            <a:r>
              <a:rPr dirty="0" spc="-10"/>
              <a:t>perform</a:t>
            </a:r>
            <a:r>
              <a:rPr dirty="0" spc="25"/>
              <a:t> </a:t>
            </a:r>
            <a:r>
              <a:rPr dirty="0" spc="-5"/>
              <a:t>on</a:t>
            </a:r>
            <a:r>
              <a:rPr dirty="0" spc="5"/>
              <a:t> </a:t>
            </a:r>
            <a:r>
              <a:rPr dirty="0" spc="-5"/>
              <a:t>columns.</a:t>
            </a:r>
          </a:p>
          <a:p>
            <a:pPr marL="316865" marR="6350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pc="-5"/>
              <a:t>Oracle</a:t>
            </a:r>
            <a:r>
              <a:rPr dirty="0" spc="45"/>
              <a:t> </a:t>
            </a:r>
            <a:r>
              <a:rPr dirty="0" spc="-5"/>
              <a:t>data</a:t>
            </a:r>
            <a:r>
              <a:rPr dirty="0" spc="45"/>
              <a:t> </a:t>
            </a:r>
            <a:r>
              <a:rPr dirty="0"/>
              <a:t>type</a:t>
            </a:r>
            <a:r>
              <a:rPr dirty="0" spc="50"/>
              <a:t> </a:t>
            </a:r>
            <a:r>
              <a:rPr dirty="0" spc="-10"/>
              <a:t>can</a:t>
            </a:r>
            <a:r>
              <a:rPr dirty="0" spc="50"/>
              <a:t> </a:t>
            </a:r>
            <a:r>
              <a:rPr dirty="0" spc="-10"/>
              <a:t>be</a:t>
            </a:r>
            <a:r>
              <a:rPr dirty="0" spc="45"/>
              <a:t> </a:t>
            </a:r>
            <a:r>
              <a:rPr dirty="0" spc="-5"/>
              <a:t>divided</a:t>
            </a:r>
            <a:r>
              <a:rPr dirty="0" spc="40"/>
              <a:t> </a:t>
            </a:r>
            <a:r>
              <a:rPr dirty="0"/>
              <a:t>into</a:t>
            </a:r>
            <a:r>
              <a:rPr dirty="0" spc="45"/>
              <a:t> </a:t>
            </a:r>
            <a:r>
              <a:rPr dirty="0" spc="-5"/>
              <a:t>four</a:t>
            </a:r>
            <a:r>
              <a:rPr dirty="0" spc="40"/>
              <a:t> </a:t>
            </a:r>
            <a:r>
              <a:rPr dirty="0" spc="-5"/>
              <a:t>basic</a:t>
            </a:r>
            <a:r>
              <a:rPr dirty="0" spc="35"/>
              <a:t> </a:t>
            </a:r>
            <a:r>
              <a:rPr dirty="0" spc="-5"/>
              <a:t>varieties:</a:t>
            </a:r>
            <a:r>
              <a:rPr dirty="0" spc="-180"/>
              <a:t> </a:t>
            </a:r>
            <a:r>
              <a:rPr dirty="0" spc="-10" b="1" i="1">
                <a:latin typeface="Gill Sans MT"/>
                <a:cs typeface="Gill Sans MT"/>
              </a:rPr>
              <a:t>Character</a:t>
            </a:r>
            <a:r>
              <a:rPr dirty="0" spc="45" b="1" i="1">
                <a:latin typeface="Gill Sans MT"/>
                <a:cs typeface="Gill Sans MT"/>
              </a:rPr>
              <a:t> </a:t>
            </a:r>
            <a:r>
              <a:rPr dirty="0" spc="-5" b="1" i="1">
                <a:latin typeface="Gill Sans MT"/>
                <a:cs typeface="Gill Sans MT"/>
              </a:rPr>
              <a:t>data</a:t>
            </a:r>
            <a:r>
              <a:rPr dirty="0" spc="45" b="1" i="1">
                <a:latin typeface="Gill Sans MT"/>
                <a:cs typeface="Gill Sans MT"/>
              </a:rPr>
              <a:t> </a:t>
            </a:r>
            <a:r>
              <a:rPr dirty="0" spc="-5" b="1" i="1">
                <a:latin typeface="Gill Sans MT"/>
                <a:cs typeface="Gill Sans MT"/>
              </a:rPr>
              <a:t>types</a:t>
            </a:r>
            <a:r>
              <a:rPr dirty="0" spc="-5"/>
              <a:t>,</a:t>
            </a:r>
            <a:r>
              <a:rPr dirty="0" spc="-180"/>
              <a:t> </a:t>
            </a:r>
            <a:r>
              <a:rPr dirty="0" spc="-5" b="1" i="1">
                <a:latin typeface="Gill Sans MT"/>
                <a:cs typeface="Gill Sans MT"/>
              </a:rPr>
              <a:t>Numeric</a:t>
            </a:r>
            <a:r>
              <a:rPr dirty="0" spc="45" b="1" i="1">
                <a:latin typeface="Gill Sans MT"/>
                <a:cs typeface="Gill Sans MT"/>
              </a:rPr>
              <a:t> </a:t>
            </a:r>
            <a:r>
              <a:rPr dirty="0" spc="-5" b="1" i="1">
                <a:latin typeface="Gill Sans MT"/>
                <a:cs typeface="Gill Sans MT"/>
              </a:rPr>
              <a:t>data </a:t>
            </a:r>
            <a:r>
              <a:rPr dirty="0" spc="-595" b="1" i="1">
                <a:latin typeface="Gill Sans MT"/>
                <a:cs typeface="Gill Sans MT"/>
              </a:rPr>
              <a:t> </a:t>
            </a:r>
            <a:r>
              <a:rPr dirty="0" spc="-5" b="1" i="1">
                <a:latin typeface="Gill Sans MT"/>
                <a:cs typeface="Gill Sans MT"/>
              </a:rPr>
              <a:t>types</a:t>
            </a:r>
            <a:r>
              <a:rPr dirty="0" spc="-5"/>
              <a:t>,</a:t>
            </a:r>
            <a:r>
              <a:rPr dirty="0" spc="-220"/>
              <a:t> </a:t>
            </a:r>
            <a:r>
              <a:rPr dirty="0" spc="-5" b="1" i="1">
                <a:latin typeface="Gill Sans MT"/>
                <a:cs typeface="Gill Sans MT"/>
              </a:rPr>
              <a:t>Date</a:t>
            </a:r>
            <a:r>
              <a:rPr dirty="0" spc="5" b="1" i="1">
                <a:latin typeface="Gill Sans MT"/>
                <a:cs typeface="Gill Sans MT"/>
              </a:rPr>
              <a:t> </a:t>
            </a:r>
            <a:r>
              <a:rPr dirty="0" spc="-5" b="1" i="1">
                <a:latin typeface="Gill Sans MT"/>
                <a:cs typeface="Gill Sans MT"/>
              </a:rPr>
              <a:t>data</a:t>
            </a:r>
            <a:r>
              <a:rPr dirty="0" b="1" i="1">
                <a:latin typeface="Gill Sans MT"/>
                <a:cs typeface="Gill Sans MT"/>
              </a:rPr>
              <a:t> </a:t>
            </a:r>
            <a:r>
              <a:rPr dirty="0" spc="-5" b="1" i="1">
                <a:latin typeface="Gill Sans MT"/>
                <a:cs typeface="Gill Sans MT"/>
              </a:rPr>
              <a:t>type </a:t>
            </a:r>
            <a:r>
              <a:rPr dirty="0" spc="-5"/>
              <a:t>and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25"/>
              <a:t> </a:t>
            </a:r>
            <a:r>
              <a:rPr dirty="0" spc="-5"/>
              <a:t>types that</a:t>
            </a:r>
            <a:r>
              <a:rPr dirty="0" spc="10"/>
              <a:t> </a:t>
            </a:r>
            <a:r>
              <a:rPr dirty="0" spc="-15"/>
              <a:t>represent</a:t>
            </a:r>
            <a:r>
              <a:rPr dirty="0" spc="25"/>
              <a:t> </a:t>
            </a:r>
            <a:r>
              <a:rPr dirty="0" spc="-5" b="1" i="1">
                <a:latin typeface="Gill Sans MT"/>
                <a:cs typeface="Gill Sans MT"/>
              </a:rPr>
              <a:t>other</a:t>
            </a:r>
            <a:r>
              <a:rPr dirty="0" b="1" i="1">
                <a:latin typeface="Gill Sans MT"/>
                <a:cs typeface="Gill Sans MT"/>
              </a:rPr>
              <a:t> </a:t>
            </a:r>
            <a:r>
              <a:rPr dirty="0" spc="-5" b="1" i="1">
                <a:latin typeface="Gill Sans MT"/>
                <a:cs typeface="Gill Sans MT"/>
              </a:rPr>
              <a:t>kinds</a:t>
            </a:r>
            <a:r>
              <a:rPr dirty="0" spc="10" b="1" i="1">
                <a:latin typeface="Gill Sans MT"/>
                <a:cs typeface="Gill Sans MT"/>
              </a:rPr>
              <a:t> </a:t>
            </a:r>
            <a:r>
              <a:rPr dirty="0" spc="-5" b="1" i="1">
                <a:latin typeface="Gill Sans MT"/>
                <a:cs typeface="Gill Sans MT"/>
              </a:rPr>
              <a:t>of</a:t>
            </a:r>
            <a:r>
              <a:rPr dirty="0" spc="10" b="1" i="1">
                <a:latin typeface="Gill Sans MT"/>
                <a:cs typeface="Gill Sans MT"/>
              </a:rPr>
              <a:t> </a:t>
            </a:r>
            <a:r>
              <a:rPr dirty="0" spc="-5" b="1" i="1">
                <a:latin typeface="Gill Sans MT"/>
                <a:cs typeface="Gill Sans MT"/>
              </a:rPr>
              <a:t>data</a:t>
            </a:r>
            <a:r>
              <a:rPr dirty="0" spc="-5"/>
              <a:t>.</a:t>
            </a:r>
          </a:p>
          <a:p>
            <a:pPr marL="316865" marR="5080" indent="-304800">
              <a:lnSpc>
                <a:spcPct val="100000"/>
              </a:lnSpc>
              <a:spcBef>
                <a:spcPts val="1125"/>
              </a:spcBef>
              <a:tabLst>
                <a:tab pos="1537970" algn="l"/>
                <a:tab pos="2364105" algn="l"/>
                <a:tab pos="3229610" algn="l"/>
                <a:tab pos="4450080" algn="l"/>
                <a:tab pos="5059680" algn="l"/>
                <a:tab pos="5783580" algn="l"/>
                <a:tab pos="6309360" algn="l"/>
                <a:tab pos="7030084" algn="l"/>
                <a:tab pos="7551420" algn="l"/>
                <a:tab pos="8303895" algn="l"/>
                <a:tab pos="9043035" algn="l"/>
                <a:tab pos="10119360" algn="l"/>
                <a:tab pos="10633075" algn="l"/>
              </a:tabLst>
            </a:pPr>
            <a:r>
              <a:rPr dirty="0" spc="-10" b="1">
                <a:latin typeface="Gill Sans MT"/>
                <a:cs typeface="Gill Sans MT"/>
              </a:rPr>
              <a:t>C</a:t>
            </a:r>
            <a:r>
              <a:rPr dirty="0" spc="-5" b="1">
                <a:latin typeface="Gill Sans MT"/>
                <a:cs typeface="Gill Sans MT"/>
              </a:rPr>
              <a:t>h</a:t>
            </a:r>
            <a:r>
              <a:rPr dirty="0" spc="-10" b="1">
                <a:latin typeface="Gill Sans MT"/>
                <a:cs typeface="Gill Sans MT"/>
              </a:rPr>
              <a:t>a</a:t>
            </a:r>
            <a:r>
              <a:rPr dirty="0" spc="-5" b="1">
                <a:latin typeface="Gill Sans MT"/>
                <a:cs typeface="Gill Sans MT"/>
              </a:rPr>
              <a:t>r</a:t>
            </a:r>
            <a:r>
              <a:rPr dirty="0" spc="-10" b="1">
                <a:latin typeface="Gill Sans MT"/>
                <a:cs typeface="Gill Sans MT"/>
              </a:rPr>
              <a:t>a</a:t>
            </a:r>
            <a:r>
              <a:rPr dirty="0" b="1">
                <a:latin typeface="Gill Sans MT"/>
                <a:cs typeface="Gill Sans MT"/>
              </a:rPr>
              <a:t>c</a:t>
            </a:r>
            <a:r>
              <a:rPr dirty="0" spc="-10" b="1">
                <a:latin typeface="Gill Sans MT"/>
                <a:cs typeface="Gill Sans MT"/>
              </a:rPr>
              <a:t>t</a:t>
            </a:r>
            <a:r>
              <a:rPr dirty="0" spc="-5" b="1">
                <a:latin typeface="Gill Sans MT"/>
                <a:cs typeface="Gill Sans MT"/>
              </a:rPr>
              <a:t>er</a:t>
            </a:r>
            <a:r>
              <a:rPr dirty="0" b="1">
                <a:latin typeface="Gill Sans MT"/>
                <a:cs typeface="Gill Sans MT"/>
              </a:rPr>
              <a:t>	</a:t>
            </a:r>
            <a:r>
              <a:rPr dirty="0" spc="-5" b="1">
                <a:latin typeface="Gill Sans MT"/>
                <a:cs typeface="Gill Sans MT"/>
              </a:rPr>
              <a:t>D</a:t>
            </a:r>
            <a:r>
              <a:rPr dirty="0" spc="-10" b="1">
                <a:latin typeface="Gill Sans MT"/>
                <a:cs typeface="Gill Sans MT"/>
              </a:rPr>
              <a:t>at</a:t>
            </a:r>
            <a:r>
              <a:rPr dirty="0" spc="-5" b="1">
                <a:latin typeface="Gill Sans MT"/>
                <a:cs typeface="Gill Sans MT"/>
              </a:rPr>
              <a:t>a</a:t>
            </a:r>
            <a:r>
              <a:rPr dirty="0" b="1">
                <a:latin typeface="Gill Sans MT"/>
                <a:cs typeface="Gill Sans MT"/>
              </a:rPr>
              <a:t>	</a:t>
            </a:r>
            <a:r>
              <a:rPr dirty="0" spc="-325" b="1">
                <a:latin typeface="Gill Sans MT"/>
                <a:cs typeface="Gill Sans MT"/>
              </a:rPr>
              <a:t>T</a:t>
            </a:r>
            <a:r>
              <a:rPr dirty="0" spc="-10" b="1">
                <a:latin typeface="Gill Sans MT"/>
                <a:cs typeface="Gill Sans MT"/>
              </a:rPr>
              <a:t>y</a:t>
            </a:r>
            <a:r>
              <a:rPr dirty="0" spc="-5" b="1">
                <a:latin typeface="Gill Sans MT"/>
                <a:cs typeface="Gill Sans MT"/>
              </a:rPr>
              <a:t>p</a:t>
            </a:r>
            <a:r>
              <a:rPr dirty="0" spc="40" b="1">
                <a:latin typeface="Gill Sans MT"/>
                <a:cs typeface="Gill Sans MT"/>
              </a:rPr>
              <a:t>e</a:t>
            </a:r>
            <a:r>
              <a:rPr dirty="0" spc="-5" b="1">
                <a:latin typeface="Gill Sans MT"/>
                <a:cs typeface="Gill Sans MT"/>
              </a:rPr>
              <a:t>,</a:t>
            </a:r>
            <a:r>
              <a:rPr dirty="0" b="1">
                <a:latin typeface="Gill Sans MT"/>
                <a:cs typeface="Gill Sans MT"/>
              </a:rPr>
              <a:t>	</a:t>
            </a:r>
            <a:r>
              <a:rPr dirty="0" sz="2000" spc="-5"/>
              <a:t>C</a:t>
            </a:r>
            <a:r>
              <a:rPr dirty="0" sz="2000" spc="-10"/>
              <a:t>h</a:t>
            </a:r>
            <a:r>
              <a:rPr dirty="0" sz="2000" spc="-5"/>
              <a:t>ara</a:t>
            </a:r>
            <a:r>
              <a:rPr dirty="0" sz="2000" spc="-15"/>
              <a:t>c</a:t>
            </a:r>
            <a:r>
              <a:rPr dirty="0" sz="2000"/>
              <a:t>ter</a:t>
            </a:r>
            <a:r>
              <a:rPr dirty="0" sz="2000"/>
              <a:t>	</a:t>
            </a:r>
            <a:r>
              <a:rPr dirty="0" sz="2000" spc="-5"/>
              <a:t>da</a:t>
            </a:r>
            <a:r>
              <a:rPr dirty="0" sz="2000" spc="5"/>
              <a:t>t</a:t>
            </a:r>
            <a:r>
              <a:rPr dirty="0" sz="2000"/>
              <a:t>a</a:t>
            </a:r>
            <a:r>
              <a:rPr dirty="0" sz="2000"/>
              <a:t>	</a:t>
            </a:r>
            <a:r>
              <a:rPr dirty="0" sz="2000"/>
              <a:t>t</a:t>
            </a:r>
            <a:r>
              <a:rPr dirty="0" sz="2000" spc="-5"/>
              <a:t>y</a:t>
            </a:r>
            <a:r>
              <a:rPr dirty="0" sz="2000" spc="5"/>
              <a:t>p</a:t>
            </a:r>
            <a:r>
              <a:rPr dirty="0" sz="2000"/>
              <a:t>es</a:t>
            </a:r>
            <a:r>
              <a:rPr dirty="0" sz="2000"/>
              <a:t>	</a:t>
            </a:r>
            <a:r>
              <a:rPr dirty="0" sz="2000" spc="-5"/>
              <a:t>ca</a:t>
            </a:r>
            <a:r>
              <a:rPr dirty="0" sz="2000"/>
              <a:t>n</a:t>
            </a:r>
            <a:r>
              <a:rPr dirty="0" sz="2000"/>
              <a:t>	</a:t>
            </a:r>
            <a:r>
              <a:rPr dirty="0" sz="2000" spc="-5"/>
              <a:t>s</a:t>
            </a:r>
            <a:r>
              <a:rPr dirty="0" sz="2000"/>
              <a:t>t</a:t>
            </a:r>
            <a:r>
              <a:rPr dirty="0" sz="2000" spc="-5"/>
              <a:t>o</a:t>
            </a:r>
            <a:r>
              <a:rPr dirty="0" sz="2000" spc="-40"/>
              <a:t>r</a:t>
            </a:r>
            <a:r>
              <a:rPr dirty="0" sz="2000"/>
              <a:t>e</a:t>
            </a:r>
            <a:r>
              <a:rPr dirty="0" sz="2000"/>
              <a:t>	</a:t>
            </a:r>
            <a:r>
              <a:rPr dirty="0" sz="2000" spc="-20"/>
              <a:t>a</a:t>
            </a:r>
            <a:r>
              <a:rPr dirty="0" sz="2000" spc="-35"/>
              <a:t>n</a:t>
            </a:r>
            <a:r>
              <a:rPr dirty="0" sz="2000"/>
              <a:t>y</a:t>
            </a:r>
            <a:r>
              <a:rPr dirty="0" sz="2000"/>
              <a:t>	</a:t>
            </a:r>
            <a:r>
              <a:rPr dirty="0" sz="2000" spc="-5"/>
              <a:t>s</a:t>
            </a:r>
            <a:r>
              <a:rPr dirty="0" sz="2000"/>
              <a:t>t</a:t>
            </a:r>
            <a:r>
              <a:rPr dirty="0" sz="2000" spc="-15"/>
              <a:t>r</a:t>
            </a:r>
            <a:r>
              <a:rPr dirty="0" sz="2000"/>
              <a:t>i</a:t>
            </a:r>
            <a:r>
              <a:rPr dirty="0" sz="2000" spc="-10"/>
              <a:t>n</a:t>
            </a:r>
            <a:r>
              <a:rPr dirty="0" sz="2000"/>
              <a:t>g</a:t>
            </a:r>
            <a:r>
              <a:rPr dirty="0" sz="2000"/>
              <a:t>	</a:t>
            </a:r>
            <a:r>
              <a:rPr dirty="0" sz="2000" spc="-5"/>
              <a:t>va</a:t>
            </a:r>
            <a:r>
              <a:rPr dirty="0" sz="2000" spc="-10"/>
              <a:t>l</a:t>
            </a:r>
            <a:r>
              <a:rPr dirty="0" sz="2000" spc="5"/>
              <a:t>u</a:t>
            </a:r>
            <a:r>
              <a:rPr dirty="0" sz="2000" spc="35"/>
              <a:t>e</a:t>
            </a:r>
            <a:r>
              <a:rPr dirty="0" sz="2000"/>
              <a:t>,</a:t>
            </a:r>
            <a:r>
              <a:rPr dirty="0" sz="2000"/>
              <a:t>	</a:t>
            </a:r>
            <a:r>
              <a:rPr dirty="0" sz="2000" spc="-10"/>
              <a:t>i</a:t>
            </a:r>
            <a:r>
              <a:rPr dirty="0" sz="2000" spc="5"/>
              <a:t>n</a:t>
            </a:r>
            <a:r>
              <a:rPr dirty="0" sz="2000" spc="-5"/>
              <a:t>c</a:t>
            </a:r>
            <a:r>
              <a:rPr dirty="0" sz="2000" spc="-10"/>
              <a:t>l</a:t>
            </a:r>
            <a:r>
              <a:rPr dirty="0" sz="2000" spc="5"/>
              <a:t>u</a:t>
            </a:r>
            <a:r>
              <a:rPr dirty="0" sz="2000" spc="-5"/>
              <a:t>d</a:t>
            </a:r>
            <a:r>
              <a:rPr dirty="0" sz="2000" spc="-10"/>
              <a:t>i</a:t>
            </a:r>
            <a:r>
              <a:rPr dirty="0" sz="2000" spc="5"/>
              <a:t>n</a:t>
            </a:r>
            <a:r>
              <a:rPr dirty="0" sz="2000"/>
              <a:t>g</a:t>
            </a:r>
            <a:r>
              <a:rPr dirty="0" sz="2000"/>
              <a:t>	</a:t>
            </a:r>
            <a:r>
              <a:rPr dirty="0" sz="2000"/>
              <a:t>t</a:t>
            </a:r>
            <a:r>
              <a:rPr dirty="0" sz="2000" spc="5"/>
              <a:t>h</a:t>
            </a:r>
            <a:r>
              <a:rPr dirty="0" sz="2000"/>
              <a:t>e</a:t>
            </a:r>
            <a:r>
              <a:rPr dirty="0" sz="2000"/>
              <a:t>	</a:t>
            </a:r>
            <a:r>
              <a:rPr dirty="0" sz="2000" spc="-5"/>
              <a:t>s</a:t>
            </a:r>
            <a:r>
              <a:rPr dirty="0" sz="2000"/>
              <a:t>t</a:t>
            </a:r>
            <a:r>
              <a:rPr dirty="0" sz="2000" spc="-5"/>
              <a:t>r</a:t>
            </a:r>
            <a:r>
              <a:rPr dirty="0" sz="2000" spc="-10"/>
              <a:t>i</a:t>
            </a:r>
            <a:r>
              <a:rPr dirty="0" sz="2000" spc="5"/>
              <a:t>n</a:t>
            </a:r>
            <a:r>
              <a:rPr dirty="0" sz="2000"/>
              <a:t>g  </a:t>
            </a:r>
            <a:r>
              <a:rPr dirty="0" sz="2000" spc="-10"/>
              <a:t>representations</a:t>
            </a:r>
            <a:r>
              <a:rPr dirty="0" sz="2000" spc="-30"/>
              <a:t> </a:t>
            </a:r>
            <a:r>
              <a:rPr dirty="0" sz="2000" spc="-5"/>
              <a:t>of</a:t>
            </a:r>
            <a:r>
              <a:rPr dirty="0" sz="2000" spc="-15"/>
              <a:t> </a:t>
            </a:r>
            <a:r>
              <a:rPr dirty="0" sz="2000" spc="-5"/>
              <a:t>numeric</a:t>
            </a:r>
            <a:r>
              <a:rPr dirty="0" sz="2000" spc="-45"/>
              <a:t> </a:t>
            </a:r>
            <a:r>
              <a:rPr dirty="0" sz="2000"/>
              <a:t>values.</a:t>
            </a:r>
            <a:endParaRPr sz="2000">
              <a:latin typeface="Gill Sans MT"/>
              <a:cs typeface="Gill Sans MT"/>
            </a:endParaRPr>
          </a:p>
          <a:p>
            <a:pPr marL="317500" marR="5080" indent="-635">
              <a:lnSpc>
                <a:spcPct val="100000"/>
              </a:lnSpc>
              <a:spcBef>
                <a:spcPts val="1090"/>
              </a:spcBef>
            </a:pPr>
            <a:r>
              <a:rPr dirty="0" sz="2000"/>
              <a:t>Assigning</a:t>
            </a:r>
            <a:r>
              <a:rPr dirty="0" sz="2000" spc="25"/>
              <a:t> </a:t>
            </a:r>
            <a:r>
              <a:rPr dirty="0" sz="2000"/>
              <a:t>a</a:t>
            </a:r>
            <a:r>
              <a:rPr dirty="0" sz="2000" spc="45"/>
              <a:t> </a:t>
            </a:r>
            <a:r>
              <a:rPr dirty="0" sz="2000" spc="-5"/>
              <a:t>value</a:t>
            </a:r>
            <a:r>
              <a:rPr dirty="0" sz="2000" spc="45"/>
              <a:t> </a:t>
            </a:r>
            <a:r>
              <a:rPr dirty="0" sz="2000" spc="-5"/>
              <a:t>larger</a:t>
            </a:r>
            <a:r>
              <a:rPr dirty="0" sz="2000" spc="30"/>
              <a:t> </a:t>
            </a:r>
            <a:r>
              <a:rPr dirty="0" sz="2000" spc="-5"/>
              <a:t>than</a:t>
            </a:r>
            <a:r>
              <a:rPr dirty="0" sz="2000" spc="40"/>
              <a:t> </a:t>
            </a:r>
            <a:r>
              <a:rPr dirty="0" sz="2000"/>
              <a:t>the</a:t>
            </a:r>
            <a:r>
              <a:rPr dirty="0" sz="2000" spc="35"/>
              <a:t> </a:t>
            </a:r>
            <a:r>
              <a:rPr dirty="0" sz="2000" spc="-5"/>
              <a:t>length</a:t>
            </a:r>
            <a:r>
              <a:rPr dirty="0" sz="2000" spc="35"/>
              <a:t> </a:t>
            </a:r>
            <a:r>
              <a:rPr dirty="0" sz="2000"/>
              <a:t>specified</a:t>
            </a:r>
            <a:r>
              <a:rPr dirty="0" sz="2000" spc="45"/>
              <a:t> </a:t>
            </a:r>
            <a:r>
              <a:rPr dirty="0" sz="2000" spc="-5"/>
              <a:t>or</a:t>
            </a:r>
            <a:r>
              <a:rPr dirty="0" sz="2000" spc="45"/>
              <a:t> </a:t>
            </a:r>
            <a:r>
              <a:rPr dirty="0" sz="2000" spc="-15"/>
              <a:t>allowed</a:t>
            </a:r>
            <a:r>
              <a:rPr dirty="0" sz="2000" spc="45"/>
              <a:t> </a:t>
            </a:r>
            <a:r>
              <a:rPr dirty="0" sz="2000" spc="-10"/>
              <a:t>for</a:t>
            </a:r>
            <a:r>
              <a:rPr dirty="0" sz="2000" spc="40"/>
              <a:t> </a:t>
            </a:r>
            <a:r>
              <a:rPr dirty="0" sz="2000"/>
              <a:t>a</a:t>
            </a:r>
            <a:r>
              <a:rPr dirty="0" sz="2000" spc="45"/>
              <a:t> </a:t>
            </a:r>
            <a:r>
              <a:rPr dirty="0" sz="2000" spc="-5"/>
              <a:t>character</a:t>
            </a:r>
            <a:r>
              <a:rPr dirty="0" sz="2000" spc="45"/>
              <a:t> </a:t>
            </a:r>
            <a:r>
              <a:rPr dirty="0" sz="2000" spc="-5"/>
              <a:t>data</a:t>
            </a:r>
            <a:r>
              <a:rPr dirty="0" sz="2000" spc="25"/>
              <a:t> </a:t>
            </a:r>
            <a:r>
              <a:rPr dirty="0" sz="2000" spc="-5"/>
              <a:t>type</a:t>
            </a:r>
            <a:r>
              <a:rPr dirty="0" sz="2000" spc="35"/>
              <a:t> </a:t>
            </a:r>
            <a:r>
              <a:rPr dirty="0" sz="2000" spc="-10"/>
              <a:t>results</a:t>
            </a:r>
            <a:r>
              <a:rPr dirty="0" sz="2000" spc="45"/>
              <a:t> </a:t>
            </a:r>
            <a:r>
              <a:rPr dirty="0" sz="2000" spc="-5"/>
              <a:t>in</a:t>
            </a:r>
            <a:r>
              <a:rPr dirty="0" sz="2000" spc="40"/>
              <a:t> </a:t>
            </a:r>
            <a:r>
              <a:rPr dirty="0" sz="2000"/>
              <a:t>a</a:t>
            </a:r>
            <a:r>
              <a:rPr dirty="0" sz="2000" spc="40"/>
              <a:t> </a:t>
            </a:r>
            <a:r>
              <a:rPr dirty="0" sz="2000" spc="-5"/>
              <a:t>runtime </a:t>
            </a:r>
            <a:r>
              <a:rPr dirty="0" sz="2000" spc="-540"/>
              <a:t> </a:t>
            </a:r>
            <a:r>
              <a:rPr dirty="0" sz="2000" spc="-50"/>
              <a:t>error.</a:t>
            </a:r>
            <a:endParaRPr sz="2000"/>
          </a:p>
          <a:p>
            <a:pPr marL="317500">
              <a:lnSpc>
                <a:spcPct val="100000"/>
              </a:lnSpc>
              <a:spcBef>
                <a:spcPts val="1085"/>
              </a:spcBef>
            </a:pPr>
            <a:r>
              <a:rPr dirty="0" sz="2000" spc="-95"/>
              <a:t>You</a:t>
            </a:r>
            <a:r>
              <a:rPr dirty="0" sz="2000" spc="135"/>
              <a:t> </a:t>
            </a:r>
            <a:r>
              <a:rPr dirty="0" sz="2000" spc="-10"/>
              <a:t>can</a:t>
            </a:r>
            <a:r>
              <a:rPr dirty="0" sz="2000" spc="130"/>
              <a:t> </a:t>
            </a:r>
            <a:r>
              <a:rPr dirty="0" sz="2000"/>
              <a:t>use</a:t>
            </a:r>
            <a:r>
              <a:rPr dirty="0" sz="2000" spc="130"/>
              <a:t> </a:t>
            </a:r>
            <a:r>
              <a:rPr dirty="0" sz="2000" spc="-5"/>
              <a:t>string</a:t>
            </a:r>
            <a:r>
              <a:rPr dirty="0" sz="2000" spc="135"/>
              <a:t> </a:t>
            </a:r>
            <a:r>
              <a:rPr dirty="0" sz="2000" spc="-5"/>
              <a:t>functions,</a:t>
            </a:r>
            <a:r>
              <a:rPr dirty="0" sz="2000" spc="-65"/>
              <a:t> </a:t>
            </a:r>
            <a:r>
              <a:rPr dirty="0" sz="2000"/>
              <a:t>such</a:t>
            </a:r>
            <a:r>
              <a:rPr dirty="0" sz="2000" spc="140"/>
              <a:t> </a:t>
            </a:r>
            <a:r>
              <a:rPr dirty="0" sz="2000" spc="-5"/>
              <a:t>as</a:t>
            </a:r>
            <a:r>
              <a:rPr dirty="0" sz="2000" spc="135"/>
              <a:t> </a:t>
            </a:r>
            <a:r>
              <a:rPr dirty="0" sz="2000"/>
              <a:t>UPPER,</a:t>
            </a:r>
            <a:r>
              <a:rPr dirty="0" sz="2000" spc="-70"/>
              <a:t> </a:t>
            </a:r>
            <a:r>
              <a:rPr dirty="0" sz="2000" spc="-15"/>
              <a:t>LOWER,</a:t>
            </a:r>
            <a:r>
              <a:rPr dirty="0" sz="2000" spc="-70"/>
              <a:t> </a:t>
            </a:r>
            <a:r>
              <a:rPr dirty="0" sz="2000" spc="-5"/>
              <a:t>SUBSTR,</a:t>
            </a:r>
            <a:r>
              <a:rPr dirty="0" sz="2000" spc="-70"/>
              <a:t> </a:t>
            </a:r>
            <a:r>
              <a:rPr dirty="0" sz="2000"/>
              <a:t>and</a:t>
            </a:r>
            <a:r>
              <a:rPr dirty="0" sz="2000" spc="135"/>
              <a:t> </a:t>
            </a:r>
            <a:r>
              <a:rPr dirty="0" sz="2000" spc="-5"/>
              <a:t>SOUNDEX,</a:t>
            </a:r>
            <a:r>
              <a:rPr dirty="0" sz="2000" spc="-70"/>
              <a:t> </a:t>
            </a:r>
            <a:r>
              <a:rPr dirty="0" sz="2000" spc="-10"/>
              <a:t>on</a:t>
            </a:r>
            <a:r>
              <a:rPr dirty="0" sz="2000" spc="135"/>
              <a:t> </a:t>
            </a:r>
            <a:r>
              <a:rPr dirty="0" sz="2000" spc="-10"/>
              <a:t>standard</a:t>
            </a:r>
            <a:r>
              <a:rPr dirty="0" sz="2000" spc="135"/>
              <a:t> </a:t>
            </a:r>
            <a:r>
              <a:rPr dirty="0" sz="2000" spc="-5"/>
              <a:t>(not</a:t>
            </a:r>
            <a:r>
              <a:rPr dirty="0" sz="2000" spc="140"/>
              <a:t> </a:t>
            </a:r>
            <a:r>
              <a:rPr dirty="0" sz="2000" spc="-5"/>
              <a:t>large)</a:t>
            </a:r>
            <a:endParaRPr sz="2000"/>
          </a:p>
        </p:txBody>
      </p:sp>
      <p:sp>
        <p:nvSpPr>
          <p:cNvPr id="5" name="object 5"/>
          <p:cNvSpPr txBox="1"/>
          <p:nvPr/>
        </p:nvSpPr>
        <p:spPr>
          <a:xfrm>
            <a:off x="841023" y="5868970"/>
            <a:ext cx="2260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dirty="0" sz="2000" spc="-6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value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types.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64900" y="6053011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8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143510">
                        <a:lnSpc>
                          <a:spcPct val="100000"/>
                        </a:lnSpc>
                        <a:spcBef>
                          <a:spcPts val="2490"/>
                        </a:spcBef>
                      </a:pPr>
                      <a:r>
                        <a:rPr dirty="0" sz="3000" spc="-114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D</a:t>
                      </a:r>
                      <a:r>
                        <a:rPr dirty="0" sz="3000" spc="-15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spc="-17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spc="-9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1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Y</a:t>
                      </a:r>
                      <a:r>
                        <a:rPr dirty="0" sz="3000" spc="-7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</a:t>
                      </a:r>
                      <a:r>
                        <a:rPr dirty="0" sz="3000" spc="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IN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OR</a:t>
                      </a:r>
                      <a:r>
                        <a:rPr dirty="0" sz="3000" spc="-9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C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L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dirty="0" sz="3000" spc="-1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dirty="0" sz="3000" spc="-1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C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</a:t>
                      </a:r>
                      <a:r>
                        <a:rPr dirty="0" sz="3000" spc="8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’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D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)</a:t>
                      </a:r>
                      <a:endParaRPr sz="3000">
                        <a:latin typeface="Constantia"/>
                        <a:cs typeface="Constantia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2218436"/>
            <a:ext cx="1091628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Character</a:t>
            </a:r>
            <a:r>
              <a:rPr dirty="0" spc="-40"/>
              <a:t> </a:t>
            </a:r>
            <a:r>
              <a:rPr dirty="0"/>
              <a:t>data</a:t>
            </a:r>
            <a:r>
              <a:rPr dirty="0" spc="-15"/>
              <a:t> </a:t>
            </a:r>
            <a:r>
              <a:rPr dirty="0"/>
              <a:t>types</a:t>
            </a:r>
            <a:r>
              <a:rPr dirty="0" spc="-10"/>
              <a:t> </a:t>
            </a:r>
            <a:r>
              <a:rPr dirty="0"/>
              <a:t>includes</a:t>
            </a:r>
            <a:r>
              <a:rPr dirty="0" spc="-15"/>
              <a:t> </a:t>
            </a:r>
            <a:r>
              <a:rPr dirty="0" spc="5" b="1" i="1">
                <a:latin typeface="Gill Sans MT"/>
                <a:cs typeface="Gill Sans MT"/>
              </a:rPr>
              <a:t>CHAR,VARCHAR2,</a:t>
            </a:r>
            <a:r>
              <a:rPr dirty="0" spc="-220" b="1" i="1">
                <a:latin typeface="Gill Sans MT"/>
                <a:cs typeface="Gill Sans MT"/>
              </a:rPr>
              <a:t> </a:t>
            </a:r>
            <a:r>
              <a:rPr dirty="0" b="1" i="1">
                <a:latin typeface="Gill Sans MT"/>
                <a:cs typeface="Gill Sans MT"/>
              </a:rPr>
              <a:t>NCHAR,</a:t>
            </a:r>
            <a:r>
              <a:rPr dirty="0" spc="-200" b="1" i="1">
                <a:latin typeface="Gill Sans MT"/>
                <a:cs typeface="Gill Sans MT"/>
              </a:rPr>
              <a:t> </a:t>
            </a:r>
            <a:r>
              <a:rPr dirty="0" spc="-10" b="1" i="1">
                <a:latin typeface="Gill Sans MT"/>
                <a:cs typeface="Gill Sans MT"/>
              </a:rPr>
              <a:t>NVARCHAR2,</a:t>
            </a:r>
            <a:r>
              <a:rPr dirty="0" spc="-220" b="1" i="1">
                <a:latin typeface="Gill Sans MT"/>
                <a:cs typeface="Gill Sans MT"/>
              </a:rPr>
              <a:t> </a:t>
            </a:r>
            <a:r>
              <a:rPr dirty="0" spc="5" b="1" i="1">
                <a:latin typeface="Gill Sans MT"/>
                <a:cs typeface="Gill Sans MT"/>
              </a:rPr>
              <a:t>LONG,</a:t>
            </a:r>
            <a:r>
              <a:rPr dirty="0" spc="-210" b="1" i="1">
                <a:latin typeface="Gill Sans MT"/>
                <a:cs typeface="Gill Sans MT"/>
              </a:rPr>
              <a:t> </a:t>
            </a:r>
            <a:r>
              <a:rPr dirty="0" b="1" i="1">
                <a:latin typeface="Gill Sans MT"/>
                <a:cs typeface="Gill Sans MT"/>
              </a:rPr>
              <a:t>CLOB</a:t>
            </a:r>
            <a:r>
              <a:rPr dirty="0" spc="-25" b="1" i="1">
                <a:latin typeface="Gill Sans MT"/>
                <a:cs typeface="Gill Sans MT"/>
              </a:rPr>
              <a:t> </a:t>
            </a:r>
            <a:r>
              <a:rPr dirty="0" spc="-5" i="1">
                <a:latin typeface="Gill Sans MT"/>
                <a:cs typeface="Gill Sans MT"/>
              </a:rPr>
              <a:t>and </a:t>
            </a:r>
            <a:r>
              <a:rPr dirty="0" spc="10" b="1" i="1">
                <a:latin typeface="Gill Sans MT"/>
                <a:cs typeface="Gill Sans MT"/>
              </a:rPr>
              <a:t>NCLOB.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2666492"/>
            <a:ext cx="11120755" cy="3549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16865" marR="5080" indent="-3048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3C3C3C"/>
                </a:solidFill>
                <a:latin typeface="Gill Sans MT"/>
                <a:cs typeface="Gill Sans MT"/>
              </a:rPr>
              <a:t>Numeric Data </a:t>
            </a:r>
            <a:r>
              <a:rPr dirty="0" sz="2200" spc="-60" b="1">
                <a:solidFill>
                  <a:srgbClr val="3C3C3C"/>
                </a:solidFill>
                <a:latin typeface="Gill Sans MT"/>
                <a:cs typeface="Gill Sans MT"/>
              </a:rPr>
              <a:t>Type,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Oracle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uses a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standard,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variable-length internal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format for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storing numbers.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This 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internal</a:t>
            </a:r>
            <a:r>
              <a:rPr dirty="0" sz="2000" spc="-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format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maintain</a:t>
            </a:r>
            <a:r>
              <a:rPr dirty="0" sz="20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precision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up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38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digits.</a:t>
            </a:r>
            <a:endParaRPr sz="2000">
              <a:latin typeface="Gill Sans MT"/>
              <a:cs typeface="Gill Sans MT"/>
            </a:endParaRPr>
          </a:p>
          <a:p>
            <a:pPr marL="316865">
              <a:lnSpc>
                <a:spcPct val="100000"/>
              </a:lnSpc>
              <a:spcBef>
                <a:spcPts val="1090"/>
              </a:spcBef>
            </a:pP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me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ic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da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es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lu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es</a:t>
            </a:r>
            <a:r>
              <a:rPr dirty="0" sz="20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NUMBE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R,</a:t>
            </a:r>
            <a:r>
              <a:rPr dirty="0" sz="2000" spc="-204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BI</a:t>
            </a:r>
            <a:r>
              <a:rPr dirty="0" sz="2000" spc="30" b="1" i="1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-95" b="1" i="1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2000" spc="5" b="1" i="1">
                <a:solidFill>
                  <a:srgbClr val="3C3C3C"/>
                </a:solidFill>
                <a:latin typeface="Gill Sans MT"/>
                <a:cs typeface="Gill Sans MT"/>
              </a:rPr>
              <a:t>_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FL</a:t>
            </a:r>
            <a:r>
              <a:rPr dirty="0" sz="2000" spc="-30" b="1" i="1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000" spc="-210" b="1" i="1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000" spc="-2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000" spc="75" b="1" i="1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2000">
              <a:latin typeface="Gill Sans MT"/>
              <a:cs typeface="Gill Sans MT"/>
            </a:endParaRPr>
          </a:p>
          <a:p>
            <a:pPr algn="just" marL="316230" marR="6350" indent="-304165">
              <a:lnSpc>
                <a:spcPct val="100000"/>
              </a:lnSpc>
              <a:spcBef>
                <a:spcPts val="1115"/>
              </a:spcBef>
            </a:pPr>
            <a:r>
              <a:rPr dirty="0" sz="2200" spc="-5" b="1">
                <a:solidFill>
                  <a:srgbClr val="3C3C3C"/>
                </a:solidFill>
                <a:latin typeface="Gill Sans MT"/>
                <a:cs typeface="Gill Sans MT"/>
              </a:rPr>
              <a:t>Date Data </a:t>
            </a:r>
            <a:r>
              <a:rPr dirty="0" sz="2200" spc="-70" b="1">
                <a:solidFill>
                  <a:srgbClr val="3C3C3C"/>
                </a:solidFill>
                <a:latin typeface="Gill Sans MT"/>
                <a:cs typeface="Gill Sans MT"/>
              </a:rPr>
              <a:t>Type</a:t>
            </a:r>
            <a:r>
              <a:rPr dirty="0" sz="2000" spc="-70" b="1">
                <a:solidFill>
                  <a:srgbClr val="3C3C3C"/>
                </a:solidFill>
                <a:latin typeface="Gill Sans MT"/>
                <a:cs typeface="Gill Sans MT"/>
              </a:rPr>
              <a:t>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Oracle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stores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all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dates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and times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standard internal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format.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standard Oracle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date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format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input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takes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form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of DD-MON-YY HH:MI:SS,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where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DD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represents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up to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two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digits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day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month, MON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is a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three-character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abbreviation for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month,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YY is a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two-digit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representation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2000" spc="-50">
                <a:solidFill>
                  <a:srgbClr val="3C3C3C"/>
                </a:solidFill>
                <a:latin typeface="Gill Sans MT"/>
                <a:cs typeface="Gill Sans MT"/>
              </a:rPr>
              <a:t>year,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HH, MI,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and SS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two-digit representations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hours,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minutes, 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 seconds,</a:t>
            </a:r>
            <a:r>
              <a:rPr dirty="0" sz="2000" spc="-2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respectively.</a:t>
            </a:r>
            <a:endParaRPr sz="2000">
              <a:latin typeface="Gill Sans MT"/>
              <a:cs typeface="Gill Sans MT"/>
            </a:endParaRPr>
          </a:p>
          <a:p>
            <a:pPr marL="316865">
              <a:lnSpc>
                <a:spcPct val="100000"/>
              </a:lnSpc>
              <a:spcBef>
                <a:spcPts val="1095"/>
              </a:spcBef>
            </a:pP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type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includes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25" b="1" i="1">
                <a:solidFill>
                  <a:srgbClr val="3C3C3C"/>
                </a:solidFill>
                <a:latin typeface="Gill Sans MT"/>
                <a:cs typeface="Gill Sans MT"/>
              </a:rPr>
              <a:t>DATE,TIMESTAMP</a:t>
            </a:r>
            <a:r>
              <a:rPr dirty="0" sz="2000" spc="-1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15" b="1" i="1">
                <a:solidFill>
                  <a:srgbClr val="3C3C3C"/>
                </a:solidFill>
                <a:latin typeface="Gill Sans MT"/>
                <a:cs typeface="Gill Sans MT"/>
              </a:rPr>
              <a:t>etc.</a:t>
            </a:r>
            <a:endParaRPr sz="2000">
              <a:latin typeface="Gill Sans MT"/>
              <a:cs typeface="Gill Sans MT"/>
            </a:endParaRPr>
          </a:p>
          <a:p>
            <a:pPr algn="r" marR="313690">
              <a:lnSpc>
                <a:spcPct val="100000"/>
              </a:lnSpc>
              <a:spcBef>
                <a:spcPts val="1290"/>
              </a:spcBef>
            </a:pPr>
            <a:r>
              <a:rPr dirty="0" sz="900">
                <a:solidFill>
                  <a:srgbClr val="4590B8"/>
                </a:solidFill>
                <a:latin typeface="Gill Sans MT"/>
                <a:cs typeface="Gill Sans MT"/>
              </a:rPr>
              <a:t>9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4000" y="1303699"/>
            <a:ext cx="62522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14" b="1">
                <a:solidFill>
                  <a:srgbClr val="FFFFFF"/>
                </a:solidFill>
                <a:latin typeface="Constantia"/>
                <a:cs typeface="Constantia"/>
              </a:rPr>
              <a:t>D</a:t>
            </a:r>
            <a:r>
              <a:rPr dirty="0" sz="3000" spc="-150" b="1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dirty="0" sz="3000" spc="-175" b="1">
                <a:solidFill>
                  <a:srgbClr val="FFFFFF"/>
                </a:solidFill>
                <a:latin typeface="Constantia"/>
                <a:cs typeface="Constantia"/>
              </a:rPr>
              <a:t>T</a:t>
            </a: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dirty="0" sz="3000" spc="-90" b="1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dirty="0" sz="3000" spc="100" b="1">
                <a:solidFill>
                  <a:srgbClr val="FFFFFF"/>
                </a:solidFill>
                <a:latin typeface="Constantia"/>
                <a:cs typeface="Constantia"/>
              </a:rPr>
              <a:t>T</a:t>
            </a:r>
            <a:r>
              <a:rPr dirty="0" sz="3000" spc="-5" b="1">
                <a:solidFill>
                  <a:srgbClr val="FFFFFF"/>
                </a:solidFill>
                <a:latin typeface="Constantia"/>
                <a:cs typeface="Constantia"/>
              </a:rPr>
              <a:t>Y</a:t>
            </a:r>
            <a:r>
              <a:rPr dirty="0" sz="3000" spc="-70" b="1">
                <a:solidFill>
                  <a:srgbClr val="FFFFFF"/>
                </a:solidFill>
                <a:latin typeface="Constantia"/>
                <a:cs typeface="Constantia"/>
              </a:rPr>
              <a:t>P</a:t>
            </a:r>
            <a:r>
              <a:rPr dirty="0" sz="3000" spc="5" b="1">
                <a:solidFill>
                  <a:srgbClr val="FFFFFF"/>
                </a:solidFill>
                <a:latin typeface="Constantia"/>
                <a:cs typeface="Constantia"/>
              </a:rPr>
              <a:t>E</a:t>
            </a: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S</a:t>
            </a:r>
            <a:r>
              <a:rPr dirty="0" sz="3000" spc="-10" b="1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IN</a:t>
            </a:r>
            <a:r>
              <a:rPr dirty="0" sz="3000" spc="-10" b="1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Constantia"/>
                <a:cs typeface="Constantia"/>
              </a:rPr>
              <a:t>OR</a:t>
            </a:r>
            <a:r>
              <a:rPr dirty="0" sz="3000" spc="-90" b="1">
                <a:solidFill>
                  <a:srgbClr val="FFFFFF"/>
                </a:solidFill>
                <a:latin typeface="Constantia"/>
                <a:cs typeface="Constantia"/>
              </a:rPr>
              <a:t>A</a:t>
            </a: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C</a:t>
            </a:r>
            <a:r>
              <a:rPr dirty="0" sz="3000" spc="-5" b="1">
                <a:solidFill>
                  <a:srgbClr val="FFFFFF"/>
                </a:solidFill>
                <a:latin typeface="Constantia"/>
                <a:cs typeface="Constantia"/>
              </a:rPr>
              <a:t>L</a:t>
            </a: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E</a:t>
            </a:r>
            <a:r>
              <a:rPr dirty="0" sz="3000" spc="-15" b="1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Constantia"/>
                <a:cs typeface="Constantia"/>
              </a:rPr>
              <a:t>(</a:t>
            </a:r>
            <a:r>
              <a:rPr dirty="0" sz="3000" spc="-110" b="1">
                <a:solidFill>
                  <a:srgbClr val="FFFFFF"/>
                </a:solidFill>
                <a:latin typeface="Constantia"/>
                <a:cs typeface="Constantia"/>
              </a:rPr>
              <a:t>C</a:t>
            </a:r>
            <a:r>
              <a:rPr dirty="0" sz="3000" spc="-5" b="1">
                <a:solidFill>
                  <a:srgbClr val="FFFFFF"/>
                </a:solidFill>
                <a:latin typeface="Constantia"/>
                <a:cs typeface="Constantia"/>
              </a:rPr>
              <a:t>O</a:t>
            </a: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N</a:t>
            </a:r>
            <a:r>
              <a:rPr dirty="0" sz="3000" spc="80" b="1">
                <a:solidFill>
                  <a:srgbClr val="FFFFFF"/>
                </a:solidFill>
                <a:latin typeface="Constantia"/>
                <a:cs typeface="Constantia"/>
              </a:rPr>
              <a:t>T</a:t>
            </a:r>
            <a:r>
              <a:rPr dirty="0" sz="3000" spc="-5" b="1">
                <a:solidFill>
                  <a:srgbClr val="FFFFFF"/>
                </a:solidFill>
                <a:latin typeface="Constantia"/>
                <a:cs typeface="Constantia"/>
              </a:rPr>
              <a:t>’</a:t>
            </a:r>
            <a:r>
              <a:rPr dirty="0" sz="3000" spc="-10" b="1">
                <a:solidFill>
                  <a:srgbClr val="FFFFFF"/>
                </a:solidFill>
                <a:latin typeface="Constantia"/>
                <a:cs typeface="Constantia"/>
              </a:rPr>
              <a:t>D</a:t>
            </a:r>
            <a:r>
              <a:rPr dirty="0" sz="3000" b="1">
                <a:solidFill>
                  <a:srgbClr val="FFFFFF"/>
                </a:solidFill>
                <a:latin typeface="Constantia"/>
                <a:cs typeface="Constantia"/>
              </a:rPr>
              <a:t>)</a:t>
            </a:r>
            <a:endParaRPr sz="3000">
              <a:latin typeface="Constantia"/>
              <a:cs typeface="Constant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0584" y="2861438"/>
            <a:ext cx="10849610" cy="11087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7500" marR="5080" indent="-305435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3C3C3C"/>
                </a:solidFill>
                <a:latin typeface="Gill Sans MT"/>
                <a:cs typeface="Gill Sans MT"/>
              </a:rPr>
              <a:t>Other</a:t>
            </a:r>
            <a:r>
              <a:rPr dirty="0" sz="2200" spc="254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5" b="1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200" spc="270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200" spc="-70" b="1">
                <a:solidFill>
                  <a:srgbClr val="3C3C3C"/>
                </a:solidFill>
                <a:latin typeface="Gill Sans MT"/>
                <a:cs typeface="Gill Sans MT"/>
              </a:rPr>
              <a:t>Type</a:t>
            </a:r>
            <a:r>
              <a:rPr dirty="0" sz="2000" spc="-70" b="1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2000" spc="229" b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Aside</a:t>
            </a:r>
            <a:r>
              <a:rPr dirty="0" sz="2000" spc="2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dirty="0" sz="2000" spc="2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204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basic</a:t>
            </a:r>
            <a:r>
              <a:rPr dirty="0" sz="2000" spc="2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character,</a:t>
            </a:r>
            <a:r>
              <a:rPr dirty="0" sz="20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number,</a:t>
            </a:r>
            <a:r>
              <a:rPr dirty="0" sz="20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2000" spc="2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2000" spc="2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000" spc="2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types,</a:t>
            </a:r>
            <a:r>
              <a:rPr dirty="0" sz="20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Oracle</a:t>
            </a:r>
            <a:r>
              <a:rPr dirty="0" sz="2000" spc="2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supports</a:t>
            </a:r>
            <a:r>
              <a:rPr dirty="0" sz="2000" spc="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2000" spc="-5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number</a:t>
            </a:r>
            <a:r>
              <a:rPr dirty="0" sz="2000" spc="-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specialized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types.</a:t>
            </a:r>
            <a:endParaRPr sz="2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  <a:spcBef>
                <a:spcPts val="1090"/>
              </a:spcBef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20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000" spc="-90" b="1" i="1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-165" b="1" i="1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2000" spc="-21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2000" spc="-2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2000" spc="-90" b="1" i="1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-165" b="1" i="1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2000" spc="-200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2000" spc="55" b="1" i="1">
                <a:solidFill>
                  <a:srgbClr val="3C3C3C"/>
                </a:solidFill>
                <a:latin typeface="Gill Sans MT"/>
                <a:cs typeface="Gill Sans MT"/>
              </a:rPr>
              <a:t>B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2000" spc="-21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B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LE</a:t>
            </a:r>
            <a:r>
              <a:rPr dirty="0" sz="2000" spc="-25" b="1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 b="1" i="1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000" spc="75" b="1" i="1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2000" b="1" i="1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6988" y="6053011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10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dirty="0" sz="3000" spc="-114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D</a:t>
                      </a:r>
                      <a:r>
                        <a:rPr dirty="0" sz="3000" spc="-15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spc="-17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spc="-9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1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Y</a:t>
                      </a:r>
                      <a:r>
                        <a:rPr dirty="0" sz="3000" spc="-7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</a:t>
                      </a:r>
                      <a:r>
                        <a:rPr dirty="0" sz="3000" spc="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IN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OR</a:t>
                      </a:r>
                      <a:r>
                        <a:rPr dirty="0" sz="3000" spc="-9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C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L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dirty="0" sz="3000" spc="-1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dirty="0" sz="3000" spc="-1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C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</a:t>
                      </a:r>
                      <a:r>
                        <a:rPr dirty="0" sz="3000" spc="8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’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D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)</a:t>
                      </a:r>
                      <a:endParaRPr sz="3000">
                        <a:latin typeface="Constantia"/>
                        <a:cs typeface="Constantia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7765" y="1896176"/>
          <a:ext cx="10450195" cy="4222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6625"/>
                <a:gridCol w="3476625"/>
                <a:gridCol w="3476625"/>
              </a:tblGrid>
              <a:tr h="554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10" b="1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235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210" b="1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y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p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e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Description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85240" marR="1275715" indent="-1905">
                        <a:lnSpc>
                          <a:spcPts val="1400"/>
                        </a:lnSpc>
                        <a:spcBef>
                          <a:spcPts val="730"/>
                        </a:spcBef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Max 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Size: 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Oracle</a:t>
                      </a:r>
                      <a:r>
                        <a:rPr dirty="0" sz="1400" spc="-95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 b="1">
                          <a:latin typeface="Gill Sans MT"/>
                          <a:cs typeface="Gill Sans MT"/>
                        </a:rPr>
                        <a:t>11g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dirty="0" sz="1400" spc="-10" b="1">
                          <a:latin typeface="Gill Sans MT"/>
                          <a:cs typeface="Gill Sans MT"/>
                        </a:rPr>
                        <a:t>VARCHAR2(</a:t>
                      </a:r>
                      <a:r>
                        <a:rPr dirty="0" sz="1400" spc="-10" b="1" i="1">
                          <a:latin typeface="Gill Sans MT"/>
                          <a:cs typeface="Gill Sans MT"/>
                        </a:rPr>
                        <a:t>size</a:t>
                      </a:r>
                      <a:r>
                        <a:rPr dirty="0" sz="1400" spc="-10" b="1">
                          <a:latin typeface="Gill Sans MT"/>
                          <a:cs typeface="Gill Sans MT"/>
                        </a:rPr>
                        <a:t>)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58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666115">
                        <a:lnSpc>
                          <a:spcPts val="1400"/>
                        </a:lnSpc>
                        <a:spcBef>
                          <a:spcPts val="125"/>
                        </a:spcBef>
                      </a:pPr>
                      <a:r>
                        <a:rPr dirty="0" sz="1400" spc="-10">
                          <a:latin typeface="Gill Sans MT"/>
                          <a:cs typeface="Gill Sans MT"/>
                        </a:rPr>
                        <a:t>Variable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length</a:t>
                      </a:r>
                      <a:r>
                        <a:rPr dirty="0" sz="1400" spc="-3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character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string</a:t>
                      </a:r>
                      <a:r>
                        <a:rPr dirty="0" sz="1400" spc="-4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having </a:t>
                      </a:r>
                      <a:r>
                        <a:rPr dirty="0" sz="1400" spc="-3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maximum</a:t>
                      </a:r>
                      <a:r>
                        <a:rPr dirty="0" sz="1400" spc="-4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length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 i="1">
                          <a:latin typeface="Gill Sans MT"/>
                          <a:cs typeface="Gill Sans MT"/>
                        </a:rPr>
                        <a:t>size</a:t>
                      </a:r>
                      <a:r>
                        <a:rPr dirty="0" sz="1400" spc="-15" i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bytes.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795145">
                        <a:lnSpc>
                          <a:spcPts val="1400"/>
                        </a:lnSpc>
                        <a:spcBef>
                          <a:spcPts val="825"/>
                        </a:spcBef>
                      </a:pPr>
                      <a:r>
                        <a:rPr dirty="0" sz="1400" spc="5" b="1">
                          <a:latin typeface="Gill Sans MT"/>
                          <a:cs typeface="Gill Sans MT"/>
                        </a:rPr>
                        <a:t>M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5" b="1">
                          <a:latin typeface="Gill Sans MT"/>
                          <a:cs typeface="Gill Sans MT"/>
                        </a:rPr>
                        <a:t>x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:</a:t>
                      </a:r>
                      <a:r>
                        <a:rPr dirty="0" sz="1400" spc="-170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Si</a:t>
                      </a:r>
                      <a:r>
                        <a:rPr dirty="0" sz="1400" spc="-25" b="1">
                          <a:latin typeface="Gill Sans MT"/>
                          <a:cs typeface="Gill Sans MT"/>
                        </a:rPr>
                        <a:t>z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 spc="-25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400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0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b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y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tes 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minimum</a:t>
                      </a:r>
                      <a:r>
                        <a:rPr dirty="0" sz="1400" spc="-4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is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1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dirty="0" sz="1400" spc="-10" b="1">
                          <a:latin typeface="Gill Sans MT"/>
                          <a:cs typeface="Gill Sans MT"/>
                        </a:rPr>
                        <a:t>NVARCHAR2(</a:t>
                      </a:r>
                      <a:r>
                        <a:rPr dirty="0" sz="1400" spc="-10" b="1" i="1">
                          <a:latin typeface="Gill Sans MT"/>
                          <a:cs typeface="Gill Sans MT"/>
                        </a:rPr>
                        <a:t>size</a:t>
                      </a:r>
                      <a:r>
                        <a:rPr dirty="0" sz="1400" spc="-10" b="1">
                          <a:latin typeface="Gill Sans MT"/>
                          <a:cs typeface="Gill Sans MT"/>
                        </a:rPr>
                        <a:t>)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58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77495">
                        <a:lnSpc>
                          <a:spcPts val="1400"/>
                        </a:lnSpc>
                        <a:spcBef>
                          <a:spcPts val="125"/>
                        </a:spcBef>
                      </a:pPr>
                      <a:r>
                        <a:rPr dirty="0" sz="1400" spc="-10">
                          <a:latin typeface="Gill Sans MT"/>
                          <a:cs typeface="Gill Sans MT"/>
                        </a:rPr>
                        <a:t>Variable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length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national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character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set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string </a:t>
                      </a:r>
                      <a:r>
                        <a:rPr dirty="0" sz="1400" spc="-3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having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maximum</a:t>
                      </a:r>
                      <a:r>
                        <a:rPr dirty="0" sz="1400" spc="-3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length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 i="1">
                          <a:latin typeface="Gill Sans MT"/>
                          <a:cs typeface="Gill Sans MT"/>
                        </a:rPr>
                        <a:t>size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bytes.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  <a:p>
                      <a:pPr marL="67945">
                        <a:lnSpc>
                          <a:spcPts val="1395"/>
                        </a:lnSpc>
                      </a:pPr>
                      <a:r>
                        <a:rPr dirty="0" sz="1400" spc="-60">
                          <a:latin typeface="Gill Sans MT"/>
                          <a:cs typeface="Gill Sans MT"/>
                        </a:rPr>
                        <a:t>You</a:t>
                      </a:r>
                      <a:r>
                        <a:rPr dirty="0" sz="1400" spc="-3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must</a:t>
                      </a:r>
                      <a:r>
                        <a:rPr dirty="0" sz="1400" spc="-4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specify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40"/>
                        </a:lnSpc>
                        <a:spcBef>
                          <a:spcPts val="545"/>
                        </a:spcBef>
                      </a:pPr>
                      <a:r>
                        <a:rPr dirty="0" sz="1400" spc="5">
                          <a:latin typeface="Gill Sans MT"/>
                          <a:cs typeface="Gill Sans MT"/>
                        </a:rPr>
                        <a:t>4000</a:t>
                      </a:r>
                      <a:r>
                        <a:rPr dirty="0" sz="1400" spc="-6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bytes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  <a:p>
                      <a:pPr marL="67945">
                        <a:lnSpc>
                          <a:spcPts val="1540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minimum</a:t>
                      </a:r>
                      <a:r>
                        <a:rPr dirty="0" sz="1400" spc="-6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is</a:t>
                      </a:r>
                      <a:r>
                        <a:rPr dirty="0" sz="1400" spc="-4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1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dirty="0" sz="1400" spc="-5" b="1">
                          <a:latin typeface="Gill Sans MT"/>
                          <a:cs typeface="Gill Sans MT"/>
                        </a:rPr>
                        <a:t>CHAR(</a:t>
                      </a:r>
                      <a:r>
                        <a:rPr dirty="0" sz="1400" spc="-5" b="1" i="1">
                          <a:latin typeface="Gill Sans MT"/>
                          <a:cs typeface="Gill Sans MT"/>
                        </a:rPr>
                        <a:t>size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)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58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394970">
                        <a:lnSpc>
                          <a:spcPct val="83200"/>
                        </a:lnSpc>
                        <a:spcBef>
                          <a:spcPts val="130"/>
                        </a:spcBef>
                      </a:pPr>
                      <a:r>
                        <a:rPr dirty="0" sz="1400" spc="-5">
                          <a:latin typeface="Gill Sans MT"/>
                          <a:cs typeface="Gill Sans MT"/>
                        </a:rPr>
                        <a:t>Fixed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length character data of length size </a:t>
                      </a:r>
                      <a:r>
                        <a:rPr dirty="0" sz="1400" spc="-3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bytes.This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should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be used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for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fixed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length </a:t>
                      </a:r>
                      <a:r>
                        <a:rPr dirty="0" sz="1400" spc="-3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data.</a:t>
                      </a:r>
                      <a:r>
                        <a:rPr dirty="0" sz="1400" spc="-14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Su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h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as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1400" spc="-16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100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,</a:t>
                      </a:r>
                      <a:r>
                        <a:rPr dirty="0" sz="1400" spc="-16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B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102…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40"/>
                        </a:lnSpc>
                        <a:spcBef>
                          <a:spcPts val="545"/>
                        </a:spcBef>
                      </a:pPr>
                      <a:r>
                        <a:rPr dirty="0" sz="1400" spc="5" b="1">
                          <a:latin typeface="Gill Sans MT"/>
                          <a:cs typeface="Gill Sans MT"/>
                        </a:rPr>
                        <a:t>2000</a:t>
                      </a:r>
                      <a:r>
                        <a:rPr dirty="0" sz="1400" spc="-50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bytes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  <a:p>
                      <a:pPr marL="67945">
                        <a:lnSpc>
                          <a:spcPts val="1540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Default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minimum</a:t>
                      </a:r>
                      <a:r>
                        <a:rPr dirty="0" sz="1400" spc="-4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is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1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byte.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dirty="0" sz="1400" spc="-5" b="1">
                          <a:latin typeface="Gill Sans MT"/>
                          <a:cs typeface="Gill Sans MT"/>
                        </a:rPr>
                        <a:t>NCHAR(</a:t>
                      </a:r>
                      <a:r>
                        <a:rPr dirty="0" sz="1400" spc="-5" b="1" i="1">
                          <a:latin typeface="Gill Sans MT"/>
                          <a:cs typeface="Gill Sans MT"/>
                        </a:rPr>
                        <a:t>size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)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58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78105">
                        <a:lnSpc>
                          <a:spcPct val="83200"/>
                        </a:lnSpc>
                        <a:spcBef>
                          <a:spcPts val="125"/>
                        </a:spcBef>
                      </a:pPr>
                      <a:r>
                        <a:rPr dirty="0" sz="1400" spc="-5">
                          <a:latin typeface="Gill Sans MT"/>
                          <a:cs typeface="Gill Sans MT"/>
                        </a:rPr>
                        <a:t>Fixed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length national character set data of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length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bytes.This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should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be used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for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fixed </a:t>
                      </a:r>
                      <a:r>
                        <a:rPr dirty="0" sz="1400" spc="-3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l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n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gth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data.</a:t>
                      </a:r>
                      <a:r>
                        <a:rPr dirty="0" sz="1400" spc="-16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Su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h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as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1400" spc="-16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100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,</a:t>
                      </a:r>
                      <a:r>
                        <a:rPr dirty="0" sz="1400" spc="-16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B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102…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40"/>
                        </a:lnSpc>
                        <a:spcBef>
                          <a:spcPts val="545"/>
                        </a:spcBef>
                      </a:pPr>
                      <a:r>
                        <a:rPr dirty="0" sz="1400" spc="5">
                          <a:latin typeface="Gill Sans MT"/>
                          <a:cs typeface="Gill Sans MT"/>
                        </a:rPr>
                        <a:t>2000</a:t>
                      </a:r>
                      <a:r>
                        <a:rPr dirty="0" sz="1400" spc="-6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bytes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  <a:p>
                      <a:pPr marL="67945">
                        <a:lnSpc>
                          <a:spcPts val="1540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Default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minimum</a:t>
                      </a:r>
                      <a:r>
                        <a:rPr dirty="0" sz="1400" spc="-4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is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1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byte.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NUMBER(</a:t>
                      </a:r>
                      <a:r>
                        <a:rPr dirty="0" sz="1400" b="1" i="1">
                          <a:latin typeface="Gill Sans MT"/>
                          <a:cs typeface="Gill Sans MT"/>
                        </a:rPr>
                        <a:t>p,s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)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58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Number</a:t>
                      </a:r>
                      <a:r>
                        <a:rPr dirty="0" sz="1400" spc="-3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having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precision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i="1">
                          <a:latin typeface="Gill Sans MT"/>
                          <a:cs typeface="Gill Sans MT"/>
                        </a:rPr>
                        <a:t>p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scale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 i="1"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58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25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precision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p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can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range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from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1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to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38.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scale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can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range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from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-84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to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127.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400" spc="-35" b="1">
                          <a:latin typeface="Gill Sans MT"/>
                          <a:cs typeface="Gill Sans MT"/>
                        </a:rPr>
                        <a:t>BINARY_FLOAT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6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302260" indent="-635">
                        <a:lnSpc>
                          <a:spcPct val="83300"/>
                        </a:lnSpc>
                        <a:spcBef>
                          <a:spcPts val="185"/>
                        </a:spcBef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A 32-bit,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single-precision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floating-point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n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u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m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b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1400" spc="-3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data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y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p</a:t>
                      </a:r>
                      <a:r>
                        <a:rPr dirty="0" sz="1400" spc="20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.</a:t>
                      </a:r>
                      <a:r>
                        <a:rPr dirty="0" sz="1400" spc="-14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h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B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INA</a:t>
                      </a:r>
                      <a:r>
                        <a:rPr dirty="0" sz="1400" spc="-140"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Y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_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F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L</a:t>
                      </a:r>
                      <a:r>
                        <a:rPr dirty="0" sz="1400" spc="-65"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1400" spc="-145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 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v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lu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qu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i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es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4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b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y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tes.</a:t>
                      </a:r>
                      <a:r>
                        <a:rPr dirty="0" sz="1400" spc="-16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uppo</a:t>
                      </a:r>
                      <a:r>
                        <a:rPr dirty="0" sz="1400" spc="20"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ts</a:t>
                      </a:r>
                      <a:r>
                        <a:rPr dirty="0" sz="1400" spc="-4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h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p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ial 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values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infinity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NaN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(not</a:t>
                      </a:r>
                      <a:r>
                        <a:rPr dirty="0" sz="1400" spc="-3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 number).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414270">
                        <a:lnSpc>
                          <a:spcPts val="1400"/>
                        </a:lnSpc>
                        <a:spcBef>
                          <a:spcPts val="185"/>
                        </a:spcBef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Magnitude: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1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.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1754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9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-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3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8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F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  <a:p>
                      <a:pPr marL="67945">
                        <a:lnSpc>
                          <a:spcPts val="1255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…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  <a:p>
                      <a:pPr marL="1101725">
                        <a:lnSpc>
                          <a:spcPts val="1540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3.40282E+38F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206988" y="6053011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11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dirty="0" sz="3000" spc="-114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D</a:t>
                      </a:r>
                      <a:r>
                        <a:rPr dirty="0" sz="3000" spc="-15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spc="-17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spc="-9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1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Y</a:t>
                      </a:r>
                      <a:r>
                        <a:rPr dirty="0" sz="3000" spc="-7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</a:t>
                      </a:r>
                      <a:r>
                        <a:rPr dirty="0" sz="3000" spc="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IN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OR</a:t>
                      </a:r>
                      <a:r>
                        <a:rPr dirty="0" sz="3000" spc="-9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C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L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dirty="0" sz="3000" spc="-1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dirty="0" sz="3000" spc="-1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C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</a:t>
                      </a:r>
                      <a:r>
                        <a:rPr dirty="0" sz="3000" spc="8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’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D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)</a:t>
                      </a:r>
                      <a:endParaRPr sz="3000">
                        <a:latin typeface="Constantia"/>
                        <a:cs typeface="Constantia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4736" y="1926531"/>
          <a:ext cx="9490075" cy="4564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8560"/>
                <a:gridCol w="3009265"/>
                <a:gridCol w="4012565"/>
              </a:tblGrid>
              <a:tr h="470534">
                <a:tc>
                  <a:txBody>
                    <a:bodyPr/>
                    <a:lstStyle/>
                    <a:p>
                      <a:pPr marL="81343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10" b="1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235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210" b="1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y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p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e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Description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52575" marR="1544320" indent="-1905">
                        <a:lnSpc>
                          <a:spcPts val="1400"/>
                        </a:lnSpc>
                        <a:spcBef>
                          <a:spcPts val="400"/>
                        </a:spcBef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Max 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Size: 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Oracle</a:t>
                      </a:r>
                      <a:r>
                        <a:rPr dirty="0" sz="1400" spc="-95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 b="1">
                          <a:latin typeface="Gill Sans MT"/>
                          <a:cs typeface="Gill Sans MT"/>
                        </a:rPr>
                        <a:t>11g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60" b="1">
                          <a:latin typeface="Gill Sans MT"/>
                          <a:cs typeface="Gill Sans MT"/>
                        </a:rPr>
                        <a:t>DATE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15">
                          <a:latin typeface="Gill Sans MT"/>
                          <a:cs typeface="Gill Sans MT"/>
                        </a:rPr>
                        <a:t>Valid</a:t>
                      </a:r>
                      <a:r>
                        <a:rPr dirty="0" sz="1400" spc="-3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date</a:t>
                      </a:r>
                      <a:r>
                        <a:rPr dirty="0" sz="1400" spc="-4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range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400" spc="-5">
                          <a:latin typeface="Gill Sans MT"/>
                          <a:cs typeface="Gill Sans MT"/>
                        </a:rPr>
                        <a:t>f</a:t>
                      </a:r>
                      <a:r>
                        <a:rPr dirty="0" sz="1400" spc="-40"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m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J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n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u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30"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y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1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,</a:t>
                      </a:r>
                      <a:r>
                        <a:rPr dirty="0" sz="1400" spc="-14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471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2</a:t>
                      </a:r>
                      <a:r>
                        <a:rPr dirty="0" sz="1400" spc="-3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BC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to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De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m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b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er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31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,</a:t>
                      </a:r>
                      <a:r>
                        <a:rPr dirty="0" sz="1400" spc="-14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999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9</a:t>
                      </a:r>
                      <a:r>
                        <a:rPr dirty="0" sz="1400" spc="-17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110"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5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400" spc="-15" b="1">
                          <a:latin typeface="Gill Sans MT"/>
                          <a:cs typeface="Gill Sans MT"/>
                        </a:rPr>
                        <a:t>RAW(size)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20014">
                        <a:lnSpc>
                          <a:spcPts val="1400"/>
                        </a:lnSpc>
                        <a:spcBef>
                          <a:spcPts val="1050"/>
                        </a:spcBef>
                      </a:pPr>
                      <a:r>
                        <a:rPr dirty="0" sz="1400" spc="-15">
                          <a:latin typeface="Gill Sans MT"/>
                          <a:cs typeface="Gill Sans MT"/>
                        </a:rPr>
                        <a:t>Raw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binary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data of length size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bytes.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60">
                          <a:latin typeface="Gill Sans MT"/>
                          <a:cs typeface="Gill Sans MT"/>
                        </a:rPr>
                        <a:t>You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must</a:t>
                      </a:r>
                      <a:r>
                        <a:rPr dirty="0" sz="1400" spc="-3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specify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for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35">
                          <a:latin typeface="Gill Sans MT"/>
                          <a:cs typeface="Gill Sans MT"/>
                        </a:rPr>
                        <a:t>RAW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value.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Maximum</a:t>
                      </a:r>
                      <a:r>
                        <a:rPr dirty="0" sz="1400" spc="-5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is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2000</a:t>
                      </a:r>
                      <a:r>
                        <a:rPr dirty="0" sz="1400" spc="-3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bytes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86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400" spc="-5" b="1">
                          <a:latin typeface="Gill Sans MT"/>
                          <a:cs typeface="Gill Sans MT"/>
                        </a:rPr>
                        <a:t>CLOB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Character</a:t>
                      </a:r>
                      <a:r>
                        <a:rPr dirty="0" sz="1400" spc="-5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Large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Object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just" marL="68580" marR="59055" indent="-635">
                        <a:lnSpc>
                          <a:spcPct val="83400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character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large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object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containing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single-byte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or </a:t>
                      </a:r>
                      <a:r>
                        <a:rPr dirty="0" sz="1400" spc="-3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multibyte characters. Both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fixed-width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and variable-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width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character sets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are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supported,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both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using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the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database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character set. Maximum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 is (4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gigabytes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- </a:t>
                      </a:r>
                      <a:r>
                        <a:rPr dirty="0" sz="1400" spc="-3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1)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*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(database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block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size).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3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NCLOB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National</a:t>
                      </a:r>
                      <a:r>
                        <a:rPr dirty="0" sz="1400" spc="-4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Character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Large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Object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69215" marR="57785">
                        <a:lnSpc>
                          <a:spcPct val="83300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character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large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object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containing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Unicode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characters.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Both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fixed-width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variable-width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h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1400" spc="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sets</a:t>
                      </a:r>
                      <a:r>
                        <a:rPr dirty="0" sz="1400" spc="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 spc="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u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p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p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1400" spc="20"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d,</a:t>
                      </a:r>
                      <a:r>
                        <a:rPr dirty="0" sz="1400" spc="-1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b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h</a:t>
                      </a:r>
                      <a:r>
                        <a:rPr dirty="0" sz="1400" spc="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u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i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n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g</a:t>
                      </a:r>
                      <a:r>
                        <a:rPr dirty="0" sz="1400" spc="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h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1400" spc="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ta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b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e 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national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character set. Maximum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is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(4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gigabytes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-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1) *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(database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block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size).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Stores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national character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set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data.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206988" y="6053011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12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5"/>
              <a:t>10/7/2025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dirty="0" sz="3000" spc="-114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D</a:t>
                      </a:r>
                      <a:r>
                        <a:rPr dirty="0" sz="3000" spc="-15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spc="-17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spc="-9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1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Y</a:t>
                      </a:r>
                      <a:r>
                        <a:rPr dirty="0" sz="3000" spc="-7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</a:t>
                      </a:r>
                      <a:r>
                        <a:rPr dirty="0" sz="3000" spc="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IN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OR</a:t>
                      </a:r>
                      <a:r>
                        <a:rPr dirty="0" sz="3000" spc="-9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C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L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dirty="0" sz="3000" spc="-1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dirty="0" sz="3000" spc="-1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C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</a:t>
                      </a:r>
                      <a:r>
                        <a:rPr dirty="0" sz="3000" spc="8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dirty="0" sz="3000" spc="-5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’</a:t>
                      </a:r>
                      <a:r>
                        <a:rPr dirty="0" sz="3000" spc="-1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D</a:t>
                      </a:r>
                      <a:r>
                        <a:rPr dirty="0" sz="3000" b="1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)</a:t>
                      </a:r>
                      <a:endParaRPr sz="3000">
                        <a:latin typeface="Constantia"/>
                        <a:cs typeface="Constantia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76852" y="2338387"/>
          <a:ext cx="832485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8600"/>
                <a:gridCol w="2768600"/>
                <a:gridCol w="2768600"/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10" b="1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1400" spc="-235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210" b="1"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y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p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e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225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916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Description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225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9640" marR="923290" indent="1270">
                        <a:lnSpc>
                          <a:spcPts val="1400"/>
                        </a:lnSpc>
                        <a:spcBef>
                          <a:spcPts val="545"/>
                        </a:spcBef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Max 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Size: </a:t>
                      </a:r>
                      <a:r>
                        <a:rPr dirty="0" sz="1400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 b="1">
                          <a:latin typeface="Gill Sans MT"/>
                          <a:cs typeface="Gill Sans MT"/>
                        </a:rPr>
                        <a:t>Oracle</a:t>
                      </a:r>
                      <a:r>
                        <a:rPr dirty="0" sz="1400" spc="-95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 b="1">
                          <a:latin typeface="Gill Sans MT"/>
                          <a:cs typeface="Gill Sans MT"/>
                        </a:rPr>
                        <a:t>11g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LONG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Character</a:t>
                      </a:r>
                      <a:r>
                        <a:rPr dirty="0" sz="1400" spc="-5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data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of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variable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length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7945" marR="42545">
                        <a:lnSpc>
                          <a:spcPct val="83200"/>
                        </a:lnSpc>
                        <a:spcBef>
                          <a:spcPts val="950"/>
                        </a:spcBef>
                        <a:tabLst>
                          <a:tab pos="1252220" algn="l"/>
                          <a:tab pos="2006600" algn="l"/>
                        </a:tabLst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up to 2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gigabytes, or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2</a:t>
                      </a:r>
                      <a:r>
                        <a:rPr dirty="0" baseline="24691" sz="1350" spc="7">
                          <a:latin typeface="Gill Sans MT"/>
                          <a:cs typeface="Gill Sans MT"/>
                        </a:rPr>
                        <a:t>31</a:t>
                      </a:r>
                      <a:r>
                        <a:rPr dirty="0" baseline="24691" sz="1350" spc="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-1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bytes.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Provided	for	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backward </a:t>
                      </a:r>
                      <a:r>
                        <a:rPr dirty="0" sz="1400" spc="-38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10">
                          <a:latin typeface="Gill Sans MT"/>
                          <a:cs typeface="Gill Sans MT"/>
                        </a:rPr>
                        <a:t>compatibility.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206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BLOB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400" spc="5">
                          <a:latin typeface="Gill Sans MT"/>
                          <a:cs typeface="Gill Sans MT"/>
                        </a:rPr>
                        <a:t>Binary</a:t>
                      </a:r>
                      <a:r>
                        <a:rPr dirty="0" sz="1400" spc="-3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Large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Object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7945" marR="60325">
                        <a:lnSpc>
                          <a:spcPct val="83200"/>
                        </a:lnSpc>
                        <a:spcBef>
                          <a:spcPts val="850"/>
                        </a:spcBef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A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binary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large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object. Maximum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 </a:t>
                      </a:r>
                      <a:r>
                        <a:rPr dirty="0" sz="1400" spc="-3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is (4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gigabytes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- 1) * (database block </a:t>
                      </a:r>
                      <a:r>
                        <a:rPr dirty="0" sz="1400" spc="-3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size).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1079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Gill Sans MT"/>
                          <a:cs typeface="Gill Sans MT"/>
                        </a:rPr>
                        <a:t>BFILE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pointer</a:t>
                      </a:r>
                      <a:r>
                        <a:rPr dirty="0" sz="1400" spc="-4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to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binary</a:t>
                      </a:r>
                      <a:r>
                        <a:rPr dirty="0" sz="1400" spc="-2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file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 on</a:t>
                      </a:r>
                      <a:r>
                        <a:rPr dirty="0" sz="1400" spc="-2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disk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40"/>
                        </a:lnSpc>
                        <a:spcBef>
                          <a:spcPts val="265"/>
                        </a:spcBef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8</a:t>
                      </a:r>
                      <a:r>
                        <a:rPr dirty="0" sz="1400" spc="-18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TB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to</a:t>
                      </a:r>
                      <a:r>
                        <a:rPr dirty="0" sz="1400" spc="-1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5">
                          <a:latin typeface="Gill Sans MT"/>
                          <a:cs typeface="Gill Sans MT"/>
                        </a:rPr>
                        <a:t>12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8</a:t>
                      </a:r>
                      <a:r>
                        <a:rPr dirty="0" sz="1400" spc="-19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TB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  <a:p>
                      <a:pPr marL="67945" marR="60325">
                        <a:lnSpc>
                          <a:spcPts val="1390"/>
                        </a:lnSpc>
                        <a:spcBef>
                          <a:spcPts val="150"/>
                        </a:spcBef>
                      </a:pPr>
                      <a:r>
                        <a:rPr dirty="0" sz="1400">
                          <a:latin typeface="Gill Sans MT"/>
                          <a:cs typeface="Gill Sans MT"/>
                        </a:rPr>
                        <a:t>(4</a:t>
                      </a:r>
                      <a:r>
                        <a:rPr dirty="0" sz="1400" spc="1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Gigabytes</a:t>
                      </a:r>
                      <a:r>
                        <a:rPr dirty="0" sz="1400" spc="1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-</a:t>
                      </a:r>
                      <a:r>
                        <a:rPr dirty="0" sz="1400" spc="1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1)</a:t>
                      </a:r>
                      <a:r>
                        <a:rPr dirty="0" sz="1400" spc="17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*</a:t>
                      </a:r>
                      <a:r>
                        <a:rPr dirty="0" sz="1400" spc="18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 spc="-5">
                          <a:latin typeface="Gill Sans MT"/>
                          <a:cs typeface="Gill Sans MT"/>
                        </a:rPr>
                        <a:t>(database</a:t>
                      </a:r>
                      <a:r>
                        <a:rPr dirty="0" sz="1400" spc="17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block </a:t>
                      </a:r>
                      <a:r>
                        <a:rPr dirty="0" sz="1400" spc="-37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00">
                          <a:latin typeface="Gill Sans MT"/>
                          <a:cs typeface="Gill Sans MT"/>
                        </a:rPr>
                        <a:t>size)</a:t>
                      </a:r>
                      <a:endParaRPr sz="1400">
                        <a:latin typeface="Gill Sans MT"/>
                        <a:cs typeface="Gill Sans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206988" y="6053011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">
                <a:solidFill>
                  <a:srgbClr val="4590B8"/>
                </a:solidFill>
                <a:latin typeface="Gill Sans MT"/>
                <a:cs typeface="Gill Sans MT"/>
              </a:rPr>
              <a:t>13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Zartasha Baloch</dc:creator>
  <dc:title>Database Management Systems</dc:title>
  <dcterms:created xsi:type="dcterms:W3CDTF">2026-02-17T07:55:58Z</dcterms:created>
  <dcterms:modified xsi:type="dcterms:W3CDTF">2026-02-17T07:55:58Z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2025-10-07T00:00:00Z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2026-02-17T00:00:00Z</vt:filetime>
  </property>
</Properties>
</file>