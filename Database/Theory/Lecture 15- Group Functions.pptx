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A315F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A315F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A315F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79672" y="1870709"/>
            <a:ext cx="4232655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A315F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1168" y="3236213"/>
            <a:ext cx="10200005" cy="2843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3086100"/>
            <a:ext cx="10986770" cy="3305810"/>
          </a:xfrm>
          <a:custGeom>
            <a:avLst/>
            <a:gdLst/>
            <a:ahLst/>
            <a:cxnLst/>
            <a:rect l="l" t="t" r="r" b="b"/>
            <a:pathLst>
              <a:path w="10986770" h="3305810">
                <a:moveTo>
                  <a:pt x="10986516" y="0"/>
                </a:moveTo>
                <a:lnTo>
                  <a:pt x="0" y="0"/>
                </a:lnTo>
                <a:lnTo>
                  <a:pt x="0" y="3305555"/>
                </a:lnTo>
                <a:lnTo>
                  <a:pt x="10986516" y="3305555"/>
                </a:lnTo>
                <a:lnTo>
                  <a:pt x="10986516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84019" y="1875282"/>
            <a:ext cx="724915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0" b="1">
                <a:latin typeface="Trebuchet MS"/>
                <a:cs typeface="Trebuchet MS"/>
              </a:rPr>
              <a:t>DATABASE</a:t>
            </a:r>
            <a:r>
              <a:rPr dirty="0" spc="-60" b="1">
                <a:latin typeface="Trebuchet MS"/>
                <a:cs typeface="Trebuchet MS"/>
              </a:rPr>
              <a:t> </a:t>
            </a:r>
            <a:r>
              <a:rPr dirty="0" spc="-5" b="1">
                <a:latin typeface="Trebuchet MS"/>
                <a:cs typeface="Trebuchet MS"/>
              </a:rPr>
              <a:t>MANAGEMENT</a:t>
            </a:r>
            <a:r>
              <a:rPr dirty="0" spc="-105" b="1">
                <a:latin typeface="Trebuchet MS"/>
                <a:cs typeface="Trebuchet MS"/>
              </a:rPr>
              <a:t> </a:t>
            </a:r>
            <a:r>
              <a:rPr dirty="0" spc="-5" b="1">
                <a:latin typeface="Trebuchet MS"/>
                <a:cs typeface="Trebuchet MS"/>
              </a:rPr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23347" y="4545710"/>
            <a:ext cx="353949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FFFFFF"/>
                </a:solidFill>
                <a:latin typeface="Times New Roman"/>
                <a:cs typeface="Times New Roman"/>
              </a:rPr>
              <a:t>Subject</a:t>
            </a:r>
            <a:r>
              <a:rPr dirty="0" sz="19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900" spc="-15">
                <a:solidFill>
                  <a:srgbClr val="FFFFFF"/>
                </a:solidFill>
                <a:latin typeface="Times New Roman"/>
                <a:cs typeface="Times New Roman"/>
              </a:rPr>
              <a:t>Teacher:</a:t>
            </a:r>
            <a:r>
              <a:rPr dirty="0" sz="1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Times New Roman"/>
                <a:cs typeface="Times New Roman"/>
              </a:rPr>
              <a:t>Junaid</a:t>
            </a:r>
            <a:r>
              <a:rPr dirty="0" sz="19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Times New Roman"/>
                <a:cs typeface="Times New Roman"/>
              </a:rPr>
              <a:t>Javed</a:t>
            </a:r>
            <a:r>
              <a:rPr dirty="0" sz="19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Times New Roman"/>
                <a:cs typeface="Times New Roman"/>
              </a:rPr>
              <a:t>Korai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3086100"/>
            <a:ext cx="10986770" cy="3305810"/>
          </a:xfrm>
          <a:custGeom>
            <a:avLst/>
            <a:gdLst/>
            <a:ahLst/>
            <a:cxnLst/>
            <a:rect l="l" t="t" r="r" b="b"/>
            <a:pathLst>
              <a:path w="10986770" h="3305810">
                <a:moveTo>
                  <a:pt x="10986516" y="0"/>
                </a:moveTo>
                <a:lnTo>
                  <a:pt x="0" y="0"/>
                </a:lnTo>
                <a:lnTo>
                  <a:pt x="0" y="3305555"/>
                </a:lnTo>
                <a:lnTo>
                  <a:pt x="10986516" y="3305555"/>
                </a:lnTo>
                <a:lnTo>
                  <a:pt x="10986516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GROUP </a:t>
            </a:r>
            <a:r>
              <a:rPr dirty="0" spc="-10"/>
              <a:t>FUNCTIONS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66423" y="6054344"/>
            <a:ext cx="825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E5AAC"/>
                </a:solidFill>
                <a:latin typeface="Gill Sans MT"/>
                <a:cs typeface="Gill Sans MT"/>
              </a:rPr>
              <a:t>2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ctr" marR="339090">
              <a:lnSpc>
                <a:spcPct val="100000"/>
              </a:lnSpc>
              <a:spcBef>
                <a:spcPts val="105"/>
              </a:spcBef>
            </a:pPr>
            <a:r>
              <a:rPr dirty="0"/>
              <a:t>Lecture</a:t>
            </a:r>
            <a:r>
              <a:rPr dirty="0" spc="-55"/>
              <a:t> </a:t>
            </a:r>
            <a:r>
              <a:rPr dirty="0"/>
              <a:t>#</a:t>
            </a:r>
            <a:r>
              <a:rPr dirty="0" spc="-25"/>
              <a:t> </a:t>
            </a:r>
            <a:r>
              <a:rPr dirty="0"/>
              <a:t>15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00"/>
          </a:p>
          <a:p>
            <a:pPr algn="just" marL="12700" marR="6350">
              <a:lnSpc>
                <a:spcPct val="100000"/>
              </a:lnSpc>
              <a:spcBef>
                <a:spcPts val="5"/>
              </a:spcBef>
            </a:pPr>
            <a:r>
              <a:rPr dirty="0" sz="1600" spc="5" b="1">
                <a:solidFill>
                  <a:srgbClr val="FFFFCC"/>
                </a:solidFill>
                <a:latin typeface="Gill Sans MT"/>
                <a:cs typeface="Gill Sans MT"/>
              </a:rPr>
              <a:t>Disclaimer: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material used in this presentation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deliver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lecture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i.e.,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definitions/text and pictures/graphs </a:t>
            </a:r>
            <a:r>
              <a:rPr dirty="0" sz="1600" spc="5">
                <a:solidFill>
                  <a:srgbClr val="FFFFCC"/>
                </a:solidFill>
                <a:latin typeface="Gill Sans MT"/>
                <a:cs typeface="Gill Sans MT"/>
              </a:rPr>
              <a:t>etc.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does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not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solely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belong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author/presenter.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presenter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has gathered this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lecture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material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from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various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sources on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 web/textbooks.</a:t>
            </a:r>
            <a:r>
              <a:rPr dirty="0" sz="1600" spc="-13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FFFFCC"/>
                </a:solidFill>
                <a:latin typeface="Gill Sans MT"/>
                <a:cs typeface="Gill Sans MT"/>
              </a:rPr>
              <a:t>Following</a:t>
            </a:r>
            <a:r>
              <a:rPr dirty="0" sz="1600" spc="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sources</a:t>
            </a:r>
            <a:r>
              <a:rPr dirty="0" sz="16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FFFFCC"/>
                </a:solidFill>
                <a:latin typeface="Gill Sans MT"/>
                <a:cs typeface="Gill Sans MT"/>
              </a:rPr>
              <a:t>are</a:t>
            </a:r>
            <a:r>
              <a:rPr dirty="0" sz="16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especially acknowledged:</a:t>
            </a:r>
            <a:endParaRPr sz="1600">
              <a:latin typeface="Gill Sans MT"/>
              <a:cs typeface="Gill Sans MT"/>
            </a:endParaRPr>
          </a:p>
          <a:p>
            <a:pPr marL="355600" marR="5080" indent="-343535">
              <a:lnSpc>
                <a:spcPct val="100000"/>
              </a:lnSpc>
              <a:spcBef>
                <a:spcPts val="1210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dirty="0" sz="1400" spc="-15">
                <a:solidFill>
                  <a:srgbClr val="FFFFCC"/>
                </a:solidFill>
                <a:latin typeface="Gill Sans MT"/>
                <a:cs typeface="Gill Sans MT"/>
              </a:rPr>
              <a:t>Connolly,</a:t>
            </a:r>
            <a:r>
              <a:rPr dirty="0" sz="1400" spc="8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Thomas</a:t>
            </a:r>
            <a:r>
              <a:rPr dirty="0" sz="1400" spc="229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M.,</a:t>
            </a:r>
            <a:r>
              <a:rPr dirty="0" sz="1400" spc="8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229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Carolyn</a:t>
            </a:r>
            <a:r>
              <a:rPr dirty="0" sz="1400" spc="229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E.</a:t>
            </a:r>
            <a:r>
              <a:rPr dirty="0" sz="1400" spc="8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Begg.</a:t>
            </a:r>
            <a:r>
              <a:rPr dirty="0" sz="1400" spc="8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dirty="0" sz="1400" spc="229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systems:</a:t>
            </a:r>
            <a:r>
              <a:rPr dirty="0" sz="1400" spc="80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a</a:t>
            </a:r>
            <a:r>
              <a:rPr dirty="0" sz="1400" spc="229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practical</a:t>
            </a:r>
            <a:r>
              <a:rPr dirty="0" sz="1400" spc="22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approach</a:t>
            </a:r>
            <a:r>
              <a:rPr dirty="0" sz="1400" spc="22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to</a:t>
            </a:r>
            <a:r>
              <a:rPr dirty="0" sz="1400" spc="22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design,</a:t>
            </a:r>
            <a:r>
              <a:rPr dirty="0" sz="1400" spc="90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implementation,</a:t>
            </a:r>
            <a:r>
              <a:rPr dirty="0" sz="1400" spc="90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220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management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.</a:t>
            </a:r>
            <a:r>
              <a:rPr dirty="0" sz="1400" spc="8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Pearson </a:t>
            </a:r>
            <a:r>
              <a:rPr dirty="0" sz="1400" spc="-37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Education,</a:t>
            </a:r>
            <a:r>
              <a:rPr dirty="0" sz="1400" spc="-18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2005.</a:t>
            </a:r>
            <a:endParaRPr sz="1400">
              <a:latin typeface="Gill Sans MT"/>
              <a:cs typeface="Gill Sans MT"/>
            </a:endParaRPr>
          </a:p>
          <a:p>
            <a:pPr marL="355600" indent="-34353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Gorman,Tim,</a:t>
            </a:r>
            <a:r>
              <a:rPr dirty="0" sz="1400" spc="-14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Inger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Jorgensen,</a:t>
            </a:r>
            <a:r>
              <a:rPr dirty="0" sz="1400" spc="-14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Melanie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25">
                <a:solidFill>
                  <a:srgbClr val="FFFFCC"/>
                </a:solidFill>
                <a:latin typeface="Gill Sans MT"/>
                <a:cs typeface="Gill Sans MT"/>
              </a:rPr>
              <a:t>Caffrey,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and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Lex</a:t>
            </a:r>
            <a:r>
              <a:rPr dirty="0" sz="1400" spc="1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deHaan.</a:t>
            </a:r>
            <a:r>
              <a:rPr dirty="0" sz="1400" spc="-13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Beginning</a:t>
            </a:r>
            <a:r>
              <a:rPr dirty="0" sz="1400" spc="-2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Oracle</a:t>
            </a:r>
            <a:r>
              <a:rPr dirty="0" sz="14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SQL:</a:t>
            </a:r>
            <a:r>
              <a:rPr dirty="0" sz="1400" spc="-13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For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Oracle</a:t>
            </a:r>
            <a:r>
              <a:rPr dirty="0" sz="1400" spc="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dirty="0" sz="1400" spc="-1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10">
                <a:solidFill>
                  <a:srgbClr val="FFFFCC"/>
                </a:solidFill>
                <a:latin typeface="Gill Sans MT"/>
                <a:cs typeface="Gill Sans MT"/>
              </a:rPr>
              <a:t>12c.Apress,</a:t>
            </a:r>
            <a:r>
              <a:rPr dirty="0" sz="1400" spc="-13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2014.</a:t>
            </a:r>
            <a:endParaRPr sz="1400">
              <a:latin typeface="Gill Sans MT"/>
              <a:cs typeface="Gill Sans MT"/>
            </a:endParaRPr>
          </a:p>
          <a:p>
            <a:pPr marL="355600" indent="-34353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Greenberg,</a:t>
            </a:r>
            <a:r>
              <a:rPr dirty="0" sz="1400" spc="-15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20">
                <a:solidFill>
                  <a:srgbClr val="FFFFCC"/>
                </a:solidFill>
                <a:latin typeface="Gill Sans MT"/>
                <a:cs typeface="Gill Sans MT"/>
              </a:rPr>
              <a:t>Nancy,</a:t>
            </a:r>
            <a:r>
              <a:rPr dirty="0" sz="1400" spc="-15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and Instructor</a:t>
            </a:r>
            <a:r>
              <a:rPr dirty="0" sz="1400" spc="-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Guide</a:t>
            </a:r>
            <a:r>
              <a:rPr dirty="0" sz="1400" spc="-1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PriyaNathan.</a:t>
            </a:r>
            <a:r>
              <a:rPr dirty="0" sz="1400" spc="-16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"Introduction</a:t>
            </a:r>
            <a:r>
              <a:rPr dirty="0" sz="1400" spc="-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to Oracle9i: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SQL."</a:t>
            </a:r>
            <a:r>
              <a:rPr dirty="0" sz="14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ORACLE,</a:t>
            </a:r>
            <a:r>
              <a:rPr dirty="0" sz="1400" spc="-14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USA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(2001).</a:t>
            </a:r>
            <a:endParaRPr sz="14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OBJECTIVES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00227" y="2105622"/>
            <a:ext cx="6322695" cy="2039620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After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completing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this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les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son,</a:t>
            </a:r>
            <a:r>
              <a:rPr dirty="0" sz="1800" spc="-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should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able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foll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wing: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Identify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available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group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Describe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group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92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G</a:t>
            </a:r>
            <a:r>
              <a:rPr dirty="0" sz="1800" spc="-5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oup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ata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using the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GROU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P</a:t>
            </a:r>
            <a:r>
              <a:rPr dirty="0" sz="1800" spc="-2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B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Y</a:t>
            </a:r>
            <a:r>
              <a:rPr dirty="0" sz="1800" spc="-59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clau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Include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exclude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grouped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rows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by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using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HAVING</a:t>
            </a:r>
            <a:r>
              <a:rPr dirty="0" sz="1800" spc="-61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clause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WH</a:t>
                      </a:r>
                      <a:r>
                        <a:rPr dirty="0" sz="2800" spc="-28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2800" spc="-3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ARE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</a:t>
                      </a:r>
                      <a:r>
                        <a:rPr dirty="0" sz="2800" spc="-17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OU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P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N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S?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695575" y="2613660"/>
            <a:ext cx="6843395" cy="4036060"/>
            <a:chOff x="2695575" y="2613660"/>
            <a:chExt cx="6843395" cy="40360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5575" y="2656335"/>
              <a:ext cx="2809875" cy="36103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700009" y="4149090"/>
              <a:ext cx="1826260" cy="1155700"/>
            </a:xfrm>
            <a:custGeom>
              <a:avLst/>
              <a:gdLst/>
              <a:ahLst/>
              <a:cxnLst/>
              <a:rect l="l" t="t" r="r" b="b"/>
              <a:pathLst>
                <a:path w="1826259" h="1155700">
                  <a:moveTo>
                    <a:pt x="1825752" y="0"/>
                  </a:moveTo>
                  <a:lnTo>
                    <a:pt x="0" y="0"/>
                  </a:lnTo>
                  <a:lnTo>
                    <a:pt x="0" y="1155192"/>
                  </a:lnTo>
                  <a:lnTo>
                    <a:pt x="1825752" y="1155192"/>
                  </a:lnTo>
                  <a:lnTo>
                    <a:pt x="18257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700009" y="4149090"/>
              <a:ext cx="1826260" cy="1155700"/>
            </a:xfrm>
            <a:custGeom>
              <a:avLst/>
              <a:gdLst/>
              <a:ahLst/>
              <a:cxnLst/>
              <a:rect l="l" t="t" r="r" b="b"/>
              <a:pathLst>
                <a:path w="1826259" h="1155700">
                  <a:moveTo>
                    <a:pt x="0" y="1155192"/>
                  </a:moveTo>
                  <a:lnTo>
                    <a:pt x="1825752" y="1155192"/>
                  </a:lnTo>
                  <a:lnTo>
                    <a:pt x="1825752" y="0"/>
                  </a:lnTo>
                  <a:lnTo>
                    <a:pt x="0" y="0"/>
                  </a:lnTo>
                  <a:lnTo>
                    <a:pt x="0" y="11551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529072" y="2613660"/>
              <a:ext cx="2156460" cy="4036060"/>
            </a:xfrm>
            <a:custGeom>
              <a:avLst/>
              <a:gdLst/>
              <a:ahLst/>
              <a:cxnLst/>
              <a:rect l="l" t="t" r="r" b="b"/>
              <a:pathLst>
                <a:path w="2156459" h="4036059">
                  <a:moveTo>
                    <a:pt x="0" y="0"/>
                  </a:moveTo>
                  <a:lnTo>
                    <a:pt x="0" y="4035488"/>
                  </a:lnTo>
                  <a:lnTo>
                    <a:pt x="2156332" y="2701925"/>
                  </a:lnTo>
                  <a:lnTo>
                    <a:pt x="2156332" y="1527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99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84377" y="1917953"/>
            <a:ext cx="652462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3C3C3C"/>
                </a:solidFill>
              </a:rPr>
              <a:t>Group</a:t>
            </a:r>
            <a:r>
              <a:rPr dirty="0" sz="1800" spc="-5">
                <a:solidFill>
                  <a:srgbClr val="3C3C3C"/>
                </a:solidFill>
              </a:rPr>
              <a:t> </a:t>
            </a:r>
            <a:r>
              <a:rPr dirty="0" sz="1800">
                <a:solidFill>
                  <a:srgbClr val="3C3C3C"/>
                </a:solidFill>
              </a:rPr>
              <a:t>functions</a:t>
            </a:r>
            <a:r>
              <a:rPr dirty="0" sz="1800" spc="-15">
                <a:solidFill>
                  <a:srgbClr val="3C3C3C"/>
                </a:solidFill>
              </a:rPr>
              <a:t> </a:t>
            </a:r>
            <a:r>
              <a:rPr dirty="0" sz="1800">
                <a:solidFill>
                  <a:srgbClr val="3C3C3C"/>
                </a:solidFill>
              </a:rPr>
              <a:t>operate</a:t>
            </a:r>
            <a:r>
              <a:rPr dirty="0" sz="1800" spc="-25">
                <a:solidFill>
                  <a:srgbClr val="3C3C3C"/>
                </a:solidFill>
              </a:rPr>
              <a:t> </a:t>
            </a:r>
            <a:r>
              <a:rPr dirty="0" sz="1800">
                <a:solidFill>
                  <a:srgbClr val="3C3C3C"/>
                </a:solidFill>
              </a:rPr>
              <a:t>on</a:t>
            </a:r>
            <a:r>
              <a:rPr dirty="0" sz="1800" spc="-5">
                <a:solidFill>
                  <a:srgbClr val="3C3C3C"/>
                </a:solidFill>
              </a:rPr>
              <a:t> </a:t>
            </a:r>
            <a:r>
              <a:rPr dirty="0" sz="1800">
                <a:solidFill>
                  <a:srgbClr val="3C3C3C"/>
                </a:solidFill>
              </a:rPr>
              <a:t>sets</a:t>
            </a:r>
            <a:r>
              <a:rPr dirty="0" sz="1800" spc="-20">
                <a:solidFill>
                  <a:srgbClr val="3C3C3C"/>
                </a:solidFill>
              </a:rPr>
              <a:t> </a:t>
            </a:r>
            <a:r>
              <a:rPr dirty="0" sz="1800">
                <a:solidFill>
                  <a:srgbClr val="3C3C3C"/>
                </a:solidFill>
              </a:rPr>
              <a:t>of</a:t>
            </a:r>
            <a:r>
              <a:rPr dirty="0" sz="1800" spc="-5">
                <a:solidFill>
                  <a:srgbClr val="3C3C3C"/>
                </a:solidFill>
              </a:rPr>
              <a:t> </a:t>
            </a:r>
            <a:r>
              <a:rPr dirty="0" sz="1800" spc="-20">
                <a:solidFill>
                  <a:srgbClr val="3C3C3C"/>
                </a:solidFill>
              </a:rPr>
              <a:t>rows</a:t>
            </a:r>
            <a:r>
              <a:rPr dirty="0" sz="1800" spc="-10">
                <a:solidFill>
                  <a:srgbClr val="3C3C3C"/>
                </a:solidFill>
              </a:rPr>
              <a:t> </a:t>
            </a:r>
            <a:r>
              <a:rPr dirty="0" sz="1800">
                <a:solidFill>
                  <a:srgbClr val="3C3C3C"/>
                </a:solidFill>
              </a:rPr>
              <a:t>to</a:t>
            </a:r>
            <a:r>
              <a:rPr dirty="0" sz="1800" spc="-10">
                <a:solidFill>
                  <a:srgbClr val="3C3C3C"/>
                </a:solidFill>
              </a:rPr>
              <a:t> give</a:t>
            </a:r>
            <a:r>
              <a:rPr dirty="0" sz="1800" spc="-15">
                <a:solidFill>
                  <a:srgbClr val="3C3C3C"/>
                </a:solidFill>
              </a:rPr>
              <a:t> </a:t>
            </a:r>
            <a:r>
              <a:rPr dirty="0" sz="1800">
                <a:solidFill>
                  <a:srgbClr val="3C3C3C"/>
                </a:solidFill>
              </a:rPr>
              <a:t>one </a:t>
            </a:r>
            <a:r>
              <a:rPr dirty="0" sz="1800" spc="-10">
                <a:solidFill>
                  <a:srgbClr val="3C3C3C"/>
                </a:solidFill>
              </a:rPr>
              <a:t>result</a:t>
            </a:r>
            <a:r>
              <a:rPr dirty="0" sz="1800" spc="-15">
                <a:solidFill>
                  <a:srgbClr val="3C3C3C"/>
                </a:solidFill>
              </a:rPr>
              <a:t> </a:t>
            </a:r>
            <a:r>
              <a:rPr dirty="0" sz="1800">
                <a:solidFill>
                  <a:srgbClr val="3C3C3C"/>
                </a:solidFill>
              </a:rPr>
              <a:t>per </a:t>
            </a:r>
            <a:r>
              <a:rPr dirty="0" sz="1800" spc="-20">
                <a:solidFill>
                  <a:srgbClr val="3C3C3C"/>
                </a:solidFill>
              </a:rPr>
              <a:t>group.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2662554" y="2297684"/>
            <a:ext cx="1255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84011" y="4170426"/>
            <a:ext cx="166560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200" marR="109855" indent="-6413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CC"/>
                </a:solidFill>
                <a:latin typeface="Arial"/>
                <a:cs typeface="Arial"/>
              </a:rPr>
              <a:t>The</a:t>
            </a:r>
            <a:r>
              <a:rPr dirty="0" sz="1800" spc="-95" b="1">
                <a:solidFill>
                  <a:srgbClr val="FFFFCC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CC"/>
                </a:solidFill>
                <a:latin typeface="Arial"/>
                <a:cs typeface="Arial"/>
              </a:rPr>
              <a:t>maximum </a:t>
            </a:r>
            <a:r>
              <a:rPr dirty="0" sz="1800" spc="-484" b="1">
                <a:solidFill>
                  <a:srgbClr val="FFFFCC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CC"/>
                </a:solidFill>
                <a:latin typeface="Arial"/>
                <a:cs typeface="Arial"/>
              </a:rPr>
              <a:t>salary </a:t>
            </a:r>
            <a:r>
              <a:rPr dirty="0" sz="1800" b="1">
                <a:solidFill>
                  <a:srgbClr val="FFFFCC"/>
                </a:solidFill>
                <a:latin typeface="Arial"/>
                <a:cs typeface="Arial"/>
              </a:rPr>
              <a:t>in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39"/>
              </a:lnSpc>
            </a:pPr>
            <a:r>
              <a:rPr dirty="0" sz="1800" b="1">
                <a:solidFill>
                  <a:srgbClr val="FFFFCC"/>
                </a:solidFill>
                <a:latin typeface="Arial"/>
                <a:cs typeface="Arial"/>
              </a:rPr>
              <a:t>the</a:t>
            </a:r>
            <a:r>
              <a:rPr dirty="0" sz="1800" spc="-50" b="1">
                <a:solidFill>
                  <a:srgbClr val="FFFFCC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CC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b="1">
                <a:solidFill>
                  <a:srgbClr val="FFFFCC"/>
                </a:solidFill>
                <a:latin typeface="Arial"/>
                <a:cs typeface="Arial"/>
              </a:rPr>
              <a:t>table.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14631" y="2859023"/>
            <a:ext cx="6775450" cy="3711575"/>
            <a:chOff x="2714631" y="2859023"/>
            <a:chExt cx="6775450" cy="3711575"/>
          </a:xfrm>
        </p:grpSpPr>
        <p:sp>
          <p:nvSpPr>
            <p:cNvPr id="12" name="object 12"/>
            <p:cNvSpPr/>
            <p:nvPr/>
          </p:nvSpPr>
          <p:spPr>
            <a:xfrm>
              <a:off x="4588001" y="2871977"/>
              <a:ext cx="913130" cy="3385185"/>
            </a:xfrm>
            <a:custGeom>
              <a:avLst/>
              <a:gdLst/>
              <a:ahLst/>
              <a:cxnLst/>
              <a:rect l="l" t="t" r="r" b="b"/>
              <a:pathLst>
                <a:path w="913129" h="3385185">
                  <a:moveTo>
                    <a:pt x="0" y="3384804"/>
                  </a:moveTo>
                  <a:lnTo>
                    <a:pt x="912876" y="3384804"/>
                  </a:lnTo>
                  <a:lnTo>
                    <a:pt x="912876" y="0"/>
                  </a:lnTo>
                  <a:lnTo>
                    <a:pt x="0" y="0"/>
                  </a:lnTo>
                  <a:lnTo>
                    <a:pt x="0" y="3384804"/>
                  </a:lnTo>
                  <a:close/>
                </a:path>
              </a:pathLst>
            </a:custGeom>
            <a:ln w="25908">
              <a:solidFill>
                <a:srgbClr val="FF50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14631" y="6475683"/>
              <a:ext cx="952627" cy="949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90104" y="4486655"/>
              <a:ext cx="1799844" cy="50444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824977" y="4749545"/>
              <a:ext cx="1598930" cy="204470"/>
            </a:xfrm>
            <a:custGeom>
              <a:avLst/>
              <a:gdLst/>
              <a:ahLst/>
              <a:cxnLst/>
              <a:rect l="l" t="t" r="r" b="b"/>
              <a:pathLst>
                <a:path w="1598929" h="204470">
                  <a:moveTo>
                    <a:pt x="0" y="204215"/>
                  </a:moveTo>
                  <a:lnTo>
                    <a:pt x="1598676" y="204215"/>
                  </a:lnTo>
                  <a:lnTo>
                    <a:pt x="1598676" y="0"/>
                  </a:lnTo>
                  <a:lnTo>
                    <a:pt x="0" y="0"/>
                  </a:lnTo>
                  <a:lnTo>
                    <a:pt x="0" y="204215"/>
                  </a:lnTo>
                  <a:close/>
                </a:path>
              </a:pathLst>
            </a:custGeom>
            <a:ln w="25908">
              <a:solidFill>
                <a:srgbClr val="FF50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663444" y="6042456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48926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FFFFFF"/>
                </a:solidFill>
              </a:rPr>
              <a:t>TYPES</a:t>
            </a:r>
            <a:r>
              <a:rPr dirty="0" sz="2800" spc="-20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OF</a:t>
            </a:r>
            <a:r>
              <a:rPr dirty="0" sz="2800" spc="-40">
                <a:solidFill>
                  <a:srgbClr val="FFFFFF"/>
                </a:solidFill>
              </a:rPr>
              <a:t> GROUP</a:t>
            </a:r>
            <a:r>
              <a:rPr dirty="0" sz="2800" spc="-25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FUNCTIONS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477770" y="1800225"/>
            <a:ext cx="1424305" cy="2863850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1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AVG</a:t>
            </a:r>
            <a:endParaRPr sz="1800">
              <a:latin typeface="Courier New"/>
              <a:cs typeface="Courier New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COUNT</a:t>
            </a:r>
            <a:endParaRPr sz="1800">
              <a:latin typeface="Courier New"/>
              <a:cs typeface="Courier New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MAX</a:t>
            </a:r>
            <a:endParaRPr sz="1800">
              <a:latin typeface="Courier New"/>
              <a:cs typeface="Courier New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MIN</a:t>
            </a:r>
            <a:endParaRPr sz="1800">
              <a:latin typeface="Courier New"/>
              <a:cs typeface="Courier New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STDDEV</a:t>
            </a:r>
            <a:endParaRPr sz="1800">
              <a:latin typeface="Courier New"/>
              <a:cs typeface="Courier New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SUM</a:t>
            </a:r>
            <a:endParaRPr sz="1800">
              <a:latin typeface="Courier New"/>
              <a:cs typeface="Courier New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VARIANCE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4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GROUP</a:t>
                      </a:r>
                      <a:r>
                        <a:rPr dirty="0" sz="2800" spc="-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FUNCTIONS</a:t>
                      </a:r>
                      <a:r>
                        <a:rPr dirty="0" sz="2800" spc="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SYNTAX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49004" y="2354516"/>
            <a:ext cx="7258684" cy="1809114"/>
            <a:chOff x="2449004" y="2354516"/>
            <a:chExt cx="7258684" cy="1809114"/>
          </a:xfrm>
        </p:grpSpPr>
        <p:sp>
          <p:nvSpPr>
            <p:cNvPr id="4" name="object 4"/>
            <p:cNvSpPr/>
            <p:nvPr/>
          </p:nvSpPr>
          <p:spPr>
            <a:xfrm>
              <a:off x="2512568" y="2418079"/>
              <a:ext cx="7195184" cy="1744980"/>
            </a:xfrm>
            <a:custGeom>
              <a:avLst/>
              <a:gdLst/>
              <a:ahLst/>
              <a:cxnLst/>
              <a:rect l="l" t="t" r="r" b="b"/>
              <a:pathLst>
                <a:path w="7195184" h="1744979">
                  <a:moveTo>
                    <a:pt x="7194804" y="0"/>
                  </a:moveTo>
                  <a:lnTo>
                    <a:pt x="7118350" y="0"/>
                  </a:lnTo>
                  <a:lnTo>
                    <a:pt x="7118350" y="12700"/>
                  </a:lnTo>
                  <a:lnTo>
                    <a:pt x="7118350" y="25400"/>
                  </a:lnTo>
                  <a:lnTo>
                    <a:pt x="7118350" y="1668780"/>
                  </a:lnTo>
                  <a:lnTo>
                    <a:pt x="12954" y="1668780"/>
                  </a:lnTo>
                  <a:lnTo>
                    <a:pt x="12954" y="1719580"/>
                  </a:lnTo>
                  <a:lnTo>
                    <a:pt x="0" y="1719580"/>
                  </a:lnTo>
                  <a:lnTo>
                    <a:pt x="0" y="1744980"/>
                  </a:lnTo>
                  <a:lnTo>
                    <a:pt x="7194804" y="1744980"/>
                  </a:lnTo>
                  <a:lnTo>
                    <a:pt x="7194804" y="1719580"/>
                  </a:lnTo>
                  <a:lnTo>
                    <a:pt x="7194804" y="25400"/>
                  </a:lnTo>
                  <a:lnTo>
                    <a:pt x="71948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62022" y="2367534"/>
              <a:ext cx="7169150" cy="1719580"/>
            </a:xfrm>
            <a:custGeom>
              <a:avLst/>
              <a:gdLst/>
              <a:ahLst/>
              <a:cxnLst/>
              <a:rect l="l" t="t" r="r" b="b"/>
              <a:pathLst>
                <a:path w="7169150" h="1719579">
                  <a:moveTo>
                    <a:pt x="7168896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7168896" y="1719072"/>
                  </a:lnTo>
                  <a:lnTo>
                    <a:pt x="716889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62022" y="2367534"/>
              <a:ext cx="7169150" cy="1719580"/>
            </a:xfrm>
            <a:custGeom>
              <a:avLst/>
              <a:gdLst/>
              <a:ahLst/>
              <a:cxnLst/>
              <a:rect l="l" t="t" r="r" b="b"/>
              <a:pathLst>
                <a:path w="7169150" h="1719579">
                  <a:moveTo>
                    <a:pt x="0" y="1719072"/>
                  </a:moveTo>
                  <a:lnTo>
                    <a:pt x="7168896" y="1719072"/>
                  </a:lnTo>
                  <a:lnTo>
                    <a:pt x="7168896" y="0"/>
                  </a:lnTo>
                  <a:lnTo>
                    <a:pt x="0" y="0"/>
                  </a:lnTo>
                  <a:lnTo>
                    <a:pt x="0" y="171907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12567" y="4086859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48734" y="2486914"/>
            <a:ext cx="50755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[</a:t>
            </a:r>
            <a:r>
              <a:rPr dirty="0" sz="1800" spc="-10" b="1" i="1">
                <a:latin typeface="Courier New"/>
                <a:cs typeface="Courier New"/>
              </a:rPr>
              <a:t>column</a:t>
            </a:r>
            <a:r>
              <a:rPr dirty="0" sz="1800" spc="-10" b="1">
                <a:latin typeface="Courier New"/>
                <a:cs typeface="Courier New"/>
              </a:rPr>
              <a:t>,] </a:t>
            </a:r>
            <a:r>
              <a:rPr dirty="0" sz="1800" spc="-10" b="1" i="1">
                <a:latin typeface="Courier New"/>
                <a:cs typeface="Courier New"/>
              </a:rPr>
              <a:t>group_function(column), ... </a:t>
            </a:r>
            <a:r>
              <a:rPr dirty="0" sz="1800" spc="-1070" b="1" i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table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14980" y="2486914"/>
            <a:ext cx="1256030" cy="13976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0000"/>
                </a:solidFill>
                <a:latin typeface="Courier New"/>
                <a:cs typeface="Courier New"/>
              </a:rPr>
              <a:t>SELECT </a:t>
            </a:r>
            <a:r>
              <a:rPr dirty="0" sz="1800" spc="-5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ourier New"/>
                <a:cs typeface="Courier New"/>
              </a:rPr>
              <a:t>FROM </a:t>
            </a:r>
            <a:r>
              <a:rPr dirty="0" sz="1800" spc="-5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ourier New"/>
                <a:cs typeface="Courier New"/>
              </a:rPr>
              <a:t>[WHERE </a:t>
            </a:r>
            <a:r>
              <a:rPr dirty="0" sz="1800" spc="-5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ourier New"/>
                <a:cs typeface="Courier New"/>
              </a:rPr>
              <a:t>[GROUP</a:t>
            </a:r>
            <a:r>
              <a:rPr dirty="0" sz="1800" spc="-8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ourier New"/>
                <a:cs typeface="Courier New"/>
              </a:rPr>
              <a:t>BY </a:t>
            </a:r>
            <a:r>
              <a:rPr dirty="0" sz="1800" spc="-1065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ourier New"/>
                <a:cs typeface="Courier New"/>
              </a:rPr>
              <a:t>[ORDER</a:t>
            </a:r>
            <a:r>
              <a:rPr dirty="0" sz="1800" spc="-85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ourier New"/>
                <a:cs typeface="Courier New"/>
              </a:rPr>
              <a:t>BY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48734" y="3035553"/>
            <a:ext cx="139255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latin typeface="Courier New"/>
                <a:cs typeface="Courier New"/>
              </a:rPr>
              <a:t>co</a:t>
            </a:r>
            <a:r>
              <a:rPr dirty="0" sz="1800" spc="-15" b="1" i="1">
                <a:latin typeface="Courier New"/>
                <a:cs typeface="Courier New"/>
              </a:rPr>
              <a:t>n</a:t>
            </a:r>
            <a:r>
              <a:rPr dirty="0" sz="1800" spc="-5" b="1" i="1">
                <a:latin typeface="Courier New"/>
                <a:cs typeface="Courier New"/>
              </a:rPr>
              <a:t>d</a:t>
            </a:r>
            <a:r>
              <a:rPr dirty="0" sz="1800" spc="-15" b="1" i="1">
                <a:latin typeface="Courier New"/>
                <a:cs typeface="Courier New"/>
              </a:rPr>
              <a:t>i</a:t>
            </a:r>
            <a:r>
              <a:rPr dirty="0" sz="1800" spc="-5" b="1" i="1">
                <a:latin typeface="Courier New"/>
                <a:cs typeface="Courier New"/>
              </a:rPr>
              <a:t>ti</a:t>
            </a:r>
            <a:r>
              <a:rPr dirty="0" sz="1800" spc="-15" b="1" i="1">
                <a:latin typeface="Courier New"/>
                <a:cs typeface="Courier New"/>
              </a:rPr>
              <a:t>o</a:t>
            </a:r>
            <a:r>
              <a:rPr dirty="0" sz="1800" b="1" i="1">
                <a:latin typeface="Courier New"/>
                <a:cs typeface="Courier New"/>
              </a:rPr>
              <a:t>n</a:t>
            </a:r>
            <a:r>
              <a:rPr dirty="0" sz="1800" b="1">
                <a:latin typeface="Courier New"/>
                <a:cs typeface="Courier New"/>
              </a:rPr>
              <a:t>]  </a:t>
            </a:r>
            <a:r>
              <a:rPr dirty="0" sz="1800" spc="-10" b="1" i="1">
                <a:latin typeface="Courier New"/>
                <a:cs typeface="Courier New"/>
              </a:rPr>
              <a:t>column</a:t>
            </a:r>
            <a:r>
              <a:rPr dirty="0" sz="1800" spc="-10" b="1">
                <a:latin typeface="Courier New"/>
                <a:cs typeface="Courier New"/>
              </a:rPr>
              <a:t>] 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column</a:t>
            </a:r>
            <a:r>
              <a:rPr dirty="0" sz="1800" spc="-10" b="1">
                <a:latin typeface="Courier New"/>
                <a:cs typeface="Courier New"/>
              </a:rPr>
              <a:t>];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639561" y="2486405"/>
            <a:ext cx="3048000" cy="300355"/>
          </a:xfrm>
          <a:custGeom>
            <a:avLst/>
            <a:gdLst/>
            <a:ahLst/>
            <a:cxnLst/>
            <a:rect l="l" t="t" r="r" b="b"/>
            <a:pathLst>
              <a:path w="3048000" h="300355">
                <a:moveTo>
                  <a:pt x="0" y="300227"/>
                </a:moveTo>
                <a:lnTo>
                  <a:pt x="3047999" y="300227"/>
                </a:lnTo>
                <a:lnTo>
                  <a:pt x="3047999" y="0"/>
                </a:lnTo>
                <a:lnTo>
                  <a:pt x="0" y="0"/>
                </a:lnTo>
                <a:lnTo>
                  <a:pt x="0" y="300227"/>
                </a:lnTo>
                <a:close/>
              </a:path>
            </a:pathLst>
          </a:custGeom>
          <a:ln w="25908">
            <a:solidFill>
              <a:srgbClr val="FF505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62720" y="2366708"/>
            <a:ext cx="7330440" cy="1280795"/>
            <a:chOff x="2462720" y="2366708"/>
            <a:chExt cx="7330440" cy="1280795"/>
          </a:xfrm>
        </p:grpSpPr>
        <p:sp>
          <p:nvSpPr>
            <p:cNvPr id="3" name="object 3"/>
            <p:cNvSpPr/>
            <p:nvPr/>
          </p:nvSpPr>
          <p:spPr>
            <a:xfrm>
              <a:off x="2526284" y="2430779"/>
              <a:ext cx="7266940" cy="1216660"/>
            </a:xfrm>
            <a:custGeom>
              <a:avLst/>
              <a:gdLst/>
              <a:ahLst/>
              <a:cxnLst/>
              <a:rect l="l" t="t" r="r" b="b"/>
              <a:pathLst>
                <a:path w="7266940" h="1216660">
                  <a:moveTo>
                    <a:pt x="7266432" y="0"/>
                  </a:moveTo>
                  <a:lnTo>
                    <a:pt x="7189978" y="0"/>
                  </a:lnTo>
                  <a:lnTo>
                    <a:pt x="7189978" y="12700"/>
                  </a:lnTo>
                  <a:lnTo>
                    <a:pt x="7189978" y="25400"/>
                  </a:lnTo>
                  <a:lnTo>
                    <a:pt x="7189978" y="1140460"/>
                  </a:lnTo>
                  <a:lnTo>
                    <a:pt x="12954" y="1140460"/>
                  </a:lnTo>
                  <a:lnTo>
                    <a:pt x="12954" y="1191260"/>
                  </a:lnTo>
                  <a:lnTo>
                    <a:pt x="0" y="1191260"/>
                  </a:lnTo>
                  <a:lnTo>
                    <a:pt x="0" y="1216660"/>
                  </a:lnTo>
                  <a:lnTo>
                    <a:pt x="7266432" y="1216660"/>
                  </a:lnTo>
                  <a:lnTo>
                    <a:pt x="7266432" y="1191260"/>
                  </a:lnTo>
                  <a:lnTo>
                    <a:pt x="7266432" y="25400"/>
                  </a:lnTo>
                  <a:lnTo>
                    <a:pt x="7266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475737" y="2379725"/>
              <a:ext cx="7240905" cy="1191895"/>
            </a:xfrm>
            <a:custGeom>
              <a:avLst/>
              <a:gdLst/>
              <a:ahLst/>
              <a:cxnLst/>
              <a:rect l="l" t="t" r="r" b="b"/>
              <a:pathLst>
                <a:path w="7240905" h="1191895">
                  <a:moveTo>
                    <a:pt x="7240523" y="0"/>
                  </a:moveTo>
                  <a:lnTo>
                    <a:pt x="0" y="0"/>
                  </a:lnTo>
                  <a:lnTo>
                    <a:pt x="0" y="1191768"/>
                  </a:lnTo>
                  <a:lnTo>
                    <a:pt x="7240523" y="1191768"/>
                  </a:lnTo>
                  <a:lnTo>
                    <a:pt x="7240523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75737" y="2379725"/>
              <a:ext cx="7240905" cy="1191895"/>
            </a:xfrm>
            <a:custGeom>
              <a:avLst/>
              <a:gdLst/>
              <a:ahLst/>
              <a:cxnLst/>
              <a:rect l="l" t="t" r="r" b="b"/>
              <a:pathLst>
                <a:path w="7240905" h="1191895">
                  <a:moveTo>
                    <a:pt x="0" y="1191768"/>
                  </a:moveTo>
                  <a:lnTo>
                    <a:pt x="7240523" y="1191768"/>
                  </a:lnTo>
                  <a:lnTo>
                    <a:pt x="7240523" y="0"/>
                  </a:lnTo>
                  <a:lnTo>
                    <a:pt x="0" y="0"/>
                  </a:lnTo>
                  <a:lnTo>
                    <a:pt x="0" y="119176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2526283" y="357124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8" y="50800"/>
                </a:lnTo>
                <a:lnTo>
                  <a:pt x="25908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511677" y="2661030"/>
            <a:ext cx="330009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MIN(salary),</a:t>
            </a:r>
            <a:r>
              <a:rPr dirty="0" sz="1800" spc="-8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SUM(salary)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54604" y="2935046"/>
            <a:ext cx="70993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5" b="1">
                <a:latin typeface="Courier New"/>
                <a:cs typeface="Courier New"/>
              </a:rPr>
              <a:t>WH</a:t>
            </a:r>
            <a:r>
              <a:rPr dirty="0" sz="1800" spc="-15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RE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1524" y="3209925"/>
            <a:ext cx="2754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job_id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LIKE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'%REP%';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AVG</a:t>
                      </a:r>
                      <a:r>
                        <a:rPr dirty="0" sz="2800" spc="-12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AND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SUM</a:t>
                      </a:r>
                      <a:r>
                        <a:rPr dirty="0" sz="2800" spc="-9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477770" y="1846529"/>
            <a:ext cx="4471035" cy="840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AV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G</a:t>
            </a:r>
            <a:r>
              <a:rPr dirty="0" sz="1800" spc="-59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SU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M</a:t>
            </a:r>
            <a:r>
              <a:rPr dirty="0" sz="1800" spc="-60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umeric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ata.</a:t>
            </a:r>
            <a:endParaRPr sz="18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Gill Sans MT"/>
              <a:cs typeface="Gill Sans MT"/>
            </a:endParaRPr>
          </a:p>
          <a:p>
            <a:pPr marL="89535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AVG(salary),</a:t>
            </a:r>
            <a:r>
              <a:rPr dirty="0" sz="1800" spc="-4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MAX(salary),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01390" y="2416301"/>
            <a:ext cx="3418840" cy="615950"/>
          </a:xfrm>
          <a:custGeom>
            <a:avLst/>
            <a:gdLst/>
            <a:ahLst/>
            <a:cxnLst/>
            <a:rect l="l" t="t" r="r" b="b"/>
            <a:pathLst>
              <a:path w="3418840" h="615950">
                <a:moveTo>
                  <a:pt x="0" y="615696"/>
                </a:moveTo>
                <a:lnTo>
                  <a:pt x="3418332" y="615696"/>
                </a:lnTo>
                <a:lnTo>
                  <a:pt x="3418332" y="0"/>
                </a:lnTo>
                <a:lnTo>
                  <a:pt x="0" y="0"/>
                </a:lnTo>
                <a:lnTo>
                  <a:pt x="0" y="615696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2494026" y="3918203"/>
            <a:ext cx="7191375" cy="457200"/>
            <a:chOff x="2494026" y="3918203"/>
            <a:chExt cx="7191375" cy="4572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4026" y="3918203"/>
              <a:ext cx="7191375" cy="4572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08326" y="3940301"/>
              <a:ext cx="6981825" cy="205740"/>
            </a:xfrm>
            <a:custGeom>
              <a:avLst/>
              <a:gdLst/>
              <a:ahLst/>
              <a:cxnLst/>
              <a:rect l="l" t="t" r="r" b="b"/>
              <a:pathLst>
                <a:path w="6981825" h="205739">
                  <a:moveTo>
                    <a:pt x="0" y="205740"/>
                  </a:moveTo>
                  <a:lnTo>
                    <a:pt x="6981444" y="205740"/>
                  </a:lnTo>
                  <a:lnTo>
                    <a:pt x="6981444" y="0"/>
                  </a:lnTo>
                  <a:lnTo>
                    <a:pt x="0" y="0"/>
                  </a:lnTo>
                  <a:lnTo>
                    <a:pt x="0" y="205740"/>
                  </a:lnTo>
                  <a:close/>
                </a:path>
              </a:pathLst>
            </a:custGeom>
            <a:ln w="25908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MIN</a:t>
                      </a:r>
                      <a:r>
                        <a:rPr dirty="0" sz="2800" spc="-12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AND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MAX</a:t>
                      </a:r>
                      <a:r>
                        <a:rPr dirty="0" sz="2800" spc="-9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523236" y="2430779"/>
            <a:ext cx="7244080" cy="666750"/>
          </a:xfrm>
          <a:custGeom>
            <a:avLst/>
            <a:gdLst/>
            <a:ahLst/>
            <a:cxnLst/>
            <a:rect l="l" t="t" r="r" b="b"/>
            <a:pathLst>
              <a:path w="7244080" h="666750">
                <a:moveTo>
                  <a:pt x="7243572" y="0"/>
                </a:moveTo>
                <a:lnTo>
                  <a:pt x="7167118" y="0"/>
                </a:lnTo>
                <a:lnTo>
                  <a:pt x="7167118" y="12700"/>
                </a:lnTo>
                <a:lnTo>
                  <a:pt x="7167105" y="590550"/>
                </a:lnTo>
                <a:lnTo>
                  <a:pt x="12954" y="590550"/>
                </a:lnTo>
                <a:lnTo>
                  <a:pt x="12954" y="641350"/>
                </a:lnTo>
                <a:lnTo>
                  <a:pt x="0" y="641350"/>
                </a:lnTo>
                <a:lnTo>
                  <a:pt x="0" y="666750"/>
                </a:lnTo>
                <a:lnTo>
                  <a:pt x="7243572" y="666750"/>
                </a:lnTo>
                <a:lnTo>
                  <a:pt x="7243572" y="641350"/>
                </a:lnTo>
                <a:lnTo>
                  <a:pt x="7243572" y="25400"/>
                </a:lnTo>
                <a:lnTo>
                  <a:pt x="7243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23235" y="3021329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459735" y="2353817"/>
          <a:ext cx="7230745" cy="641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2980"/>
                <a:gridCol w="4189729"/>
                <a:gridCol w="2045334"/>
              </a:tblGrid>
              <a:tr h="3429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SELECT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1905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828282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MIN(hire_date),</a:t>
                      </a:r>
                      <a:r>
                        <a:rPr dirty="0" sz="1800" spc="-8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 b="1">
                          <a:latin typeface="Courier New"/>
                          <a:cs typeface="Courier New"/>
                        </a:rPr>
                        <a:t>MAX(hire_date)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19050">
                    <a:lnL w="28575">
                      <a:solidFill>
                        <a:srgbClr val="828282"/>
                      </a:solidFill>
                      <a:prstDash val="solid"/>
                    </a:lnL>
                    <a:lnR w="28575">
                      <a:solidFill>
                        <a:srgbClr val="828282"/>
                      </a:solidFill>
                      <a:prstDash val="solid"/>
                    </a:lnR>
                    <a:lnT w="57150">
                      <a:solidFill>
                        <a:srgbClr val="828282"/>
                      </a:solidFill>
                      <a:prstDash val="solid"/>
                    </a:lnT>
                    <a:lnB w="28575">
                      <a:solidFill>
                        <a:srgbClr val="828282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28282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298450">
                <a:tc gridSpan="3">
                  <a:txBody>
                    <a:bodyPr/>
                    <a:lstStyle/>
                    <a:p>
                      <a:pPr marL="107314">
                        <a:lnSpc>
                          <a:spcPts val="1770"/>
                        </a:lnSpc>
                        <a:tabLst>
                          <a:tab pos="1064260" algn="l"/>
                        </a:tabLst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FROM	employees;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477770" y="1846529"/>
            <a:ext cx="41300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MI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N</a:t>
            </a:r>
            <a:r>
              <a:rPr dirty="0" sz="1800" spc="-59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MA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X</a:t>
            </a:r>
            <a:r>
              <a:rPr dirty="0" sz="1800" spc="-60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ata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typ</a:t>
            </a:r>
            <a:r>
              <a:rPr dirty="0" sz="1800" spc="3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90977" y="3190875"/>
            <a:ext cx="7191375" cy="457200"/>
            <a:chOff x="2490977" y="3190875"/>
            <a:chExt cx="7191375" cy="4572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0977" y="3190875"/>
              <a:ext cx="7190997" cy="4572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632710" y="3208781"/>
              <a:ext cx="6979920" cy="210820"/>
            </a:xfrm>
            <a:custGeom>
              <a:avLst/>
              <a:gdLst/>
              <a:ahLst/>
              <a:cxnLst/>
              <a:rect l="l" t="t" r="r" b="b"/>
              <a:pathLst>
                <a:path w="6979920" h="210820">
                  <a:moveTo>
                    <a:pt x="0" y="210312"/>
                  </a:moveTo>
                  <a:lnTo>
                    <a:pt x="6979920" y="210312"/>
                  </a:lnTo>
                  <a:lnTo>
                    <a:pt x="6979920" y="0"/>
                  </a:lnTo>
                  <a:lnTo>
                    <a:pt x="0" y="0"/>
                  </a:lnTo>
                  <a:lnTo>
                    <a:pt x="0" y="210312"/>
                  </a:lnTo>
                  <a:close/>
                </a:path>
              </a:pathLst>
            </a:custGeom>
            <a:ln w="25908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COUNT</a:t>
                      </a:r>
                      <a:r>
                        <a:rPr dirty="0" sz="2800" spc="-94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515616" y="2430779"/>
            <a:ext cx="7155180" cy="942340"/>
          </a:xfrm>
          <a:custGeom>
            <a:avLst/>
            <a:gdLst/>
            <a:ahLst/>
            <a:cxnLst/>
            <a:rect l="l" t="t" r="r" b="b"/>
            <a:pathLst>
              <a:path w="7155180" h="942339">
                <a:moveTo>
                  <a:pt x="7155180" y="0"/>
                </a:moveTo>
                <a:lnTo>
                  <a:pt x="7078726" y="0"/>
                </a:lnTo>
                <a:lnTo>
                  <a:pt x="7078726" y="12700"/>
                </a:lnTo>
                <a:lnTo>
                  <a:pt x="7078726" y="25400"/>
                </a:lnTo>
                <a:lnTo>
                  <a:pt x="7078726" y="866140"/>
                </a:lnTo>
                <a:lnTo>
                  <a:pt x="12954" y="866140"/>
                </a:lnTo>
                <a:lnTo>
                  <a:pt x="12954" y="916940"/>
                </a:lnTo>
                <a:lnTo>
                  <a:pt x="0" y="916940"/>
                </a:lnTo>
                <a:lnTo>
                  <a:pt x="0" y="942340"/>
                </a:lnTo>
                <a:lnTo>
                  <a:pt x="7155180" y="942340"/>
                </a:lnTo>
                <a:lnTo>
                  <a:pt x="7155180" y="916940"/>
                </a:lnTo>
                <a:lnTo>
                  <a:pt x="7155180" y="25400"/>
                </a:lnTo>
                <a:lnTo>
                  <a:pt x="71551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15616" y="329692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452116" y="2353817"/>
          <a:ext cx="7142480" cy="916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/>
                <a:gridCol w="1208405"/>
                <a:gridCol w="4930140"/>
              </a:tblGrid>
              <a:tr h="3429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SELECT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1968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828282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COUNT(*)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19685">
                    <a:lnL w="28575">
                      <a:solidFill>
                        <a:srgbClr val="828282"/>
                      </a:solidFill>
                      <a:prstDash val="solid"/>
                    </a:lnL>
                    <a:lnR w="28575">
                      <a:solidFill>
                        <a:srgbClr val="828282"/>
                      </a:solidFill>
                      <a:prstDash val="solid"/>
                    </a:lnR>
                    <a:lnT w="57150">
                      <a:solidFill>
                        <a:srgbClr val="828282"/>
                      </a:solidFill>
                      <a:prstDash val="solid"/>
                    </a:lnT>
                    <a:lnB w="28575">
                      <a:solidFill>
                        <a:srgbClr val="828282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28282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574040">
                <a:tc gridSpan="3">
                  <a:txBody>
                    <a:bodyPr/>
                    <a:lstStyle/>
                    <a:p>
                      <a:pPr marL="90805">
                        <a:lnSpc>
                          <a:spcPts val="1775"/>
                        </a:lnSpc>
                        <a:tabLst>
                          <a:tab pos="1047750" algn="l"/>
                        </a:tabLst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FROM	employees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tabLst>
                          <a:tab pos="1047750" algn="l"/>
                        </a:tabLst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WHERE	department_id</a:t>
                      </a:r>
                      <a:r>
                        <a:rPr dirty="0" sz="1800" spc="-5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800" spc="-4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 b="1">
                          <a:latin typeface="Courier New"/>
                          <a:cs typeface="Courier New"/>
                        </a:rPr>
                        <a:t>50;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477770" y="1846529"/>
            <a:ext cx="47282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COUNT(*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)</a:t>
            </a:r>
            <a:r>
              <a:rPr dirty="0" sz="1800" spc="-63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4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etu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umber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tabl</a:t>
            </a:r>
            <a:r>
              <a:rPr dirty="0" sz="1800" spc="3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1800">
              <a:latin typeface="Gill Sans MT"/>
              <a:cs typeface="Gill Sans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3357" y="3651165"/>
            <a:ext cx="7191375" cy="4578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COUNT</a:t>
                      </a:r>
                      <a:r>
                        <a:rPr dirty="0" sz="2800" spc="-94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49067" y="3332988"/>
            <a:ext cx="7218680" cy="1005840"/>
            <a:chOff x="2449067" y="3332988"/>
            <a:chExt cx="7218680" cy="1005840"/>
          </a:xfrm>
        </p:grpSpPr>
        <p:sp>
          <p:nvSpPr>
            <p:cNvPr id="4" name="object 4"/>
            <p:cNvSpPr/>
            <p:nvPr/>
          </p:nvSpPr>
          <p:spPr>
            <a:xfrm>
              <a:off x="2512568" y="3395979"/>
              <a:ext cx="7155180" cy="942340"/>
            </a:xfrm>
            <a:custGeom>
              <a:avLst/>
              <a:gdLst/>
              <a:ahLst/>
              <a:cxnLst/>
              <a:rect l="l" t="t" r="r" b="b"/>
              <a:pathLst>
                <a:path w="7155180" h="942339">
                  <a:moveTo>
                    <a:pt x="7155180" y="0"/>
                  </a:moveTo>
                  <a:lnTo>
                    <a:pt x="7078713" y="0"/>
                  </a:lnTo>
                  <a:lnTo>
                    <a:pt x="7078713" y="26670"/>
                  </a:lnTo>
                  <a:lnTo>
                    <a:pt x="7078726" y="866140"/>
                  </a:lnTo>
                  <a:lnTo>
                    <a:pt x="12954" y="866140"/>
                  </a:lnTo>
                  <a:lnTo>
                    <a:pt x="12954" y="916940"/>
                  </a:lnTo>
                  <a:lnTo>
                    <a:pt x="0" y="916940"/>
                  </a:lnTo>
                  <a:lnTo>
                    <a:pt x="0" y="942340"/>
                  </a:lnTo>
                  <a:lnTo>
                    <a:pt x="7155180" y="942340"/>
                  </a:lnTo>
                  <a:lnTo>
                    <a:pt x="7155180" y="916940"/>
                  </a:lnTo>
                  <a:lnTo>
                    <a:pt x="7155180" y="26670"/>
                  </a:lnTo>
                  <a:lnTo>
                    <a:pt x="71551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62021" y="3345942"/>
              <a:ext cx="7129780" cy="916305"/>
            </a:xfrm>
            <a:custGeom>
              <a:avLst/>
              <a:gdLst/>
              <a:ahLst/>
              <a:cxnLst/>
              <a:rect l="l" t="t" r="r" b="b"/>
              <a:pathLst>
                <a:path w="7129780" h="916304">
                  <a:moveTo>
                    <a:pt x="7129272" y="0"/>
                  </a:moveTo>
                  <a:lnTo>
                    <a:pt x="0" y="0"/>
                  </a:lnTo>
                  <a:lnTo>
                    <a:pt x="0" y="915923"/>
                  </a:lnTo>
                  <a:lnTo>
                    <a:pt x="7129272" y="915923"/>
                  </a:lnTo>
                  <a:lnTo>
                    <a:pt x="712927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62021" y="3345942"/>
              <a:ext cx="7129780" cy="916305"/>
            </a:xfrm>
            <a:custGeom>
              <a:avLst/>
              <a:gdLst/>
              <a:ahLst/>
              <a:cxnLst/>
              <a:rect l="l" t="t" r="r" b="b"/>
              <a:pathLst>
                <a:path w="7129780" h="916304">
                  <a:moveTo>
                    <a:pt x="0" y="915923"/>
                  </a:moveTo>
                  <a:lnTo>
                    <a:pt x="7129272" y="915923"/>
                  </a:lnTo>
                  <a:lnTo>
                    <a:pt x="7129272" y="0"/>
                  </a:lnTo>
                  <a:lnTo>
                    <a:pt x="0" y="0"/>
                  </a:lnTo>
                  <a:lnTo>
                    <a:pt x="0" y="91592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12567" y="426212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799"/>
                </a:moveTo>
                <a:lnTo>
                  <a:pt x="25907" y="50799"/>
                </a:lnTo>
                <a:lnTo>
                  <a:pt x="25907" y="0"/>
                </a:lnTo>
                <a:lnTo>
                  <a:pt x="0" y="0"/>
                </a:lnTo>
                <a:lnTo>
                  <a:pt x="0" y="50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77770" y="1905127"/>
            <a:ext cx="7098665" cy="1267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COUNT(</a:t>
            </a:r>
            <a:r>
              <a:rPr dirty="0" sz="1800" spc="-5" i="1">
                <a:solidFill>
                  <a:srgbClr val="3C3C3C"/>
                </a:solidFill>
                <a:latin typeface="Courier New"/>
                <a:cs typeface="Courier New"/>
              </a:rPr>
              <a:t>ex</a:t>
            </a:r>
            <a:r>
              <a:rPr dirty="0" sz="1800" spc="-15" i="1">
                <a:solidFill>
                  <a:srgbClr val="3C3C3C"/>
                </a:solidFill>
                <a:latin typeface="Courier New"/>
                <a:cs typeface="Courier New"/>
              </a:rPr>
              <a:t>p</a:t>
            </a:r>
            <a:r>
              <a:rPr dirty="0" sz="1800" i="1">
                <a:solidFill>
                  <a:srgbClr val="3C3C3C"/>
                </a:solidFill>
                <a:latin typeface="Courier New"/>
                <a:cs typeface="Courier New"/>
              </a:rPr>
              <a:t>r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)</a:t>
            </a:r>
            <a:r>
              <a:rPr dirty="0" sz="1800" spc="-62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4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eturns 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umber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wit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1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-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ull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endParaRPr sz="18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</a:pPr>
            <a:r>
              <a:rPr dirty="0" sz="1800" spc="-5" i="1">
                <a:solidFill>
                  <a:srgbClr val="3C3C3C"/>
                </a:solidFill>
                <a:latin typeface="Courier New"/>
                <a:cs typeface="Courier New"/>
              </a:rPr>
              <a:t>expr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1800">
              <a:latin typeface="Gill Sans MT"/>
              <a:cs typeface="Gill Sans MT"/>
            </a:endParaRPr>
          </a:p>
          <a:p>
            <a:pPr marL="317500" marR="499745" indent="-304800">
              <a:lnSpc>
                <a:spcPct val="105000"/>
              </a:lnSpc>
              <a:spcBef>
                <a:spcPts val="919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isp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dirty="0" sz="1800" spc="-7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umber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epa</a:t>
            </a:r>
            <a:r>
              <a:rPr dirty="0" sz="1800" spc="3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tm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 the</a:t>
            </a:r>
            <a:r>
              <a:rPr dirty="0" sz="18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EMPLOYEE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S</a:t>
            </a:r>
            <a:r>
              <a:rPr dirty="0" sz="1800" spc="-62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tabl</a:t>
            </a:r>
            <a:r>
              <a:rPr dirty="0" sz="1800" spc="3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, 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excluding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null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values.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78529" y="3391661"/>
            <a:ext cx="2932430" cy="280670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3815">
              <a:lnSpc>
                <a:spcPts val="1950"/>
              </a:lnSpc>
            </a:pPr>
            <a:r>
              <a:rPr dirty="0" sz="1800" spc="-10" b="1">
                <a:latin typeface="Courier New"/>
                <a:cs typeface="Courier New"/>
              </a:rPr>
              <a:t>COUNT(commission_pct)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53080" y="3352038"/>
            <a:ext cx="84518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SE</a:t>
            </a:r>
            <a:r>
              <a:rPr dirty="0" sz="1800" spc="-15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b="1">
                <a:latin typeface="Courier New"/>
                <a:cs typeface="Courier New"/>
              </a:rPr>
              <a:t>T  </a:t>
            </a:r>
            <a:r>
              <a:rPr dirty="0" sz="1800" spc="-10" b="1">
                <a:latin typeface="Courier New"/>
                <a:cs typeface="Courier New"/>
              </a:rPr>
              <a:t>FROM 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WHERE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09978" y="3626357"/>
            <a:ext cx="26174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employees 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department_id</a:t>
            </a:r>
            <a:r>
              <a:rPr dirty="0" sz="1800" spc="-5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-5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80;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9833" y="4511067"/>
            <a:ext cx="7190997" cy="4575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DISTINCT</a:t>
                      </a:r>
                      <a:r>
                        <a:rPr dirty="0" sz="2800" spc="-944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KEY</a:t>
                      </a:r>
                      <a:r>
                        <a:rPr dirty="0" sz="2800" spc="-10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W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ORD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661920" y="3257550"/>
            <a:ext cx="7213600" cy="692150"/>
          </a:xfrm>
          <a:custGeom>
            <a:avLst/>
            <a:gdLst/>
            <a:ahLst/>
            <a:cxnLst/>
            <a:rect l="l" t="t" r="r" b="b"/>
            <a:pathLst>
              <a:path w="7213600" h="692150">
                <a:moveTo>
                  <a:pt x="7213092" y="0"/>
                </a:moveTo>
                <a:lnTo>
                  <a:pt x="7136638" y="0"/>
                </a:lnTo>
                <a:lnTo>
                  <a:pt x="7136638" y="12700"/>
                </a:lnTo>
                <a:lnTo>
                  <a:pt x="7136638" y="26670"/>
                </a:lnTo>
                <a:lnTo>
                  <a:pt x="7136638" y="615950"/>
                </a:lnTo>
                <a:lnTo>
                  <a:pt x="12954" y="615950"/>
                </a:lnTo>
                <a:lnTo>
                  <a:pt x="12954" y="666750"/>
                </a:lnTo>
                <a:lnTo>
                  <a:pt x="0" y="666750"/>
                </a:lnTo>
                <a:lnTo>
                  <a:pt x="0" y="692150"/>
                </a:lnTo>
                <a:lnTo>
                  <a:pt x="7213092" y="692150"/>
                </a:lnTo>
                <a:lnTo>
                  <a:pt x="7213092" y="666750"/>
                </a:lnTo>
                <a:lnTo>
                  <a:pt x="7213092" y="26670"/>
                </a:lnTo>
                <a:lnTo>
                  <a:pt x="72130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661920" y="387350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98420" y="3194304"/>
          <a:ext cx="7200265" cy="665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9490"/>
                <a:gridCol w="4059554"/>
                <a:gridCol w="2127249"/>
              </a:tblGrid>
              <a:tr h="310515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SELECT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190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828282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COUNT(DISTINCT</a:t>
                      </a:r>
                      <a:r>
                        <a:rPr dirty="0" sz="1800" spc="-7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 b="1">
                          <a:latin typeface="Courier New"/>
                          <a:cs typeface="Courier New"/>
                        </a:rPr>
                        <a:t>department_id)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1905">
                    <a:lnL w="28575">
                      <a:solidFill>
                        <a:srgbClr val="828282"/>
                      </a:solidFill>
                      <a:prstDash val="solid"/>
                    </a:lnL>
                    <a:lnR w="28575">
                      <a:solidFill>
                        <a:srgbClr val="828282"/>
                      </a:solidFill>
                      <a:prstDash val="solid"/>
                    </a:lnR>
                    <a:lnT w="28575">
                      <a:solidFill>
                        <a:srgbClr val="828282"/>
                      </a:solidFill>
                      <a:prstDash val="solid"/>
                    </a:lnT>
                    <a:lnB w="28575">
                      <a:solidFill>
                        <a:srgbClr val="828282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28282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54965">
                <a:tc gridSpan="3">
                  <a:txBody>
                    <a:bodyPr/>
                    <a:lstStyle/>
                    <a:p>
                      <a:pPr marL="122555">
                        <a:lnSpc>
                          <a:spcPts val="1889"/>
                        </a:lnSpc>
                        <a:tabLst>
                          <a:tab pos="1079500" algn="l"/>
                        </a:tabLst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FROM	employees;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477770" y="1873758"/>
            <a:ext cx="6777355" cy="1212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marR="34925" indent="-304800">
              <a:lnSpc>
                <a:spcPct val="100000"/>
              </a:lnSpc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COUNT(DISTINCT</a:t>
            </a:r>
            <a:r>
              <a:rPr dirty="0" sz="1800" spc="-4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expr)</a:t>
            </a:r>
            <a:r>
              <a:rPr dirty="0" sz="1800" spc="-60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returns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number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distinct non-null </a:t>
            </a:r>
            <a:r>
              <a:rPr dirty="0" sz="1800" spc="-484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values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1800" spc="-5" i="1">
                <a:solidFill>
                  <a:srgbClr val="3C3C3C"/>
                </a:solidFill>
                <a:latin typeface="Courier New"/>
                <a:cs typeface="Courier New"/>
              </a:rPr>
              <a:t>expr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6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Display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number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distinct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department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values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table.</a:t>
            </a:r>
            <a:endParaRPr sz="1800">
              <a:latin typeface="Gill Sans MT"/>
              <a:cs typeface="Gill Sans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9184" y="4080890"/>
            <a:ext cx="71906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</a:t>
                      </a:r>
                      <a:r>
                        <a:rPr dirty="0" sz="2800" spc="-17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OU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P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N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</a:t>
                      </a:r>
                      <a:r>
                        <a:rPr dirty="0" sz="2800" spc="-25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AND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NU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L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L</a:t>
                      </a:r>
                      <a:r>
                        <a:rPr dirty="0" sz="2800" spc="-409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229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V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L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UES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64307" y="2366772"/>
            <a:ext cx="7221855" cy="730885"/>
            <a:chOff x="2464307" y="2366772"/>
            <a:chExt cx="7221855" cy="730885"/>
          </a:xfrm>
        </p:grpSpPr>
        <p:sp>
          <p:nvSpPr>
            <p:cNvPr id="4" name="object 4"/>
            <p:cNvSpPr/>
            <p:nvPr/>
          </p:nvSpPr>
          <p:spPr>
            <a:xfrm>
              <a:off x="2527808" y="2430779"/>
              <a:ext cx="7158355" cy="666750"/>
            </a:xfrm>
            <a:custGeom>
              <a:avLst/>
              <a:gdLst/>
              <a:ahLst/>
              <a:cxnLst/>
              <a:rect l="l" t="t" r="r" b="b"/>
              <a:pathLst>
                <a:path w="7158355" h="666750">
                  <a:moveTo>
                    <a:pt x="7158228" y="0"/>
                  </a:moveTo>
                  <a:lnTo>
                    <a:pt x="7081774" y="0"/>
                  </a:lnTo>
                  <a:lnTo>
                    <a:pt x="7081774" y="12700"/>
                  </a:lnTo>
                  <a:lnTo>
                    <a:pt x="7081774" y="25400"/>
                  </a:lnTo>
                  <a:lnTo>
                    <a:pt x="7081774" y="590550"/>
                  </a:lnTo>
                  <a:lnTo>
                    <a:pt x="12954" y="590550"/>
                  </a:lnTo>
                  <a:lnTo>
                    <a:pt x="12954" y="641350"/>
                  </a:lnTo>
                  <a:lnTo>
                    <a:pt x="0" y="641350"/>
                  </a:lnTo>
                  <a:lnTo>
                    <a:pt x="0" y="666750"/>
                  </a:lnTo>
                  <a:lnTo>
                    <a:pt x="7158228" y="666750"/>
                  </a:lnTo>
                  <a:lnTo>
                    <a:pt x="7158228" y="641350"/>
                  </a:lnTo>
                  <a:lnTo>
                    <a:pt x="7158228" y="25400"/>
                  </a:lnTo>
                  <a:lnTo>
                    <a:pt x="71582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77261" y="2379726"/>
              <a:ext cx="7132320" cy="641985"/>
            </a:xfrm>
            <a:custGeom>
              <a:avLst/>
              <a:gdLst/>
              <a:ahLst/>
              <a:cxnLst/>
              <a:rect l="l" t="t" r="r" b="b"/>
              <a:pathLst>
                <a:path w="7132320" h="641985">
                  <a:moveTo>
                    <a:pt x="7132320" y="0"/>
                  </a:moveTo>
                  <a:lnTo>
                    <a:pt x="0" y="0"/>
                  </a:lnTo>
                  <a:lnTo>
                    <a:pt x="0" y="641603"/>
                  </a:lnTo>
                  <a:lnTo>
                    <a:pt x="7132320" y="641603"/>
                  </a:lnTo>
                  <a:lnTo>
                    <a:pt x="713232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77261" y="2379726"/>
              <a:ext cx="7132320" cy="641985"/>
            </a:xfrm>
            <a:custGeom>
              <a:avLst/>
              <a:gdLst/>
              <a:ahLst/>
              <a:cxnLst/>
              <a:rect l="l" t="t" r="r" b="b"/>
              <a:pathLst>
                <a:path w="7132320" h="641985">
                  <a:moveTo>
                    <a:pt x="0" y="641603"/>
                  </a:moveTo>
                  <a:lnTo>
                    <a:pt x="7132320" y="641603"/>
                  </a:lnTo>
                  <a:lnTo>
                    <a:pt x="7132320" y="0"/>
                  </a:lnTo>
                  <a:lnTo>
                    <a:pt x="0" y="0"/>
                  </a:lnTo>
                  <a:lnTo>
                    <a:pt x="0" y="64160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27807" y="3021329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8" y="50800"/>
                </a:lnTo>
                <a:lnTo>
                  <a:pt x="25908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586734" y="2465070"/>
            <a:ext cx="2731135" cy="280670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2235">
              <a:lnSpc>
                <a:spcPts val="1960"/>
              </a:lnSpc>
            </a:pPr>
            <a:r>
              <a:rPr dirty="0" sz="1800" spc="-10" b="1">
                <a:latin typeface="Courier New"/>
                <a:cs typeface="Courier New"/>
              </a:rPr>
              <a:t>AVG(commission_pct)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19832" y="2426970"/>
            <a:ext cx="8451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SE</a:t>
            </a:r>
            <a:r>
              <a:rPr dirty="0" sz="1800" spc="-15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b="1">
                <a:latin typeface="Courier New"/>
                <a:cs typeface="Courier New"/>
              </a:rPr>
              <a:t>T  </a:t>
            </a:r>
            <a:r>
              <a:rPr dirty="0" sz="1800" spc="-10" b="1"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76729" y="2701290"/>
            <a:ext cx="13893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m</a:t>
            </a:r>
            <a:r>
              <a:rPr dirty="0" sz="1800" spc="-15" b="1">
                <a:latin typeface="Courier New"/>
                <a:cs typeface="Courier New"/>
              </a:rPr>
              <a:t>pl</a:t>
            </a:r>
            <a:r>
              <a:rPr dirty="0" sz="1800" spc="-5" b="1">
                <a:latin typeface="Courier New"/>
                <a:cs typeface="Courier New"/>
              </a:rPr>
              <a:t>oy</a:t>
            </a:r>
            <a:r>
              <a:rPr dirty="0" sz="1800" spc="-15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s</a:t>
            </a:r>
            <a:r>
              <a:rPr dirty="0" sz="1800" b="1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77770" y="1860245"/>
            <a:ext cx="45866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Group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ignore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null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values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column.</a:t>
            </a:r>
            <a:endParaRPr sz="1800">
              <a:latin typeface="Gill Sans MT"/>
              <a:cs typeface="Gill Sans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6025" y="3200061"/>
            <a:ext cx="7191375" cy="4578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 marL="268605" marR="6303645">
                        <a:lnSpc>
                          <a:spcPct val="105000"/>
                        </a:lnSpc>
                        <a:spcBef>
                          <a:spcPts val="1885"/>
                        </a:spcBef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NVL</a:t>
                      </a:r>
                      <a:r>
                        <a:rPr dirty="0" sz="2800" spc="-9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 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dirty="0" sz="2800" spc="-3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4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GROUP</a:t>
                      </a:r>
                      <a:r>
                        <a:rPr dirty="0" sz="2800" spc="-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23939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547620" y="328930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2484056" y="2636456"/>
            <a:ext cx="7225030" cy="729615"/>
            <a:chOff x="2484056" y="2636456"/>
            <a:chExt cx="7225030" cy="729615"/>
          </a:xfrm>
        </p:grpSpPr>
        <p:sp>
          <p:nvSpPr>
            <p:cNvPr id="5" name="object 5"/>
            <p:cNvSpPr/>
            <p:nvPr/>
          </p:nvSpPr>
          <p:spPr>
            <a:xfrm>
              <a:off x="2547620" y="2700019"/>
              <a:ext cx="7161530" cy="665480"/>
            </a:xfrm>
            <a:custGeom>
              <a:avLst/>
              <a:gdLst/>
              <a:ahLst/>
              <a:cxnLst/>
              <a:rect l="l" t="t" r="r" b="b"/>
              <a:pathLst>
                <a:path w="7161530" h="665479">
                  <a:moveTo>
                    <a:pt x="7161276" y="0"/>
                  </a:moveTo>
                  <a:lnTo>
                    <a:pt x="7084822" y="0"/>
                  </a:lnTo>
                  <a:lnTo>
                    <a:pt x="7084822" y="12700"/>
                  </a:lnTo>
                  <a:lnTo>
                    <a:pt x="7084822" y="25400"/>
                  </a:lnTo>
                  <a:lnTo>
                    <a:pt x="7084822" y="589280"/>
                  </a:lnTo>
                  <a:lnTo>
                    <a:pt x="12954" y="589280"/>
                  </a:lnTo>
                  <a:lnTo>
                    <a:pt x="12954" y="640080"/>
                  </a:lnTo>
                  <a:lnTo>
                    <a:pt x="0" y="640080"/>
                  </a:lnTo>
                  <a:lnTo>
                    <a:pt x="0" y="665480"/>
                  </a:lnTo>
                  <a:lnTo>
                    <a:pt x="7161276" y="665480"/>
                  </a:lnTo>
                  <a:lnTo>
                    <a:pt x="7161276" y="640080"/>
                  </a:lnTo>
                  <a:lnTo>
                    <a:pt x="7161276" y="25400"/>
                  </a:lnTo>
                  <a:lnTo>
                    <a:pt x="71612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97074" y="2649474"/>
              <a:ext cx="7135495" cy="640080"/>
            </a:xfrm>
            <a:custGeom>
              <a:avLst/>
              <a:gdLst/>
              <a:ahLst/>
              <a:cxnLst/>
              <a:rect l="l" t="t" r="r" b="b"/>
              <a:pathLst>
                <a:path w="7135495" h="640079">
                  <a:moveTo>
                    <a:pt x="7135368" y="0"/>
                  </a:moveTo>
                  <a:lnTo>
                    <a:pt x="0" y="0"/>
                  </a:lnTo>
                  <a:lnTo>
                    <a:pt x="0" y="640079"/>
                  </a:lnTo>
                  <a:lnTo>
                    <a:pt x="7135368" y="640079"/>
                  </a:lnTo>
                  <a:lnTo>
                    <a:pt x="713536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97074" y="2649474"/>
              <a:ext cx="7135495" cy="640080"/>
            </a:xfrm>
            <a:custGeom>
              <a:avLst/>
              <a:gdLst/>
              <a:ahLst/>
              <a:cxnLst/>
              <a:rect l="l" t="t" r="r" b="b"/>
              <a:pathLst>
                <a:path w="7135495" h="640079">
                  <a:moveTo>
                    <a:pt x="0" y="640079"/>
                  </a:moveTo>
                  <a:lnTo>
                    <a:pt x="7135368" y="640079"/>
                  </a:lnTo>
                  <a:lnTo>
                    <a:pt x="7135368" y="0"/>
                  </a:lnTo>
                  <a:lnTo>
                    <a:pt x="0" y="0"/>
                  </a:lnTo>
                  <a:lnTo>
                    <a:pt x="0" y="64007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477770" y="1740959"/>
            <a:ext cx="4786630" cy="149161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NV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L</a:t>
            </a:r>
            <a:r>
              <a:rPr dirty="0" sz="1800" spc="-59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-5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ces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g</a:t>
            </a:r>
            <a:r>
              <a:rPr dirty="0" sz="1800" spc="-5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oup functions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lude</a:t>
            </a:r>
            <a:endParaRPr sz="18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null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values.</a:t>
            </a:r>
            <a:endParaRPr sz="1800">
              <a:latin typeface="Gill Sans MT"/>
              <a:cs typeface="Gill Sans MT"/>
            </a:endParaRPr>
          </a:p>
          <a:p>
            <a:pPr marL="108585" marR="30480">
              <a:lnSpc>
                <a:spcPct val="100000"/>
              </a:lnSpc>
              <a:spcBef>
                <a:spcPts val="1490"/>
              </a:spcBef>
              <a:tabLst>
                <a:tab pos="1065530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 AVG(NVL(commission_pct, 0))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FROM	employees;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5361" y="3593168"/>
            <a:ext cx="7190997" cy="456522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515105" y="2690622"/>
            <a:ext cx="3693160" cy="280670"/>
          </a:xfrm>
          <a:custGeom>
            <a:avLst/>
            <a:gdLst/>
            <a:ahLst/>
            <a:cxnLst/>
            <a:rect l="l" t="t" r="r" b="b"/>
            <a:pathLst>
              <a:path w="3693159" h="280669">
                <a:moveTo>
                  <a:pt x="0" y="280415"/>
                </a:moveTo>
                <a:lnTo>
                  <a:pt x="3692652" y="280415"/>
                </a:lnTo>
                <a:lnTo>
                  <a:pt x="3692652" y="0"/>
                </a:lnTo>
                <a:lnTo>
                  <a:pt x="0" y="0"/>
                </a:lnTo>
                <a:lnTo>
                  <a:pt x="0" y="280415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 marL="1753235">
                        <a:lnSpc>
                          <a:spcPct val="100000"/>
                        </a:lnSpc>
                        <a:spcBef>
                          <a:spcPts val="2755"/>
                        </a:spcBef>
                      </a:pPr>
                      <a:r>
                        <a:rPr dirty="0" sz="2800" spc="-4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CREATING</a:t>
                      </a:r>
                      <a:r>
                        <a:rPr dirty="0" sz="2800" spc="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GROUPS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OF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8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DATA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34988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5567171" y="2378964"/>
            <a:ext cx="1778635" cy="4137660"/>
          </a:xfrm>
          <a:custGeom>
            <a:avLst/>
            <a:gdLst/>
            <a:ahLst/>
            <a:cxnLst/>
            <a:rect l="l" t="t" r="r" b="b"/>
            <a:pathLst>
              <a:path w="1778634" h="4137659">
                <a:moveTo>
                  <a:pt x="0" y="0"/>
                </a:moveTo>
                <a:lnTo>
                  <a:pt x="0" y="4137596"/>
                </a:lnTo>
                <a:lnTo>
                  <a:pt x="1778507" y="2935732"/>
                </a:lnTo>
                <a:lnTo>
                  <a:pt x="1778507" y="1176527"/>
                </a:lnTo>
                <a:lnTo>
                  <a:pt x="0" y="0"/>
                </a:lnTo>
                <a:close/>
              </a:path>
            </a:pathLst>
          </a:custGeom>
          <a:solidFill>
            <a:srgbClr val="FFCC99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06827" y="2009648"/>
            <a:ext cx="1397000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solidFill>
                  <a:srgbClr val="000000"/>
                </a:solidFill>
                <a:latin typeface="Courier New"/>
                <a:cs typeface="Courier New"/>
              </a:rPr>
              <a:t>EMPLOYEES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41211" y="2954782"/>
            <a:ext cx="433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T</a:t>
            </a:r>
            <a:r>
              <a:rPr dirty="0" sz="1800" spc="5" b="1">
                <a:latin typeface="Arial"/>
                <a:cs typeface="Arial"/>
              </a:rPr>
              <a:t>h</a:t>
            </a:r>
            <a:r>
              <a:rPr dirty="0" sz="1800" spc="-5" b="1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7203" y="4326763"/>
            <a:ext cx="559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table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01461" y="2594813"/>
            <a:ext cx="36703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4400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40088" y="2407545"/>
            <a:ext cx="3097530" cy="4018279"/>
            <a:chOff x="2440088" y="2407545"/>
            <a:chExt cx="3097530" cy="4018279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0022" y="2407545"/>
              <a:ext cx="3067050" cy="36107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0088" y="6328178"/>
              <a:ext cx="970670" cy="9740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407157" y="5873292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07580" y="3457955"/>
            <a:ext cx="2095500" cy="1981200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844545" y="2641854"/>
            <a:ext cx="2662555" cy="573405"/>
          </a:xfrm>
          <a:custGeom>
            <a:avLst/>
            <a:gdLst/>
            <a:ahLst/>
            <a:cxnLst/>
            <a:rect l="l" t="t" r="r" b="b"/>
            <a:pathLst>
              <a:path w="2662554" h="573405">
                <a:moveTo>
                  <a:pt x="0" y="172212"/>
                </a:moveTo>
                <a:lnTo>
                  <a:pt x="2662428" y="172212"/>
                </a:lnTo>
                <a:lnTo>
                  <a:pt x="2662428" y="0"/>
                </a:lnTo>
                <a:lnTo>
                  <a:pt x="0" y="0"/>
                </a:lnTo>
                <a:lnTo>
                  <a:pt x="0" y="172212"/>
                </a:lnTo>
                <a:close/>
              </a:path>
              <a:path w="2662554" h="573405">
                <a:moveTo>
                  <a:pt x="0" y="573024"/>
                </a:moveTo>
                <a:lnTo>
                  <a:pt x="2662428" y="573024"/>
                </a:lnTo>
                <a:lnTo>
                  <a:pt x="2662428" y="248412"/>
                </a:lnTo>
                <a:lnTo>
                  <a:pt x="0" y="248412"/>
                </a:lnTo>
                <a:lnTo>
                  <a:pt x="0" y="573024"/>
                </a:lnTo>
                <a:close/>
              </a:path>
            </a:pathLst>
          </a:custGeom>
          <a:ln w="25908">
            <a:solidFill>
              <a:srgbClr val="FF505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831592" y="3279647"/>
          <a:ext cx="2701290" cy="2649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2555"/>
              </a:tblGrid>
              <a:tr h="1022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T w="28575">
                      <a:solidFill>
                        <a:srgbClr val="FF5050"/>
                      </a:solidFill>
                      <a:prstDash val="solid"/>
                    </a:lnT>
                    <a:lnB w="28575">
                      <a:solidFill>
                        <a:srgbClr val="FF5050"/>
                      </a:solidFill>
                      <a:prstDash val="solid"/>
                    </a:lnB>
                  </a:tcPr>
                </a:tc>
              </a:tr>
              <a:tr h="629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T w="28575">
                      <a:solidFill>
                        <a:srgbClr val="FF5050"/>
                      </a:solidFill>
                      <a:prstDash val="solid"/>
                    </a:lnT>
                    <a:lnB w="28575">
                      <a:solidFill>
                        <a:srgbClr val="FF5050"/>
                      </a:solidFill>
                      <a:prstDash val="solid"/>
                    </a:lnB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T w="28575">
                      <a:solidFill>
                        <a:srgbClr val="FF5050"/>
                      </a:solidFill>
                      <a:prstDash val="solid"/>
                    </a:lnT>
                    <a:lnB w="28575">
                      <a:solidFill>
                        <a:srgbClr val="FF5050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T w="28575">
                      <a:solidFill>
                        <a:srgbClr val="FF5050"/>
                      </a:solidFill>
                      <a:prstDash val="solid"/>
                    </a:lnT>
                    <a:lnB w="28575">
                      <a:solidFill>
                        <a:srgbClr val="FF505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01461" y="2952064"/>
            <a:ext cx="36703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9500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76061" y="3228797"/>
            <a:ext cx="1466215" cy="1102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59385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latin typeface="Arial"/>
                <a:cs typeface="Arial"/>
              </a:rPr>
              <a:t>average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dirty="0" baseline="-34722" sz="1800" spc="-7" b="1">
                <a:latin typeface="Arial"/>
                <a:cs typeface="Arial"/>
              </a:rPr>
              <a:t>3500</a:t>
            </a:r>
            <a:r>
              <a:rPr dirty="0" baseline="-34722" sz="1800" spc="27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salary</a:t>
            </a:r>
            <a:endParaRPr sz="1800">
              <a:latin typeface="Arial"/>
              <a:cs typeface="Arial"/>
            </a:endParaRPr>
          </a:p>
          <a:p>
            <a:pPr algn="ctr" marL="94615">
              <a:lnSpc>
                <a:spcPts val="2075"/>
              </a:lnSpc>
            </a:pPr>
            <a:r>
              <a:rPr dirty="0" sz="1800" b="1">
                <a:latin typeface="Arial"/>
                <a:cs typeface="Arial"/>
              </a:rPr>
              <a:t>in</a:t>
            </a:r>
            <a:endParaRPr sz="1800">
              <a:latin typeface="Arial"/>
              <a:cs typeface="Arial"/>
            </a:endParaRPr>
          </a:p>
          <a:p>
            <a:pPr algn="ctr" marL="160020">
              <a:lnSpc>
                <a:spcPts val="2075"/>
              </a:lnSpc>
            </a:pPr>
            <a:r>
              <a:rPr dirty="0" sz="1800" spc="-10" b="1"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01461" y="4481576"/>
            <a:ext cx="367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6400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01461" y="4601082"/>
            <a:ext cx="1453515" cy="777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98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for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each</a:t>
            </a:r>
            <a:endParaRPr sz="1800">
              <a:latin typeface="Arial"/>
              <a:cs typeface="Arial"/>
            </a:endParaRPr>
          </a:p>
          <a:p>
            <a:pPr marL="133350">
              <a:lnSpc>
                <a:spcPct val="100000"/>
              </a:lnSpc>
            </a:pPr>
            <a:r>
              <a:rPr dirty="0" sz="1800" spc="-5" b="1">
                <a:latin typeface="Arial"/>
                <a:cs typeface="Arial"/>
              </a:rPr>
              <a:t>department.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200" spc="-5" b="1">
                <a:latin typeface="Arial"/>
                <a:cs typeface="Arial"/>
              </a:rPr>
              <a:t>10033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 marL="1592580" marR="4714875">
                        <a:lnSpc>
                          <a:spcPts val="2860"/>
                        </a:lnSpc>
                        <a:spcBef>
                          <a:spcPts val="455"/>
                        </a:spcBef>
                      </a:pPr>
                      <a:r>
                        <a:rPr dirty="0" sz="2500" spc="-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CREATING</a:t>
                      </a:r>
                      <a:r>
                        <a:rPr dirty="0" sz="2500" spc="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500" spc="-3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GROUPS</a:t>
                      </a:r>
                      <a:r>
                        <a:rPr dirty="0" sz="2500" spc="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5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OF</a:t>
                      </a:r>
                      <a:r>
                        <a:rPr dirty="0" sz="2500" spc="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500" spc="-13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DATA: </a:t>
                      </a:r>
                      <a:r>
                        <a:rPr dirty="0" sz="2500" spc="-1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5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2500" spc="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H</a:t>
                      </a:r>
                      <a:r>
                        <a:rPr dirty="0" sz="25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2500" spc="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GROUP</a:t>
                      </a:r>
                      <a:r>
                        <a:rPr dirty="0" sz="2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BY</a:t>
                      </a:r>
                      <a:r>
                        <a:rPr dirty="0" sz="2500" spc="-80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5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CL</a:t>
                      </a:r>
                      <a:r>
                        <a:rPr dirty="0" sz="2500" spc="-5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5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USE</a:t>
                      </a:r>
                      <a:r>
                        <a:rPr dirty="0" sz="2500" spc="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5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SYN</a:t>
                      </a:r>
                      <a:r>
                        <a:rPr dirty="0" sz="2500" spc="-254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25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AX</a:t>
                      </a:r>
                      <a:endParaRPr sz="2500">
                        <a:latin typeface="Gill Sans MT"/>
                        <a:cs typeface="Gill Sans MT"/>
                      </a:endParaRPr>
                    </a:p>
                  </a:txBody>
                  <a:tcPr marL="0" marR="0" marB="0" marT="5778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73388" y="2366708"/>
            <a:ext cx="7258684" cy="1555115"/>
            <a:chOff x="2473388" y="2366708"/>
            <a:chExt cx="7258684" cy="1555115"/>
          </a:xfrm>
        </p:grpSpPr>
        <p:sp>
          <p:nvSpPr>
            <p:cNvPr id="4" name="object 4"/>
            <p:cNvSpPr/>
            <p:nvPr/>
          </p:nvSpPr>
          <p:spPr>
            <a:xfrm>
              <a:off x="2536952" y="2430779"/>
              <a:ext cx="7195184" cy="1490980"/>
            </a:xfrm>
            <a:custGeom>
              <a:avLst/>
              <a:gdLst/>
              <a:ahLst/>
              <a:cxnLst/>
              <a:rect l="l" t="t" r="r" b="b"/>
              <a:pathLst>
                <a:path w="7195184" h="1490979">
                  <a:moveTo>
                    <a:pt x="7194804" y="0"/>
                  </a:moveTo>
                  <a:lnTo>
                    <a:pt x="7118350" y="0"/>
                  </a:lnTo>
                  <a:lnTo>
                    <a:pt x="7118350" y="12700"/>
                  </a:lnTo>
                  <a:lnTo>
                    <a:pt x="7118350" y="25400"/>
                  </a:lnTo>
                  <a:lnTo>
                    <a:pt x="7118350" y="1414780"/>
                  </a:lnTo>
                  <a:lnTo>
                    <a:pt x="12954" y="1414780"/>
                  </a:lnTo>
                  <a:lnTo>
                    <a:pt x="12954" y="1465580"/>
                  </a:lnTo>
                  <a:lnTo>
                    <a:pt x="0" y="1465580"/>
                  </a:lnTo>
                  <a:lnTo>
                    <a:pt x="0" y="1490980"/>
                  </a:lnTo>
                  <a:lnTo>
                    <a:pt x="7194804" y="1490980"/>
                  </a:lnTo>
                  <a:lnTo>
                    <a:pt x="7194804" y="1465580"/>
                  </a:lnTo>
                  <a:lnTo>
                    <a:pt x="7194804" y="25400"/>
                  </a:lnTo>
                  <a:lnTo>
                    <a:pt x="71948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86406" y="2379725"/>
              <a:ext cx="7169150" cy="1466215"/>
            </a:xfrm>
            <a:custGeom>
              <a:avLst/>
              <a:gdLst/>
              <a:ahLst/>
              <a:cxnLst/>
              <a:rect l="l" t="t" r="r" b="b"/>
              <a:pathLst>
                <a:path w="7169150" h="1466214">
                  <a:moveTo>
                    <a:pt x="7168896" y="0"/>
                  </a:moveTo>
                  <a:lnTo>
                    <a:pt x="0" y="0"/>
                  </a:lnTo>
                  <a:lnTo>
                    <a:pt x="0" y="1466088"/>
                  </a:lnTo>
                  <a:lnTo>
                    <a:pt x="7168896" y="1466088"/>
                  </a:lnTo>
                  <a:lnTo>
                    <a:pt x="716889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86406" y="2379725"/>
              <a:ext cx="7169150" cy="1466215"/>
            </a:xfrm>
            <a:custGeom>
              <a:avLst/>
              <a:gdLst/>
              <a:ahLst/>
              <a:cxnLst/>
              <a:rect l="l" t="t" r="r" b="b"/>
              <a:pathLst>
                <a:path w="7169150" h="1466214">
                  <a:moveTo>
                    <a:pt x="0" y="1466088"/>
                  </a:moveTo>
                  <a:lnTo>
                    <a:pt x="7168896" y="1466088"/>
                  </a:lnTo>
                  <a:lnTo>
                    <a:pt x="7168896" y="0"/>
                  </a:lnTo>
                  <a:lnTo>
                    <a:pt x="0" y="0"/>
                  </a:lnTo>
                  <a:lnTo>
                    <a:pt x="0" y="146608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36951" y="3845559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8" y="50800"/>
                </a:lnTo>
                <a:lnTo>
                  <a:pt x="25908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40254" y="2386965"/>
            <a:ext cx="84518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SE</a:t>
            </a:r>
            <a:r>
              <a:rPr dirty="0" sz="1800" spc="-15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b="1">
                <a:latin typeface="Courier New"/>
                <a:cs typeface="Courier New"/>
              </a:rPr>
              <a:t>T  </a:t>
            </a:r>
            <a:r>
              <a:rPr dirty="0" sz="1800" spc="-10" b="1">
                <a:latin typeface="Courier New"/>
                <a:cs typeface="Courier New"/>
              </a:rPr>
              <a:t>FROM </a:t>
            </a:r>
            <a:r>
              <a:rPr dirty="0" sz="1800" spc="-5" b="1">
                <a:latin typeface="Courier New"/>
                <a:cs typeface="Courier New"/>
              </a:rPr>
              <a:t> [W</a:t>
            </a:r>
            <a:r>
              <a:rPr dirty="0" sz="1800" spc="-15" b="1">
                <a:latin typeface="Courier New"/>
                <a:cs typeface="Courier New"/>
              </a:rPr>
              <a:t>H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R</a:t>
            </a:r>
            <a:r>
              <a:rPr dirty="0" sz="1800" b="1">
                <a:latin typeface="Courier New"/>
                <a:cs typeface="Courier New"/>
              </a:rPr>
              <a:t>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74007" y="2386965"/>
            <a:ext cx="412178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 i="1">
                <a:latin typeface="Courier New"/>
                <a:cs typeface="Courier New"/>
              </a:rPr>
              <a:t>column</a:t>
            </a:r>
            <a:r>
              <a:rPr dirty="0" sz="1800" spc="-10" b="1">
                <a:latin typeface="Courier New"/>
                <a:cs typeface="Courier New"/>
              </a:rPr>
              <a:t>, </a:t>
            </a:r>
            <a:r>
              <a:rPr dirty="0" sz="1800" spc="-10" b="1" i="1">
                <a:latin typeface="Courier New"/>
                <a:cs typeface="Courier New"/>
              </a:rPr>
              <a:t>group_function(column) </a:t>
            </a:r>
            <a:r>
              <a:rPr dirty="0" sz="1800" spc="-1070" b="1" i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table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 i="1">
                <a:latin typeface="Courier New"/>
                <a:cs typeface="Courier New"/>
              </a:rPr>
              <a:t>condition</a:t>
            </a:r>
            <a:r>
              <a:rPr dirty="0" sz="1800" spc="-10" b="1"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40254" y="3209925"/>
            <a:ext cx="12553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[GROUP</a:t>
            </a:r>
            <a:r>
              <a:rPr dirty="0" sz="1800" spc="-8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BY </a:t>
            </a:r>
            <a:r>
              <a:rPr dirty="0" sz="1800" spc="-106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[ORDER</a:t>
            </a:r>
            <a:r>
              <a:rPr dirty="0" sz="1800" spc="-8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BY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74007" y="3209925"/>
            <a:ext cx="27571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latin typeface="Courier New"/>
                <a:cs typeface="Courier New"/>
              </a:rPr>
              <a:t>gr</a:t>
            </a:r>
            <a:r>
              <a:rPr dirty="0" sz="1800" spc="-15" b="1" i="1">
                <a:latin typeface="Courier New"/>
                <a:cs typeface="Courier New"/>
              </a:rPr>
              <a:t>o</a:t>
            </a:r>
            <a:r>
              <a:rPr dirty="0" sz="1800" spc="-5" b="1" i="1">
                <a:latin typeface="Courier New"/>
                <a:cs typeface="Courier New"/>
              </a:rPr>
              <a:t>u</a:t>
            </a:r>
            <a:r>
              <a:rPr dirty="0" sz="1800" spc="-15" b="1" i="1">
                <a:latin typeface="Courier New"/>
                <a:cs typeface="Courier New"/>
              </a:rPr>
              <a:t>p</a:t>
            </a:r>
            <a:r>
              <a:rPr dirty="0" sz="1800" spc="-5" b="1" i="1">
                <a:latin typeface="Courier New"/>
                <a:cs typeface="Courier New"/>
              </a:rPr>
              <a:t>_b</a:t>
            </a:r>
            <a:r>
              <a:rPr dirty="0" sz="1800" spc="-15" b="1" i="1">
                <a:latin typeface="Courier New"/>
                <a:cs typeface="Courier New"/>
              </a:rPr>
              <a:t>y</a:t>
            </a:r>
            <a:r>
              <a:rPr dirty="0" sz="1800" spc="-5" b="1" i="1">
                <a:latin typeface="Courier New"/>
                <a:cs typeface="Courier New"/>
              </a:rPr>
              <a:t>_</a:t>
            </a:r>
            <a:r>
              <a:rPr dirty="0" sz="1800" spc="-15" b="1" i="1">
                <a:latin typeface="Courier New"/>
                <a:cs typeface="Courier New"/>
              </a:rPr>
              <a:t>ex</a:t>
            </a:r>
            <a:r>
              <a:rPr dirty="0" sz="1800" spc="-5" b="1" i="1">
                <a:latin typeface="Courier New"/>
                <a:cs typeface="Courier New"/>
              </a:rPr>
              <a:t>pr</a:t>
            </a:r>
            <a:r>
              <a:rPr dirty="0" sz="1800" spc="-15" b="1" i="1">
                <a:latin typeface="Courier New"/>
                <a:cs typeface="Courier New"/>
              </a:rPr>
              <a:t>e</a:t>
            </a:r>
            <a:r>
              <a:rPr dirty="0" sz="1800" spc="-5" b="1" i="1">
                <a:latin typeface="Courier New"/>
                <a:cs typeface="Courier New"/>
              </a:rPr>
              <a:t>s</a:t>
            </a:r>
            <a:r>
              <a:rPr dirty="0" sz="1800" spc="-15" b="1" i="1">
                <a:latin typeface="Courier New"/>
                <a:cs typeface="Courier New"/>
              </a:rPr>
              <a:t>s</a:t>
            </a:r>
            <a:r>
              <a:rPr dirty="0" sz="1800" spc="-5" b="1" i="1">
                <a:latin typeface="Courier New"/>
                <a:cs typeface="Courier New"/>
              </a:rPr>
              <a:t>io</a:t>
            </a:r>
            <a:r>
              <a:rPr dirty="0" sz="1800" spc="-10" b="1" i="1">
                <a:latin typeface="Courier New"/>
                <a:cs typeface="Courier New"/>
              </a:rPr>
              <a:t>n</a:t>
            </a:r>
            <a:r>
              <a:rPr dirty="0" sz="1800" b="1">
                <a:latin typeface="Courier New"/>
                <a:cs typeface="Courier New"/>
              </a:rPr>
              <a:t>]  </a:t>
            </a:r>
            <a:r>
              <a:rPr dirty="0" sz="1800" spc="-10" b="1" i="1">
                <a:latin typeface="Courier New"/>
                <a:cs typeface="Courier New"/>
              </a:rPr>
              <a:t>column</a:t>
            </a:r>
            <a:r>
              <a:rPr dirty="0" sz="1800" spc="-10" b="1">
                <a:latin typeface="Courier New"/>
                <a:cs typeface="Courier New"/>
              </a:rPr>
              <a:t>];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41194" y="4052696"/>
            <a:ext cx="5055870" cy="64452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Divide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rows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table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into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smaller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groups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by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using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endParaRPr sz="18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GROU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P</a:t>
            </a:r>
            <a:r>
              <a:rPr dirty="0" sz="1800" spc="-60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B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Y</a:t>
            </a:r>
            <a:r>
              <a:rPr dirty="0" sz="1800" spc="-60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clau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3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70226" y="3254502"/>
            <a:ext cx="4577080" cy="302260"/>
          </a:xfrm>
          <a:custGeom>
            <a:avLst/>
            <a:gdLst/>
            <a:ahLst/>
            <a:cxnLst/>
            <a:rect l="l" t="t" r="r" b="b"/>
            <a:pathLst>
              <a:path w="4577080" h="302260">
                <a:moveTo>
                  <a:pt x="0" y="301751"/>
                </a:moveTo>
                <a:lnTo>
                  <a:pt x="4576572" y="301751"/>
                </a:lnTo>
                <a:lnTo>
                  <a:pt x="4576572" y="0"/>
                </a:lnTo>
                <a:lnTo>
                  <a:pt x="0" y="0"/>
                </a:lnTo>
                <a:lnTo>
                  <a:pt x="0" y="301751"/>
                </a:lnTo>
                <a:close/>
              </a:path>
            </a:pathLst>
          </a:custGeom>
          <a:ln w="25908">
            <a:solidFill>
              <a:srgbClr val="FF505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GROU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P</a:t>
                      </a:r>
                      <a:r>
                        <a:rPr dirty="0" sz="2800" spc="-3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  <a:r>
                        <a:rPr dirty="0" sz="2800" spc="-9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CL</a:t>
                      </a:r>
                      <a:r>
                        <a:rPr dirty="0" sz="2800" spc="-7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USE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547620" y="358394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2484056" y="2654744"/>
            <a:ext cx="7259955" cy="1005840"/>
            <a:chOff x="2484056" y="2654744"/>
            <a:chExt cx="7259955" cy="1005840"/>
          </a:xfrm>
        </p:grpSpPr>
        <p:sp>
          <p:nvSpPr>
            <p:cNvPr id="5" name="object 5"/>
            <p:cNvSpPr/>
            <p:nvPr/>
          </p:nvSpPr>
          <p:spPr>
            <a:xfrm>
              <a:off x="2547620" y="2717799"/>
              <a:ext cx="7196455" cy="942340"/>
            </a:xfrm>
            <a:custGeom>
              <a:avLst/>
              <a:gdLst/>
              <a:ahLst/>
              <a:cxnLst/>
              <a:rect l="l" t="t" r="r" b="b"/>
              <a:pathLst>
                <a:path w="7196455" h="942339">
                  <a:moveTo>
                    <a:pt x="7196328" y="0"/>
                  </a:moveTo>
                  <a:lnTo>
                    <a:pt x="7119874" y="0"/>
                  </a:lnTo>
                  <a:lnTo>
                    <a:pt x="7119874" y="13970"/>
                  </a:lnTo>
                  <a:lnTo>
                    <a:pt x="7119874" y="26670"/>
                  </a:lnTo>
                  <a:lnTo>
                    <a:pt x="7119874" y="866140"/>
                  </a:lnTo>
                  <a:lnTo>
                    <a:pt x="12954" y="866140"/>
                  </a:lnTo>
                  <a:lnTo>
                    <a:pt x="12954" y="916940"/>
                  </a:lnTo>
                  <a:lnTo>
                    <a:pt x="0" y="916940"/>
                  </a:lnTo>
                  <a:lnTo>
                    <a:pt x="0" y="942340"/>
                  </a:lnTo>
                  <a:lnTo>
                    <a:pt x="7196328" y="942340"/>
                  </a:lnTo>
                  <a:lnTo>
                    <a:pt x="7196328" y="916940"/>
                  </a:lnTo>
                  <a:lnTo>
                    <a:pt x="7196328" y="26670"/>
                  </a:lnTo>
                  <a:lnTo>
                    <a:pt x="71963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97074" y="2667762"/>
              <a:ext cx="7170420" cy="916305"/>
            </a:xfrm>
            <a:custGeom>
              <a:avLst/>
              <a:gdLst/>
              <a:ahLst/>
              <a:cxnLst/>
              <a:rect l="l" t="t" r="r" b="b"/>
              <a:pathLst>
                <a:path w="7170420" h="916304">
                  <a:moveTo>
                    <a:pt x="7170420" y="0"/>
                  </a:moveTo>
                  <a:lnTo>
                    <a:pt x="0" y="0"/>
                  </a:lnTo>
                  <a:lnTo>
                    <a:pt x="0" y="915924"/>
                  </a:lnTo>
                  <a:lnTo>
                    <a:pt x="7170420" y="915924"/>
                  </a:lnTo>
                  <a:lnTo>
                    <a:pt x="717042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97074" y="2667762"/>
              <a:ext cx="7170420" cy="916305"/>
            </a:xfrm>
            <a:custGeom>
              <a:avLst/>
              <a:gdLst/>
              <a:ahLst/>
              <a:cxnLst/>
              <a:rect l="l" t="t" r="r" b="b"/>
              <a:pathLst>
                <a:path w="7170420" h="916304">
                  <a:moveTo>
                    <a:pt x="0" y="915924"/>
                  </a:moveTo>
                  <a:lnTo>
                    <a:pt x="7170420" y="915924"/>
                  </a:lnTo>
                  <a:lnTo>
                    <a:pt x="7170420" y="0"/>
                  </a:lnTo>
                  <a:lnTo>
                    <a:pt x="0" y="0"/>
                  </a:lnTo>
                  <a:lnTo>
                    <a:pt x="0" y="91592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477770" y="1754656"/>
            <a:ext cx="4905375" cy="1767839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All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lu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mns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 the</a:t>
            </a:r>
            <a:r>
              <a:rPr dirty="0" sz="18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SELEC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T</a:t>
            </a:r>
            <a:r>
              <a:rPr dirty="0" sz="1800" spc="-61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li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 that a</a:t>
            </a:r>
            <a:r>
              <a:rPr dirty="0" sz="1800" spc="-4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not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 g</a:t>
            </a:r>
            <a:r>
              <a:rPr dirty="0" sz="1800" spc="-5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oup</a:t>
            </a:r>
            <a:endParaRPr sz="18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m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ust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GRO</a:t>
            </a: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U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P</a:t>
            </a:r>
            <a:r>
              <a:rPr dirty="0" sz="1800" spc="-4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B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Y</a:t>
            </a:r>
            <a:r>
              <a:rPr dirty="0" sz="1800" spc="-59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claus</a:t>
            </a:r>
            <a:r>
              <a:rPr dirty="0" sz="1800" spc="3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1800">
              <a:latin typeface="Gill Sans MT"/>
              <a:cs typeface="Gill Sans MT"/>
            </a:endParaRPr>
          </a:p>
          <a:p>
            <a:pPr marL="74930" marR="45085">
              <a:lnSpc>
                <a:spcPct val="100000"/>
              </a:lnSpc>
              <a:spcBef>
                <a:spcPts val="1725"/>
              </a:spcBef>
              <a:tabLst>
                <a:tab pos="1304290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	department_id, AVG(salary)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FROM	employees</a:t>
            </a:r>
            <a:endParaRPr sz="1800">
              <a:latin typeface="Courier New"/>
              <a:cs typeface="Courier New"/>
            </a:endParaRPr>
          </a:p>
          <a:p>
            <a:pPr marL="7493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GROUP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BY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department_id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6311" y="3735323"/>
            <a:ext cx="7229856" cy="217170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559557" y="2719577"/>
            <a:ext cx="4745990" cy="836930"/>
          </a:xfrm>
          <a:custGeom>
            <a:avLst/>
            <a:gdLst/>
            <a:ahLst/>
            <a:cxnLst/>
            <a:rect l="l" t="t" r="r" b="b"/>
            <a:pathLst>
              <a:path w="4745990" h="836929">
                <a:moveTo>
                  <a:pt x="0" y="836676"/>
                </a:moveTo>
                <a:lnTo>
                  <a:pt x="3031236" y="836676"/>
                </a:lnTo>
                <a:lnTo>
                  <a:pt x="3031236" y="534924"/>
                </a:lnTo>
                <a:lnTo>
                  <a:pt x="0" y="534924"/>
                </a:lnTo>
                <a:lnTo>
                  <a:pt x="0" y="836676"/>
                </a:lnTo>
                <a:close/>
              </a:path>
              <a:path w="4745990" h="836929">
                <a:moveTo>
                  <a:pt x="3198876" y="301751"/>
                </a:moveTo>
                <a:lnTo>
                  <a:pt x="4745736" y="301751"/>
                </a:lnTo>
                <a:lnTo>
                  <a:pt x="4745736" y="0"/>
                </a:lnTo>
                <a:lnTo>
                  <a:pt x="3198876" y="0"/>
                </a:lnTo>
                <a:lnTo>
                  <a:pt x="3198876" y="301751"/>
                </a:lnTo>
                <a:close/>
              </a:path>
            </a:pathLst>
          </a:custGeom>
          <a:ln w="25908">
            <a:solidFill>
              <a:srgbClr val="FF505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GROU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P</a:t>
                      </a:r>
                      <a:r>
                        <a:rPr dirty="0" sz="2800" spc="-3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  <a:r>
                        <a:rPr dirty="0" sz="2800" spc="-9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CL</a:t>
                      </a:r>
                      <a:r>
                        <a:rPr dirty="0" sz="2800" spc="-7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USE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73388" y="2656268"/>
            <a:ext cx="7252334" cy="1005205"/>
            <a:chOff x="2473388" y="2656268"/>
            <a:chExt cx="7252334" cy="1005205"/>
          </a:xfrm>
        </p:grpSpPr>
        <p:sp>
          <p:nvSpPr>
            <p:cNvPr id="4" name="object 4"/>
            <p:cNvSpPr/>
            <p:nvPr/>
          </p:nvSpPr>
          <p:spPr>
            <a:xfrm>
              <a:off x="2536952" y="2720339"/>
              <a:ext cx="7188834" cy="941069"/>
            </a:xfrm>
            <a:custGeom>
              <a:avLst/>
              <a:gdLst/>
              <a:ahLst/>
              <a:cxnLst/>
              <a:rect l="l" t="t" r="r" b="b"/>
              <a:pathLst>
                <a:path w="7188834" h="941070">
                  <a:moveTo>
                    <a:pt x="7188708" y="0"/>
                  </a:moveTo>
                  <a:lnTo>
                    <a:pt x="7112254" y="0"/>
                  </a:lnTo>
                  <a:lnTo>
                    <a:pt x="7112254" y="12700"/>
                  </a:lnTo>
                  <a:lnTo>
                    <a:pt x="7112254" y="25400"/>
                  </a:lnTo>
                  <a:lnTo>
                    <a:pt x="7112254" y="864870"/>
                  </a:lnTo>
                  <a:lnTo>
                    <a:pt x="12954" y="864870"/>
                  </a:lnTo>
                  <a:lnTo>
                    <a:pt x="12954" y="915670"/>
                  </a:lnTo>
                  <a:lnTo>
                    <a:pt x="0" y="915670"/>
                  </a:lnTo>
                  <a:lnTo>
                    <a:pt x="0" y="941070"/>
                  </a:lnTo>
                  <a:lnTo>
                    <a:pt x="7188708" y="941070"/>
                  </a:lnTo>
                  <a:lnTo>
                    <a:pt x="7188708" y="915670"/>
                  </a:lnTo>
                  <a:lnTo>
                    <a:pt x="7188708" y="25400"/>
                  </a:lnTo>
                  <a:lnTo>
                    <a:pt x="71887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86406" y="2669285"/>
              <a:ext cx="7162800" cy="916305"/>
            </a:xfrm>
            <a:custGeom>
              <a:avLst/>
              <a:gdLst/>
              <a:ahLst/>
              <a:cxnLst/>
              <a:rect l="l" t="t" r="r" b="b"/>
              <a:pathLst>
                <a:path w="7162800" h="916304">
                  <a:moveTo>
                    <a:pt x="7162800" y="0"/>
                  </a:moveTo>
                  <a:lnTo>
                    <a:pt x="0" y="0"/>
                  </a:lnTo>
                  <a:lnTo>
                    <a:pt x="0" y="915924"/>
                  </a:lnTo>
                  <a:lnTo>
                    <a:pt x="7162800" y="915924"/>
                  </a:lnTo>
                  <a:lnTo>
                    <a:pt x="71628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86406" y="2669285"/>
              <a:ext cx="7162800" cy="916305"/>
            </a:xfrm>
            <a:custGeom>
              <a:avLst/>
              <a:gdLst/>
              <a:ahLst/>
              <a:cxnLst/>
              <a:rect l="l" t="t" r="r" b="b"/>
              <a:pathLst>
                <a:path w="7162800" h="916304">
                  <a:moveTo>
                    <a:pt x="0" y="915924"/>
                  </a:moveTo>
                  <a:lnTo>
                    <a:pt x="7162800" y="915924"/>
                  </a:lnTo>
                  <a:lnTo>
                    <a:pt x="7162800" y="0"/>
                  </a:lnTo>
                  <a:lnTo>
                    <a:pt x="0" y="0"/>
                  </a:lnTo>
                  <a:lnTo>
                    <a:pt x="0" y="91592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36951" y="3585209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799"/>
                </a:moveTo>
                <a:lnTo>
                  <a:pt x="25908" y="50799"/>
                </a:lnTo>
                <a:lnTo>
                  <a:pt x="25908" y="0"/>
                </a:lnTo>
                <a:lnTo>
                  <a:pt x="0" y="0"/>
                </a:lnTo>
                <a:lnTo>
                  <a:pt x="0" y="50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77770" y="1754656"/>
            <a:ext cx="4783455" cy="72644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GROU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P</a:t>
            </a:r>
            <a:r>
              <a:rPr dirty="0" sz="1800" spc="-2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B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Y</a:t>
            </a:r>
            <a:r>
              <a:rPr dirty="0" sz="1800" spc="-59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lu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mn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oes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not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dirty="0" sz="1800" spc="-6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v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 the</a:t>
            </a:r>
            <a:endParaRPr sz="18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SELEC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T</a:t>
            </a:r>
            <a:r>
              <a:rPr dirty="0" sz="1800" spc="-61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list.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40254" y="2675635"/>
            <a:ext cx="8451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SE</a:t>
            </a:r>
            <a:r>
              <a:rPr dirty="0" sz="1800" spc="-15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b="1">
                <a:latin typeface="Courier New"/>
                <a:cs typeface="Courier New"/>
              </a:rPr>
              <a:t>T  </a:t>
            </a:r>
            <a:r>
              <a:rPr dirty="0" sz="1800" spc="-10" b="1"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69871" y="2675635"/>
            <a:ext cx="15265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latin typeface="Courier New"/>
                <a:cs typeface="Courier New"/>
              </a:rPr>
              <a:t>AV</a:t>
            </a:r>
            <a:r>
              <a:rPr dirty="0" sz="1800" spc="-5" b="1">
                <a:latin typeface="Courier New"/>
                <a:cs typeface="Courier New"/>
              </a:rPr>
              <a:t>G(</a:t>
            </a:r>
            <a:r>
              <a:rPr dirty="0" sz="1800" spc="-15" b="1">
                <a:latin typeface="Courier New"/>
                <a:cs typeface="Courier New"/>
              </a:rPr>
              <a:t>s</a:t>
            </a:r>
            <a:r>
              <a:rPr dirty="0" sz="1800" spc="-5" b="1">
                <a:latin typeface="Courier New"/>
                <a:cs typeface="Courier New"/>
              </a:rPr>
              <a:t>a</a:t>
            </a:r>
            <a:r>
              <a:rPr dirty="0" sz="1800" spc="-15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ar</a:t>
            </a:r>
            <a:r>
              <a:rPr dirty="0" sz="1800" spc="-15" b="1">
                <a:latin typeface="Courier New"/>
                <a:cs typeface="Courier New"/>
              </a:rPr>
              <a:t>y</a:t>
            </a:r>
            <a:r>
              <a:rPr dirty="0" sz="1800" b="1">
                <a:latin typeface="Courier New"/>
                <a:cs typeface="Courier New"/>
              </a:rPr>
              <a:t>)  </a:t>
            </a:r>
            <a:r>
              <a:rPr dirty="0" sz="1800" spc="-10" b="1"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40254" y="3224276"/>
            <a:ext cx="3301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GROUP</a:t>
            </a:r>
            <a:r>
              <a:rPr dirty="0" sz="1800" spc="-40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BY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department_id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4695" y="3832845"/>
            <a:ext cx="7163555" cy="192331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536698" y="3254502"/>
            <a:ext cx="3065145" cy="302260"/>
          </a:xfrm>
          <a:custGeom>
            <a:avLst/>
            <a:gdLst/>
            <a:ahLst/>
            <a:cxnLst/>
            <a:rect l="l" t="t" r="r" b="b"/>
            <a:pathLst>
              <a:path w="3065145" h="302260">
                <a:moveTo>
                  <a:pt x="0" y="301751"/>
                </a:moveTo>
                <a:lnTo>
                  <a:pt x="3064764" y="301751"/>
                </a:lnTo>
                <a:lnTo>
                  <a:pt x="3064764" y="0"/>
                </a:lnTo>
                <a:lnTo>
                  <a:pt x="0" y="0"/>
                </a:lnTo>
                <a:lnTo>
                  <a:pt x="0" y="301751"/>
                </a:lnTo>
                <a:close/>
              </a:path>
            </a:pathLst>
          </a:custGeom>
          <a:ln w="25908">
            <a:solidFill>
              <a:srgbClr val="FF505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</a:t>
                      </a:r>
                      <a:r>
                        <a:rPr dirty="0" sz="2800" spc="-17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OUPIN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</a:t>
                      </a:r>
                      <a:r>
                        <a:rPr dirty="0" sz="2800" spc="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BY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MORE</a:t>
                      </a:r>
                      <a:r>
                        <a:rPr dirty="0" sz="2800" spc="-35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THAN</a:t>
                      </a:r>
                      <a:r>
                        <a:rPr dirty="0" sz="2800" spc="-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ON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COLUMN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983104" y="1872183"/>
            <a:ext cx="12560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44084" y="2246376"/>
            <a:ext cx="1728470" cy="4366260"/>
          </a:xfrm>
          <a:custGeom>
            <a:avLst/>
            <a:gdLst/>
            <a:ahLst/>
            <a:cxnLst/>
            <a:rect l="l" t="t" r="r" b="b"/>
            <a:pathLst>
              <a:path w="1728470" h="4366259">
                <a:moveTo>
                  <a:pt x="0" y="0"/>
                </a:moveTo>
                <a:lnTo>
                  <a:pt x="0" y="4366196"/>
                </a:lnTo>
                <a:lnTo>
                  <a:pt x="1728215" y="3748798"/>
                </a:lnTo>
                <a:lnTo>
                  <a:pt x="1728215" y="642747"/>
                </a:lnTo>
                <a:lnTo>
                  <a:pt x="0" y="0"/>
                </a:lnTo>
                <a:close/>
              </a:path>
            </a:pathLst>
          </a:custGeom>
          <a:solidFill>
            <a:srgbClr val="FFCC99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402707" y="3638803"/>
            <a:ext cx="1483995" cy="1732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50800">
              <a:lnSpc>
                <a:spcPct val="100000"/>
              </a:lnSpc>
              <a:spcBef>
                <a:spcPts val="95"/>
              </a:spcBef>
            </a:pPr>
            <a:r>
              <a:rPr dirty="0" sz="1600" spc="-15" b="1">
                <a:latin typeface="Arial"/>
                <a:cs typeface="Arial"/>
              </a:rPr>
              <a:t>“Add</a:t>
            </a:r>
            <a:r>
              <a:rPr dirty="0" sz="1600" spc="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up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the</a:t>
            </a:r>
            <a:endParaRPr sz="1600">
              <a:latin typeface="Arial"/>
              <a:cs typeface="Arial"/>
            </a:endParaRPr>
          </a:p>
          <a:p>
            <a:pPr algn="ctr" marR="50800">
              <a:lnSpc>
                <a:spcPts val="1864"/>
              </a:lnSpc>
            </a:pPr>
            <a:r>
              <a:rPr dirty="0" sz="1600" spc="-5" b="1">
                <a:latin typeface="Arial"/>
                <a:cs typeface="Arial"/>
              </a:rPr>
              <a:t>salaries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in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ts val="1864"/>
              </a:lnSpc>
            </a:pPr>
            <a:r>
              <a:rPr dirty="0" sz="1600" spc="-10" b="1">
                <a:latin typeface="Arial"/>
                <a:cs typeface="Arial"/>
              </a:rPr>
              <a:t>the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EMPLOYEES</a:t>
            </a:r>
            <a:endParaRPr sz="1600">
              <a:latin typeface="Courier New"/>
              <a:cs typeface="Courier New"/>
            </a:endParaRPr>
          </a:p>
          <a:p>
            <a:pPr marL="108585" marR="153670" indent="424815">
              <a:lnSpc>
                <a:spcPct val="100000"/>
              </a:lnSpc>
              <a:spcBef>
                <a:spcPts val="105"/>
              </a:spcBef>
            </a:pPr>
            <a:r>
              <a:rPr dirty="0" sz="1600" spc="-5" b="1">
                <a:latin typeface="Arial"/>
                <a:cs typeface="Arial"/>
              </a:rPr>
              <a:t>table </a:t>
            </a:r>
            <a:r>
              <a:rPr dirty="0" sz="160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for </a:t>
            </a:r>
            <a:r>
              <a:rPr dirty="0" sz="1600" spc="-5" b="1">
                <a:latin typeface="Arial"/>
                <a:cs typeface="Arial"/>
              </a:rPr>
              <a:t>each job, </a:t>
            </a:r>
            <a:r>
              <a:rPr dirty="0" sz="1600" spc="-43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grouped by </a:t>
            </a:r>
            <a:r>
              <a:rPr dirty="0" sz="160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department.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0107" y="2842260"/>
            <a:ext cx="2971800" cy="303885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455164" y="2253995"/>
            <a:ext cx="7493634" cy="4340860"/>
            <a:chOff x="2455164" y="2253995"/>
            <a:chExt cx="7493634" cy="434086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5164" y="2253995"/>
              <a:ext cx="2791967" cy="31912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55164" y="5686043"/>
              <a:ext cx="2791967" cy="9083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60108" y="5843016"/>
              <a:ext cx="2988563" cy="216408"/>
            </a:xfrm>
            <a:prstGeom prst="rect">
              <a:avLst/>
            </a:prstGeom>
          </p:spPr>
        </p:pic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476500" y="2503932"/>
          <a:ext cx="2729230" cy="2512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9860"/>
              </a:tblGrid>
              <a:tr h="2082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T w="28575">
                      <a:solidFill>
                        <a:srgbClr val="FF5050"/>
                      </a:solidFill>
                      <a:prstDash val="solid"/>
                    </a:lnT>
                    <a:lnB w="28575">
                      <a:solidFill>
                        <a:srgbClr val="FF5050"/>
                      </a:solidFill>
                      <a:prstDash val="solid"/>
                    </a:lnB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T w="28575">
                      <a:solidFill>
                        <a:srgbClr val="FF5050"/>
                      </a:solidFill>
                      <a:prstDash val="solid"/>
                    </a:lnT>
                    <a:lnB w="28575">
                      <a:solidFill>
                        <a:srgbClr val="FF5050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T w="28575">
                      <a:solidFill>
                        <a:srgbClr val="FF5050"/>
                      </a:solidFill>
                      <a:prstDash val="solid"/>
                    </a:lnT>
                    <a:lnB w="28575">
                      <a:solidFill>
                        <a:srgbClr val="FF5050"/>
                      </a:solidFill>
                      <a:prstDash val="solid"/>
                    </a:lnB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T w="28575">
                      <a:solidFill>
                        <a:srgbClr val="FF5050"/>
                      </a:solidFill>
                      <a:prstDash val="solid"/>
                    </a:lnT>
                    <a:lnB w="28575">
                      <a:solidFill>
                        <a:srgbClr val="FF5050"/>
                      </a:solidFill>
                      <a:prstDash val="solid"/>
                    </a:lnB>
                  </a:tcPr>
                </a:tc>
              </a:tr>
              <a:tr h="8464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T w="28575">
                      <a:solidFill>
                        <a:srgbClr val="FF5050"/>
                      </a:solidFill>
                      <a:prstDash val="solid"/>
                    </a:lnT>
                    <a:lnB w="28575">
                      <a:solidFill>
                        <a:srgbClr val="FF5050"/>
                      </a:solidFill>
                      <a:prstDash val="soli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T w="28575">
                      <a:solidFill>
                        <a:srgbClr val="FF5050"/>
                      </a:solidFill>
                      <a:prstDash val="solid"/>
                    </a:lnT>
                    <a:lnB w="28575">
                      <a:solidFill>
                        <a:srgbClr val="FF505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2441194" y="5277713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449067" y="2113788"/>
            <a:ext cx="7411084" cy="1005840"/>
            <a:chOff x="2449067" y="2113788"/>
            <a:chExt cx="7411084" cy="1005840"/>
          </a:xfrm>
        </p:grpSpPr>
        <p:sp>
          <p:nvSpPr>
            <p:cNvPr id="4" name="object 4"/>
            <p:cNvSpPr/>
            <p:nvPr/>
          </p:nvSpPr>
          <p:spPr>
            <a:xfrm>
              <a:off x="2512568" y="2176779"/>
              <a:ext cx="7347584" cy="942340"/>
            </a:xfrm>
            <a:custGeom>
              <a:avLst/>
              <a:gdLst/>
              <a:ahLst/>
              <a:cxnLst/>
              <a:rect l="l" t="t" r="r" b="b"/>
              <a:pathLst>
                <a:path w="7347584" h="942339">
                  <a:moveTo>
                    <a:pt x="7347204" y="0"/>
                  </a:moveTo>
                  <a:lnTo>
                    <a:pt x="7270750" y="0"/>
                  </a:lnTo>
                  <a:lnTo>
                    <a:pt x="7270750" y="13970"/>
                  </a:lnTo>
                  <a:lnTo>
                    <a:pt x="7270750" y="26670"/>
                  </a:lnTo>
                  <a:lnTo>
                    <a:pt x="7270750" y="866140"/>
                  </a:lnTo>
                  <a:lnTo>
                    <a:pt x="25908" y="866140"/>
                  </a:lnTo>
                  <a:lnTo>
                    <a:pt x="12954" y="866140"/>
                  </a:lnTo>
                  <a:lnTo>
                    <a:pt x="0" y="866140"/>
                  </a:lnTo>
                  <a:lnTo>
                    <a:pt x="0" y="916940"/>
                  </a:lnTo>
                  <a:lnTo>
                    <a:pt x="0" y="942340"/>
                  </a:lnTo>
                  <a:lnTo>
                    <a:pt x="7347204" y="942340"/>
                  </a:lnTo>
                  <a:lnTo>
                    <a:pt x="7347204" y="916940"/>
                  </a:lnTo>
                  <a:lnTo>
                    <a:pt x="7347204" y="26670"/>
                  </a:lnTo>
                  <a:lnTo>
                    <a:pt x="73472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62021" y="2126742"/>
              <a:ext cx="7321550" cy="916305"/>
            </a:xfrm>
            <a:custGeom>
              <a:avLst/>
              <a:gdLst/>
              <a:ahLst/>
              <a:cxnLst/>
              <a:rect l="l" t="t" r="r" b="b"/>
              <a:pathLst>
                <a:path w="7321550" h="916305">
                  <a:moveTo>
                    <a:pt x="7321296" y="0"/>
                  </a:moveTo>
                  <a:lnTo>
                    <a:pt x="0" y="0"/>
                  </a:lnTo>
                  <a:lnTo>
                    <a:pt x="0" y="915924"/>
                  </a:lnTo>
                  <a:lnTo>
                    <a:pt x="7321296" y="915924"/>
                  </a:lnTo>
                  <a:lnTo>
                    <a:pt x="732129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62021" y="2126742"/>
              <a:ext cx="7321550" cy="916305"/>
            </a:xfrm>
            <a:custGeom>
              <a:avLst/>
              <a:gdLst/>
              <a:ahLst/>
              <a:cxnLst/>
              <a:rect l="l" t="t" r="r" b="b"/>
              <a:pathLst>
                <a:path w="7321550" h="916305">
                  <a:moveTo>
                    <a:pt x="0" y="915924"/>
                  </a:moveTo>
                  <a:lnTo>
                    <a:pt x="7321296" y="915924"/>
                  </a:lnTo>
                  <a:lnTo>
                    <a:pt x="7321296" y="0"/>
                  </a:lnTo>
                  <a:lnTo>
                    <a:pt x="0" y="0"/>
                  </a:lnTo>
                  <a:lnTo>
                    <a:pt x="0" y="915924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540254" y="2132533"/>
            <a:ext cx="845819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SE</a:t>
            </a:r>
            <a:r>
              <a:rPr dirty="0" sz="1800" spc="-20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b="1">
                <a:latin typeface="Courier New"/>
                <a:cs typeface="Courier New"/>
              </a:rPr>
              <a:t>T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 b="1"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69871" y="2132533"/>
            <a:ext cx="575881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department_id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dept_id,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job_id,</a:t>
            </a:r>
            <a:r>
              <a:rPr dirty="0" sz="1800" spc="-1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SUM(salary)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 b="1"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58033" y="2742438"/>
            <a:ext cx="4139565" cy="266700"/>
          </a:xfrm>
          <a:prstGeom prst="rect">
            <a:avLst/>
          </a:prstGeom>
          <a:solidFill>
            <a:srgbClr val="FFFFCC"/>
          </a:solidFill>
          <a:ln w="25907">
            <a:solidFill>
              <a:srgbClr val="FF505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80"/>
              </a:lnSpc>
            </a:pPr>
            <a:r>
              <a:rPr dirty="0" sz="1800" spc="-10" b="1">
                <a:latin typeface="Courier New"/>
                <a:cs typeface="Courier New"/>
              </a:rPr>
              <a:t>GROUP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BY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department_id,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job_id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71389" y="2681732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53541" y="801718"/>
            <a:ext cx="4921885" cy="9213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</a:rPr>
              <a:t>USING</a:t>
            </a:r>
            <a:r>
              <a:rPr dirty="0" sz="2800" spc="-325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THE</a:t>
            </a:r>
            <a:r>
              <a:rPr dirty="0" sz="280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ourier New"/>
                <a:cs typeface="Courier New"/>
              </a:rPr>
              <a:t>GRO</a:t>
            </a:r>
            <a:r>
              <a:rPr dirty="0" sz="2800">
                <a:solidFill>
                  <a:srgbClr val="FFFFFF"/>
                </a:solidFill>
                <a:latin typeface="Courier New"/>
                <a:cs typeface="Courier New"/>
              </a:rPr>
              <a:t>U</a:t>
            </a:r>
            <a:r>
              <a:rPr dirty="0" sz="2800" spc="-5">
                <a:solidFill>
                  <a:srgbClr val="FFFFFF"/>
                </a:solidFill>
                <a:latin typeface="Courier New"/>
                <a:cs typeface="Courier New"/>
              </a:rPr>
              <a:t>P</a:t>
            </a:r>
            <a:r>
              <a:rPr dirty="0" sz="280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ourier New"/>
                <a:cs typeface="Courier New"/>
              </a:rPr>
              <a:t>B</a:t>
            </a:r>
            <a:r>
              <a:rPr dirty="0" sz="2800" spc="-5">
                <a:solidFill>
                  <a:srgbClr val="FFFFFF"/>
                </a:solidFill>
                <a:latin typeface="Courier New"/>
                <a:cs typeface="Courier New"/>
              </a:rPr>
              <a:t>Y</a:t>
            </a:r>
            <a:r>
              <a:rPr dirty="0" sz="2800" spc="-90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CL</a:t>
            </a:r>
            <a:r>
              <a:rPr dirty="0" sz="2800" spc="-75">
                <a:solidFill>
                  <a:srgbClr val="FFFFFF"/>
                </a:solidFill>
              </a:rPr>
              <a:t>A</a:t>
            </a:r>
            <a:r>
              <a:rPr dirty="0" sz="2800" spc="-5">
                <a:solidFill>
                  <a:srgbClr val="FFFFFF"/>
                </a:solidFill>
              </a:rPr>
              <a:t>USE  </a:t>
            </a:r>
            <a:r>
              <a:rPr dirty="0" sz="2800" spc="-5">
                <a:solidFill>
                  <a:srgbClr val="FFFFFF"/>
                </a:solidFill>
              </a:rPr>
              <a:t>ON</a:t>
            </a:r>
            <a:r>
              <a:rPr dirty="0" sz="2800" spc="-10">
                <a:solidFill>
                  <a:srgbClr val="FFFFFF"/>
                </a:solidFill>
              </a:rPr>
              <a:t> </a:t>
            </a:r>
            <a:r>
              <a:rPr dirty="0" sz="2800" spc="-40">
                <a:solidFill>
                  <a:srgbClr val="FFFFFF"/>
                </a:solidFill>
              </a:rPr>
              <a:t>MULTIPLE</a:t>
            </a:r>
            <a:r>
              <a:rPr dirty="0" sz="2800" spc="-5">
                <a:solidFill>
                  <a:srgbClr val="FFFFFF"/>
                </a:solidFill>
              </a:rPr>
              <a:t> COLUMNS</a:t>
            </a:r>
            <a:endParaRPr sz="2800">
              <a:latin typeface="Courier New"/>
              <a:cs typeface="Courier New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9835" y="3166480"/>
            <a:ext cx="7248525" cy="297068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0306" y="6224985"/>
            <a:ext cx="942828" cy="955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2220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ILLEGAL</a:t>
                      </a:r>
                      <a:r>
                        <a:rPr dirty="0" sz="2800" spc="-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QUERIES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 </a:t>
                      </a:r>
                      <a:r>
                        <a:rPr dirty="0" sz="2800" spc="-4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GROUP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28194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77770" y="1880259"/>
            <a:ext cx="4907280" cy="1090930"/>
          </a:xfrm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algn="just" marL="12700" marR="5080">
              <a:lnSpc>
                <a:spcPct val="130300"/>
              </a:lnSpc>
              <a:spcBef>
                <a:spcPts val="40"/>
              </a:spcBef>
            </a:pPr>
            <a:r>
              <a:rPr dirty="0" sz="1800">
                <a:solidFill>
                  <a:srgbClr val="3C3C3C"/>
                </a:solidFill>
              </a:rPr>
              <a:t>A</a:t>
            </a:r>
            <a:r>
              <a:rPr dirty="0" sz="1800" spc="-40">
                <a:solidFill>
                  <a:srgbClr val="3C3C3C"/>
                </a:solidFill>
              </a:rPr>
              <a:t>n</a:t>
            </a:r>
            <a:r>
              <a:rPr dirty="0" sz="1800">
                <a:solidFill>
                  <a:srgbClr val="3C3C3C"/>
                </a:solidFill>
              </a:rPr>
              <a:t>y colu</a:t>
            </a:r>
            <a:r>
              <a:rPr dirty="0" sz="1800" spc="5">
                <a:solidFill>
                  <a:srgbClr val="3C3C3C"/>
                </a:solidFill>
              </a:rPr>
              <a:t>m</a:t>
            </a:r>
            <a:r>
              <a:rPr dirty="0" sz="1800">
                <a:solidFill>
                  <a:srgbClr val="3C3C3C"/>
                </a:solidFill>
              </a:rPr>
              <a:t>n</a:t>
            </a:r>
            <a:r>
              <a:rPr dirty="0" sz="1800" spc="-10">
                <a:solidFill>
                  <a:srgbClr val="3C3C3C"/>
                </a:solidFill>
              </a:rPr>
              <a:t> </a:t>
            </a:r>
            <a:r>
              <a:rPr dirty="0" sz="1800">
                <a:solidFill>
                  <a:srgbClr val="3C3C3C"/>
                </a:solidFill>
              </a:rPr>
              <a:t>or</a:t>
            </a:r>
            <a:r>
              <a:rPr dirty="0" sz="1800" spc="-10">
                <a:solidFill>
                  <a:srgbClr val="3C3C3C"/>
                </a:solidFill>
              </a:rPr>
              <a:t> </a:t>
            </a:r>
            <a:r>
              <a:rPr dirty="0" sz="1800">
                <a:solidFill>
                  <a:srgbClr val="3C3C3C"/>
                </a:solidFill>
              </a:rPr>
              <a:t>exp</a:t>
            </a:r>
            <a:r>
              <a:rPr dirty="0" sz="1800" spc="-40">
                <a:solidFill>
                  <a:srgbClr val="3C3C3C"/>
                </a:solidFill>
              </a:rPr>
              <a:t>r</a:t>
            </a:r>
            <a:r>
              <a:rPr dirty="0" sz="1800">
                <a:solidFill>
                  <a:srgbClr val="3C3C3C"/>
                </a:solidFill>
              </a:rPr>
              <a:t>es</a:t>
            </a:r>
            <a:r>
              <a:rPr dirty="0" sz="1800" spc="5">
                <a:solidFill>
                  <a:srgbClr val="3C3C3C"/>
                </a:solidFill>
              </a:rPr>
              <a:t>s</a:t>
            </a:r>
            <a:r>
              <a:rPr dirty="0" sz="1800" spc="-5">
                <a:solidFill>
                  <a:srgbClr val="3C3C3C"/>
                </a:solidFill>
              </a:rPr>
              <a:t>io</a:t>
            </a:r>
            <a:r>
              <a:rPr dirty="0" sz="1800">
                <a:solidFill>
                  <a:srgbClr val="3C3C3C"/>
                </a:solidFill>
              </a:rPr>
              <a:t>n</a:t>
            </a:r>
            <a:r>
              <a:rPr dirty="0" sz="1800" spc="-20">
                <a:solidFill>
                  <a:srgbClr val="3C3C3C"/>
                </a:solidFill>
              </a:rPr>
              <a:t> </a:t>
            </a:r>
            <a:r>
              <a:rPr dirty="0" sz="1800" spc="-5">
                <a:solidFill>
                  <a:srgbClr val="3C3C3C"/>
                </a:solidFill>
              </a:rPr>
              <a:t>i</a:t>
            </a:r>
            <a:r>
              <a:rPr dirty="0" sz="1800">
                <a:solidFill>
                  <a:srgbClr val="3C3C3C"/>
                </a:solidFill>
              </a:rPr>
              <a:t>n the</a:t>
            </a:r>
            <a:r>
              <a:rPr dirty="0" sz="1800" spc="15">
                <a:solidFill>
                  <a:srgbClr val="3C3C3C"/>
                </a:solidFill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SELEC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T</a:t>
            </a:r>
            <a:r>
              <a:rPr dirty="0" sz="1800" spc="-61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</a:rPr>
              <a:t>li</a:t>
            </a:r>
            <a:r>
              <a:rPr dirty="0" sz="1800" spc="5">
                <a:solidFill>
                  <a:srgbClr val="3C3C3C"/>
                </a:solidFill>
              </a:rPr>
              <a:t>s</a:t>
            </a:r>
            <a:r>
              <a:rPr dirty="0" sz="1800">
                <a:solidFill>
                  <a:srgbClr val="3C3C3C"/>
                </a:solidFill>
              </a:rPr>
              <a:t>t that </a:t>
            </a:r>
            <a:r>
              <a:rPr dirty="0" sz="1800" spc="-5">
                <a:solidFill>
                  <a:srgbClr val="3C3C3C"/>
                </a:solidFill>
              </a:rPr>
              <a:t>is  </a:t>
            </a:r>
            <a:r>
              <a:rPr dirty="0" sz="1800">
                <a:solidFill>
                  <a:srgbClr val="3C3C3C"/>
                </a:solidFill>
              </a:rPr>
              <a:t>not</a:t>
            </a:r>
            <a:r>
              <a:rPr dirty="0" sz="1800" spc="-10">
                <a:solidFill>
                  <a:srgbClr val="3C3C3C"/>
                </a:solidFill>
              </a:rPr>
              <a:t> </a:t>
            </a:r>
            <a:r>
              <a:rPr dirty="0" sz="1800">
                <a:solidFill>
                  <a:srgbClr val="3C3C3C"/>
                </a:solidFill>
              </a:rPr>
              <a:t>an</a:t>
            </a:r>
            <a:r>
              <a:rPr dirty="0" sz="1800" spc="-15">
                <a:solidFill>
                  <a:srgbClr val="3C3C3C"/>
                </a:solidFill>
              </a:rPr>
              <a:t> </a:t>
            </a:r>
            <a:r>
              <a:rPr dirty="0" sz="1800">
                <a:solidFill>
                  <a:srgbClr val="3C3C3C"/>
                </a:solidFill>
              </a:rPr>
              <a:t>agg</a:t>
            </a:r>
            <a:r>
              <a:rPr dirty="0" sz="1800" spc="-50">
                <a:solidFill>
                  <a:srgbClr val="3C3C3C"/>
                </a:solidFill>
              </a:rPr>
              <a:t>r</a:t>
            </a:r>
            <a:r>
              <a:rPr dirty="0" sz="1800">
                <a:solidFill>
                  <a:srgbClr val="3C3C3C"/>
                </a:solidFill>
              </a:rPr>
              <a:t>egate</a:t>
            </a:r>
            <a:r>
              <a:rPr dirty="0" sz="1800" spc="-25">
                <a:solidFill>
                  <a:srgbClr val="3C3C3C"/>
                </a:solidFill>
              </a:rPr>
              <a:t> </a:t>
            </a:r>
            <a:r>
              <a:rPr dirty="0" sz="1800">
                <a:solidFill>
                  <a:srgbClr val="3C3C3C"/>
                </a:solidFill>
              </a:rPr>
              <a:t>function</a:t>
            </a:r>
            <a:r>
              <a:rPr dirty="0" sz="1800" spc="-20">
                <a:solidFill>
                  <a:srgbClr val="3C3C3C"/>
                </a:solidFill>
              </a:rPr>
              <a:t> </a:t>
            </a:r>
            <a:r>
              <a:rPr dirty="0" sz="1800" spc="-10">
                <a:solidFill>
                  <a:srgbClr val="3C3C3C"/>
                </a:solidFill>
              </a:rPr>
              <a:t>m</a:t>
            </a:r>
            <a:r>
              <a:rPr dirty="0" sz="1800">
                <a:solidFill>
                  <a:srgbClr val="3C3C3C"/>
                </a:solidFill>
              </a:rPr>
              <a:t>ust</a:t>
            </a:r>
            <a:r>
              <a:rPr dirty="0" sz="1800" spc="-20">
                <a:solidFill>
                  <a:srgbClr val="3C3C3C"/>
                </a:solidFill>
              </a:rPr>
              <a:t> </a:t>
            </a:r>
            <a:r>
              <a:rPr dirty="0" sz="1800">
                <a:solidFill>
                  <a:srgbClr val="3C3C3C"/>
                </a:solidFill>
              </a:rPr>
              <a:t>be</a:t>
            </a:r>
            <a:r>
              <a:rPr dirty="0" sz="1800">
                <a:solidFill>
                  <a:srgbClr val="3C3C3C"/>
                </a:solidFill>
              </a:rPr>
              <a:t> </a:t>
            </a:r>
            <a:r>
              <a:rPr dirty="0" sz="1800" spc="-5">
                <a:solidFill>
                  <a:srgbClr val="3C3C3C"/>
                </a:solidFill>
              </a:rPr>
              <a:t>i</a:t>
            </a:r>
            <a:r>
              <a:rPr dirty="0" sz="1800">
                <a:solidFill>
                  <a:srgbClr val="3C3C3C"/>
                </a:solidFill>
              </a:rPr>
              <a:t>n</a:t>
            </a:r>
            <a:r>
              <a:rPr dirty="0" sz="1800">
                <a:solidFill>
                  <a:srgbClr val="3C3C3C"/>
                </a:solidFill>
              </a:rPr>
              <a:t> </a:t>
            </a:r>
            <a:r>
              <a:rPr dirty="0" sz="1800">
                <a:solidFill>
                  <a:srgbClr val="3C3C3C"/>
                </a:solidFill>
              </a:rPr>
              <a:t>the</a:t>
            </a:r>
            <a:r>
              <a:rPr dirty="0" sz="1800">
                <a:solidFill>
                  <a:srgbClr val="3C3C3C"/>
                </a:solidFill>
              </a:rPr>
              <a:t> 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GROUP</a:t>
            </a:r>
            <a:r>
              <a:rPr dirty="0" sz="1800" spc="-61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BY  </a:t>
            </a:r>
            <a:r>
              <a:rPr dirty="0" sz="1800" spc="5">
                <a:solidFill>
                  <a:srgbClr val="3C3C3C"/>
                </a:solidFill>
              </a:rPr>
              <a:t>clause.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96311" y="3328415"/>
            <a:ext cx="7226300" cy="893444"/>
            <a:chOff x="2496311" y="3328415"/>
            <a:chExt cx="7226300" cy="893444"/>
          </a:xfrm>
        </p:grpSpPr>
        <p:sp>
          <p:nvSpPr>
            <p:cNvPr id="5" name="object 5"/>
            <p:cNvSpPr/>
            <p:nvPr/>
          </p:nvSpPr>
          <p:spPr>
            <a:xfrm>
              <a:off x="2559812" y="3392169"/>
              <a:ext cx="7162800" cy="829310"/>
            </a:xfrm>
            <a:custGeom>
              <a:avLst/>
              <a:gdLst/>
              <a:ahLst/>
              <a:cxnLst/>
              <a:rect l="l" t="t" r="r" b="b"/>
              <a:pathLst>
                <a:path w="7162800" h="829310">
                  <a:moveTo>
                    <a:pt x="7162800" y="0"/>
                  </a:moveTo>
                  <a:lnTo>
                    <a:pt x="7086346" y="0"/>
                  </a:lnTo>
                  <a:lnTo>
                    <a:pt x="7086346" y="12700"/>
                  </a:lnTo>
                  <a:lnTo>
                    <a:pt x="7086346" y="25400"/>
                  </a:lnTo>
                  <a:lnTo>
                    <a:pt x="7086346" y="751840"/>
                  </a:lnTo>
                  <a:lnTo>
                    <a:pt x="12954" y="751840"/>
                  </a:lnTo>
                  <a:lnTo>
                    <a:pt x="12954" y="802640"/>
                  </a:lnTo>
                  <a:lnTo>
                    <a:pt x="0" y="802640"/>
                  </a:lnTo>
                  <a:lnTo>
                    <a:pt x="0" y="829310"/>
                  </a:lnTo>
                  <a:lnTo>
                    <a:pt x="7162800" y="829310"/>
                  </a:lnTo>
                  <a:lnTo>
                    <a:pt x="7162800" y="802640"/>
                  </a:lnTo>
                  <a:lnTo>
                    <a:pt x="7162800" y="25400"/>
                  </a:lnTo>
                  <a:lnTo>
                    <a:pt x="7162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509265" y="3341369"/>
              <a:ext cx="7137400" cy="803275"/>
            </a:xfrm>
            <a:custGeom>
              <a:avLst/>
              <a:gdLst/>
              <a:ahLst/>
              <a:cxnLst/>
              <a:rect l="l" t="t" r="r" b="b"/>
              <a:pathLst>
                <a:path w="7137400" h="803275">
                  <a:moveTo>
                    <a:pt x="7136892" y="0"/>
                  </a:moveTo>
                  <a:lnTo>
                    <a:pt x="0" y="0"/>
                  </a:lnTo>
                  <a:lnTo>
                    <a:pt x="0" y="803147"/>
                  </a:lnTo>
                  <a:lnTo>
                    <a:pt x="7136892" y="803147"/>
                  </a:lnTo>
                  <a:lnTo>
                    <a:pt x="713689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509265" y="3341369"/>
              <a:ext cx="7137400" cy="803275"/>
            </a:xfrm>
            <a:custGeom>
              <a:avLst/>
              <a:gdLst/>
              <a:ahLst/>
              <a:cxnLst/>
              <a:rect l="l" t="t" r="r" b="b"/>
              <a:pathLst>
                <a:path w="7137400" h="803275">
                  <a:moveTo>
                    <a:pt x="0" y="803147"/>
                  </a:moveTo>
                  <a:lnTo>
                    <a:pt x="7136892" y="803147"/>
                  </a:lnTo>
                  <a:lnTo>
                    <a:pt x="7136892" y="0"/>
                  </a:lnTo>
                  <a:lnTo>
                    <a:pt x="0" y="0"/>
                  </a:lnTo>
                  <a:lnTo>
                    <a:pt x="0" y="803147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2559811" y="4144517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291"/>
                </a:moveTo>
                <a:lnTo>
                  <a:pt x="25907" y="50291"/>
                </a:lnTo>
                <a:lnTo>
                  <a:pt x="25907" y="0"/>
                </a:lnTo>
                <a:lnTo>
                  <a:pt x="0" y="0"/>
                </a:lnTo>
                <a:lnTo>
                  <a:pt x="0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2514600" y="4404359"/>
            <a:ext cx="7228205" cy="1436370"/>
            <a:chOff x="2514600" y="4404359"/>
            <a:chExt cx="7228205" cy="1436370"/>
          </a:xfrm>
        </p:grpSpPr>
        <p:sp>
          <p:nvSpPr>
            <p:cNvPr id="10" name="object 10"/>
            <p:cNvSpPr/>
            <p:nvPr/>
          </p:nvSpPr>
          <p:spPr>
            <a:xfrm>
              <a:off x="2578100" y="4467859"/>
              <a:ext cx="7164705" cy="1372870"/>
            </a:xfrm>
            <a:custGeom>
              <a:avLst/>
              <a:gdLst/>
              <a:ahLst/>
              <a:cxnLst/>
              <a:rect l="l" t="t" r="r" b="b"/>
              <a:pathLst>
                <a:path w="7164705" h="1372870">
                  <a:moveTo>
                    <a:pt x="7164324" y="0"/>
                  </a:moveTo>
                  <a:lnTo>
                    <a:pt x="7087870" y="0"/>
                  </a:lnTo>
                  <a:lnTo>
                    <a:pt x="7087870" y="12700"/>
                  </a:lnTo>
                  <a:lnTo>
                    <a:pt x="7087870" y="25400"/>
                  </a:lnTo>
                  <a:lnTo>
                    <a:pt x="7087870" y="1296670"/>
                  </a:lnTo>
                  <a:lnTo>
                    <a:pt x="25908" y="1296670"/>
                  </a:lnTo>
                  <a:lnTo>
                    <a:pt x="12954" y="1296670"/>
                  </a:lnTo>
                  <a:lnTo>
                    <a:pt x="0" y="1296670"/>
                  </a:lnTo>
                  <a:lnTo>
                    <a:pt x="0" y="1347470"/>
                  </a:lnTo>
                  <a:lnTo>
                    <a:pt x="0" y="1372870"/>
                  </a:lnTo>
                  <a:lnTo>
                    <a:pt x="7164324" y="1372870"/>
                  </a:lnTo>
                  <a:lnTo>
                    <a:pt x="7164324" y="1347470"/>
                  </a:lnTo>
                  <a:lnTo>
                    <a:pt x="7164324" y="25400"/>
                  </a:lnTo>
                  <a:lnTo>
                    <a:pt x="71643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527553" y="4417313"/>
              <a:ext cx="7138670" cy="1347470"/>
            </a:xfrm>
            <a:custGeom>
              <a:avLst/>
              <a:gdLst/>
              <a:ahLst/>
              <a:cxnLst/>
              <a:rect l="l" t="t" r="r" b="b"/>
              <a:pathLst>
                <a:path w="7138670" h="1347470">
                  <a:moveTo>
                    <a:pt x="7138416" y="0"/>
                  </a:moveTo>
                  <a:lnTo>
                    <a:pt x="0" y="0"/>
                  </a:lnTo>
                  <a:lnTo>
                    <a:pt x="0" y="1347216"/>
                  </a:lnTo>
                  <a:lnTo>
                    <a:pt x="7138416" y="1347216"/>
                  </a:lnTo>
                  <a:lnTo>
                    <a:pt x="713841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527553" y="4417313"/>
              <a:ext cx="7138670" cy="1347470"/>
            </a:xfrm>
            <a:custGeom>
              <a:avLst/>
              <a:gdLst/>
              <a:ahLst/>
              <a:cxnLst/>
              <a:rect l="l" t="t" r="r" b="b"/>
              <a:pathLst>
                <a:path w="7138670" h="1347470">
                  <a:moveTo>
                    <a:pt x="0" y="1347216"/>
                  </a:moveTo>
                  <a:lnTo>
                    <a:pt x="7138416" y="1347216"/>
                  </a:lnTo>
                  <a:lnTo>
                    <a:pt x="7138416" y="0"/>
                  </a:lnTo>
                  <a:lnTo>
                    <a:pt x="0" y="0"/>
                  </a:lnTo>
                  <a:lnTo>
                    <a:pt x="0" y="1347216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587879" y="3428745"/>
            <a:ext cx="6037580" cy="2197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30580">
              <a:lnSpc>
                <a:spcPct val="100000"/>
              </a:lnSpc>
              <a:spcBef>
                <a:spcPts val="100"/>
              </a:spcBef>
              <a:tabLst>
                <a:tab pos="969010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 department_id, COUNT(last_name)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FROM	employees;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Courier New"/>
              <a:cs typeface="Courier New"/>
            </a:endParaRPr>
          </a:p>
          <a:p>
            <a:pPr marL="31750">
              <a:lnSpc>
                <a:spcPct val="100000"/>
              </a:lnSpc>
              <a:spcBef>
                <a:spcPts val="5"/>
              </a:spcBef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r>
              <a:rPr dirty="0" sz="1800" spc="-1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department_id,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COUNT(last_name)</a:t>
            </a:r>
            <a:endParaRPr sz="1800">
              <a:latin typeface="Courier New"/>
              <a:cs typeface="Courier New"/>
            </a:endParaRPr>
          </a:p>
          <a:p>
            <a:pPr marL="988694">
              <a:lnSpc>
                <a:spcPct val="100000"/>
              </a:lnSpc>
            </a:pPr>
            <a:r>
              <a:rPr dirty="0" sz="1800" b="1">
                <a:latin typeface="Courier New"/>
                <a:cs typeface="Courier New"/>
              </a:rPr>
              <a:t>*</a:t>
            </a:r>
            <a:endParaRPr sz="1800">
              <a:latin typeface="Courier New"/>
              <a:cs typeface="Courier New"/>
            </a:endParaRPr>
          </a:p>
          <a:p>
            <a:pPr marL="3175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ERROR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at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line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1:</a:t>
            </a:r>
            <a:endParaRPr sz="1800">
              <a:latin typeface="Courier New"/>
              <a:cs typeface="Courier New"/>
            </a:endParaRPr>
          </a:p>
          <a:p>
            <a:pPr marL="3175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ORA-00937: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not</a:t>
            </a:r>
            <a:r>
              <a:rPr dirty="0" sz="1800" spc="-2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a</a:t>
            </a:r>
            <a:r>
              <a:rPr dirty="0" sz="1800" spc="-2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single-group</a:t>
            </a:r>
            <a:r>
              <a:rPr dirty="0" sz="1800" spc="-2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group</a:t>
            </a:r>
            <a:r>
              <a:rPr dirty="0" sz="1800" spc="-1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function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747391" y="6128359"/>
            <a:ext cx="4398645" cy="252095"/>
            <a:chOff x="2747391" y="6128359"/>
            <a:chExt cx="4398645" cy="25209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7391" y="6128740"/>
              <a:ext cx="2469260" cy="25126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8308" y="6154089"/>
              <a:ext cx="1120775" cy="18041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5786" y="6128359"/>
              <a:ext cx="730249" cy="2045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2220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ILLEGAL</a:t>
                      </a:r>
                      <a:r>
                        <a:rPr dirty="0" sz="2800" spc="-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QUERIES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 </a:t>
                      </a:r>
                      <a:r>
                        <a:rPr dirty="0" sz="2800" spc="-4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GROUP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28194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77770" y="1744560"/>
            <a:ext cx="5262245" cy="1243330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1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25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cannot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WHER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E</a:t>
            </a:r>
            <a:r>
              <a:rPr dirty="0" sz="1800" spc="-60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clause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4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estrict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g</a:t>
            </a:r>
            <a:r>
              <a:rPr dirty="0" sz="1800" spc="-5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oups.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25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HAVING</a:t>
            </a:r>
            <a:r>
              <a:rPr dirty="0" sz="1800" spc="-62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clau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4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estrict g</a:t>
            </a:r>
            <a:r>
              <a:rPr dirty="0" sz="1800" spc="-5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oups.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25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cannot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 g</a:t>
            </a:r>
            <a:r>
              <a:rPr dirty="0" sz="1800" spc="-6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oup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 the</a:t>
            </a:r>
            <a:r>
              <a:rPr dirty="0" sz="18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WHER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E</a:t>
            </a:r>
            <a:r>
              <a:rPr dirty="0" sz="1800" spc="-60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clau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3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49004" y="3114992"/>
            <a:ext cx="7473315" cy="1259205"/>
            <a:chOff x="2449004" y="3114992"/>
            <a:chExt cx="7473315" cy="1259205"/>
          </a:xfrm>
        </p:grpSpPr>
        <p:sp>
          <p:nvSpPr>
            <p:cNvPr id="5" name="object 5"/>
            <p:cNvSpPr/>
            <p:nvPr/>
          </p:nvSpPr>
          <p:spPr>
            <a:xfrm>
              <a:off x="2512568" y="3178809"/>
              <a:ext cx="7409815" cy="1195070"/>
            </a:xfrm>
            <a:custGeom>
              <a:avLst/>
              <a:gdLst/>
              <a:ahLst/>
              <a:cxnLst/>
              <a:rect l="l" t="t" r="r" b="b"/>
              <a:pathLst>
                <a:path w="7409815" h="1195070">
                  <a:moveTo>
                    <a:pt x="7409688" y="0"/>
                  </a:moveTo>
                  <a:lnTo>
                    <a:pt x="7333234" y="0"/>
                  </a:lnTo>
                  <a:lnTo>
                    <a:pt x="7333234" y="12700"/>
                  </a:lnTo>
                  <a:lnTo>
                    <a:pt x="7333234" y="25400"/>
                  </a:lnTo>
                  <a:lnTo>
                    <a:pt x="7333234" y="1117600"/>
                  </a:lnTo>
                  <a:lnTo>
                    <a:pt x="12954" y="1117600"/>
                  </a:lnTo>
                  <a:lnTo>
                    <a:pt x="12954" y="1168400"/>
                  </a:lnTo>
                  <a:lnTo>
                    <a:pt x="0" y="1168400"/>
                  </a:lnTo>
                  <a:lnTo>
                    <a:pt x="0" y="1195070"/>
                  </a:lnTo>
                  <a:lnTo>
                    <a:pt x="7409688" y="1195070"/>
                  </a:lnTo>
                  <a:lnTo>
                    <a:pt x="7409688" y="1168400"/>
                  </a:lnTo>
                  <a:lnTo>
                    <a:pt x="7409688" y="25400"/>
                  </a:lnTo>
                  <a:lnTo>
                    <a:pt x="74096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62022" y="3128009"/>
              <a:ext cx="7383780" cy="1169035"/>
            </a:xfrm>
            <a:custGeom>
              <a:avLst/>
              <a:gdLst/>
              <a:ahLst/>
              <a:cxnLst/>
              <a:rect l="l" t="t" r="r" b="b"/>
              <a:pathLst>
                <a:path w="7383780" h="1169035">
                  <a:moveTo>
                    <a:pt x="7383780" y="0"/>
                  </a:moveTo>
                  <a:lnTo>
                    <a:pt x="0" y="0"/>
                  </a:lnTo>
                  <a:lnTo>
                    <a:pt x="0" y="1168908"/>
                  </a:lnTo>
                  <a:lnTo>
                    <a:pt x="7383780" y="1168908"/>
                  </a:lnTo>
                  <a:lnTo>
                    <a:pt x="738378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62022" y="3128009"/>
              <a:ext cx="7383780" cy="1169035"/>
            </a:xfrm>
            <a:custGeom>
              <a:avLst/>
              <a:gdLst/>
              <a:ahLst/>
              <a:cxnLst/>
              <a:rect l="l" t="t" r="r" b="b"/>
              <a:pathLst>
                <a:path w="7383780" h="1169035">
                  <a:moveTo>
                    <a:pt x="0" y="1168908"/>
                  </a:moveTo>
                  <a:lnTo>
                    <a:pt x="7383780" y="1168908"/>
                  </a:lnTo>
                  <a:lnTo>
                    <a:pt x="7383780" y="0"/>
                  </a:lnTo>
                  <a:lnTo>
                    <a:pt x="0" y="0"/>
                  </a:lnTo>
                  <a:lnTo>
                    <a:pt x="0" y="116890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2512567" y="4296917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291"/>
                </a:moveTo>
                <a:lnTo>
                  <a:pt x="25907" y="50291"/>
                </a:lnTo>
                <a:lnTo>
                  <a:pt x="25907" y="0"/>
                </a:lnTo>
                <a:lnTo>
                  <a:pt x="0" y="0"/>
                </a:lnTo>
                <a:lnTo>
                  <a:pt x="0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540254" y="3123438"/>
            <a:ext cx="84518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SE</a:t>
            </a:r>
            <a:r>
              <a:rPr dirty="0" sz="1800" spc="-15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b="1">
                <a:latin typeface="Courier New"/>
                <a:cs typeface="Courier New"/>
              </a:rPr>
              <a:t>T  </a:t>
            </a:r>
            <a:r>
              <a:rPr dirty="0" sz="1800" spc="-10" b="1">
                <a:latin typeface="Courier New"/>
                <a:cs typeface="Courier New"/>
              </a:rPr>
              <a:t>FROM 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WHERE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69871" y="3123438"/>
            <a:ext cx="357251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department_id,</a:t>
            </a:r>
            <a:r>
              <a:rPr dirty="0" sz="1800" spc="-8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AVG(salary)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AVG(salary)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&gt;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8000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49067" y="4390644"/>
            <a:ext cx="7473315" cy="1276350"/>
            <a:chOff x="2449067" y="4390644"/>
            <a:chExt cx="7473315" cy="1276350"/>
          </a:xfrm>
        </p:grpSpPr>
        <p:sp>
          <p:nvSpPr>
            <p:cNvPr id="12" name="object 12"/>
            <p:cNvSpPr/>
            <p:nvPr/>
          </p:nvSpPr>
          <p:spPr>
            <a:xfrm>
              <a:off x="2512568" y="4453889"/>
              <a:ext cx="7409815" cy="1212850"/>
            </a:xfrm>
            <a:custGeom>
              <a:avLst/>
              <a:gdLst/>
              <a:ahLst/>
              <a:cxnLst/>
              <a:rect l="l" t="t" r="r" b="b"/>
              <a:pathLst>
                <a:path w="7409815" h="1212850">
                  <a:moveTo>
                    <a:pt x="7409688" y="0"/>
                  </a:moveTo>
                  <a:lnTo>
                    <a:pt x="7333234" y="0"/>
                  </a:lnTo>
                  <a:lnTo>
                    <a:pt x="7333234" y="13208"/>
                  </a:lnTo>
                  <a:lnTo>
                    <a:pt x="7333234" y="26670"/>
                  </a:lnTo>
                  <a:lnTo>
                    <a:pt x="7333234" y="1136904"/>
                  </a:lnTo>
                  <a:lnTo>
                    <a:pt x="7383780" y="1136904"/>
                  </a:lnTo>
                  <a:lnTo>
                    <a:pt x="25908" y="1136916"/>
                  </a:lnTo>
                  <a:lnTo>
                    <a:pt x="25908" y="1136650"/>
                  </a:lnTo>
                  <a:lnTo>
                    <a:pt x="0" y="1136650"/>
                  </a:lnTo>
                  <a:lnTo>
                    <a:pt x="0" y="1187450"/>
                  </a:lnTo>
                  <a:lnTo>
                    <a:pt x="0" y="1212850"/>
                  </a:lnTo>
                  <a:lnTo>
                    <a:pt x="7409688" y="1212850"/>
                  </a:lnTo>
                  <a:lnTo>
                    <a:pt x="7409688" y="1187450"/>
                  </a:lnTo>
                  <a:lnTo>
                    <a:pt x="7409688" y="26670"/>
                  </a:lnTo>
                  <a:lnTo>
                    <a:pt x="74096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62021" y="4403598"/>
              <a:ext cx="7383780" cy="1187450"/>
            </a:xfrm>
            <a:custGeom>
              <a:avLst/>
              <a:gdLst/>
              <a:ahLst/>
              <a:cxnLst/>
              <a:rect l="l" t="t" r="r" b="b"/>
              <a:pathLst>
                <a:path w="7383780" h="1187450">
                  <a:moveTo>
                    <a:pt x="7383780" y="0"/>
                  </a:moveTo>
                  <a:lnTo>
                    <a:pt x="0" y="0"/>
                  </a:lnTo>
                  <a:lnTo>
                    <a:pt x="0" y="1187195"/>
                  </a:lnTo>
                  <a:lnTo>
                    <a:pt x="7383780" y="1187195"/>
                  </a:lnTo>
                  <a:lnTo>
                    <a:pt x="738378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62021" y="4403598"/>
              <a:ext cx="7383780" cy="1187450"/>
            </a:xfrm>
            <a:custGeom>
              <a:avLst/>
              <a:gdLst/>
              <a:ahLst/>
              <a:cxnLst/>
              <a:rect l="l" t="t" r="r" b="b"/>
              <a:pathLst>
                <a:path w="7383780" h="1187450">
                  <a:moveTo>
                    <a:pt x="0" y="1187195"/>
                  </a:moveTo>
                  <a:lnTo>
                    <a:pt x="7383780" y="1187195"/>
                  </a:lnTo>
                  <a:lnTo>
                    <a:pt x="7383780" y="0"/>
                  </a:lnTo>
                  <a:lnTo>
                    <a:pt x="0" y="0"/>
                  </a:lnTo>
                  <a:lnTo>
                    <a:pt x="0" y="118719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540254" y="3946652"/>
            <a:ext cx="6165850" cy="1584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GROUP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BY</a:t>
            </a:r>
            <a:r>
              <a:rPr dirty="0" sz="1800" spc="-4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department_id;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  <a:tabLst>
                <a:tab pos="969010" algn="l"/>
              </a:tabLst>
            </a:pPr>
            <a:r>
              <a:rPr dirty="0" sz="1800" spc="-10" b="1">
                <a:latin typeface="Courier New"/>
                <a:cs typeface="Courier New"/>
              </a:rPr>
              <a:t>WHERE	AVG(salary)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&gt;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8000</a:t>
            </a:r>
            <a:endParaRPr sz="1800">
              <a:latin typeface="Courier New"/>
              <a:cs typeface="Courier New"/>
            </a:endParaRPr>
          </a:p>
          <a:p>
            <a:pPr marL="969644">
              <a:lnSpc>
                <a:spcPct val="100000"/>
              </a:lnSpc>
            </a:pPr>
            <a:r>
              <a:rPr dirty="0" sz="1800" b="1">
                <a:latin typeface="Courier New"/>
                <a:cs typeface="Courier New"/>
              </a:rPr>
              <a:t>*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ERROR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at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line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3: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ORA-00934: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group</a:t>
            </a:r>
            <a:r>
              <a:rPr dirty="0" sz="1800" spc="-1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function</a:t>
            </a:r>
            <a:r>
              <a:rPr dirty="0" sz="1800" spc="-1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is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not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allowed</a:t>
            </a:r>
            <a:r>
              <a:rPr dirty="0" sz="1800" spc="-1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here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677795" y="5777826"/>
            <a:ext cx="5145405" cy="247650"/>
            <a:chOff x="2677795" y="5777826"/>
            <a:chExt cx="5145405" cy="24765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7795" y="5795136"/>
              <a:ext cx="1669415" cy="21335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8705" y="5817234"/>
              <a:ext cx="716407" cy="17763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785" y="5777826"/>
              <a:ext cx="2685288" cy="2475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EXCLUDING</a:t>
                      </a:r>
                      <a:r>
                        <a:rPr dirty="0" sz="2800" spc="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4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GROUP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4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RESULTS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996" y="6581877"/>
            <a:ext cx="996233" cy="997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06288" y="3923487"/>
            <a:ext cx="1687830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The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maximum</a:t>
            </a:r>
            <a:endParaRPr sz="1800">
              <a:latin typeface="Arial"/>
              <a:cs typeface="Arial"/>
            </a:endParaRPr>
          </a:p>
          <a:p>
            <a:pPr algn="ctr" marL="2540">
              <a:lnSpc>
                <a:spcPct val="100000"/>
              </a:lnSpc>
              <a:spcBef>
                <a:spcPts val="5"/>
              </a:spcBef>
            </a:pPr>
            <a:r>
              <a:rPr dirty="0" sz="1800" spc="-5" b="1">
                <a:latin typeface="Arial"/>
                <a:cs typeface="Arial"/>
              </a:rPr>
              <a:t>salary</a:t>
            </a:r>
            <a:endParaRPr sz="1800">
              <a:latin typeface="Arial"/>
              <a:cs typeface="Arial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1800" spc="-5" b="1">
                <a:latin typeface="Arial"/>
                <a:cs typeface="Arial"/>
              </a:rPr>
              <a:t>per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department </a:t>
            </a:r>
            <a:r>
              <a:rPr dirty="0" sz="1800" spc="-484" b="1">
                <a:latin typeface="Arial"/>
                <a:cs typeface="Arial"/>
              </a:rPr>
              <a:t> </a:t>
            </a:r>
            <a:r>
              <a:rPr dirty="0" sz="1800" spc="5" b="1">
                <a:latin typeface="Arial"/>
                <a:cs typeface="Arial"/>
              </a:rPr>
              <a:t>when </a:t>
            </a:r>
            <a:r>
              <a:rPr dirty="0" sz="1800" b="1">
                <a:latin typeface="Arial"/>
                <a:cs typeface="Arial"/>
              </a:rPr>
              <a:t>it is </a:t>
            </a:r>
            <a:r>
              <a:rPr dirty="0" sz="1800" spc="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greater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than</a:t>
            </a:r>
            <a:endParaRPr sz="1800">
              <a:latin typeface="Arial"/>
              <a:cs typeface="Arial"/>
            </a:endParaRPr>
          </a:p>
          <a:p>
            <a:pPr algn="ctr" marL="3175">
              <a:lnSpc>
                <a:spcPct val="100000"/>
              </a:lnSpc>
            </a:pPr>
            <a:r>
              <a:rPr dirty="0" sz="1800" spc="-5" b="1">
                <a:latin typeface="Arial"/>
                <a:cs typeface="Arial"/>
              </a:rPr>
              <a:t>$10,000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6004" y="2091054"/>
            <a:ext cx="1255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0655" y="2477642"/>
            <a:ext cx="2486772" cy="313372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881127" y="5839967"/>
            <a:ext cx="2497455" cy="648335"/>
            <a:chOff x="2881127" y="5839967"/>
            <a:chExt cx="2497455" cy="64833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81127" y="5839967"/>
              <a:ext cx="2486772" cy="6480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937510" y="6052565"/>
              <a:ext cx="2428240" cy="411480"/>
            </a:xfrm>
            <a:custGeom>
              <a:avLst/>
              <a:gdLst/>
              <a:ahLst/>
              <a:cxnLst/>
              <a:rect l="l" t="t" r="r" b="b"/>
              <a:pathLst>
                <a:path w="2428240" h="411479">
                  <a:moveTo>
                    <a:pt x="0" y="411480"/>
                  </a:moveTo>
                  <a:lnTo>
                    <a:pt x="2427732" y="411480"/>
                  </a:lnTo>
                  <a:lnTo>
                    <a:pt x="2427732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  <a:path w="2428240" h="411479">
                  <a:moveTo>
                    <a:pt x="1636776" y="176784"/>
                  </a:moveTo>
                  <a:lnTo>
                    <a:pt x="2366772" y="176784"/>
                  </a:lnTo>
                  <a:lnTo>
                    <a:pt x="2366772" y="39624"/>
                  </a:lnTo>
                  <a:lnTo>
                    <a:pt x="1636776" y="39624"/>
                  </a:lnTo>
                  <a:lnTo>
                    <a:pt x="1636776" y="176784"/>
                  </a:lnTo>
                  <a:close/>
                </a:path>
              </a:pathLst>
            </a:custGeom>
            <a:ln w="25908">
              <a:solidFill>
                <a:srgbClr val="FF50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5385815" y="2449067"/>
            <a:ext cx="2248535" cy="4320540"/>
          </a:xfrm>
          <a:custGeom>
            <a:avLst/>
            <a:gdLst/>
            <a:ahLst/>
            <a:cxnLst/>
            <a:rect l="l" t="t" r="r" b="b"/>
            <a:pathLst>
              <a:path w="2248534" h="4320540">
                <a:moveTo>
                  <a:pt x="0" y="0"/>
                </a:moveTo>
                <a:lnTo>
                  <a:pt x="0" y="4320475"/>
                </a:lnTo>
                <a:lnTo>
                  <a:pt x="2248027" y="2707259"/>
                </a:lnTo>
                <a:lnTo>
                  <a:pt x="2248027" y="1613281"/>
                </a:lnTo>
                <a:lnTo>
                  <a:pt x="0" y="0"/>
                </a:lnTo>
                <a:close/>
              </a:path>
            </a:pathLst>
          </a:custGeom>
          <a:solidFill>
            <a:srgbClr val="FFCC99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68373" y="4062228"/>
            <a:ext cx="2484907" cy="10862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841117" y="5437123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37510" y="2743961"/>
            <a:ext cx="2428240" cy="2863850"/>
          </a:xfrm>
          <a:custGeom>
            <a:avLst/>
            <a:gdLst/>
            <a:ahLst/>
            <a:cxnLst/>
            <a:rect l="l" t="t" r="r" b="b"/>
            <a:pathLst>
              <a:path w="2428240" h="2863850">
                <a:moveTo>
                  <a:pt x="0" y="576072"/>
                </a:moveTo>
                <a:lnTo>
                  <a:pt x="2427732" y="576072"/>
                </a:lnTo>
                <a:lnTo>
                  <a:pt x="2427732" y="0"/>
                </a:lnTo>
                <a:lnTo>
                  <a:pt x="0" y="0"/>
                </a:lnTo>
                <a:lnTo>
                  <a:pt x="0" y="576072"/>
                </a:lnTo>
                <a:close/>
              </a:path>
              <a:path w="2428240" h="2863850">
                <a:moveTo>
                  <a:pt x="1601724" y="161543"/>
                </a:moveTo>
                <a:lnTo>
                  <a:pt x="2366772" y="161543"/>
                </a:lnTo>
                <a:lnTo>
                  <a:pt x="2366772" y="13715"/>
                </a:lnTo>
                <a:lnTo>
                  <a:pt x="1601724" y="13715"/>
                </a:lnTo>
                <a:lnTo>
                  <a:pt x="1601724" y="161543"/>
                </a:lnTo>
                <a:close/>
              </a:path>
              <a:path w="2428240" h="2863850">
                <a:moveTo>
                  <a:pt x="0" y="1203960"/>
                </a:moveTo>
                <a:lnTo>
                  <a:pt x="2427732" y="1203960"/>
                </a:lnTo>
                <a:lnTo>
                  <a:pt x="2427732" y="627888"/>
                </a:lnTo>
                <a:lnTo>
                  <a:pt x="0" y="627888"/>
                </a:lnTo>
                <a:lnTo>
                  <a:pt x="0" y="1203960"/>
                </a:lnTo>
                <a:close/>
              </a:path>
              <a:path w="2428240" h="2863850">
                <a:moveTo>
                  <a:pt x="1636776" y="2654808"/>
                </a:moveTo>
                <a:lnTo>
                  <a:pt x="2366772" y="2654808"/>
                </a:lnTo>
                <a:lnTo>
                  <a:pt x="2366772" y="2517648"/>
                </a:lnTo>
                <a:lnTo>
                  <a:pt x="1636776" y="2517648"/>
                </a:lnTo>
                <a:lnTo>
                  <a:pt x="1636776" y="2654808"/>
                </a:lnTo>
                <a:close/>
              </a:path>
              <a:path w="2428240" h="2863850">
                <a:moveTo>
                  <a:pt x="0" y="2235708"/>
                </a:moveTo>
                <a:lnTo>
                  <a:pt x="2427732" y="2235708"/>
                </a:lnTo>
                <a:lnTo>
                  <a:pt x="2427732" y="1266444"/>
                </a:lnTo>
                <a:lnTo>
                  <a:pt x="0" y="1266444"/>
                </a:lnTo>
                <a:lnTo>
                  <a:pt x="0" y="2235708"/>
                </a:lnTo>
                <a:close/>
              </a:path>
              <a:path w="2428240" h="2863850">
                <a:moveTo>
                  <a:pt x="0" y="2863596"/>
                </a:moveTo>
                <a:lnTo>
                  <a:pt x="2427732" y="2863596"/>
                </a:lnTo>
                <a:lnTo>
                  <a:pt x="2427732" y="2287524"/>
                </a:lnTo>
                <a:lnTo>
                  <a:pt x="0" y="2287524"/>
                </a:lnTo>
                <a:lnTo>
                  <a:pt x="0" y="2863596"/>
                </a:lnTo>
                <a:close/>
              </a:path>
            </a:pathLst>
          </a:custGeom>
          <a:ln w="25908">
            <a:solidFill>
              <a:srgbClr val="FF505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EXCLUDING</a:t>
                      </a:r>
                      <a:r>
                        <a:rPr dirty="0" sz="2800" spc="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4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GROUP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RESULTS:THE</a:t>
                      </a:r>
                      <a:r>
                        <a:rPr dirty="0" sz="2800" spc="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HAVING</a:t>
                      </a:r>
                      <a:r>
                        <a:rPr dirty="0" sz="2800" spc="-93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CLAUSE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79484" y="3945572"/>
            <a:ext cx="7304405" cy="1830705"/>
            <a:chOff x="2479484" y="3945572"/>
            <a:chExt cx="7304405" cy="1830705"/>
          </a:xfrm>
        </p:grpSpPr>
        <p:sp>
          <p:nvSpPr>
            <p:cNvPr id="4" name="object 4"/>
            <p:cNvSpPr/>
            <p:nvPr/>
          </p:nvSpPr>
          <p:spPr>
            <a:xfrm>
              <a:off x="2543048" y="4009389"/>
              <a:ext cx="7240905" cy="1766570"/>
            </a:xfrm>
            <a:custGeom>
              <a:avLst/>
              <a:gdLst/>
              <a:ahLst/>
              <a:cxnLst/>
              <a:rect l="l" t="t" r="r" b="b"/>
              <a:pathLst>
                <a:path w="7240905" h="1766570">
                  <a:moveTo>
                    <a:pt x="7240524" y="0"/>
                  </a:moveTo>
                  <a:lnTo>
                    <a:pt x="7164057" y="0"/>
                  </a:lnTo>
                  <a:lnTo>
                    <a:pt x="7164057" y="25400"/>
                  </a:lnTo>
                  <a:lnTo>
                    <a:pt x="7164070" y="1689100"/>
                  </a:lnTo>
                  <a:lnTo>
                    <a:pt x="12954" y="1689100"/>
                  </a:lnTo>
                  <a:lnTo>
                    <a:pt x="12954" y="1739900"/>
                  </a:lnTo>
                  <a:lnTo>
                    <a:pt x="0" y="1739900"/>
                  </a:lnTo>
                  <a:lnTo>
                    <a:pt x="0" y="1766570"/>
                  </a:lnTo>
                  <a:lnTo>
                    <a:pt x="7240524" y="1766570"/>
                  </a:lnTo>
                  <a:lnTo>
                    <a:pt x="7240524" y="1739900"/>
                  </a:lnTo>
                  <a:lnTo>
                    <a:pt x="7240524" y="25400"/>
                  </a:lnTo>
                  <a:lnTo>
                    <a:pt x="72405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92502" y="3958589"/>
              <a:ext cx="7214870" cy="1740535"/>
            </a:xfrm>
            <a:custGeom>
              <a:avLst/>
              <a:gdLst/>
              <a:ahLst/>
              <a:cxnLst/>
              <a:rect l="l" t="t" r="r" b="b"/>
              <a:pathLst>
                <a:path w="7214870" h="1740535">
                  <a:moveTo>
                    <a:pt x="7214616" y="0"/>
                  </a:moveTo>
                  <a:lnTo>
                    <a:pt x="0" y="0"/>
                  </a:lnTo>
                  <a:lnTo>
                    <a:pt x="0" y="1740408"/>
                  </a:lnTo>
                  <a:lnTo>
                    <a:pt x="7214616" y="1740408"/>
                  </a:lnTo>
                  <a:lnTo>
                    <a:pt x="721461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92502" y="3958589"/>
              <a:ext cx="7214870" cy="1740535"/>
            </a:xfrm>
            <a:custGeom>
              <a:avLst/>
              <a:gdLst/>
              <a:ahLst/>
              <a:cxnLst/>
              <a:rect l="l" t="t" r="r" b="b"/>
              <a:pathLst>
                <a:path w="7214870" h="1740535">
                  <a:moveTo>
                    <a:pt x="0" y="1740408"/>
                  </a:moveTo>
                  <a:lnTo>
                    <a:pt x="7214616" y="1740408"/>
                  </a:lnTo>
                  <a:lnTo>
                    <a:pt x="7214616" y="0"/>
                  </a:lnTo>
                  <a:lnTo>
                    <a:pt x="0" y="0"/>
                  </a:lnTo>
                  <a:lnTo>
                    <a:pt x="0" y="174040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43048" y="5698997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291"/>
                </a:moveTo>
                <a:lnTo>
                  <a:pt x="25907" y="50291"/>
                </a:lnTo>
                <a:lnTo>
                  <a:pt x="25907" y="0"/>
                </a:lnTo>
                <a:lnTo>
                  <a:pt x="0" y="0"/>
                </a:lnTo>
                <a:lnTo>
                  <a:pt x="0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59557" y="3965194"/>
            <a:ext cx="125539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SELECT 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FROM 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[WHERE 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[GROUP</a:t>
            </a:r>
            <a:r>
              <a:rPr dirty="0" sz="1800" spc="-8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BY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92929" y="3965194"/>
            <a:ext cx="302958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 i="1">
                <a:latin typeface="Courier New"/>
                <a:cs typeface="Courier New"/>
              </a:rPr>
              <a:t>column</a:t>
            </a:r>
            <a:r>
              <a:rPr dirty="0" sz="1800" spc="-10" b="1">
                <a:latin typeface="Courier New"/>
                <a:cs typeface="Courier New"/>
              </a:rPr>
              <a:t>,</a:t>
            </a:r>
            <a:r>
              <a:rPr dirty="0" sz="1800" spc="-70" b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group_function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 i="1">
                <a:latin typeface="Courier New"/>
                <a:cs typeface="Courier New"/>
              </a:rPr>
              <a:t>table</a:t>
            </a:r>
            <a:endParaRPr sz="1800">
              <a:latin typeface="Courier New"/>
              <a:cs typeface="Courier New"/>
            </a:endParaRPr>
          </a:p>
          <a:p>
            <a:pPr marL="12700" marR="276860">
              <a:lnSpc>
                <a:spcPct val="100000"/>
              </a:lnSpc>
            </a:pPr>
            <a:r>
              <a:rPr dirty="0" sz="1800" spc="-10" b="1" i="1">
                <a:latin typeface="Courier New"/>
                <a:cs typeface="Courier New"/>
              </a:rPr>
              <a:t>condition</a:t>
            </a:r>
            <a:r>
              <a:rPr dirty="0" sz="1800" spc="-10" b="1">
                <a:latin typeface="Courier New"/>
                <a:cs typeface="Courier New"/>
              </a:rPr>
              <a:t>] 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5" b="1" i="1">
                <a:latin typeface="Courier New"/>
                <a:cs typeface="Courier New"/>
              </a:rPr>
              <a:t>gr</a:t>
            </a:r>
            <a:r>
              <a:rPr dirty="0" sz="1800" spc="-15" b="1" i="1">
                <a:latin typeface="Courier New"/>
                <a:cs typeface="Courier New"/>
              </a:rPr>
              <a:t>o</a:t>
            </a:r>
            <a:r>
              <a:rPr dirty="0" sz="1800" spc="-5" b="1" i="1">
                <a:latin typeface="Courier New"/>
                <a:cs typeface="Courier New"/>
              </a:rPr>
              <a:t>u</a:t>
            </a:r>
            <a:r>
              <a:rPr dirty="0" sz="1800" spc="-15" b="1" i="1">
                <a:latin typeface="Courier New"/>
                <a:cs typeface="Courier New"/>
              </a:rPr>
              <a:t>p</a:t>
            </a:r>
            <a:r>
              <a:rPr dirty="0" sz="1800" spc="-5" b="1" i="1">
                <a:latin typeface="Courier New"/>
                <a:cs typeface="Courier New"/>
              </a:rPr>
              <a:t>_b</a:t>
            </a:r>
            <a:r>
              <a:rPr dirty="0" sz="1800" spc="-15" b="1" i="1">
                <a:latin typeface="Courier New"/>
                <a:cs typeface="Courier New"/>
              </a:rPr>
              <a:t>y</a:t>
            </a:r>
            <a:r>
              <a:rPr dirty="0" sz="1800" spc="-5" b="1" i="1">
                <a:latin typeface="Courier New"/>
                <a:cs typeface="Courier New"/>
              </a:rPr>
              <a:t>_</a:t>
            </a:r>
            <a:r>
              <a:rPr dirty="0" sz="1800" spc="-15" b="1" i="1">
                <a:latin typeface="Courier New"/>
                <a:cs typeface="Courier New"/>
              </a:rPr>
              <a:t>ex</a:t>
            </a:r>
            <a:r>
              <a:rPr dirty="0" sz="1800" spc="-5" b="1" i="1">
                <a:latin typeface="Courier New"/>
                <a:cs typeface="Courier New"/>
              </a:rPr>
              <a:t>pr</a:t>
            </a:r>
            <a:r>
              <a:rPr dirty="0" sz="1800" spc="-15" b="1" i="1">
                <a:latin typeface="Courier New"/>
                <a:cs typeface="Courier New"/>
              </a:rPr>
              <a:t>e</a:t>
            </a:r>
            <a:r>
              <a:rPr dirty="0" sz="1800" spc="-5" b="1" i="1">
                <a:latin typeface="Courier New"/>
                <a:cs typeface="Courier New"/>
              </a:rPr>
              <a:t>s</a:t>
            </a:r>
            <a:r>
              <a:rPr dirty="0" sz="1800" spc="-15" b="1" i="1">
                <a:latin typeface="Courier New"/>
                <a:cs typeface="Courier New"/>
              </a:rPr>
              <a:t>s</a:t>
            </a:r>
            <a:r>
              <a:rPr dirty="0" sz="1800" spc="-5" b="1" i="1">
                <a:latin typeface="Courier New"/>
                <a:cs typeface="Courier New"/>
              </a:rPr>
              <a:t>io</a:t>
            </a:r>
            <a:r>
              <a:rPr dirty="0" sz="1800" spc="-10" b="1" i="1">
                <a:latin typeface="Courier New"/>
                <a:cs typeface="Courier New"/>
              </a:rPr>
              <a:t>n</a:t>
            </a:r>
            <a:r>
              <a:rPr dirty="0" sz="1800" b="1"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59557" y="5062854"/>
            <a:ext cx="9823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[HAVING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59557" y="5337175"/>
            <a:ext cx="1255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[ORDER</a:t>
            </a:r>
            <a:r>
              <a:rPr dirty="0" sz="1800" spc="-8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BY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92929" y="5062854"/>
            <a:ext cx="22117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latin typeface="Courier New"/>
                <a:cs typeface="Courier New"/>
              </a:rPr>
              <a:t>gr</a:t>
            </a:r>
            <a:r>
              <a:rPr dirty="0" sz="1800" spc="-15" b="1" i="1">
                <a:latin typeface="Courier New"/>
                <a:cs typeface="Courier New"/>
              </a:rPr>
              <a:t>o</a:t>
            </a:r>
            <a:r>
              <a:rPr dirty="0" sz="1800" spc="-5" b="1" i="1">
                <a:latin typeface="Courier New"/>
                <a:cs typeface="Courier New"/>
              </a:rPr>
              <a:t>u</a:t>
            </a:r>
            <a:r>
              <a:rPr dirty="0" sz="1800" spc="-15" b="1" i="1">
                <a:latin typeface="Courier New"/>
                <a:cs typeface="Courier New"/>
              </a:rPr>
              <a:t>p</a:t>
            </a:r>
            <a:r>
              <a:rPr dirty="0" sz="1800" spc="-5" b="1" i="1">
                <a:latin typeface="Courier New"/>
                <a:cs typeface="Courier New"/>
              </a:rPr>
              <a:t>_c</a:t>
            </a:r>
            <a:r>
              <a:rPr dirty="0" sz="1800" spc="-15" b="1" i="1">
                <a:latin typeface="Courier New"/>
                <a:cs typeface="Courier New"/>
              </a:rPr>
              <a:t>o</a:t>
            </a:r>
            <a:r>
              <a:rPr dirty="0" sz="1800" spc="-5" b="1" i="1">
                <a:latin typeface="Courier New"/>
                <a:cs typeface="Courier New"/>
              </a:rPr>
              <a:t>n</a:t>
            </a:r>
            <a:r>
              <a:rPr dirty="0" sz="1800" spc="-15" b="1" i="1">
                <a:latin typeface="Courier New"/>
                <a:cs typeface="Courier New"/>
              </a:rPr>
              <a:t>di</a:t>
            </a:r>
            <a:r>
              <a:rPr dirty="0" sz="1800" spc="-5" b="1" i="1">
                <a:latin typeface="Courier New"/>
                <a:cs typeface="Courier New"/>
              </a:rPr>
              <a:t>ti</a:t>
            </a:r>
            <a:r>
              <a:rPr dirty="0" sz="1800" spc="-15" b="1" i="1">
                <a:latin typeface="Courier New"/>
                <a:cs typeface="Courier New"/>
              </a:rPr>
              <a:t>o</a:t>
            </a:r>
            <a:r>
              <a:rPr dirty="0" sz="1800" spc="5" b="1" i="1">
                <a:latin typeface="Courier New"/>
                <a:cs typeface="Courier New"/>
              </a:rPr>
              <a:t>n</a:t>
            </a:r>
            <a:r>
              <a:rPr dirty="0" sz="1800" b="1">
                <a:latin typeface="Courier New"/>
                <a:cs typeface="Courier New"/>
              </a:rPr>
              <a:t>]  </a:t>
            </a:r>
            <a:r>
              <a:rPr dirty="0" sz="1800" spc="-10" b="1" i="1">
                <a:latin typeface="Courier New"/>
                <a:cs typeface="Courier New"/>
              </a:rPr>
              <a:t>column</a:t>
            </a:r>
            <a:r>
              <a:rPr dirty="0" sz="1800" spc="-10" b="1">
                <a:latin typeface="Courier New"/>
                <a:cs typeface="Courier New"/>
              </a:rPr>
              <a:t>];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77770" y="1746630"/>
            <a:ext cx="5082540" cy="1661160"/>
          </a:xfrm>
          <a:prstGeom prst="rect">
            <a:avLst/>
          </a:prstGeom>
        </p:spPr>
        <p:txBody>
          <a:bodyPr wrap="square" lIns="0" tIns="157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HAVIN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G</a:t>
            </a:r>
            <a:r>
              <a:rPr dirty="0" sz="1800" spc="-61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clau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4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estrict g</a:t>
            </a:r>
            <a:r>
              <a:rPr dirty="0" sz="1800" spc="-5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oups: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140"/>
              </a:spcBef>
              <a:buAutoNum type="arabicPeriod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Rows</a:t>
            </a:r>
            <a:r>
              <a:rPr dirty="0" sz="1800" spc="-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grouped.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AutoNum type="arabicPeriod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group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applied.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919"/>
              </a:spcBef>
              <a:buAutoNum type="arabicPeriod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G</a:t>
            </a:r>
            <a:r>
              <a:rPr dirty="0" sz="1800" spc="-5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oups match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ng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HAVIN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G</a:t>
            </a:r>
            <a:r>
              <a:rPr dirty="0" sz="1800" spc="-61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clau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4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disp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dirty="0" sz="1800" spc="-7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ed.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70226" y="5115305"/>
            <a:ext cx="4139565" cy="266700"/>
          </a:xfrm>
          <a:custGeom>
            <a:avLst/>
            <a:gdLst/>
            <a:ahLst/>
            <a:cxnLst/>
            <a:rect l="l" t="t" r="r" b="b"/>
            <a:pathLst>
              <a:path w="4139565" h="266700">
                <a:moveTo>
                  <a:pt x="0" y="266700"/>
                </a:moveTo>
                <a:lnTo>
                  <a:pt x="4139183" y="266700"/>
                </a:lnTo>
                <a:lnTo>
                  <a:pt x="4139183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ln w="25908">
            <a:solidFill>
              <a:srgbClr val="FF505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HAVING</a:t>
                      </a:r>
                      <a:r>
                        <a:rPr dirty="0" sz="2800" spc="-94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CL</a:t>
                      </a:r>
                      <a:r>
                        <a:rPr dirty="0" sz="2800" spc="-7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USE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30716" y="2546540"/>
            <a:ext cx="7388225" cy="1280160"/>
            <a:chOff x="2430716" y="2546540"/>
            <a:chExt cx="7388225" cy="1280160"/>
          </a:xfrm>
        </p:grpSpPr>
        <p:sp>
          <p:nvSpPr>
            <p:cNvPr id="4" name="object 4"/>
            <p:cNvSpPr/>
            <p:nvPr/>
          </p:nvSpPr>
          <p:spPr>
            <a:xfrm>
              <a:off x="2494280" y="2609849"/>
              <a:ext cx="7324725" cy="1216660"/>
            </a:xfrm>
            <a:custGeom>
              <a:avLst/>
              <a:gdLst/>
              <a:ahLst/>
              <a:cxnLst/>
              <a:rect l="l" t="t" r="r" b="b"/>
              <a:pathLst>
                <a:path w="7324725" h="1216660">
                  <a:moveTo>
                    <a:pt x="7324344" y="0"/>
                  </a:moveTo>
                  <a:lnTo>
                    <a:pt x="7247890" y="0"/>
                  </a:lnTo>
                  <a:lnTo>
                    <a:pt x="7247890" y="12700"/>
                  </a:lnTo>
                  <a:lnTo>
                    <a:pt x="7247890" y="26670"/>
                  </a:lnTo>
                  <a:lnTo>
                    <a:pt x="7247890" y="1140460"/>
                  </a:lnTo>
                  <a:lnTo>
                    <a:pt x="12954" y="1140460"/>
                  </a:lnTo>
                  <a:lnTo>
                    <a:pt x="12954" y="1189990"/>
                  </a:lnTo>
                  <a:lnTo>
                    <a:pt x="0" y="1189990"/>
                  </a:lnTo>
                  <a:lnTo>
                    <a:pt x="0" y="1216660"/>
                  </a:lnTo>
                  <a:lnTo>
                    <a:pt x="7324344" y="1216660"/>
                  </a:lnTo>
                  <a:lnTo>
                    <a:pt x="7324344" y="1189990"/>
                  </a:lnTo>
                  <a:lnTo>
                    <a:pt x="7324344" y="26670"/>
                  </a:lnTo>
                  <a:lnTo>
                    <a:pt x="73243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43734" y="2559557"/>
              <a:ext cx="7298690" cy="1190625"/>
            </a:xfrm>
            <a:custGeom>
              <a:avLst/>
              <a:gdLst/>
              <a:ahLst/>
              <a:cxnLst/>
              <a:rect l="l" t="t" r="r" b="b"/>
              <a:pathLst>
                <a:path w="7298690" h="1190625">
                  <a:moveTo>
                    <a:pt x="7298435" y="0"/>
                  </a:moveTo>
                  <a:lnTo>
                    <a:pt x="0" y="0"/>
                  </a:lnTo>
                  <a:lnTo>
                    <a:pt x="0" y="1190244"/>
                  </a:lnTo>
                  <a:lnTo>
                    <a:pt x="7298435" y="1190244"/>
                  </a:lnTo>
                  <a:lnTo>
                    <a:pt x="729843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43734" y="2559557"/>
              <a:ext cx="7298690" cy="1190625"/>
            </a:xfrm>
            <a:custGeom>
              <a:avLst/>
              <a:gdLst/>
              <a:ahLst/>
              <a:cxnLst/>
              <a:rect l="l" t="t" r="r" b="b"/>
              <a:pathLst>
                <a:path w="7298690" h="1190625">
                  <a:moveTo>
                    <a:pt x="0" y="1190244"/>
                  </a:moveTo>
                  <a:lnTo>
                    <a:pt x="7298435" y="1190244"/>
                  </a:lnTo>
                  <a:lnTo>
                    <a:pt x="7298435" y="0"/>
                  </a:lnTo>
                  <a:lnTo>
                    <a:pt x="0" y="0"/>
                  </a:lnTo>
                  <a:lnTo>
                    <a:pt x="0" y="119024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494279" y="3750309"/>
            <a:ext cx="26034" cy="49530"/>
          </a:xfrm>
          <a:custGeom>
            <a:avLst/>
            <a:gdLst/>
            <a:ahLst/>
            <a:cxnLst/>
            <a:rect l="l" t="t" r="r" b="b"/>
            <a:pathLst>
              <a:path w="26035" h="49529">
                <a:moveTo>
                  <a:pt x="0" y="49530"/>
                </a:moveTo>
                <a:lnTo>
                  <a:pt x="25907" y="49530"/>
                </a:lnTo>
                <a:lnTo>
                  <a:pt x="25907" y="0"/>
                </a:ln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40254" y="2566161"/>
            <a:ext cx="8451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SE</a:t>
            </a:r>
            <a:r>
              <a:rPr dirty="0" sz="1800" spc="-15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b="1">
                <a:latin typeface="Courier New"/>
                <a:cs typeface="Courier New"/>
              </a:rPr>
              <a:t>T  </a:t>
            </a:r>
            <a:r>
              <a:rPr dirty="0" sz="1800" spc="-10" b="1"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69871" y="2566161"/>
            <a:ext cx="35725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department_id, MAX(salary)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34411" y="3114497"/>
            <a:ext cx="3852545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GROUP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BY</a:t>
            </a:r>
            <a:r>
              <a:rPr dirty="0" sz="1800" spc="-4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department_id</a:t>
            </a:r>
            <a:endParaRPr sz="1800">
              <a:latin typeface="Courier New"/>
              <a:cs typeface="Courier New"/>
            </a:endParaRPr>
          </a:p>
          <a:p>
            <a:pPr marL="18415">
              <a:lnSpc>
                <a:spcPct val="100000"/>
              </a:lnSpc>
              <a:spcBef>
                <a:spcPts val="5"/>
              </a:spcBef>
              <a:tabLst>
                <a:tab pos="1247775" algn="l"/>
              </a:tabLst>
            </a:pPr>
            <a:r>
              <a:rPr dirty="0" sz="1800" spc="-10" b="1">
                <a:latin typeface="Courier New"/>
                <a:cs typeface="Courier New"/>
              </a:rPr>
              <a:t>HAVING	MAX(salary)&gt;10000</a:t>
            </a:r>
            <a:r>
              <a:rPr dirty="0" sz="1800" spc="-9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21457" y="3454146"/>
            <a:ext cx="3686810" cy="266700"/>
          </a:xfrm>
          <a:custGeom>
            <a:avLst/>
            <a:gdLst/>
            <a:ahLst/>
            <a:cxnLst/>
            <a:rect l="l" t="t" r="r" b="b"/>
            <a:pathLst>
              <a:path w="3686810" h="266700">
                <a:moveTo>
                  <a:pt x="0" y="266699"/>
                </a:moveTo>
                <a:lnTo>
                  <a:pt x="3686555" y="266699"/>
                </a:lnTo>
                <a:lnTo>
                  <a:pt x="3686555" y="0"/>
                </a:lnTo>
                <a:lnTo>
                  <a:pt x="0" y="0"/>
                </a:lnTo>
                <a:lnTo>
                  <a:pt x="0" y="266699"/>
                </a:lnTo>
                <a:close/>
              </a:path>
            </a:pathLst>
          </a:custGeom>
          <a:ln w="25908">
            <a:solidFill>
              <a:srgbClr val="FF50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1548" y="3934577"/>
            <a:ext cx="7248903" cy="108549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HAVING</a:t>
                      </a:r>
                      <a:r>
                        <a:rPr dirty="0" sz="2800" spc="-94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CL</a:t>
                      </a:r>
                      <a:r>
                        <a:rPr dirty="0" sz="2800" spc="-7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USE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30779" y="2729483"/>
            <a:ext cx="7336155" cy="2002789"/>
            <a:chOff x="2430779" y="2729483"/>
            <a:chExt cx="7336155" cy="2002789"/>
          </a:xfrm>
        </p:grpSpPr>
        <p:sp>
          <p:nvSpPr>
            <p:cNvPr id="4" name="object 4"/>
            <p:cNvSpPr/>
            <p:nvPr/>
          </p:nvSpPr>
          <p:spPr>
            <a:xfrm>
              <a:off x="2494280" y="2792729"/>
              <a:ext cx="7272655" cy="1939289"/>
            </a:xfrm>
            <a:custGeom>
              <a:avLst/>
              <a:gdLst/>
              <a:ahLst/>
              <a:cxnLst/>
              <a:rect l="l" t="t" r="r" b="b"/>
              <a:pathLst>
                <a:path w="7272655" h="1939289">
                  <a:moveTo>
                    <a:pt x="7272528" y="0"/>
                  </a:moveTo>
                  <a:lnTo>
                    <a:pt x="7196074" y="0"/>
                  </a:lnTo>
                  <a:lnTo>
                    <a:pt x="7196074" y="12700"/>
                  </a:lnTo>
                  <a:lnTo>
                    <a:pt x="7196074" y="26670"/>
                  </a:lnTo>
                  <a:lnTo>
                    <a:pt x="7196074" y="1861820"/>
                  </a:lnTo>
                  <a:lnTo>
                    <a:pt x="12954" y="1861820"/>
                  </a:lnTo>
                  <a:lnTo>
                    <a:pt x="12954" y="1912620"/>
                  </a:lnTo>
                  <a:lnTo>
                    <a:pt x="0" y="1912620"/>
                  </a:lnTo>
                  <a:lnTo>
                    <a:pt x="0" y="1939290"/>
                  </a:lnTo>
                  <a:lnTo>
                    <a:pt x="7272528" y="1939290"/>
                  </a:lnTo>
                  <a:lnTo>
                    <a:pt x="7272528" y="1912620"/>
                  </a:lnTo>
                  <a:lnTo>
                    <a:pt x="7272528" y="26670"/>
                  </a:lnTo>
                  <a:lnTo>
                    <a:pt x="72725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43733" y="2742437"/>
              <a:ext cx="7246620" cy="1912620"/>
            </a:xfrm>
            <a:custGeom>
              <a:avLst/>
              <a:gdLst/>
              <a:ahLst/>
              <a:cxnLst/>
              <a:rect l="l" t="t" r="r" b="b"/>
              <a:pathLst>
                <a:path w="7246620" h="1912620">
                  <a:moveTo>
                    <a:pt x="7246620" y="0"/>
                  </a:moveTo>
                  <a:lnTo>
                    <a:pt x="0" y="0"/>
                  </a:lnTo>
                  <a:lnTo>
                    <a:pt x="0" y="1912620"/>
                  </a:lnTo>
                  <a:lnTo>
                    <a:pt x="7246620" y="1912620"/>
                  </a:lnTo>
                  <a:lnTo>
                    <a:pt x="724662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43733" y="2742437"/>
              <a:ext cx="7246620" cy="1912620"/>
            </a:xfrm>
            <a:custGeom>
              <a:avLst/>
              <a:gdLst/>
              <a:ahLst/>
              <a:cxnLst/>
              <a:rect l="l" t="t" r="r" b="b"/>
              <a:pathLst>
                <a:path w="7246620" h="1912620">
                  <a:moveTo>
                    <a:pt x="0" y="1912620"/>
                  </a:moveTo>
                  <a:lnTo>
                    <a:pt x="7246620" y="1912620"/>
                  </a:lnTo>
                  <a:lnTo>
                    <a:pt x="7246620" y="0"/>
                  </a:lnTo>
                  <a:lnTo>
                    <a:pt x="0" y="0"/>
                  </a:lnTo>
                  <a:lnTo>
                    <a:pt x="0" y="191262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494279" y="4655058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292"/>
                </a:moveTo>
                <a:lnTo>
                  <a:pt x="25907" y="50292"/>
                </a:lnTo>
                <a:lnTo>
                  <a:pt x="25907" y="0"/>
                </a:lnTo>
                <a:lnTo>
                  <a:pt x="0" y="0"/>
                </a:lnTo>
                <a:lnTo>
                  <a:pt x="0" y="502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08579" y="2884170"/>
            <a:ext cx="84518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SE</a:t>
            </a:r>
            <a:r>
              <a:rPr dirty="0" sz="1800" spc="-15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b="1">
                <a:latin typeface="Courier New"/>
                <a:cs typeface="Courier New"/>
              </a:rPr>
              <a:t>T  </a:t>
            </a:r>
            <a:r>
              <a:rPr dirty="0" sz="1800" spc="-10" b="1">
                <a:latin typeface="Courier New"/>
                <a:cs typeface="Courier New"/>
              </a:rPr>
              <a:t>FROM 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WHERE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8197" y="2884170"/>
            <a:ext cx="370967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job_id, SUM(salary) PAYROLL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job_id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NOT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LIKE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'%REP%'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08579" y="3707383"/>
            <a:ext cx="2073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GROUP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BY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job_id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35173" y="4016502"/>
            <a:ext cx="3971925" cy="266700"/>
          </a:xfrm>
          <a:prstGeom prst="rect">
            <a:avLst/>
          </a:prstGeom>
          <a:solidFill>
            <a:srgbClr val="FFFFCC"/>
          </a:solidFill>
          <a:ln w="25907">
            <a:solidFill>
              <a:srgbClr val="FF505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85725">
              <a:lnSpc>
                <a:spcPts val="1985"/>
              </a:lnSpc>
              <a:tabLst>
                <a:tab pos="1315085" algn="l"/>
              </a:tabLst>
            </a:pPr>
            <a:r>
              <a:rPr dirty="0" sz="1800" spc="-10" b="1">
                <a:latin typeface="Courier New"/>
                <a:cs typeface="Courier New"/>
              </a:rPr>
              <a:t>HAVING	SUM(salary)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&gt;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13000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08579" y="4256023"/>
            <a:ext cx="28930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ORDER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BY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SUM(salary);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1548" y="4874918"/>
            <a:ext cx="7248903" cy="87701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NESTING </a:t>
                      </a:r>
                      <a:r>
                        <a:rPr dirty="0" sz="2800" spc="-4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GROUP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49067" y="2735579"/>
            <a:ext cx="7357745" cy="1016000"/>
            <a:chOff x="2449067" y="2735579"/>
            <a:chExt cx="7357745" cy="1016000"/>
          </a:xfrm>
        </p:grpSpPr>
        <p:sp>
          <p:nvSpPr>
            <p:cNvPr id="4" name="object 4"/>
            <p:cNvSpPr/>
            <p:nvPr/>
          </p:nvSpPr>
          <p:spPr>
            <a:xfrm>
              <a:off x="2512568" y="2799079"/>
              <a:ext cx="7294245" cy="952500"/>
            </a:xfrm>
            <a:custGeom>
              <a:avLst/>
              <a:gdLst/>
              <a:ahLst/>
              <a:cxnLst/>
              <a:rect l="l" t="t" r="r" b="b"/>
              <a:pathLst>
                <a:path w="7294245" h="952500">
                  <a:moveTo>
                    <a:pt x="7293864" y="0"/>
                  </a:moveTo>
                  <a:lnTo>
                    <a:pt x="7217410" y="0"/>
                  </a:lnTo>
                  <a:lnTo>
                    <a:pt x="7217410" y="12700"/>
                  </a:lnTo>
                  <a:lnTo>
                    <a:pt x="7217410" y="25400"/>
                  </a:lnTo>
                  <a:lnTo>
                    <a:pt x="7217410" y="876300"/>
                  </a:lnTo>
                  <a:lnTo>
                    <a:pt x="12954" y="876300"/>
                  </a:lnTo>
                  <a:lnTo>
                    <a:pt x="12954" y="927100"/>
                  </a:lnTo>
                  <a:lnTo>
                    <a:pt x="0" y="927100"/>
                  </a:lnTo>
                  <a:lnTo>
                    <a:pt x="0" y="952500"/>
                  </a:lnTo>
                  <a:lnTo>
                    <a:pt x="7293864" y="952500"/>
                  </a:lnTo>
                  <a:lnTo>
                    <a:pt x="7293864" y="927100"/>
                  </a:lnTo>
                  <a:lnTo>
                    <a:pt x="7293864" y="25400"/>
                  </a:lnTo>
                  <a:lnTo>
                    <a:pt x="72938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62021" y="2748533"/>
              <a:ext cx="7268209" cy="927100"/>
            </a:xfrm>
            <a:custGeom>
              <a:avLst/>
              <a:gdLst/>
              <a:ahLst/>
              <a:cxnLst/>
              <a:rect l="l" t="t" r="r" b="b"/>
              <a:pathLst>
                <a:path w="7268209" h="927100">
                  <a:moveTo>
                    <a:pt x="7267956" y="0"/>
                  </a:moveTo>
                  <a:lnTo>
                    <a:pt x="0" y="0"/>
                  </a:lnTo>
                  <a:lnTo>
                    <a:pt x="0" y="926591"/>
                  </a:lnTo>
                  <a:lnTo>
                    <a:pt x="7267956" y="926591"/>
                  </a:lnTo>
                  <a:lnTo>
                    <a:pt x="726795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62021" y="2748533"/>
              <a:ext cx="7268209" cy="927100"/>
            </a:xfrm>
            <a:custGeom>
              <a:avLst/>
              <a:gdLst/>
              <a:ahLst/>
              <a:cxnLst/>
              <a:rect l="l" t="t" r="r" b="b"/>
              <a:pathLst>
                <a:path w="7268209" h="927100">
                  <a:moveTo>
                    <a:pt x="0" y="926591"/>
                  </a:moveTo>
                  <a:lnTo>
                    <a:pt x="7267956" y="926591"/>
                  </a:lnTo>
                  <a:lnTo>
                    <a:pt x="7267956" y="0"/>
                  </a:lnTo>
                  <a:lnTo>
                    <a:pt x="0" y="0"/>
                  </a:lnTo>
                  <a:lnTo>
                    <a:pt x="0" y="92659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12567" y="3675379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77770" y="2233676"/>
            <a:ext cx="3394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Display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maximum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average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salary.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05605" y="2827782"/>
            <a:ext cx="2312035" cy="266700"/>
          </a:xfrm>
          <a:prstGeom prst="rect">
            <a:avLst/>
          </a:prstGeom>
          <a:solidFill>
            <a:srgbClr val="FFFFCC"/>
          </a:solidFill>
          <a:ln w="25907">
            <a:solidFill>
              <a:srgbClr val="FF505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880"/>
              </a:lnSpc>
            </a:pPr>
            <a:r>
              <a:rPr dirty="0" sz="1800" spc="-10" b="1">
                <a:latin typeface="Courier New"/>
                <a:cs typeface="Courier New"/>
              </a:rPr>
              <a:t>MAX(AVG(salary))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65654" y="2779267"/>
            <a:ext cx="84709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5" b="1"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98054" y="3053283"/>
            <a:ext cx="12566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65654" y="3328161"/>
            <a:ext cx="31718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GROUP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BY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department_id;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9830" y="4082852"/>
            <a:ext cx="7247390" cy="45787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4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SUMMARY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85580" y="3759644"/>
            <a:ext cx="7350125" cy="1830070"/>
            <a:chOff x="2485580" y="3759644"/>
            <a:chExt cx="7350125" cy="1830070"/>
          </a:xfrm>
        </p:grpSpPr>
        <p:sp>
          <p:nvSpPr>
            <p:cNvPr id="4" name="object 4"/>
            <p:cNvSpPr/>
            <p:nvPr/>
          </p:nvSpPr>
          <p:spPr>
            <a:xfrm>
              <a:off x="2549144" y="3822699"/>
              <a:ext cx="7286625" cy="1766570"/>
            </a:xfrm>
            <a:custGeom>
              <a:avLst/>
              <a:gdLst/>
              <a:ahLst/>
              <a:cxnLst/>
              <a:rect l="l" t="t" r="r" b="b"/>
              <a:pathLst>
                <a:path w="7286625" h="1766570">
                  <a:moveTo>
                    <a:pt x="7286244" y="0"/>
                  </a:moveTo>
                  <a:lnTo>
                    <a:pt x="7209790" y="0"/>
                  </a:lnTo>
                  <a:lnTo>
                    <a:pt x="7209790" y="13970"/>
                  </a:lnTo>
                  <a:lnTo>
                    <a:pt x="7209790" y="26670"/>
                  </a:lnTo>
                  <a:lnTo>
                    <a:pt x="7209790" y="1690370"/>
                  </a:lnTo>
                  <a:lnTo>
                    <a:pt x="12954" y="1690370"/>
                  </a:lnTo>
                  <a:lnTo>
                    <a:pt x="12954" y="1741170"/>
                  </a:lnTo>
                  <a:lnTo>
                    <a:pt x="0" y="1741170"/>
                  </a:lnTo>
                  <a:lnTo>
                    <a:pt x="0" y="1766570"/>
                  </a:lnTo>
                  <a:lnTo>
                    <a:pt x="7286244" y="1766570"/>
                  </a:lnTo>
                  <a:lnTo>
                    <a:pt x="7286244" y="1741170"/>
                  </a:lnTo>
                  <a:lnTo>
                    <a:pt x="7286244" y="26670"/>
                  </a:lnTo>
                  <a:lnTo>
                    <a:pt x="72862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98597" y="3772662"/>
              <a:ext cx="7260590" cy="1740535"/>
            </a:xfrm>
            <a:custGeom>
              <a:avLst/>
              <a:gdLst/>
              <a:ahLst/>
              <a:cxnLst/>
              <a:rect l="l" t="t" r="r" b="b"/>
              <a:pathLst>
                <a:path w="7260590" h="1740535">
                  <a:moveTo>
                    <a:pt x="7260335" y="0"/>
                  </a:moveTo>
                  <a:lnTo>
                    <a:pt x="0" y="0"/>
                  </a:lnTo>
                  <a:lnTo>
                    <a:pt x="0" y="1740408"/>
                  </a:lnTo>
                  <a:lnTo>
                    <a:pt x="7260335" y="1740408"/>
                  </a:lnTo>
                  <a:lnTo>
                    <a:pt x="726033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98597" y="3772662"/>
              <a:ext cx="7260590" cy="1740535"/>
            </a:xfrm>
            <a:custGeom>
              <a:avLst/>
              <a:gdLst/>
              <a:ahLst/>
              <a:cxnLst/>
              <a:rect l="l" t="t" r="r" b="b"/>
              <a:pathLst>
                <a:path w="7260590" h="1740535">
                  <a:moveTo>
                    <a:pt x="0" y="1740408"/>
                  </a:moveTo>
                  <a:lnTo>
                    <a:pt x="7260335" y="1740408"/>
                  </a:lnTo>
                  <a:lnTo>
                    <a:pt x="7260335" y="0"/>
                  </a:lnTo>
                  <a:lnTo>
                    <a:pt x="0" y="0"/>
                  </a:lnTo>
                  <a:lnTo>
                    <a:pt x="0" y="174040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49144" y="551307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799"/>
                </a:moveTo>
                <a:lnTo>
                  <a:pt x="25907" y="50799"/>
                </a:lnTo>
                <a:lnTo>
                  <a:pt x="25907" y="0"/>
                </a:lnTo>
                <a:lnTo>
                  <a:pt x="0" y="0"/>
                </a:lnTo>
                <a:lnTo>
                  <a:pt x="0" y="50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78833" y="3779646"/>
            <a:ext cx="41217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 i="1">
                <a:latin typeface="Courier New"/>
                <a:cs typeface="Courier New"/>
              </a:rPr>
              <a:t>column</a:t>
            </a:r>
            <a:r>
              <a:rPr dirty="0" sz="1800" spc="-10" b="1">
                <a:latin typeface="Courier New"/>
                <a:cs typeface="Courier New"/>
              </a:rPr>
              <a:t>, </a:t>
            </a:r>
            <a:r>
              <a:rPr dirty="0" sz="1800" spc="-10" b="1" i="1">
                <a:latin typeface="Courier New"/>
                <a:cs typeface="Courier New"/>
              </a:rPr>
              <a:t>group_function(column) </a:t>
            </a:r>
            <a:r>
              <a:rPr dirty="0" sz="1800" spc="-1070" b="1" i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table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45207" y="3779646"/>
            <a:ext cx="84518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SE</a:t>
            </a:r>
            <a:r>
              <a:rPr dirty="0" sz="1800" spc="-15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b="1">
                <a:latin typeface="Courier New"/>
                <a:cs typeface="Courier New"/>
              </a:rPr>
              <a:t>T  </a:t>
            </a:r>
            <a:r>
              <a:rPr dirty="0" sz="1800" spc="-10" b="1">
                <a:latin typeface="Courier New"/>
                <a:cs typeface="Courier New"/>
              </a:rPr>
              <a:t>FROM </a:t>
            </a:r>
            <a:r>
              <a:rPr dirty="0" sz="1800" spc="-5" b="1">
                <a:latin typeface="Courier New"/>
                <a:cs typeface="Courier New"/>
              </a:rPr>
              <a:t> [W</a:t>
            </a:r>
            <a:r>
              <a:rPr dirty="0" sz="1800" spc="-15" b="1">
                <a:latin typeface="Courier New"/>
                <a:cs typeface="Courier New"/>
              </a:rPr>
              <a:t>H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R</a:t>
            </a:r>
            <a:r>
              <a:rPr dirty="0" sz="1800" b="1">
                <a:latin typeface="Courier New"/>
                <a:cs typeface="Courier New"/>
              </a:rPr>
              <a:t>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8833" y="4328286"/>
            <a:ext cx="13925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 i="1">
                <a:latin typeface="Courier New"/>
                <a:cs typeface="Courier New"/>
              </a:rPr>
              <a:t>condition</a:t>
            </a:r>
            <a:r>
              <a:rPr dirty="0" sz="1800" spc="-10" b="1"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45207" y="4602607"/>
            <a:ext cx="125539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[GROUP</a:t>
            </a:r>
            <a:r>
              <a:rPr dirty="0" sz="1800" spc="-8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BY </a:t>
            </a:r>
            <a:r>
              <a:rPr dirty="0" sz="1800" spc="-106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[HAVING 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[ORDER</a:t>
            </a:r>
            <a:r>
              <a:rPr dirty="0" sz="1800" spc="-8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BY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78833" y="4602607"/>
            <a:ext cx="275717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latin typeface="Courier New"/>
                <a:cs typeface="Courier New"/>
              </a:rPr>
              <a:t>gr</a:t>
            </a:r>
            <a:r>
              <a:rPr dirty="0" sz="1800" spc="-15" b="1" i="1">
                <a:latin typeface="Courier New"/>
                <a:cs typeface="Courier New"/>
              </a:rPr>
              <a:t>o</a:t>
            </a:r>
            <a:r>
              <a:rPr dirty="0" sz="1800" spc="-5" b="1" i="1">
                <a:latin typeface="Courier New"/>
                <a:cs typeface="Courier New"/>
              </a:rPr>
              <a:t>u</a:t>
            </a:r>
            <a:r>
              <a:rPr dirty="0" sz="1800" spc="-15" b="1" i="1">
                <a:latin typeface="Courier New"/>
                <a:cs typeface="Courier New"/>
              </a:rPr>
              <a:t>p</a:t>
            </a:r>
            <a:r>
              <a:rPr dirty="0" sz="1800" spc="-5" b="1" i="1">
                <a:latin typeface="Courier New"/>
                <a:cs typeface="Courier New"/>
              </a:rPr>
              <a:t>_b</a:t>
            </a:r>
            <a:r>
              <a:rPr dirty="0" sz="1800" spc="-15" b="1" i="1">
                <a:latin typeface="Courier New"/>
                <a:cs typeface="Courier New"/>
              </a:rPr>
              <a:t>y</a:t>
            </a:r>
            <a:r>
              <a:rPr dirty="0" sz="1800" spc="-5" b="1" i="1">
                <a:latin typeface="Courier New"/>
                <a:cs typeface="Courier New"/>
              </a:rPr>
              <a:t>_</a:t>
            </a:r>
            <a:r>
              <a:rPr dirty="0" sz="1800" spc="-15" b="1" i="1">
                <a:latin typeface="Courier New"/>
                <a:cs typeface="Courier New"/>
              </a:rPr>
              <a:t>ex</a:t>
            </a:r>
            <a:r>
              <a:rPr dirty="0" sz="1800" spc="-5" b="1" i="1">
                <a:latin typeface="Courier New"/>
                <a:cs typeface="Courier New"/>
              </a:rPr>
              <a:t>pr</a:t>
            </a:r>
            <a:r>
              <a:rPr dirty="0" sz="1800" spc="-15" b="1" i="1">
                <a:latin typeface="Courier New"/>
                <a:cs typeface="Courier New"/>
              </a:rPr>
              <a:t>e</a:t>
            </a:r>
            <a:r>
              <a:rPr dirty="0" sz="1800" spc="-5" b="1" i="1">
                <a:latin typeface="Courier New"/>
                <a:cs typeface="Courier New"/>
              </a:rPr>
              <a:t>s</a:t>
            </a:r>
            <a:r>
              <a:rPr dirty="0" sz="1800" spc="-15" b="1" i="1">
                <a:latin typeface="Courier New"/>
                <a:cs typeface="Courier New"/>
              </a:rPr>
              <a:t>s</a:t>
            </a:r>
            <a:r>
              <a:rPr dirty="0" sz="1800" spc="-5" b="1" i="1">
                <a:latin typeface="Courier New"/>
                <a:cs typeface="Courier New"/>
              </a:rPr>
              <a:t>ion</a:t>
            </a:r>
            <a:r>
              <a:rPr dirty="0" sz="1800" b="1">
                <a:latin typeface="Courier New"/>
                <a:cs typeface="Courier New"/>
              </a:rPr>
              <a:t>]  </a:t>
            </a:r>
            <a:r>
              <a:rPr dirty="0" sz="1800" spc="-10" b="1" i="1">
                <a:latin typeface="Courier New"/>
                <a:cs typeface="Courier New"/>
              </a:rPr>
              <a:t>group_condition</a:t>
            </a:r>
            <a:r>
              <a:rPr dirty="0" sz="1800" spc="-10" b="1">
                <a:latin typeface="Courier New"/>
                <a:cs typeface="Courier New"/>
              </a:rPr>
              <a:t>] 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column</a:t>
            </a:r>
            <a:r>
              <a:rPr dirty="0" sz="1800" spc="-10" b="1">
                <a:latin typeface="Courier New"/>
                <a:cs typeface="Courier New"/>
              </a:rPr>
              <a:t>];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14345" y="1880314"/>
            <a:ext cx="4801235" cy="1619885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this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son,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should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dirty="0" sz="1800" spc="-6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v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learne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to: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92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g</a:t>
            </a:r>
            <a:r>
              <a:rPr dirty="0" sz="1800" spc="-5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oup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r>
              <a:rPr dirty="0" sz="1800" spc="-7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COUNT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1800" spc="-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MAX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MIN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AVG</a:t>
            </a:r>
            <a:endParaRPr sz="1800">
              <a:latin typeface="Courier New"/>
              <a:cs typeface="Courier New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it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 queries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 the</a:t>
            </a:r>
            <a:r>
              <a:rPr dirty="0" sz="18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GROU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P</a:t>
            </a:r>
            <a:r>
              <a:rPr dirty="0" sz="1800" spc="-4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B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Y</a:t>
            </a:r>
            <a:r>
              <a:rPr dirty="0" sz="1800" spc="-59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clau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it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 queries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 the</a:t>
            </a:r>
            <a:r>
              <a:rPr dirty="0" sz="18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HAVIN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G</a:t>
            </a:r>
            <a:r>
              <a:rPr dirty="0" sz="1800" spc="-61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clau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70226" y="4627626"/>
            <a:ext cx="4566285" cy="588645"/>
          </a:xfrm>
          <a:custGeom>
            <a:avLst/>
            <a:gdLst/>
            <a:ahLst/>
            <a:cxnLst/>
            <a:rect l="l" t="t" r="r" b="b"/>
            <a:pathLst>
              <a:path w="4566284" h="588645">
                <a:moveTo>
                  <a:pt x="0" y="588263"/>
                </a:moveTo>
                <a:lnTo>
                  <a:pt x="4565904" y="588263"/>
                </a:lnTo>
                <a:lnTo>
                  <a:pt x="4565904" y="0"/>
                </a:lnTo>
                <a:lnTo>
                  <a:pt x="0" y="0"/>
                </a:lnTo>
                <a:lnTo>
                  <a:pt x="0" y="588263"/>
                </a:lnTo>
                <a:close/>
              </a:path>
            </a:pathLst>
          </a:custGeom>
          <a:ln w="25908">
            <a:solidFill>
              <a:srgbClr val="FF505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Zartasha Baloch</dc:creator>
  <dc:title>Database Management Systems</dc:title>
  <dcterms:created xsi:type="dcterms:W3CDTF">2026-02-17T07:57:28Z</dcterms:created>
  <dcterms:modified xsi:type="dcterms:W3CDTF">2026-02-17T07:57:28Z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2020-05-29T00:00:00Z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2026-02-17T00:00:00Z</vt:filetime>
  </property>
</Properties>
</file>