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7770" y="2088896"/>
            <a:ext cx="3168015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77770" y="2363215"/>
            <a:ext cx="5892800" cy="1929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88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88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88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0" b="1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dirty="0" sz="3600" spc="-60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dirty="0" sz="3600" spc="-105" b="1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 b="1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4687" y="4602993"/>
            <a:ext cx="372935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2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10203" y="1870709"/>
            <a:ext cx="5384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1A315F"/>
                </a:solidFill>
              </a:rPr>
              <a:t>SINGLE</a:t>
            </a:r>
            <a:r>
              <a:rPr dirty="0" sz="3600" spc="-35">
                <a:solidFill>
                  <a:srgbClr val="1A315F"/>
                </a:solidFill>
              </a:rPr>
              <a:t> </a:t>
            </a:r>
            <a:r>
              <a:rPr dirty="0" sz="3600" spc="-125">
                <a:solidFill>
                  <a:srgbClr val="1A315F"/>
                </a:solidFill>
              </a:rPr>
              <a:t>ROW</a:t>
            </a:r>
            <a:r>
              <a:rPr dirty="0" sz="3600" spc="-35">
                <a:solidFill>
                  <a:srgbClr val="1A315F"/>
                </a:solidFill>
              </a:rPr>
              <a:t> </a:t>
            </a:r>
            <a:r>
              <a:rPr dirty="0" sz="3600" spc="-5">
                <a:solidFill>
                  <a:srgbClr val="1A315F"/>
                </a:solidFill>
              </a:rPr>
              <a:t>FUNCTIONS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6492" y="3146806"/>
            <a:ext cx="10200640" cy="2708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9906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dirty="0" sz="2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algn="just" marL="12700" marR="6985">
              <a:lnSpc>
                <a:spcPct val="100000"/>
              </a:lnSpc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8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7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Pearson</a:t>
            </a:r>
            <a:endParaRPr sz="1400">
              <a:latin typeface="Gill Sans MT"/>
              <a:cs typeface="Gill Sans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u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cati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o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n,</a:t>
            </a:r>
            <a:r>
              <a:rPr dirty="0" sz="1400" spc="-1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endParaRPr sz="140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55600" algn="l"/>
                <a:tab pos="356235" algn="l"/>
              </a:tabLst>
            </a:pP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Gorman,Tim,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Inger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Jorgensen,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Melanie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Caffrey,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Lex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deHaan.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Beginning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Oracle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SQL: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For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12c.Apress,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2014.</a:t>
            </a:r>
            <a:endParaRPr sz="140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55600" algn="l"/>
                <a:tab pos="356235" algn="l"/>
              </a:tabLst>
            </a:pP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Greenberg,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Nancy,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 Instructor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Guide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PriyaNathan.</a:t>
            </a:r>
            <a:r>
              <a:rPr dirty="0" sz="1400" spc="-16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"Introduction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to Oracle9i: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SQL."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ORACLE,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USA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(2001).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OBJECTIVES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53567" y="2104389"/>
            <a:ext cx="6362065" cy="192214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After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completing this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son,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 able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oll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wing:</a:t>
            </a:r>
            <a:endParaRPr sz="1800">
              <a:latin typeface="Gill Sans MT"/>
              <a:cs typeface="Gill Sans MT"/>
            </a:endParaRPr>
          </a:p>
          <a:p>
            <a:pPr marL="317500" marR="1952625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Describe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various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types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available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19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umbe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Describe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conversion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27362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SQL</a:t>
            </a:r>
            <a:r>
              <a:rPr dirty="0" sz="2800" spc="-4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968240" y="2014727"/>
            <a:ext cx="2312035" cy="931544"/>
            <a:chOff x="4968240" y="2014727"/>
            <a:chExt cx="2312035" cy="9315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240" y="2014727"/>
              <a:ext cx="2311908" cy="9311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1432" y="2221991"/>
              <a:ext cx="1549145" cy="62102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40" y="2014727"/>
            <a:ext cx="2312035" cy="93154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marL="567055">
              <a:lnSpc>
                <a:spcPct val="100000"/>
              </a:lnSpc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5629" y="2111705"/>
            <a:ext cx="7086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Input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91383" y="2106167"/>
            <a:ext cx="2189480" cy="2701925"/>
            <a:chOff x="2691383" y="2106167"/>
            <a:chExt cx="2189480" cy="2701925"/>
          </a:xfrm>
        </p:grpSpPr>
        <p:sp>
          <p:nvSpPr>
            <p:cNvPr id="9" name="object 9"/>
            <p:cNvSpPr/>
            <p:nvPr/>
          </p:nvSpPr>
          <p:spPr>
            <a:xfrm>
              <a:off x="3366516" y="2106167"/>
              <a:ext cx="1514475" cy="2701925"/>
            </a:xfrm>
            <a:custGeom>
              <a:avLst/>
              <a:gdLst/>
              <a:ahLst/>
              <a:cxnLst/>
              <a:rect l="l" t="t" r="r" b="b"/>
              <a:pathLst>
                <a:path w="1514475" h="2701925">
                  <a:moveTo>
                    <a:pt x="1513967" y="599694"/>
                  </a:moveTo>
                  <a:lnTo>
                    <a:pt x="1430134" y="574548"/>
                  </a:lnTo>
                  <a:lnTo>
                    <a:pt x="1262507" y="524256"/>
                  </a:lnTo>
                  <a:lnTo>
                    <a:pt x="1329563" y="574548"/>
                  </a:lnTo>
                  <a:lnTo>
                    <a:pt x="863346" y="574548"/>
                  </a:lnTo>
                  <a:lnTo>
                    <a:pt x="853567" y="576541"/>
                  </a:lnTo>
                  <a:lnTo>
                    <a:pt x="845578" y="581939"/>
                  </a:lnTo>
                  <a:lnTo>
                    <a:pt x="840181" y="589927"/>
                  </a:lnTo>
                  <a:lnTo>
                    <a:pt x="838200" y="599694"/>
                  </a:lnTo>
                  <a:lnTo>
                    <a:pt x="838200" y="2676779"/>
                  </a:lnTo>
                  <a:lnTo>
                    <a:pt x="840181" y="2686608"/>
                  </a:lnTo>
                  <a:lnTo>
                    <a:pt x="845578" y="2694597"/>
                  </a:lnTo>
                  <a:lnTo>
                    <a:pt x="853567" y="2699969"/>
                  </a:lnTo>
                  <a:lnTo>
                    <a:pt x="863346" y="2701925"/>
                  </a:lnTo>
                  <a:lnTo>
                    <a:pt x="873112" y="2699969"/>
                  </a:lnTo>
                  <a:lnTo>
                    <a:pt x="881100" y="2694597"/>
                  </a:lnTo>
                  <a:lnTo>
                    <a:pt x="886498" y="2686608"/>
                  </a:lnTo>
                  <a:lnTo>
                    <a:pt x="888492" y="2676779"/>
                  </a:lnTo>
                  <a:lnTo>
                    <a:pt x="888492" y="624840"/>
                  </a:lnTo>
                  <a:lnTo>
                    <a:pt x="1329563" y="624840"/>
                  </a:lnTo>
                  <a:lnTo>
                    <a:pt x="1262507" y="675132"/>
                  </a:lnTo>
                  <a:lnTo>
                    <a:pt x="1430134" y="624840"/>
                  </a:lnTo>
                  <a:lnTo>
                    <a:pt x="1513967" y="599694"/>
                  </a:lnTo>
                  <a:close/>
                </a:path>
                <a:path w="1514475" h="2701925">
                  <a:moveTo>
                    <a:pt x="1513967" y="332994"/>
                  </a:moveTo>
                  <a:lnTo>
                    <a:pt x="1430134" y="307848"/>
                  </a:lnTo>
                  <a:lnTo>
                    <a:pt x="1262507" y="257556"/>
                  </a:lnTo>
                  <a:lnTo>
                    <a:pt x="1329563" y="307848"/>
                  </a:lnTo>
                  <a:lnTo>
                    <a:pt x="444246" y="307848"/>
                  </a:lnTo>
                  <a:lnTo>
                    <a:pt x="434467" y="309841"/>
                  </a:lnTo>
                  <a:lnTo>
                    <a:pt x="426478" y="315239"/>
                  </a:lnTo>
                  <a:lnTo>
                    <a:pt x="421081" y="323227"/>
                  </a:lnTo>
                  <a:lnTo>
                    <a:pt x="419100" y="332994"/>
                  </a:lnTo>
                  <a:lnTo>
                    <a:pt x="419100" y="1513967"/>
                  </a:lnTo>
                  <a:lnTo>
                    <a:pt x="421081" y="1523796"/>
                  </a:lnTo>
                  <a:lnTo>
                    <a:pt x="426478" y="1531785"/>
                  </a:lnTo>
                  <a:lnTo>
                    <a:pt x="434467" y="1537157"/>
                  </a:lnTo>
                  <a:lnTo>
                    <a:pt x="444246" y="1539113"/>
                  </a:lnTo>
                  <a:lnTo>
                    <a:pt x="454012" y="1537157"/>
                  </a:lnTo>
                  <a:lnTo>
                    <a:pt x="462000" y="1531785"/>
                  </a:lnTo>
                  <a:lnTo>
                    <a:pt x="467398" y="1523796"/>
                  </a:lnTo>
                  <a:lnTo>
                    <a:pt x="469392" y="1513967"/>
                  </a:lnTo>
                  <a:lnTo>
                    <a:pt x="469392" y="358140"/>
                  </a:lnTo>
                  <a:lnTo>
                    <a:pt x="1329563" y="358140"/>
                  </a:lnTo>
                  <a:lnTo>
                    <a:pt x="1262507" y="408432"/>
                  </a:lnTo>
                  <a:lnTo>
                    <a:pt x="1430134" y="358140"/>
                  </a:lnTo>
                  <a:lnTo>
                    <a:pt x="1513967" y="332994"/>
                  </a:lnTo>
                  <a:close/>
                </a:path>
                <a:path w="1514475" h="2701925">
                  <a:moveTo>
                    <a:pt x="1513967" y="75438"/>
                  </a:moveTo>
                  <a:lnTo>
                    <a:pt x="1430147" y="50292"/>
                  </a:lnTo>
                  <a:lnTo>
                    <a:pt x="1262507" y="0"/>
                  </a:lnTo>
                  <a:lnTo>
                    <a:pt x="1329563" y="50292"/>
                  </a:lnTo>
                  <a:lnTo>
                    <a:pt x="25146" y="50292"/>
                  </a:lnTo>
                  <a:lnTo>
                    <a:pt x="15367" y="52285"/>
                  </a:lnTo>
                  <a:lnTo>
                    <a:pt x="7378" y="57683"/>
                  </a:lnTo>
                  <a:lnTo>
                    <a:pt x="1981" y="65671"/>
                  </a:lnTo>
                  <a:lnTo>
                    <a:pt x="0" y="75438"/>
                  </a:lnTo>
                  <a:lnTo>
                    <a:pt x="0" y="962279"/>
                  </a:lnTo>
                  <a:lnTo>
                    <a:pt x="1981" y="972108"/>
                  </a:lnTo>
                  <a:lnTo>
                    <a:pt x="7378" y="980097"/>
                  </a:lnTo>
                  <a:lnTo>
                    <a:pt x="15367" y="985469"/>
                  </a:lnTo>
                  <a:lnTo>
                    <a:pt x="25146" y="987425"/>
                  </a:lnTo>
                  <a:lnTo>
                    <a:pt x="34912" y="985469"/>
                  </a:lnTo>
                  <a:lnTo>
                    <a:pt x="42900" y="980097"/>
                  </a:lnTo>
                  <a:lnTo>
                    <a:pt x="48298" y="972108"/>
                  </a:lnTo>
                  <a:lnTo>
                    <a:pt x="50292" y="962279"/>
                  </a:lnTo>
                  <a:lnTo>
                    <a:pt x="50292" y="100584"/>
                  </a:lnTo>
                  <a:lnTo>
                    <a:pt x="1329563" y="100584"/>
                  </a:lnTo>
                  <a:lnTo>
                    <a:pt x="1262507" y="150876"/>
                  </a:lnTo>
                  <a:lnTo>
                    <a:pt x="1430147" y="100584"/>
                  </a:lnTo>
                  <a:lnTo>
                    <a:pt x="1513967" y="7543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2343" y="2909315"/>
              <a:ext cx="891540" cy="5273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1383" y="2915411"/>
              <a:ext cx="1037082" cy="62102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752344" y="2909316"/>
            <a:ext cx="891540" cy="52768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700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arg</a:t>
            </a:r>
            <a:r>
              <a:rPr dirty="0" sz="2200" spc="-50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54679" y="3549396"/>
            <a:ext cx="1037590" cy="626110"/>
            <a:chOff x="3154679" y="3549396"/>
            <a:chExt cx="1037590" cy="62611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7163" y="3549396"/>
              <a:ext cx="890015" cy="5257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4679" y="3553968"/>
              <a:ext cx="1037082" cy="62102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17164" y="3549396"/>
            <a:ext cx="890269" cy="525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690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arg</a:t>
            </a:r>
            <a:r>
              <a:rPr dirty="0" sz="2200" spc="-4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69791" y="4718050"/>
            <a:ext cx="1052830" cy="632460"/>
            <a:chOff x="3669791" y="4718050"/>
            <a:chExt cx="1052830" cy="63246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8371" y="4724400"/>
              <a:ext cx="891539" cy="5257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38371" y="4724400"/>
              <a:ext cx="891540" cy="525780"/>
            </a:xfrm>
            <a:custGeom>
              <a:avLst/>
              <a:gdLst/>
              <a:ahLst/>
              <a:cxnLst/>
              <a:rect l="l" t="t" r="r" b="b"/>
              <a:pathLst>
                <a:path w="891539" h="525779">
                  <a:moveTo>
                    <a:pt x="0" y="525780"/>
                  </a:moveTo>
                  <a:lnTo>
                    <a:pt x="891539" y="525780"/>
                  </a:lnTo>
                  <a:lnTo>
                    <a:pt x="891539" y="0"/>
                  </a:lnTo>
                  <a:lnTo>
                    <a:pt x="0" y="0"/>
                  </a:lnTo>
                  <a:lnTo>
                    <a:pt x="0" y="52578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9791" y="4728972"/>
              <a:ext cx="881634" cy="62102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1855" y="4728972"/>
              <a:ext cx="540258" cy="6210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831082" y="4800091"/>
            <a:ext cx="7080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arg</a:t>
            </a:r>
            <a:r>
              <a:rPr dirty="0" sz="2200" spc="-80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 i="1">
                <a:solidFill>
                  <a:srgbClr val="FFFFCC"/>
                </a:solidFill>
                <a:latin typeface="Arial"/>
                <a:cs typeface="Arial"/>
              </a:rPr>
              <a:t>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976" y="4187952"/>
            <a:ext cx="416559" cy="436245"/>
            <a:chOff x="3617976" y="4187952"/>
            <a:chExt cx="416559" cy="43624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4072" y="4194048"/>
              <a:ext cx="99060" cy="1173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24072" y="4194048"/>
              <a:ext cx="99060" cy="117475"/>
            </a:xfrm>
            <a:custGeom>
              <a:avLst/>
              <a:gdLst/>
              <a:ahLst/>
              <a:cxnLst/>
              <a:rect l="l" t="t" r="r" b="b"/>
              <a:pathLst>
                <a:path w="99060" h="117475">
                  <a:moveTo>
                    <a:pt x="0" y="117347"/>
                  </a:moveTo>
                  <a:lnTo>
                    <a:pt x="99060" y="117347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1173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73424" y="4344924"/>
              <a:ext cx="100584" cy="11887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73424" y="4344924"/>
              <a:ext cx="100965" cy="119380"/>
            </a:xfrm>
            <a:custGeom>
              <a:avLst/>
              <a:gdLst/>
              <a:ahLst/>
              <a:cxnLst/>
              <a:rect l="l" t="t" r="r" b="b"/>
              <a:pathLst>
                <a:path w="100964" h="119379">
                  <a:moveTo>
                    <a:pt x="0" y="118871"/>
                  </a:moveTo>
                  <a:lnTo>
                    <a:pt x="100584" y="118871"/>
                  </a:lnTo>
                  <a:lnTo>
                    <a:pt x="100584" y="0"/>
                  </a:lnTo>
                  <a:lnTo>
                    <a:pt x="0" y="0"/>
                  </a:lnTo>
                  <a:lnTo>
                    <a:pt x="0" y="1188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27348" y="4498848"/>
              <a:ext cx="100584" cy="11887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27348" y="4498848"/>
              <a:ext cx="100965" cy="119380"/>
            </a:xfrm>
            <a:custGeom>
              <a:avLst/>
              <a:gdLst/>
              <a:ahLst/>
              <a:cxnLst/>
              <a:rect l="l" t="t" r="r" b="b"/>
              <a:pathLst>
                <a:path w="100964" h="119379">
                  <a:moveTo>
                    <a:pt x="0" y="118871"/>
                  </a:moveTo>
                  <a:lnTo>
                    <a:pt x="100584" y="118871"/>
                  </a:lnTo>
                  <a:lnTo>
                    <a:pt x="100584" y="0"/>
                  </a:lnTo>
                  <a:lnTo>
                    <a:pt x="0" y="0"/>
                  </a:lnTo>
                  <a:lnTo>
                    <a:pt x="0" y="1188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056759" y="2998088"/>
            <a:ext cx="2136775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Function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200" spc="-5" b="1">
                <a:latin typeface="Arial"/>
                <a:cs typeface="Arial"/>
              </a:rPr>
              <a:t>performs</a:t>
            </a:r>
            <a:r>
              <a:rPr dirty="0" sz="2200" spc="-2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action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10628" y="2395727"/>
            <a:ext cx="2156460" cy="2322195"/>
            <a:chOff x="7310628" y="2395727"/>
            <a:chExt cx="2156460" cy="2322195"/>
          </a:xfrm>
        </p:grpSpPr>
        <p:sp>
          <p:nvSpPr>
            <p:cNvPr id="32" name="object 32"/>
            <p:cNvSpPr/>
            <p:nvPr/>
          </p:nvSpPr>
          <p:spPr>
            <a:xfrm>
              <a:off x="7310628" y="2395727"/>
              <a:ext cx="1337945" cy="1285875"/>
            </a:xfrm>
            <a:custGeom>
              <a:avLst/>
              <a:gdLst/>
              <a:ahLst/>
              <a:cxnLst/>
              <a:rect l="l" t="t" r="r" b="b"/>
              <a:pathLst>
                <a:path w="1337945" h="1285875">
                  <a:moveTo>
                    <a:pt x="1187069" y="1033907"/>
                  </a:moveTo>
                  <a:lnTo>
                    <a:pt x="1262506" y="1285367"/>
                  </a:lnTo>
                  <a:lnTo>
                    <a:pt x="1300226" y="1159637"/>
                  </a:lnTo>
                  <a:lnTo>
                    <a:pt x="1262506" y="1159637"/>
                  </a:lnTo>
                  <a:lnTo>
                    <a:pt x="1252737" y="1157672"/>
                  </a:lnTo>
                  <a:lnTo>
                    <a:pt x="1244742" y="1152302"/>
                  </a:lnTo>
                  <a:lnTo>
                    <a:pt x="1239343" y="1144313"/>
                  </a:lnTo>
                  <a:lnTo>
                    <a:pt x="1237361" y="1134491"/>
                  </a:lnTo>
                  <a:lnTo>
                    <a:pt x="1237361" y="1100963"/>
                  </a:lnTo>
                  <a:lnTo>
                    <a:pt x="1187069" y="1033907"/>
                  </a:lnTo>
                  <a:close/>
                </a:path>
                <a:path w="1337945" h="1285875">
                  <a:moveTo>
                    <a:pt x="1287652" y="1100963"/>
                  </a:moveTo>
                  <a:lnTo>
                    <a:pt x="1262506" y="1134491"/>
                  </a:lnTo>
                  <a:lnTo>
                    <a:pt x="1237361" y="1134491"/>
                  </a:lnTo>
                  <a:lnTo>
                    <a:pt x="1239343" y="1144313"/>
                  </a:lnTo>
                  <a:lnTo>
                    <a:pt x="1244742" y="1152302"/>
                  </a:lnTo>
                  <a:lnTo>
                    <a:pt x="1252737" y="1157672"/>
                  </a:lnTo>
                  <a:lnTo>
                    <a:pt x="1262506" y="1159637"/>
                  </a:lnTo>
                  <a:lnTo>
                    <a:pt x="1272329" y="1157672"/>
                  </a:lnTo>
                  <a:lnTo>
                    <a:pt x="1280318" y="1152302"/>
                  </a:lnTo>
                  <a:lnTo>
                    <a:pt x="1285688" y="1144313"/>
                  </a:lnTo>
                  <a:lnTo>
                    <a:pt x="1287652" y="1134491"/>
                  </a:lnTo>
                  <a:lnTo>
                    <a:pt x="1262506" y="1134491"/>
                  </a:lnTo>
                  <a:lnTo>
                    <a:pt x="1237361" y="1100963"/>
                  </a:lnTo>
                  <a:lnTo>
                    <a:pt x="1287652" y="1100963"/>
                  </a:lnTo>
                  <a:close/>
                </a:path>
                <a:path w="1337945" h="1285875">
                  <a:moveTo>
                    <a:pt x="1337945" y="1033907"/>
                  </a:moveTo>
                  <a:lnTo>
                    <a:pt x="1287652" y="1100963"/>
                  </a:lnTo>
                  <a:lnTo>
                    <a:pt x="1287652" y="1134491"/>
                  </a:lnTo>
                  <a:lnTo>
                    <a:pt x="1285688" y="1144313"/>
                  </a:lnTo>
                  <a:lnTo>
                    <a:pt x="1280318" y="1152302"/>
                  </a:lnTo>
                  <a:lnTo>
                    <a:pt x="1272329" y="1157672"/>
                  </a:lnTo>
                  <a:lnTo>
                    <a:pt x="1262506" y="1159637"/>
                  </a:lnTo>
                  <a:lnTo>
                    <a:pt x="1300226" y="1159637"/>
                  </a:lnTo>
                  <a:lnTo>
                    <a:pt x="1337945" y="1033907"/>
                  </a:lnTo>
                  <a:close/>
                </a:path>
                <a:path w="1337945" h="1285875">
                  <a:moveTo>
                    <a:pt x="1237361" y="25146"/>
                  </a:moveTo>
                  <a:lnTo>
                    <a:pt x="1237361" y="1100963"/>
                  </a:lnTo>
                  <a:lnTo>
                    <a:pt x="1262506" y="1134491"/>
                  </a:lnTo>
                  <a:lnTo>
                    <a:pt x="1287652" y="1100963"/>
                  </a:lnTo>
                  <a:lnTo>
                    <a:pt x="1287652" y="50292"/>
                  </a:lnTo>
                  <a:lnTo>
                    <a:pt x="1262506" y="50292"/>
                  </a:lnTo>
                  <a:lnTo>
                    <a:pt x="1237361" y="25146"/>
                  </a:lnTo>
                  <a:close/>
                </a:path>
                <a:path w="1337945" h="1285875">
                  <a:moveTo>
                    <a:pt x="1262506" y="0"/>
                  </a:moveTo>
                  <a:lnTo>
                    <a:pt x="25146" y="0"/>
                  </a:lnTo>
                  <a:lnTo>
                    <a:pt x="15376" y="1982"/>
                  </a:lnTo>
                  <a:lnTo>
                    <a:pt x="7381" y="7381"/>
                  </a:lnTo>
                  <a:lnTo>
                    <a:pt x="1982" y="15376"/>
                  </a:lnTo>
                  <a:lnTo>
                    <a:pt x="0" y="25146"/>
                  </a:lnTo>
                  <a:lnTo>
                    <a:pt x="1982" y="34915"/>
                  </a:lnTo>
                  <a:lnTo>
                    <a:pt x="7381" y="42910"/>
                  </a:lnTo>
                  <a:lnTo>
                    <a:pt x="15376" y="48309"/>
                  </a:lnTo>
                  <a:lnTo>
                    <a:pt x="25146" y="50292"/>
                  </a:lnTo>
                  <a:lnTo>
                    <a:pt x="1237361" y="50292"/>
                  </a:lnTo>
                  <a:lnTo>
                    <a:pt x="1237361" y="25146"/>
                  </a:lnTo>
                  <a:lnTo>
                    <a:pt x="1287652" y="25146"/>
                  </a:lnTo>
                  <a:lnTo>
                    <a:pt x="1285688" y="15376"/>
                  </a:lnTo>
                  <a:lnTo>
                    <a:pt x="1280318" y="7381"/>
                  </a:lnTo>
                  <a:lnTo>
                    <a:pt x="1272329" y="1982"/>
                  </a:lnTo>
                  <a:lnTo>
                    <a:pt x="1262506" y="0"/>
                  </a:lnTo>
                  <a:close/>
                </a:path>
                <a:path w="1337945" h="1285875">
                  <a:moveTo>
                    <a:pt x="1287652" y="25146"/>
                  </a:moveTo>
                  <a:lnTo>
                    <a:pt x="1237361" y="25146"/>
                  </a:lnTo>
                  <a:lnTo>
                    <a:pt x="1262506" y="50292"/>
                  </a:lnTo>
                  <a:lnTo>
                    <a:pt x="1287652" y="50292"/>
                  </a:lnTo>
                  <a:lnTo>
                    <a:pt x="1287652" y="25146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22108" y="3730752"/>
              <a:ext cx="1738883" cy="91135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722108" y="3730752"/>
              <a:ext cx="1739264" cy="911860"/>
            </a:xfrm>
            <a:custGeom>
              <a:avLst/>
              <a:gdLst/>
              <a:ahLst/>
              <a:cxnLst/>
              <a:rect l="l" t="t" r="r" b="b"/>
              <a:pathLst>
                <a:path w="1739265" h="911860">
                  <a:moveTo>
                    <a:pt x="0" y="911352"/>
                  </a:moveTo>
                  <a:lnTo>
                    <a:pt x="1738883" y="911352"/>
                  </a:lnTo>
                  <a:lnTo>
                    <a:pt x="1738883" y="0"/>
                  </a:lnTo>
                  <a:lnTo>
                    <a:pt x="0" y="0"/>
                  </a:lnTo>
                  <a:lnTo>
                    <a:pt x="0" y="9113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90332" y="3761231"/>
              <a:ext cx="1223009" cy="62103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60436" y="4096511"/>
              <a:ext cx="1084326" cy="62103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781668" y="2111705"/>
            <a:ext cx="9404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Output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52638" y="3831463"/>
            <a:ext cx="87884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Resu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lt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value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67073" y="2014727"/>
            <a:ext cx="4755515" cy="2108200"/>
            <a:chOff x="3767073" y="2014727"/>
            <a:chExt cx="4755515" cy="2108200"/>
          </a:xfrm>
        </p:grpSpPr>
        <p:sp>
          <p:nvSpPr>
            <p:cNvPr id="3" name="object 3"/>
            <p:cNvSpPr/>
            <p:nvPr/>
          </p:nvSpPr>
          <p:spPr>
            <a:xfrm>
              <a:off x="6096761" y="2945891"/>
              <a:ext cx="0" cy="636270"/>
            </a:xfrm>
            <a:custGeom>
              <a:avLst/>
              <a:gdLst/>
              <a:ahLst/>
              <a:cxnLst/>
              <a:rect l="l" t="t" r="r" b="b"/>
              <a:pathLst>
                <a:path w="0" h="636270">
                  <a:moveTo>
                    <a:pt x="0" y="0"/>
                  </a:moveTo>
                  <a:lnTo>
                    <a:pt x="0" y="636270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792473" y="3563874"/>
              <a:ext cx="4704715" cy="533400"/>
            </a:xfrm>
            <a:custGeom>
              <a:avLst/>
              <a:gdLst/>
              <a:ahLst/>
              <a:cxnLst/>
              <a:rect l="l" t="t" r="r" b="b"/>
              <a:pathLst>
                <a:path w="4704715" h="533400">
                  <a:moveTo>
                    <a:pt x="0" y="501650"/>
                  </a:moveTo>
                  <a:lnTo>
                    <a:pt x="0" y="0"/>
                  </a:lnTo>
                  <a:lnTo>
                    <a:pt x="4704460" y="0"/>
                  </a:lnTo>
                  <a:lnTo>
                    <a:pt x="4704460" y="234950"/>
                  </a:lnTo>
                  <a:lnTo>
                    <a:pt x="4704460" y="533273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807" y="2014727"/>
              <a:ext cx="2310384" cy="9311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4751" y="2221991"/>
              <a:ext cx="1704594" cy="62102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2578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T</a:t>
            </a:r>
            <a:r>
              <a:rPr dirty="0" sz="2800" spc="-114">
                <a:solidFill>
                  <a:srgbClr val="FFFFFF"/>
                </a:solidFill>
              </a:rPr>
              <a:t>W</a:t>
            </a:r>
            <a:r>
              <a:rPr dirty="0" sz="2800" spc="-5">
                <a:solidFill>
                  <a:srgbClr val="FFFFFF"/>
                </a:solidFill>
              </a:rPr>
              <a:t>O</a:t>
            </a:r>
            <a:r>
              <a:rPr dirty="0" sz="2800" spc="-37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TYP</a:t>
            </a:r>
            <a:r>
              <a:rPr dirty="0" sz="2800">
                <a:solidFill>
                  <a:srgbClr val="FFFFFF"/>
                </a:solidFill>
              </a:rPr>
              <a:t>E</a:t>
            </a:r>
            <a:r>
              <a:rPr dirty="0" sz="2800" spc="-5">
                <a:solidFill>
                  <a:srgbClr val="FFFFFF"/>
                </a:solidFill>
              </a:rPr>
              <a:t>S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O</a:t>
            </a:r>
            <a:r>
              <a:rPr dirty="0" sz="2800" spc="-5">
                <a:solidFill>
                  <a:srgbClr val="FFFFFF"/>
                </a:solidFill>
              </a:rPr>
              <a:t>F</a:t>
            </a:r>
            <a:r>
              <a:rPr dirty="0" sz="2800" spc="-2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SQL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FUNCTIO</a:t>
            </a:r>
            <a:r>
              <a:rPr dirty="0" sz="2800" spc="-15">
                <a:solidFill>
                  <a:srgbClr val="FFFFFF"/>
                </a:solidFill>
              </a:rPr>
              <a:t>N</a:t>
            </a:r>
            <a:r>
              <a:rPr dirty="0" sz="2800" spc="-5">
                <a:solidFill>
                  <a:srgbClr val="FFFFFF"/>
                </a:solidFill>
              </a:rPr>
              <a:t>S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4940808" y="2014727"/>
            <a:ext cx="2322195" cy="93154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18816" y="4072128"/>
            <a:ext cx="2284730" cy="991869"/>
            <a:chOff x="2718816" y="4072128"/>
            <a:chExt cx="2284730" cy="99186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816" y="4072128"/>
              <a:ext cx="2284476" cy="9204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2176" y="4107180"/>
              <a:ext cx="1207770" cy="6210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0376" y="4107180"/>
              <a:ext cx="462546" cy="62103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63340" y="4107180"/>
              <a:ext cx="947165" cy="6210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58668" y="4442460"/>
              <a:ext cx="1626870" cy="62103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718816" y="4065270"/>
            <a:ext cx="2284730" cy="9353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514350" marR="461645" indent="-127000">
              <a:lnSpc>
                <a:spcPct val="100000"/>
              </a:lnSpc>
              <a:spcBef>
                <a:spcPts val="980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Singl</a:t>
            </a:r>
            <a:r>
              <a:rPr dirty="0" sz="2200" b="1">
                <a:solidFill>
                  <a:srgbClr val="FFFFCC"/>
                </a:solidFill>
                <a:latin typeface="Arial"/>
                <a:cs typeface="Arial"/>
              </a:rPr>
              <a:t>e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-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row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274052" y="4058411"/>
            <a:ext cx="2263140" cy="1005205"/>
            <a:chOff x="7274052" y="4058411"/>
            <a:chExt cx="2263140" cy="100520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4052" y="4058411"/>
              <a:ext cx="2263140" cy="9494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8164" y="4107179"/>
              <a:ext cx="1424177" cy="6210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62772" y="4107179"/>
              <a:ext cx="462546" cy="6210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55736" y="4107179"/>
              <a:ext cx="867918" cy="62103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03236" y="4442459"/>
              <a:ext cx="1626870" cy="62103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62621" y="4065270"/>
            <a:ext cx="2274570" cy="9353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515620" marR="302260" indent="-195580">
              <a:lnSpc>
                <a:spcPct val="100000"/>
              </a:lnSpc>
              <a:spcBef>
                <a:spcPts val="98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Multipl</a:t>
            </a:r>
            <a:r>
              <a:rPr dirty="0" sz="2200" b="1">
                <a:solidFill>
                  <a:srgbClr val="FFFFCC"/>
                </a:solidFill>
                <a:latin typeface="Arial"/>
                <a:cs typeface="Arial"/>
              </a:rPr>
              <a:t>e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-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row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58161" y="4457700"/>
            <a:ext cx="609600" cy="151130"/>
          </a:xfrm>
          <a:custGeom>
            <a:avLst/>
            <a:gdLst/>
            <a:ahLst/>
            <a:cxnLst/>
            <a:rect l="l" t="t" r="r" b="b"/>
            <a:pathLst>
              <a:path w="609600" h="151129">
                <a:moveTo>
                  <a:pt x="458724" y="75437"/>
                </a:moveTo>
                <a:lnTo>
                  <a:pt x="358139" y="150875"/>
                </a:lnTo>
                <a:lnTo>
                  <a:pt x="525780" y="100583"/>
                </a:lnTo>
                <a:lnTo>
                  <a:pt x="458724" y="100583"/>
                </a:lnTo>
                <a:lnTo>
                  <a:pt x="458724" y="75437"/>
                </a:lnTo>
                <a:close/>
              </a:path>
              <a:path w="609600" h="151129">
                <a:moveTo>
                  <a:pt x="425196" y="50292"/>
                </a:moveTo>
                <a:lnTo>
                  <a:pt x="0" y="50292"/>
                </a:lnTo>
                <a:lnTo>
                  <a:pt x="0" y="100583"/>
                </a:lnTo>
                <a:lnTo>
                  <a:pt x="425196" y="100583"/>
                </a:lnTo>
                <a:lnTo>
                  <a:pt x="458724" y="75437"/>
                </a:lnTo>
                <a:lnTo>
                  <a:pt x="425196" y="50292"/>
                </a:lnTo>
                <a:close/>
              </a:path>
              <a:path w="609600" h="151129">
                <a:moveTo>
                  <a:pt x="525780" y="50292"/>
                </a:moveTo>
                <a:lnTo>
                  <a:pt x="458724" y="50292"/>
                </a:lnTo>
                <a:lnTo>
                  <a:pt x="458724" y="100583"/>
                </a:lnTo>
                <a:lnTo>
                  <a:pt x="525780" y="100583"/>
                </a:lnTo>
                <a:lnTo>
                  <a:pt x="609600" y="75437"/>
                </a:lnTo>
                <a:lnTo>
                  <a:pt x="525780" y="50292"/>
                </a:lnTo>
                <a:close/>
              </a:path>
              <a:path w="609600" h="151129">
                <a:moveTo>
                  <a:pt x="358139" y="0"/>
                </a:moveTo>
                <a:lnTo>
                  <a:pt x="458724" y="75437"/>
                </a:lnTo>
                <a:lnTo>
                  <a:pt x="458724" y="50292"/>
                </a:lnTo>
                <a:lnTo>
                  <a:pt x="525780" y="50292"/>
                </a:lnTo>
                <a:lnTo>
                  <a:pt x="358139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29962" y="4152900"/>
            <a:ext cx="5143500" cy="702945"/>
          </a:xfrm>
          <a:custGeom>
            <a:avLst/>
            <a:gdLst/>
            <a:ahLst/>
            <a:cxnLst/>
            <a:rect l="l" t="t" r="r" b="b"/>
            <a:pathLst>
              <a:path w="5143500" h="702945">
                <a:moveTo>
                  <a:pt x="609600" y="380238"/>
                </a:moveTo>
                <a:lnTo>
                  <a:pt x="525780" y="355092"/>
                </a:lnTo>
                <a:lnTo>
                  <a:pt x="358140" y="304800"/>
                </a:lnTo>
                <a:lnTo>
                  <a:pt x="425196" y="355092"/>
                </a:lnTo>
                <a:lnTo>
                  <a:pt x="0" y="355092"/>
                </a:lnTo>
                <a:lnTo>
                  <a:pt x="0" y="405384"/>
                </a:lnTo>
                <a:lnTo>
                  <a:pt x="425196" y="405384"/>
                </a:lnTo>
                <a:lnTo>
                  <a:pt x="358140" y="455676"/>
                </a:lnTo>
                <a:lnTo>
                  <a:pt x="525780" y="405384"/>
                </a:lnTo>
                <a:lnTo>
                  <a:pt x="609600" y="380238"/>
                </a:lnTo>
                <a:close/>
              </a:path>
              <a:path w="5143500" h="702945">
                <a:moveTo>
                  <a:pt x="2229612" y="627126"/>
                </a:moveTo>
                <a:lnTo>
                  <a:pt x="2145792" y="601980"/>
                </a:lnTo>
                <a:lnTo>
                  <a:pt x="1978152" y="551688"/>
                </a:lnTo>
                <a:lnTo>
                  <a:pt x="2045208" y="601980"/>
                </a:lnTo>
                <a:lnTo>
                  <a:pt x="1620012" y="601980"/>
                </a:lnTo>
                <a:lnTo>
                  <a:pt x="1620012" y="652272"/>
                </a:lnTo>
                <a:lnTo>
                  <a:pt x="2045208" y="652272"/>
                </a:lnTo>
                <a:lnTo>
                  <a:pt x="1978152" y="702564"/>
                </a:lnTo>
                <a:lnTo>
                  <a:pt x="2145792" y="652272"/>
                </a:lnTo>
                <a:lnTo>
                  <a:pt x="2229612" y="627126"/>
                </a:lnTo>
                <a:close/>
              </a:path>
              <a:path w="5143500" h="702945">
                <a:moveTo>
                  <a:pt x="2229612" y="380238"/>
                </a:moveTo>
                <a:lnTo>
                  <a:pt x="2145792" y="355092"/>
                </a:lnTo>
                <a:lnTo>
                  <a:pt x="1978152" y="304800"/>
                </a:lnTo>
                <a:lnTo>
                  <a:pt x="2045208" y="355092"/>
                </a:lnTo>
                <a:lnTo>
                  <a:pt x="1620012" y="355092"/>
                </a:lnTo>
                <a:lnTo>
                  <a:pt x="1620012" y="405384"/>
                </a:lnTo>
                <a:lnTo>
                  <a:pt x="2045208" y="405384"/>
                </a:lnTo>
                <a:lnTo>
                  <a:pt x="1978152" y="455676"/>
                </a:lnTo>
                <a:lnTo>
                  <a:pt x="2145792" y="405384"/>
                </a:lnTo>
                <a:lnTo>
                  <a:pt x="2229612" y="380238"/>
                </a:lnTo>
                <a:close/>
              </a:path>
              <a:path w="5143500" h="702945">
                <a:moveTo>
                  <a:pt x="2229612" y="75438"/>
                </a:moveTo>
                <a:lnTo>
                  <a:pt x="2145792" y="50292"/>
                </a:lnTo>
                <a:lnTo>
                  <a:pt x="1978152" y="0"/>
                </a:lnTo>
                <a:lnTo>
                  <a:pt x="2045208" y="50292"/>
                </a:lnTo>
                <a:lnTo>
                  <a:pt x="1620012" y="50292"/>
                </a:lnTo>
                <a:lnTo>
                  <a:pt x="1620012" y="100584"/>
                </a:lnTo>
                <a:lnTo>
                  <a:pt x="2045208" y="100584"/>
                </a:lnTo>
                <a:lnTo>
                  <a:pt x="1978152" y="150876"/>
                </a:lnTo>
                <a:lnTo>
                  <a:pt x="2145792" y="100584"/>
                </a:lnTo>
                <a:lnTo>
                  <a:pt x="2229612" y="75438"/>
                </a:lnTo>
                <a:close/>
              </a:path>
              <a:path w="5143500" h="702945">
                <a:moveTo>
                  <a:pt x="5143500" y="380238"/>
                </a:moveTo>
                <a:lnTo>
                  <a:pt x="5059680" y="355092"/>
                </a:lnTo>
                <a:lnTo>
                  <a:pt x="4892040" y="304800"/>
                </a:lnTo>
                <a:lnTo>
                  <a:pt x="4959096" y="355092"/>
                </a:lnTo>
                <a:lnTo>
                  <a:pt x="4533900" y="355092"/>
                </a:lnTo>
                <a:lnTo>
                  <a:pt x="4533900" y="405384"/>
                </a:lnTo>
                <a:lnTo>
                  <a:pt x="4959096" y="405384"/>
                </a:lnTo>
                <a:lnTo>
                  <a:pt x="4892040" y="455676"/>
                </a:lnTo>
                <a:lnTo>
                  <a:pt x="5059680" y="405384"/>
                </a:lnTo>
                <a:lnTo>
                  <a:pt x="5143500" y="380238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SINGLE-ROW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394204" y="5600700"/>
            <a:ext cx="7458075" cy="457200"/>
            <a:chOff x="2394204" y="5600700"/>
            <a:chExt cx="7458075" cy="457200"/>
          </a:xfrm>
        </p:grpSpPr>
        <p:sp>
          <p:nvSpPr>
            <p:cNvPr id="4" name="object 4"/>
            <p:cNvSpPr/>
            <p:nvPr/>
          </p:nvSpPr>
          <p:spPr>
            <a:xfrm>
              <a:off x="2457704" y="5664199"/>
              <a:ext cx="7394575" cy="393700"/>
            </a:xfrm>
            <a:custGeom>
              <a:avLst/>
              <a:gdLst/>
              <a:ahLst/>
              <a:cxnLst/>
              <a:rect l="l" t="t" r="r" b="b"/>
              <a:pathLst>
                <a:path w="7394575" h="393700">
                  <a:moveTo>
                    <a:pt x="7394448" y="0"/>
                  </a:moveTo>
                  <a:lnTo>
                    <a:pt x="7317981" y="0"/>
                  </a:lnTo>
                  <a:lnTo>
                    <a:pt x="7317981" y="25400"/>
                  </a:lnTo>
                  <a:lnTo>
                    <a:pt x="7317994" y="316230"/>
                  </a:lnTo>
                  <a:lnTo>
                    <a:pt x="12954" y="316230"/>
                  </a:lnTo>
                  <a:lnTo>
                    <a:pt x="12954" y="367030"/>
                  </a:lnTo>
                  <a:lnTo>
                    <a:pt x="0" y="367030"/>
                  </a:lnTo>
                  <a:lnTo>
                    <a:pt x="0" y="393700"/>
                  </a:lnTo>
                  <a:lnTo>
                    <a:pt x="7394448" y="393700"/>
                  </a:lnTo>
                  <a:lnTo>
                    <a:pt x="7394448" y="367030"/>
                  </a:lnTo>
                  <a:lnTo>
                    <a:pt x="7394448" y="25400"/>
                  </a:lnTo>
                  <a:lnTo>
                    <a:pt x="7394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07158" y="5613653"/>
              <a:ext cx="7368540" cy="367665"/>
            </a:xfrm>
            <a:custGeom>
              <a:avLst/>
              <a:gdLst/>
              <a:ahLst/>
              <a:cxnLst/>
              <a:rect l="l" t="t" r="r" b="b"/>
              <a:pathLst>
                <a:path w="7368540" h="367664">
                  <a:moveTo>
                    <a:pt x="7368540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7368540" y="367284"/>
                  </a:lnTo>
                  <a:lnTo>
                    <a:pt x="73685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07158" y="5613653"/>
              <a:ext cx="7368540" cy="367665"/>
            </a:xfrm>
            <a:custGeom>
              <a:avLst/>
              <a:gdLst/>
              <a:ahLst/>
              <a:cxnLst/>
              <a:rect l="l" t="t" r="r" b="b"/>
              <a:pathLst>
                <a:path w="7368540" h="367664">
                  <a:moveTo>
                    <a:pt x="0" y="367284"/>
                  </a:moveTo>
                  <a:lnTo>
                    <a:pt x="7368540" y="367284"/>
                  </a:lnTo>
                  <a:lnTo>
                    <a:pt x="7368540" y="0"/>
                  </a:lnTo>
                  <a:lnTo>
                    <a:pt x="0" y="0"/>
                  </a:lnTo>
                  <a:lnTo>
                    <a:pt x="0" y="36728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57704" y="598093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1992474"/>
            <a:ext cx="5799455" cy="392811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Single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row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Manipulate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items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Accept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arguments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return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Act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row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returned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Return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result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row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May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modify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nested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Accept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arguments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can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Gill Sans MT"/>
              <a:cs typeface="Gill Sans MT"/>
            </a:endParaRPr>
          </a:p>
          <a:p>
            <a:pPr marL="20955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function_name</a:t>
            </a:r>
            <a:r>
              <a:rPr dirty="0" sz="1800" spc="-25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[(</a:t>
            </a:r>
            <a:r>
              <a:rPr dirty="0" sz="1800" spc="-10" b="1" i="1">
                <a:latin typeface="Courier New"/>
                <a:cs typeface="Courier New"/>
              </a:rPr>
              <a:t>arg1,</a:t>
            </a:r>
            <a:r>
              <a:rPr dirty="0" sz="1800" spc="-45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arg2,...</a:t>
            </a:r>
            <a:r>
              <a:rPr dirty="0" sz="1800" spc="-10" b="1">
                <a:latin typeface="Courier New"/>
                <a:cs typeface="Courier New"/>
              </a:rPr>
              <a:t>)]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86911" y="2949448"/>
            <a:ext cx="4685030" cy="3333115"/>
            <a:chOff x="3486911" y="2949448"/>
            <a:chExt cx="4685030" cy="3333115"/>
          </a:xfrm>
        </p:grpSpPr>
        <p:sp>
          <p:nvSpPr>
            <p:cNvPr id="3" name="object 3"/>
            <p:cNvSpPr/>
            <p:nvPr/>
          </p:nvSpPr>
          <p:spPr>
            <a:xfrm>
              <a:off x="6113526" y="2974848"/>
              <a:ext cx="0" cy="728980"/>
            </a:xfrm>
            <a:custGeom>
              <a:avLst/>
              <a:gdLst/>
              <a:ahLst/>
              <a:cxnLst/>
              <a:rect l="l" t="t" r="r" b="b"/>
              <a:pathLst>
                <a:path w="0" h="728979">
                  <a:moveTo>
                    <a:pt x="0" y="0"/>
                  </a:moveTo>
                  <a:lnTo>
                    <a:pt x="0" y="728471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161281" y="3665982"/>
              <a:ext cx="3985260" cy="2173605"/>
            </a:xfrm>
            <a:custGeom>
              <a:avLst/>
              <a:gdLst/>
              <a:ahLst/>
              <a:cxnLst/>
              <a:rect l="l" t="t" r="r" b="b"/>
              <a:pathLst>
                <a:path w="3985259" h="2173604">
                  <a:moveTo>
                    <a:pt x="1961388" y="509016"/>
                  </a:moveTo>
                  <a:lnTo>
                    <a:pt x="0" y="6096"/>
                  </a:lnTo>
                </a:path>
                <a:path w="3985259" h="2173604">
                  <a:moveTo>
                    <a:pt x="1972055" y="521208"/>
                  </a:moveTo>
                  <a:lnTo>
                    <a:pt x="3985260" y="0"/>
                  </a:lnTo>
                </a:path>
                <a:path w="3985259" h="2173604">
                  <a:moveTo>
                    <a:pt x="1972055" y="521208"/>
                  </a:moveTo>
                  <a:lnTo>
                    <a:pt x="227075" y="2119884"/>
                  </a:lnTo>
                </a:path>
                <a:path w="3985259" h="2173604">
                  <a:moveTo>
                    <a:pt x="1972055" y="521208"/>
                  </a:moveTo>
                  <a:lnTo>
                    <a:pt x="3643884" y="2173224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7203" y="5344668"/>
              <a:ext cx="1786127" cy="9311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7203" y="5344668"/>
              <a:ext cx="1786255" cy="931544"/>
            </a:xfrm>
            <a:custGeom>
              <a:avLst/>
              <a:gdLst/>
              <a:ahLst/>
              <a:cxnLst/>
              <a:rect l="l" t="t" r="r" b="b"/>
              <a:pathLst>
                <a:path w="1786254" h="931545">
                  <a:moveTo>
                    <a:pt x="0" y="931163"/>
                  </a:moveTo>
                  <a:lnTo>
                    <a:pt x="1786127" y="931163"/>
                  </a:lnTo>
                  <a:lnTo>
                    <a:pt x="1786127" y="0"/>
                  </a:lnTo>
                  <a:lnTo>
                    <a:pt x="0" y="0"/>
                  </a:lnTo>
                  <a:lnTo>
                    <a:pt x="0" y="9311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6911" y="5551932"/>
              <a:ext cx="1905762" cy="62103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206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>
                <a:solidFill>
                  <a:srgbClr val="FFFFFF"/>
                </a:solidFill>
              </a:rPr>
              <a:t>SINGLE-ROW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3648836" y="5623661"/>
            <a:ext cx="15608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Conversion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63896" y="2063495"/>
            <a:ext cx="1740535" cy="911860"/>
            <a:chOff x="5263896" y="2063495"/>
            <a:chExt cx="1740535" cy="91186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3896" y="2063495"/>
              <a:ext cx="1740407" cy="9113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8092" y="2261615"/>
              <a:ext cx="1672589" cy="62102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263896" y="2063495"/>
            <a:ext cx="1740535" cy="9118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Character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40395" y="3250692"/>
            <a:ext cx="1740535" cy="911860"/>
            <a:chOff x="7740395" y="3250692"/>
            <a:chExt cx="1740535" cy="91186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0395" y="3250692"/>
              <a:ext cx="1740407" cy="9113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9559" y="3448812"/>
              <a:ext cx="1424177" cy="62103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740395" y="3250692"/>
            <a:ext cx="1740535" cy="9118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Number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85431" y="5366003"/>
            <a:ext cx="1739264" cy="909955"/>
            <a:chOff x="6885431" y="5366003"/>
            <a:chExt cx="1739264" cy="90995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5431" y="5366003"/>
              <a:ext cx="1738883" cy="9098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8623" y="5562599"/>
              <a:ext cx="974598" cy="62103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85431" y="5366003"/>
            <a:ext cx="1739264" cy="9099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567690">
              <a:lnSpc>
                <a:spcPct val="100000"/>
              </a:lnSpc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Date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50820" y="3250692"/>
            <a:ext cx="1740535" cy="911860"/>
            <a:chOff x="2750820" y="3250692"/>
            <a:chExt cx="1740535" cy="91186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50820" y="3250692"/>
              <a:ext cx="1740408" cy="9113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26080" y="3448812"/>
              <a:ext cx="1408938" cy="62103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750820" y="3250692"/>
            <a:ext cx="1740535" cy="9118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General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58155" y="3703320"/>
            <a:ext cx="2152015" cy="996315"/>
            <a:chOff x="5058155" y="3703320"/>
            <a:chExt cx="2152015" cy="99631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58155" y="3703320"/>
              <a:ext cx="2151888" cy="9311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5983" y="3742944"/>
              <a:ext cx="1207769" cy="62103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44183" y="3742944"/>
              <a:ext cx="462546" cy="62103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37147" y="3742944"/>
              <a:ext cx="947166" cy="62103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30951" y="4078224"/>
              <a:ext cx="1626870" cy="62103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058155" y="3703320"/>
            <a:ext cx="2152015" cy="93154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447040" marR="394335" indent="-125095">
              <a:lnSpc>
                <a:spcPct val="100000"/>
              </a:lnSpc>
              <a:spcBef>
                <a:spcPts val="969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Singl</a:t>
            </a:r>
            <a:r>
              <a:rPr dirty="0" sz="2200" b="1">
                <a:solidFill>
                  <a:srgbClr val="FFFFCC"/>
                </a:solidFill>
                <a:latin typeface="Arial"/>
                <a:cs typeface="Arial"/>
              </a:rPr>
              <a:t>e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-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row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1503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>
                <a:solidFill>
                  <a:srgbClr val="FFFFFF"/>
                </a:solidFill>
              </a:rPr>
              <a:t>CHARACTER</a:t>
            </a:r>
            <a:r>
              <a:rPr dirty="0" sz="2800" spc="-7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940808" y="1956816"/>
            <a:ext cx="2310765" cy="996315"/>
            <a:chOff x="4940808" y="1956816"/>
            <a:chExt cx="2310765" cy="996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808" y="1956816"/>
              <a:ext cx="2310384" cy="9311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9992" y="1996440"/>
              <a:ext cx="1672589" cy="6210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2852" y="2331720"/>
              <a:ext cx="1626870" cy="6210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40808" y="1956816"/>
            <a:ext cx="2310765" cy="93154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marL="526415" marR="495934" indent="-22860">
              <a:lnSpc>
                <a:spcPct val="100000"/>
              </a:lnSpc>
              <a:spcBef>
                <a:spcPts val="96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Character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1630" y="4452873"/>
            <a:ext cx="982344" cy="93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LOWER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UPPER </a:t>
            </a:r>
            <a:r>
              <a:rPr dirty="0" sz="1800" spc="-5" b="1">
                <a:latin typeface="Courier New"/>
                <a:cs typeface="Courier New"/>
              </a:rPr>
              <a:t> IN</a:t>
            </a:r>
            <a:r>
              <a:rPr dirty="0" sz="1800" spc="-15" b="1">
                <a:latin typeface="Courier New"/>
                <a:cs typeface="Courier New"/>
              </a:rPr>
              <a:t>I</a:t>
            </a:r>
            <a:r>
              <a:rPr dirty="0" sz="1800" spc="-5" b="1">
                <a:latin typeface="Courier New"/>
                <a:cs typeface="Courier New"/>
              </a:rPr>
              <a:t>T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spc="-5" b="1">
                <a:latin typeface="Courier New"/>
                <a:cs typeface="Courier New"/>
              </a:rPr>
              <a:t>AP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4692" y="4452873"/>
            <a:ext cx="1527810" cy="2138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87070">
              <a:lnSpc>
                <a:spcPct val="11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CO</a:t>
            </a:r>
            <a:r>
              <a:rPr dirty="0" sz="1800" spc="-15" b="1">
                <a:latin typeface="Courier New"/>
                <a:cs typeface="Courier New"/>
              </a:rPr>
              <a:t>N</a:t>
            </a:r>
            <a:r>
              <a:rPr dirty="0" sz="1800" spc="-5" b="1">
                <a:latin typeface="Courier New"/>
                <a:cs typeface="Courier New"/>
              </a:rPr>
              <a:t>C</a:t>
            </a:r>
            <a:r>
              <a:rPr dirty="0" sz="1800" spc="-15" b="1">
                <a:latin typeface="Courier New"/>
                <a:cs typeface="Courier New"/>
              </a:rPr>
              <a:t>A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5" b="1">
                <a:latin typeface="Courier New"/>
                <a:cs typeface="Courier New"/>
              </a:rPr>
              <a:t>SU</a:t>
            </a:r>
            <a:r>
              <a:rPr dirty="0" sz="1800" spc="-15" b="1">
                <a:latin typeface="Courier New"/>
                <a:cs typeface="Courier New"/>
              </a:rPr>
              <a:t>B</a:t>
            </a:r>
            <a:r>
              <a:rPr dirty="0" sz="1800" spc="-5" b="1">
                <a:latin typeface="Courier New"/>
                <a:cs typeface="Courier New"/>
              </a:rPr>
              <a:t>S</a:t>
            </a:r>
            <a:r>
              <a:rPr dirty="0" sz="1800" spc="-15" b="1">
                <a:latin typeface="Courier New"/>
                <a:cs typeface="Courier New"/>
              </a:rPr>
              <a:t>T</a:t>
            </a:r>
            <a:r>
              <a:rPr dirty="0" sz="1800" b="1">
                <a:latin typeface="Courier New"/>
                <a:cs typeface="Courier New"/>
              </a:rPr>
              <a:t>R  </a:t>
            </a:r>
            <a:r>
              <a:rPr dirty="0" sz="1800" spc="-5" b="1">
                <a:latin typeface="Courier New"/>
                <a:cs typeface="Courier New"/>
              </a:rPr>
              <a:t>LE</a:t>
            </a:r>
            <a:r>
              <a:rPr dirty="0" sz="1800" spc="-15" b="1">
                <a:latin typeface="Courier New"/>
                <a:cs typeface="Courier New"/>
              </a:rPr>
              <a:t>N</a:t>
            </a:r>
            <a:r>
              <a:rPr dirty="0" sz="1800" spc="-5" b="1">
                <a:latin typeface="Courier New"/>
                <a:cs typeface="Courier New"/>
              </a:rPr>
              <a:t>G</a:t>
            </a:r>
            <a:r>
              <a:rPr dirty="0" sz="1800" spc="-15" b="1">
                <a:latin typeface="Courier New"/>
                <a:cs typeface="Courier New"/>
              </a:rPr>
              <a:t>T</a:t>
            </a:r>
            <a:r>
              <a:rPr dirty="0" sz="1800" b="1">
                <a:latin typeface="Courier New"/>
                <a:cs typeface="Courier New"/>
              </a:rPr>
              <a:t>H  </a:t>
            </a:r>
            <a:r>
              <a:rPr dirty="0" sz="1800" spc="-10" b="1">
                <a:latin typeface="Courier New"/>
                <a:cs typeface="Courier New"/>
              </a:rPr>
              <a:t>INSTR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10000"/>
              </a:lnSpc>
            </a:pPr>
            <a:r>
              <a:rPr dirty="0" sz="1800" spc="-10" b="1">
                <a:latin typeface="Courier New"/>
                <a:cs typeface="Courier New"/>
              </a:rPr>
              <a:t>LPAD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|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RPAD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TRIM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REPLACE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23261" y="2875533"/>
            <a:ext cx="5787390" cy="1636395"/>
            <a:chOff x="2223261" y="2875533"/>
            <a:chExt cx="5787390" cy="1636395"/>
          </a:xfrm>
        </p:grpSpPr>
        <p:sp>
          <p:nvSpPr>
            <p:cNvPr id="11" name="object 11"/>
            <p:cNvSpPr/>
            <p:nvPr/>
          </p:nvSpPr>
          <p:spPr>
            <a:xfrm>
              <a:off x="6096761" y="2900933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w="0" h="320039">
                  <a:moveTo>
                    <a:pt x="0" y="320039"/>
                  </a:moveTo>
                  <a:lnTo>
                    <a:pt x="0" y="0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38422" y="3239261"/>
              <a:ext cx="3846829" cy="533400"/>
            </a:xfrm>
            <a:custGeom>
              <a:avLst/>
              <a:gdLst/>
              <a:ahLst/>
              <a:cxnLst/>
              <a:rect l="l" t="t" r="r" b="b"/>
              <a:pathLst>
                <a:path w="3846829" h="533400">
                  <a:moveTo>
                    <a:pt x="0" y="501650"/>
                  </a:moveTo>
                  <a:lnTo>
                    <a:pt x="0" y="0"/>
                  </a:lnTo>
                  <a:lnTo>
                    <a:pt x="3846449" y="0"/>
                  </a:lnTo>
                  <a:lnTo>
                    <a:pt x="3846449" y="234950"/>
                  </a:lnTo>
                  <a:lnTo>
                    <a:pt x="3846449" y="533273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9611" y="3520439"/>
              <a:ext cx="3753612" cy="9204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29611" y="3520439"/>
              <a:ext cx="3754120" cy="920750"/>
            </a:xfrm>
            <a:custGeom>
              <a:avLst/>
              <a:gdLst/>
              <a:ahLst/>
              <a:cxnLst/>
              <a:rect l="l" t="t" r="r" b="b"/>
              <a:pathLst>
                <a:path w="3754120" h="920750">
                  <a:moveTo>
                    <a:pt x="0" y="920496"/>
                  </a:moveTo>
                  <a:lnTo>
                    <a:pt x="3753612" y="920496"/>
                  </a:lnTo>
                  <a:lnTo>
                    <a:pt x="3753612" y="0"/>
                  </a:lnTo>
                  <a:lnTo>
                    <a:pt x="0" y="0"/>
                  </a:lnTo>
                  <a:lnTo>
                    <a:pt x="0" y="9204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1091" y="3555491"/>
              <a:ext cx="1037082" cy="62102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8603" y="3555491"/>
              <a:ext cx="462546" cy="6210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01567" y="3555491"/>
              <a:ext cx="2192274" cy="6210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4031" y="3890772"/>
              <a:ext cx="1626869" cy="62103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02382" y="3625722"/>
            <a:ext cx="252349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75640" marR="5080" indent="-66294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Cas</a:t>
            </a:r>
            <a:r>
              <a:rPr dirty="0" sz="2200" b="1">
                <a:solidFill>
                  <a:srgbClr val="FFFFCC"/>
                </a:solidFill>
                <a:latin typeface="Arial"/>
                <a:cs typeface="Arial"/>
              </a:rPr>
              <a:t>e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-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ma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nip</a:t>
            </a:r>
            <a:r>
              <a:rPr dirty="0" sz="2200" b="1">
                <a:solidFill>
                  <a:srgbClr val="FFFFCC"/>
                </a:solidFill>
                <a:latin typeface="Arial"/>
                <a:cs typeface="Arial"/>
              </a:rPr>
              <a:t>u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lati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on 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71946" y="3498850"/>
            <a:ext cx="3733165" cy="963930"/>
            <a:chOff x="6171946" y="3498850"/>
            <a:chExt cx="3733165" cy="96393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8296" y="3505200"/>
              <a:ext cx="3720084" cy="9509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78296" y="3505200"/>
              <a:ext cx="3720465" cy="951230"/>
            </a:xfrm>
            <a:custGeom>
              <a:avLst/>
              <a:gdLst/>
              <a:ahLst/>
              <a:cxnLst/>
              <a:rect l="l" t="t" r="r" b="b"/>
              <a:pathLst>
                <a:path w="3720465" h="951229">
                  <a:moveTo>
                    <a:pt x="0" y="950976"/>
                  </a:moveTo>
                  <a:lnTo>
                    <a:pt x="3720084" y="950976"/>
                  </a:lnTo>
                  <a:lnTo>
                    <a:pt x="3720084" y="0"/>
                  </a:lnTo>
                  <a:lnTo>
                    <a:pt x="0" y="0"/>
                  </a:lnTo>
                  <a:lnTo>
                    <a:pt x="0" y="9509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5644" y="3555492"/>
              <a:ext cx="1672590" cy="6210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98664" y="3555492"/>
              <a:ext cx="462546" cy="62102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91628" y="3555492"/>
              <a:ext cx="2108454" cy="62102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458458" y="3626611"/>
            <a:ext cx="31591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Character-manipulation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34428" y="3890771"/>
            <a:ext cx="1626870" cy="62103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397242" y="3961891"/>
            <a:ext cx="12820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functions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1354" y="2431542"/>
            <a:ext cx="3746500" cy="414655"/>
          </a:xfrm>
          <a:custGeom>
            <a:avLst/>
            <a:gdLst/>
            <a:ahLst/>
            <a:cxnLst/>
            <a:rect l="l" t="t" r="r" b="b"/>
            <a:pathLst>
              <a:path w="3746500" h="414655">
                <a:moveTo>
                  <a:pt x="0" y="414527"/>
                </a:moveTo>
                <a:lnTo>
                  <a:pt x="3745992" y="414527"/>
                </a:lnTo>
                <a:lnTo>
                  <a:pt x="3745992" y="0"/>
                </a:lnTo>
                <a:lnTo>
                  <a:pt x="0" y="0"/>
                </a:lnTo>
                <a:lnTo>
                  <a:pt x="0" y="41452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4307" y="2444495"/>
            <a:ext cx="3720465" cy="388620"/>
          </a:xfrm>
          <a:prstGeom prst="rect">
            <a:avLst/>
          </a:prstGeom>
          <a:solidFill>
            <a:srgbClr val="FFCC99"/>
          </a:solidFill>
        </p:spPr>
        <p:txBody>
          <a:bodyPr wrap="square" lIns="0" tIns="7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2200" spc="-5" b="1">
                <a:latin typeface="Arial"/>
                <a:cs typeface="Arial"/>
              </a:rPr>
              <a:t>Function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21729" y="2431542"/>
            <a:ext cx="3540760" cy="414655"/>
          </a:xfrm>
          <a:custGeom>
            <a:avLst/>
            <a:gdLst/>
            <a:ahLst/>
            <a:cxnLst/>
            <a:rect l="l" t="t" r="r" b="b"/>
            <a:pathLst>
              <a:path w="3540759" h="414655">
                <a:moveTo>
                  <a:pt x="0" y="414527"/>
                </a:moveTo>
                <a:lnTo>
                  <a:pt x="3540252" y="414527"/>
                </a:lnTo>
                <a:lnTo>
                  <a:pt x="3540252" y="0"/>
                </a:lnTo>
                <a:lnTo>
                  <a:pt x="0" y="0"/>
                </a:lnTo>
                <a:lnTo>
                  <a:pt x="0" y="41452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34684" y="2444495"/>
            <a:ext cx="3514725" cy="388620"/>
          </a:xfrm>
          <a:prstGeom prst="rect">
            <a:avLst/>
          </a:prstGeom>
          <a:solidFill>
            <a:srgbClr val="FFCC99"/>
          </a:solidFill>
        </p:spPr>
        <p:txBody>
          <a:bodyPr wrap="square" lIns="0" tIns="762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0"/>
              </a:spcBef>
            </a:pPr>
            <a:r>
              <a:rPr dirty="0" sz="2200" spc="-5" b="1">
                <a:latin typeface="Arial"/>
                <a:cs typeface="Arial"/>
              </a:rPr>
              <a:t>Result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6076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5">
                <a:solidFill>
                  <a:srgbClr val="FFFFFF"/>
                </a:solidFill>
              </a:rPr>
              <a:t>CASE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30">
                <a:solidFill>
                  <a:srgbClr val="FFFFFF"/>
                </a:solidFill>
              </a:rPr>
              <a:t>MANIPULATION</a:t>
            </a:r>
            <a:r>
              <a:rPr dirty="0" sz="2800" spc="-5">
                <a:solidFill>
                  <a:srgbClr val="FFFFFF"/>
                </a:solidFill>
              </a:rPr>
              <a:t> FUNCTIONS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2477770" y="1860245"/>
            <a:ext cx="47110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convert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strings.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1354" y="2920745"/>
            <a:ext cx="3823970" cy="1304925"/>
          </a:xfrm>
          <a:custGeom>
            <a:avLst/>
            <a:gdLst/>
            <a:ahLst/>
            <a:cxnLst/>
            <a:rect l="l" t="t" r="r" b="b"/>
            <a:pathLst>
              <a:path w="3823970" h="1304925">
                <a:moveTo>
                  <a:pt x="3823716" y="0"/>
                </a:moveTo>
                <a:lnTo>
                  <a:pt x="0" y="0"/>
                </a:lnTo>
                <a:lnTo>
                  <a:pt x="0" y="1304543"/>
                </a:lnTo>
                <a:lnTo>
                  <a:pt x="3823716" y="1304543"/>
                </a:lnTo>
                <a:lnTo>
                  <a:pt x="3823716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51354" y="2920745"/>
            <a:ext cx="3758565" cy="1304925"/>
          </a:xfrm>
          <a:prstGeom prst="rect">
            <a:avLst/>
          </a:prstGeom>
          <a:solidFill>
            <a:srgbClr val="FFCC99"/>
          </a:solidFill>
          <a:ln w="25907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2630"/>
              </a:lnSpc>
            </a:pPr>
            <a:r>
              <a:rPr dirty="0" sz="2200" b="1">
                <a:latin typeface="Courier New"/>
                <a:cs typeface="Courier New"/>
              </a:rPr>
              <a:t>LOWER('SQL</a:t>
            </a:r>
            <a:r>
              <a:rPr dirty="0" sz="2200" spc="-5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Course')</a:t>
            </a:r>
            <a:endParaRPr sz="2200">
              <a:latin typeface="Courier New"/>
              <a:cs typeface="Courier New"/>
            </a:endParaRPr>
          </a:p>
          <a:p>
            <a:pPr marL="92075" marR="127635">
              <a:lnSpc>
                <a:spcPct val="130000"/>
              </a:lnSpc>
            </a:pPr>
            <a:r>
              <a:rPr dirty="0" sz="2200" b="1">
                <a:latin typeface="Courier New"/>
                <a:cs typeface="Courier New"/>
              </a:rPr>
              <a:t>UPPER('SQL Course') 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INITCAP('SQL Course')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9538" y="2920745"/>
            <a:ext cx="3540760" cy="1304925"/>
          </a:xfrm>
          <a:prstGeom prst="rect">
            <a:avLst/>
          </a:prstGeom>
          <a:solidFill>
            <a:srgbClr val="FFCC99"/>
          </a:solidFill>
          <a:ln w="25907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2630"/>
              </a:lnSpc>
            </a:pPr>
            <a:r>
              <a:rPr dirty="0" sz="2200" spc="-10" b="1">
                <a:latin typeface="Courier New"/>
                <a:cs typeface="Courier New"/>
              </a:rPr>
              <a:t>sql</a:t>
            </a:r>
            <a:r>
              <a:rPr dirty="0" sz="2200" spc="-6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course</a:t>
            </a:r>
            <a:endParaRPr sz="22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dirty="0" sz="2200" spc="-10" b="1">
                <a:latin typeface="Courier New"/>
                <a:cs typeface="Courier New"/>
              </a:rPr>
              <a:t>SQL</a:t>
            </a:r>
            <a:r>
              <a:rPr dirty="0" sz="2200" spc="-6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COURSE</a:t>
            </a:r>
            <a:endParaRPr sz="22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790"/>
              </a:spcBef>
            </a:pPr>
            <a:r>
              <a:rPr dirty="0" sz="2200" spc="-10" b="1">
                <a:latin typeface="Courier New"/>
                <a:cs typeface="Courier New"/>
              </a:rPr>
              <a:t>Sql</a:t>
            </a:r>
            <a:r>
              <a:rPr dirty="0" sz="2200" spc="-6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Course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22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CASE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MANIPULATION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26144" y="2705036"/>
            <a:ext cx="7168515" cy="1406525"/>
            <a:chOff x="2426144" y="2705036"/>
            <a:chExt cx="7168515" cy="1406525"/>
          </a:xfrm>
        </p:grpSpPr>
        <p:sp>
          <p:nvSpPr>
            <p:cNvPr id="4" name="object 4"/>
            <p:cNvSpPr/>
            <p:nvPr/>
          </p:nvSpPr>
          <p:spPr>
            <a:xfrm>
              <a:off x="2489708" y="2768599"/>
              <a:ext cx="7105015" cy="1267460"/>
            </a:xfrm>
            <a:custGeom>
              <a:avLst/>
              <a:gdLst/>
              <a:ahLst/>
              <a:cxnLst/>
              <a:rect l="l" t="t" r="r" b="b"/>
              <a:pathLst>
                <a:path w="7105015" h="1267460">
                  <a:moveTo>
                    <a:pt x="7104888" y="0"/>
                  </a:moveTo>
                  <a:lnTo>
                    <a:pt x="7028434" y="0"/>
                  </a:lnTo>
                  <a:lnTo>
                    <a:pt x="7028434" y="12700"/>
                  </a:lnTo>
                  <a:lnTo>
                    <a:pt x="7028434" y="25400"/>
                  </a:lnTo>
                  <a:lnTo>
                    <a:pt x="7028434" y="1191260"/>
                  </a:lnTo>
                  <a:lnTo>
                    <a:pt x="12954" y="1191260"/>
                  </a:lnTo>
                  <a:lnTo>
                    <a:pt x="12954" y="1242060"/>
                  </a:lnTo>
                  <a:lnTo>
                    <a:pt x="0" y="1242060"/>
                  </a:lnTo>
                  <a:lnTo>
                    <a:pt x="0" y="1267460"/>
                  </a:lnTo>
                  <a:lnTo>
                    <a:pt x="7104888" y="1267460"/>
                  </a:lnTo>
                  <a:lnTo>
                    <a:pt x="7104888" y="1242060"/>
                  </a:lnTo>
                  <a:lnTo>
                    <a:pt x="7104888" y="25400"/>
                  </a:lnTo>
                  <a:lnTo>
                    <a:pt x="71048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592" y="2782823"/>
              <a:ext cx="3964685" cy="13281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39162" y="2718053"/>
              <a:ext cx="7078980" cy="1242060"/>
            </a:xfrm>
            <a:custGeom>
              <a:avLst/>
              <a:gdLst/>
              <a:ahLst/>
              <a:cxnLst/>
              <a:rect l="l" t="t" r="r" b="b"/>
              <a:pathLst>
                <a:path w="7078980" h="1242060">
                  <a:moveTo>
                    <a:pt x="7078980" y="0"/>
                  </a:moveTo>
                  <a:lnTo>
                    <a:pt x="0" y="0"/>
                  </a:lnTo>
                  <a:lnTo>
                    <a:pt x="0" y="1242060"/>
                  </a:lnTo>
                  <a:lnTo>
                    <a:pt x="7078980" y="1242060"/>
                  </a:lnTo>
                  <a:lnTo>
                    <a:pt x="70789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39162" y="2718053"/>
              <a:ext cx="7078980" cy="1242060"/>
            </a:xfrm>
            <a:custGeom>
              <a:avLst/>
              <a:gdLst/>
              <a:ahLst/>
              <a:cxnLst/>
              <a:rect l="l" t="t" r="r" b="b"/>
              <a:pathLst>
                <a:path w="7078980" h="1242060">
                  <a:moveTo>
                    <a:pt x="0" y="1242060"/>
                  </a:moveTo>
                  <a:lnTo>
                    <a:pt x="7078980" y="1242060"/>
                  </a:lnTo>
                  <a:lnTo>
                    <a:pt x="7078980" y="0"/>
                  </a:lnTo>
                  <a:lnTo>
                    <a:pt x="0" y="0"/>
                  </a:lnTo>
                  <a:lnTo>
                    <a:pt x="0" y="1242060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489707" y="395985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82723" y="1875485"/>
            <a:ext cx="6983730" cy="117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Display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number,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name,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department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Higgins: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Gill Sans MT"/>
              <a:cs typeface="Gill Sans MT"/>
            </a:endParaRPr>
          </a:p>
          <a:p>
            <a:pPr marL="47625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empno,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ename,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deptno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8029" y="3024632"/>
            <a:ext cx="7105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5482" y="3024632"/>
            <a:ext cx="24828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ename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'higgins';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8107" y="3538715"/>
            <a:ext cx="2486406" cy="50826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8029" y="3573526"/>
            <a:ext cx="2210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3300"/>
                </a:solidFill>
                <a:latin typeface="Courier New"/>
                <a:cs typeface="Courier New"/>
              </a:rPr>
              <a:t>no</a:t>
            </a:r>
            <a:r>
              <a:rPr dirty="0" sz="1800" spc="-50" b="1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FF3300"/>
                </a:solidFill>
                <a:latin typeface="Courier New"/>
                <a:cs typeface="Courier New"/>
              </a:rPr>
              <a:t>rows</a:t>
            </a:r>
            <a:r>
              <a:rPr dirty="0" sz="1800" spc="-50" b="1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FF3300"/>
                </a:solidFill>
                <a:latin typeface="Courier New"/>
                <a:cs typeface="Courier New"/>
              </a:rPr>
              <a:t>selected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26144" y="4079684"/>
            <a:ext cx="7209790" cy="1186180"/>
            <a:chOff x="2426144" y="4079684"/>
            <a:chExt cx="7209790" cy="1186180"/>
          </a:xfrm>
        </p:grpSpPr>
        <p:sp>
          <p:nvSpPr>
            <p:cNvPr id="15" name="object 15"/>
            <p:cNvSpPr/>
            <p:nvPr/>
          </p:nvSpPr>
          <p:spPr>
            <a:xfrm>
              <a:off x="2489708" y="4142739"/>
              <a:ext cx="7146290" cy="1122680"/>
            </a:xfrm>
            <a:custGeom>
              <a:avLst/>
              <a:gdLst/>
              <a:ahLst/>
              <a:cxnLst/>
              <a:rect l="l" t="t" r="r" b="b"/>
              <a:pathLst>
                <a:path w="7146290" h="1122679">
                  <a:moveTo>
                    <a:pt x="7146036" y="0"/>
                  </a:moveTo>
                  <a:lnTo>
                    <a:pt x="7069582" y="0"/>
                  </a:lnTo>
                  <a:lnTo>
                    <a:pt x="7069582" y="13970"/>
                  </a:lnTo>
                  <a:lnTo>
                    <a:pt x="7069582" y="26670"/>
                  </a:lnTo>
                  <a:lnTo>
                    <a:pt x="7069582" y="1045210"/>
                  </a:lnTo>
                  <a:lnTo>
                    <a:pt x="12954" y="1045210"/>
                  </a:lnTo>
                  <a:lnTo>
                    <a:pt x="12954" y="1045718"/>
                  </a:lnTo>
                  <a:lnTo>
                    <a:pt x="0" y="1045718"/>
                  </a:lnTo>
                  <a:lnTo>
                    <a:pt x="0" y="1096010"/>
                  </a:lnTo>
                  <a:lnTo>
                    <a:pt x="0" y="1122680"/>
                  </a:lnTo>
                  <a:lnTo>
                    <a:pt x="7146036" y="1122680"/>
                  </a:lnTo>
                  <a:lnTo>
                    <a:pt x="7146036" y="1096010"/>
                  </a:lnTo>
                  <a:lnTo>
                    <a:pt x="7146036" y="26670"/>
                  </a:lnTo>
                  <a:lnTo>
                    <a:pt x="71460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39162" y="4092701"/>
              <a:ext cx="7120255" cy="1096010"/>
            </a:xfrm>
            <a:custGeom>
              <a:avLst/>
              <a:gdLst/>
              <a:ahLst/>
              <a:cxnLst/>
              <a:rect l="l" t="t" r="r" b="b"/>
              <a:pathLst>
                <a:path w="7120255" h="1096010">
                  <a:moveTo>
                    <a:pt x="7120128" y="0"/>
                  </a:moveTo>
                  <a:lnTo>
                    <a:pt x="0" y="0"/>
                  </a:lnTo>
                  <a:lnTo>
                    <a:pt x="0" y="1095756"/>
                  </a:lnTo>
                  <a:lnTo>
                    <a:pt x="7120128" y="1095756"/>
                  </a:lnTo>
                  <a:lnTo>
                    <a:pt x="712012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39162" y="4092701"/>
              <a:ext cx="7120255" cy="1096010"/>
            </a:xfrm>
            <a:custGeom>
              <a:avLst/>
              <a:gdLst/>
              <a:ahLst/>
              <a:cxnLst/>
              <a:rect l="l" t="t" r="r" b="b"/>
              <a:pathLst>
                <a:path w="7120255" h="1096010">
                  <a:moveTo>
                    <a:pt x="0" y="1095756"/>
                  </a:moveTo>
                  <a:lnTo>
                    <a:pt x="7120128" y="1095756"/>
                  </a:lnTo>
                  <a:lnTo>
                    <a:pt x="7120128" y="0"/>
                  </a:lnTo>
                  <a:lnTo>
                    <a:pt x="0" y="0"/>
                  </a:lnTo>
                  <a:lnTo>
                    <a:pt x="0" y="109575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452116" y="4189603"/>
            <a:ext cx="70942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" marR="3307715">
              <a:lnSpc>
                <a:spcPct val="100000"/>
              </a:lnSpc>
              <a:spcBef>
                <a:spcPts val="100"/>
              </a:spcBef>
              <a:tabLst>
                <a:tab pos="1049655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empno, ename, deptno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</a:t>
            </a:r>
            <a:endParaRPr sz="1800">
              <a:latin typeface="Courier New"/>
              <a:cs typeface="Courier New"/>
            </a:endParaRPr>
          </a:p>
          <a:p>
            <a:pPr marL="9271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9761" y="4778502"/>
            <a:ext cx="3886200" cy="30480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1945"/>
              </a:lnSpc>
            </a:pPr>
            <a:r>
              <a:rPr dirty="0" sz="1800" spc="-10" b="1">
                <a:latin typeface="Courier New"/>
                <a:cs typeface="Courier New"/>
              </a:rPr>
              <a:t>LOWER(ename)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'higgins';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7450" y="5304253"/>
            <a:ext cx="7105650" cy="4565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324100" y="2418588"/>
          <a:ext cx="7369809" cy="3498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0"/>
                <a:gridCol w="2186940"/>
              </a:tblGrid>
              <a:tr h="434975">
                <a:tc>
                  <a:txBody>
                    <a:bodyPr/>
                    <a:lstStyle/>
                    <a:p>
                      <a:pPr algn="ctr" marL="2552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Function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Result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CONCAT('Hello',</a:t>
                      </a:r>
                      <a:r>
                        <a:rPr dirty="0" sz="2200" spc="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'World')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HelloWorld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SUBSTR('HelloWorld',1,5)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Hello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LENGTH('HelloWorld')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10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INSTR('HelloWorld',</a:t>
                      </a:r>
                      <a:r>
                        <a:rPr dirty="0" sz="2200" spc="-5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'W')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6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LPAD(salary,10,'*')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*****24000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RPAD(salary,</a:t>
                      </a:r>
                      <a:r>
                        <a:rPr dirty="0" sz="2200" spc="-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10,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 '*')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24000*****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CC99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TRIM('H'</a:t>
                      </a:r>
                      <a:r>
                        <a:rPr dirty="0" sz="2200" spc="1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2200" spc="-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'HelloWorld')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elloWorld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27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682688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</a:rPr>
              <a:t>CHARACTER-MANIPULATION</a:t>
            </a:r>
            <a:r>
              <a:rPr dirty="0" sz="2800" spc="1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477770" y="1860245"/>
            <a:ext cx="4208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These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manipulate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strings: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CHARACTER-MANIPULATION</a:t>
                      </a:r>
                      <a:r>
                        <a:rPr dirty="0" sz="28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666" y="4408956"/>
            <a:ext cx="7105650" cy="108656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49360" y="2671508"/>
            <a:ext cx="7305675" cy="1501775"/>
            <a:chOff x="2249360" y="2671508"/>
            <a:chExt cx="7305675" cy="1501775"/>
          </a:xfrm>
        </p:grpSpPr>
        <p:sp>
          <p:nvSpPr>
            <p:cNvPr id="5" name="object 5"/>
            <p:cNvSpPr/>
            <p:nvPr/>
          </p:nvSpPr>
          <p:spPr>
            <a:xfrm>
              <a:off x="2312924" y="2735579"/>
              <a:ext cx="7242175" cy="1437640"/>
            </a:xfrm>
            <a:custGeom>
              <a:avLst/>
              <a:gdLst/>
              <a:ahLst/>
              <a:cxnLst/>
              <a:rect l="l" t="t" r="r" b="b"/>
              <a:pathLst>
                <a:path w="7242175" h="1437639">
                  <a:moveTo>
                    <a:pt x="7242048" y="0"/>
                  </a:moveTo>
                  <a:lnTo>
                    <a:pt x="7165594" y="0"/>
                  </a:lnTo>
                  <a:lnTo>
                    <a:pt x="7165594" y="12700"/>
                  </a:lnTo>
                  <a:lnTo>
                    <a:pt x="7165594" y="25400"/>
                  </a:lnTo>
                  <a:lnTo>
                    <a:pt x="7165594" y="1374140"/>
                  </a:lnTo>
                  <a:lnTo>
                    <a:pt x="25908" y="1374140"/>
                  </a:lnTo>
                  <a:lnTo>
                    <a:pt x="12954" y="1374140"/>
                  </a:lnTo>
                  <a:lnTo>
                    <a:pt x="0" y="1374140"/>
                  </a:lnTo>
                  <a:lnTo>
                    <a:pt x="0" y="1424940"/>
                  </a:lnTo>
                  <a:lnTo>
                    <a:pt x="12954" y="1424940"/>
                  </a:lnTo>
                  <a:lnTo>
                    <a:pt x="12954" y="1437640"/>
                  </a:lnTo>
                  <a:lnTo>
                    <a:pt x="7229094" y="1437640"/>
                  </a:lnTo>
                  <a:lnTo>
                    <a:pt x="7229094" y="1424940"/>
                  </a:lnTo>
                  <a:lnTo>
                    <a:pt x="7242048" y="1424940"/>
                  </a:lnTo>
                  <a:lnTo>
                    <a:pt x="7242048" y="25400"/>
                  </a:lnTo>
                  <a:lnTo>
                    <a:pt x="7242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62378" y="2684525"/>
              <a:ext cx="7216140" cy="1424940"/>
            </a:xfrm>
            <a:custGeom>
              <a:avLst/>
              <a:gdLst/>
              <a:ahLst/>
              <a:cxnLst/>
              <a:rect l="l" t="t" r="r" b="b"/>
              <a:pathLst>
                <a:path w="7216140" h="1424939">
                  <a:moveTo>
                    <a:pt x="7216140" y="0"/>
                  </a:moveTo>
                  <a:lnTo>
                    <a:pt x="0" y="0"/>
                  </a:lnTo>
                  <a:lnTo>
                    <a:pt x="0" y="1424940"/>
                  </a:lnTo>
                  <a:lnTo>
                    <a:pt x="7216140" y="1424940"/>
                  </a:lnTo>
                  <a:lnTo>
                    <a:pt x="72161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62378" y="2684525"/>
              <a:ext cx="7216140" cy="1424940"/>
            </a:xfrm>
            <a:custGeom>
              <a:avLst/>
              <a:gdLst/>
              <a:ahLst/>
              <a:cxnLst/>
              <a:rect l="l" t="t" r="r" b="b"/>
              <a:pathLst>
                <a:path w="7216140" h="1424939">
                  <a:moveTo>
                    <a:pt x="0" y="1424940"/>
                  </a:moveTo>
                  <a:lnTo>
                    <a:pt x="7216140" y="1424940"/>
                  </a:lnTo>
                  <a:lnTo>
                    <a:pt x="7216140" y="0"/>
                  </a:lnTo>
                  <a:lnTo>
                    <a:pt x="0" y="0"/>
                  </a:lnTo>
                  <a:lnTo>
                    <a:pt x="0" y="1424940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312923" y="4160520"/>
            <a:ext cx="7242175" cy="25400"/>
          </a:xfrm>
          <a:custGeom>
            <a:avLst/>
            <a:gdLst/>
            <a:ahLst/>
            <a:cxnLst/>
            <a:rect l="l" t="t" r="r" b="b"/>
            <a:pathLst>
              <a:path w="7242175" h="25400">
                <a:moveTo>
                  <a:pt x="0" y="25399"/>
                </a:moveTo>
                <a:lnTo>
                  <a:pt x="7242048" y="25399"/>
                </a:lnTo>
                <a:lnTo>
                  <a:pt x="7242048" y="0"/>
                </a:lnTo>
                <a:lnTo>
                  <a:pt x="0" y="0"/>
                </a:lnTo>
                <a:lnTo>
                  <a:pt x="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11654" y="2680207"/>
            <a:ext cx="6736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spc="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employee_id,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CONCAT(first_name, last_name)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NAME,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6617" y="2948431"/>
            <a:ext cx="33204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job_id,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LENGTH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(last_name),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6617" y="3216910"/>
            <a:ext cx="4541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INSTR(last_name,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'a')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"Contains 'a'?"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1654" y="3460140"/>
            <a:ext cx="634365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600" spc="-10" b="1">
                <a:latin typeface="Courier New"/>
                <a:cs typeface="Courier New"/>
              </a:rPr>
              <a:t>FROM </a:t>
            </a:r>
            <a:r>
              <a:rPr dirty="0" sz="1600" spc="-95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W</a:t>
            </a:r>
            <a:r>
              <a:rPr dirty="0" sz="1600" spc="-5" b="1">
                <a:latin typeface="Courier New"/>
                <a:cs typeface="Courier New"/>
              </a:rPr>
              <a:t>H</a:t>
            </a:r>
            <a:r>
              <a:rPr dirty="0" sz="1600" spc="-10" b="1">
                <a:latin typeface="Courier New"/>
                <a:cs typeface="Courier New"/>
              </a:rPr>
              <a:t>E</a:t>
            </a:r>
            <a:r>
              <a:rPr dirty="0" sz="1600" spc="-5" b="1">
                <a:latin typeface="Courier New"/>
                <a:cs typeface="Courier New"/>
              </a:rPr>
              <a:t>RE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5778" y="3460140"/>
            <a:ext cx="3198495" cy="56197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latin typeface="Courier New"/>
                <a:cs typeface="Courier New"/>
              </a:rPr>
              <a:t>employees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600" spc="-5" b="1">
                <a:latin typeface="Courier New"/>
                <a:cs typeface="Courier New"/>
              </a:rPr>
              <a:t>SUBSTR(job_id,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4) =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'REP';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7160" y="4460684"/>
            <a:ext cx="1395095" cy="1865630"/>
            <a:chOff x="3697160" y="4460684"/>
            <a:chExt cx="1395095" cy="1865630"/>
          </a:xfrm>
        </p:grpSpPr>
        <p:sp>
          <p:nvSpPr>
            <p:cNvPr id="15" name="object 15"/>
            <p:cNvSpPr/>
            <p:nvPr/>
          </p:nvSpPr>
          <p:spPr>
            <a:xfrm>
              <a:off x="3710177" y="4473701"/>
              <a:ext cx="1369060" cy="1022985"/>
            </a:xfrm>
            <a:custGeom>
              <a:avLst/>
              <a:gdLst/>
              <a:ahLst/>
              <a:cxnLst/>
              <a:rect l="l" t="t" r="r" b="b"/>
              <a:pathLst>
                <a:path w="1369060" h="1022985">
                  <a:moveTo>
                    <a:pt x="0" y="1022604"/>
                  </a:moveTo>
                  <a:lnTo>
                    <a:pt x="1368552" y="1022604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1022604"/>
                  </a:lnTo>
                  <a:close/>
                </a:path>
              </a:pathLst>
            </a:custGeom>
            <a:ln w="25907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82033" y="581939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082033" y="581939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32"/>
                  </a:lnTo>
                  <a:lnTo>
                    <a:pt x="19395" y="150790"/>
                  </a:lnTo>
                  <a:lnTo>
                    <a:pt x="42152" y="108852"/>
                  </a:lnTo>
                  <a:lnTo>
                    <a:pt x="72294" y="72313"/>
                  </a:lnTo>
                  <a:lnTo>
                    <a:pt x="108830" y="42165"/>
                  </a:lnTo>
                  <a:lnTo>
                    <a:pt x="150768" y="19402"/>
                  </a:lnTo>
                  <a:lnTo>
                    <a:pt x="197118" y="5016"/>
                  </a:lnTo>
                  <a:lnTo>
                    <a:pt x="246887" y="0"/>
                  </a:lnTo>
                  <a:lnTo>
                    <a:pt x="296657" y="5016"/>
                  </a:lnTo>
                  <a:lnTo>
                    <a:pt x="343007" y="19402"/>
                  </a:lnTo>
                  <a:lnTo>
                    <a:pt x="384945" y="42165"/>
                  </a:lnTo>
                  <a:lnTo>
                    <a:pt x="421481" y="72313"/>
                  </a:lnTo>
                  <a:lnTo>
                    <a:pt x="451623" y="108852"/>
                  </a:lnTo>
                  <a:lnTo>
                    <a:pt x="474380" y="150790"/>
                  </a:lnTo>
                  <a:lnTo>
                    <a:pt x="488761" y="197132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079684" y="1917128"/>
            <a:ext cx="4855845" cy="1612900"/>
            <a:chOff x="4079684" y="1917128"/>
            <a:chExt cx="4855845" cy="1612900"/>
          </a:xfrm>
        </p:grpSpPr>
        <p:sp>
          <p:nvSpPr>
            <p:cNvPr id="19" name="object 19"/>
            <p:cNvSpPr/>
            <p:nvPr/>
          </p:nvSpPr>
          <p:spPr>
            <a:xfrm>
              <a:off x="4092701" y="2727198"/>
              <a:ext cx="4826635" cy="789940"/>
            </a:xfrm>
            <a:custGeom>
              <a:avLst/>
              <a:gdLst/>
              <a:ahLst/>
              <a:cxnLst/>
              <a:rect l="l" t="t" r="r" b="b"/>
              <a:pathLst>
                <a:path w="4826634" h="789939">
                  <a:moveTo>
                    <a:pt x="4300728" y="257555"/>
                  </a:moveTo>
                  <a:lnTo>
                    <a:pt x="4826508" y="257555"/>
                  </a:lnTo>
                  <a:lnTo>
                    <a:pt x="4826508" y="0"/>
                  </a:lnTo>
                  <a:lnTo>
                    <a:pt x="4300728" y="0"/>
                  </a:lnTo>
                  <a:lnTo>
                    <a:pt x="4300728" y="257555"/>
                  </a:lnTo>
                  <a:close/>
                </a:path>
                <a:path w="4826634" h="789939">
                  <a:moveTo>
                    <a:pt x="1723644" y="789431"/>
                  </a:moveTo>
                  <a:lnTo>
                    <a:pt x="3590544" y="789431"/>
                  </a:lnTo>
                  <a:lnTo>
                    <a:pt x="3590544" y="531876"/>
                  </a:lnTo>
                  <a:lnTo>
                    <a:pt x="1723644" y="531876"/>
                  </a:lnTo>
                  <a:lnTo>
                    <a:pt x="1723644" y="789431"/>
                  </a:lnTo>
                  <a:close/>
                </a:path>
                <a:path w="4826634" h="789939">
                  <a:moveTo>
                    <a:pt x="0" y="492251"/>
                  </a:moveTo>
                  <a:lnTo>
                    <a:pt x="2225040" y="492251"/>
                  </a:lnTo>
                  <a:lnTo>
                    <a:pt x="2225040" y="234696"/>
                  </a:lnTo>
                  <a:lnTo>
                    <a:pt x="0" y="234696"/>
                  </a:lnTo>
                  <a:lnTo>
                    <a:pt x="0" y="492251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428481" y="193014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28481" y="193014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6262052" y="4434776"/>
            <a:ext cx="3103245" cy="1891664"/>
            <a:chOff x="6262052" y="4434776"/>
            <a:chExt cx="3103245" cy="1891664"/>
          </a:xfrm>
        </p:grpSpPr>
        <p:sp>
          <p:nvSpPr>
            <p:cNvPr id="23" name="object 23"/>
            <p:cNvSpPr/>
            <p:nvPr/>
          </p:nvSpPr>
          <p:spPr>
            <a:xfrm>
              <a:off x="6275070" y="4447794"/>
              <a:ext cx="3077210" cy="1022985"/>
            </a:xfrm>
            <a:custGeom>
              <a:avLst/>
              <a:gdLst/>
              <a:ahLst/>
              <a:cxnLst/>
              <a:rect l="l" t="t" r="r" b="b"/>
              <a:pathLst>
                <a:path w="3077209" h="1022985">
                  <a:moveTo>
                    <a:pt x="0" y="1022603"/>
                  </a:moveTo>
                  <a:lnTo>
                    <a:pt x="1760220" y="1022603"/>
                  </a:lnTo>
                  <a:lnTo>
                    <a:pt x="1760220" y="0"/>
                  </a:lnTo>
                  <a:lnTo>
                    <a:pt x="0" y="0"/>
                  </a:lnTo>
                  <a:lnTo>
                    <a:pt x="0" y="1022603"/>
                  </a:lnTo>
                  <a:close/>
                </a:path>
                <a:path w="3077209" h="1022985">
                  <a:moveTo>
                    <a:pt x="1804415" y="1022603"/>
                  </a:moveTo>
                  <a:lnTo>
                    <a:pt x="3076955" y="1022603"/>
                  </a:lnTo>
                  <a:lnTo>
                    <a:pt x="3076955" y="0"/>
                  </a:lnTo>
                  <a:lnTo>
                    <a:pt x="1804415" y="0"/>
                  </a:lnTo>
                  <a:lnTo>
                    <a:pt x="1804415" y="1022603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489442" y="58193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89442" y="58193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32"/>
                  </a:lnTo>
                  <a:lnTo>
                    <a:pt x="19395" y="150790"/>
                  </a:lnTo>
                  <a:lnTo>
                    <a:pt x="42152" y="108852"/>
                  </a:lnTo>
                  <a:lnTo>
                    <a:pt x="72294" y="72313"/>
                  </a:lnTo>
                  <a:lnTo>
                    <a:pt x="108830" y="42165"/>
                  </a:lnTo>
                  <a:lnTo>
                    <a:pt x="150768" y="19402"/>
                  </a:lnTo>
                  <a:lnTo>
                    <a:pt x="197118" y="5016"/>
                  </a:lnTo>
                  <a:lnTo>
                    <a:pt x="246887" y="0"/>
                  </a:lnTo>
                  <a:lnTo>
                    <a:pt x="296657" y="5016"/>
                  </a:lnTo>
                  <a:lnTo>
                    <a:pt x="343007" y="19402"/>
                  </a:lnTo>
                  <a:lnTo>
                    <a:pt x="384945" y="42165"/>
                  </a:lnTo>
                  <a:lnTo>
                    <a:pt x="421481" y="72313"/>
                  </a:lnTo>
                  <a:lnTo>
                    <a:pt x="451623" y="108852"/>
                  </a:lnTo>
                  <a:lnTo>
                    <a:pt x="474380" y="150790"/>
                  </a:lnTo>
                  <a:lnTo>
                    <a:pt x="488761" y="197132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78977" y="1973021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477692" y="2714180"/>
            <a:ext cx="530860" cy="1031875"/>
            <a:chOff x="9477692" y="2714180"/>
            <a:chExt cx="530860" cy="1031875"/>
          </a:xfrm>
        </p:grpSpPr>
        <p:sp>
          <p:nvSpPr>
            <p:cNvPr id="28" name="object 28"/>
            <p:cNvSpPr/>
            <p:nvPr/>
          </p:nvSpPr>
          <p:spPr>
            <a:xfrm>
              <a:off x="9490710" y="2727197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252222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60"/>
                  </a:lnTo>
                  <a:lnTo>
                    <a:pt x="4062" y="296676"/>
                  </a:lnTo>
                  <a:lnTo>
                    <a:pt x="15777" y="339226"/>
                  </a:lnTo>
                  <a:lnTo>
                    <a:pt x="34431" y="378403"/>
                  </a:lnTo>
                  <a:lnTo>
                    <a:pt x="59312" y="413497"/>
                  </a:lnTo>
                  <a:lnTo>
                    <a:pt x="89710" y="443799"/>
                  </a:lnTo>
                  <a:lnTo>
                    <a:pt x="124911" y="468601"/>
                  </a:lnTo>
                  <a:lnTo>
                    <a:pt x="164205" y="487194"/>
                  </a:lnTo>
                  <a:lnTo>
                    <a:pt x="206879" y="498870"/>
                  </a:lnTo>
                  <a:lnTo>
                    <a:pt x="252222" y="502919"/>
                  </a:lnTo>
                  <a:lnTo>
                    <a:pt x="297564" y="498870"/>
                  </a:lnTo>
                  <a:lnTo>
                    <a:pt x="340238" y="487194"/>
                  </a:lnTo>
                  <a:lnTo>
                    <a:pt x="379532" y="468601"/>
                  </a:lnTo>
                  <a:lnTo>
                    <a:pt x="414733" y="443799"/>
                  </a:lnTo>
                  <a:lnTo>
                    <a:pt x="445131" y="413497"/>
                  </a:lnTo>
                  <a:lnTo>
                    <a:pt x="470012" y="378403"/>
                  </a:lnTo>
                  <a:lnTo>
                    <a:pt x="488666" y="339226"/>
                  </a:lnTo>
                  <a:lnTo>
                    <a:pt x="500381" y="296676"/>
                  </a:lnTo>
                  <a:lnTo>
                    <a:pt x="504444" y="251460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490710" y="2727197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0" y="251460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2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4" y="251460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2" y="502919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60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490710" y="323926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490710" y="323926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640951" y="2632963"/>
            <a:ext cx="201295" cy="104203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22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39302" y="586353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31640" y="586353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005764" y="5806376"/>
            <a:ext cx="530860" cy="528955"/>
            <a:chOff x="7005764" y="5806376"/>
            <a:chExt cx="530860" cy="528955"/>
          </a:xfrm>
        </p:grpSpPr>
        <p:sp>
          <p:nvSpPr>
            <p:cNvPr id="36" name="object 36"/>
            <p:cNvSpPr/>
            <p:nvPr/>
          </p:nvSpPr>
          <p:spPr>
            <a:xfrm>
              <a:off x="7018782" y="581939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2" y="0"/>
                  </a:moveTo>
                  <a:lnTo>
                    <a:pt x="206879" y="4051"/>
                  </a:lnTo>
                  <a:lnTo>
                    <a:pt x="164205" y="15732"/>
                  </a:lnTo>
                  <a:lnTo>
                    <a:pt x="124911" y="34332"/>
                  </a:lnTo>
                  <a:lnTo>
                    <a:pt x="89710" y="59141"/>
                  </a:lnTo>
                  <a:lnTo>
                    <a:pt x="59312" y="89448"/>
                  </a:lnTo>
                  <a:lnTo>
                    <a:pt x="34431" y="124544"/>
                  </a:lnTo>
                  <a:lnTo>
                    <a:pt x="15777" y="163718"/>
                  </a:lnTo>
                  <a:lnTo>
                    <a:pt x="4062" y="206260"/>
                  </a:lnTo>
                  <a:lnTo>
                    <a:pt x="0" y="251459"/>
                  </a:lnTo>
                  <a:lnTo>
                    <a:pt x="4062" y="296659"/>
                  </a:lnTo>
                  <a:lnTo>
                    <a:pt x="15777" y="339201"/>
                  </a:lnTo>
                  <a:lnTo>
                    <a:pt x="34431" y="378375"/>
                  </a:lnTo>
                  <a:lnTo>
                    <a:pt x="59312" y="413471"/>
                  </a:lnTo>
                  <a:lnTo>
                    <a:pt x="89710" y="443778"/>
                  </a:lnTo>
                  <a:lnTo>
                    <a:pt x="124911" y="468587"/>
                  </a:lnTo>
                  <a:lnTo>
                    <a:pt x="164205" y="487187"/>
                  </a:lnTo>
                  <a:lnTo>
                    <a:pt x="206879" y="498868"/>
                  </a:lnTo>
                  <a:lnTo>
                    <a:pt x="252222" y="502919"/>
                  </a:lnTo>
                  <a:lnTo>
                    <a:pt x="297564" y="498868"/>
                  </a:lnTo>
                  <a:lnTo>
                    <a:pt x="340238" y="487187"/>
                  </a:lnTo>
                  <a:lnTo>
                    <a:pt x="379532" y="468587"/>
                  </a:lnTo>
                  <a:lnTo>
                    <a:pt x="414733" y="443778"/>
                  </a:lnTo>
                  <a:lnTo>
                    <a:pt x="445131" y="413471"/>
                  </a:lnTo>
                  <a:lnTo>
                    <a:pt x="470012" y="378375"/>
                  </a:lnTo>
                  <a:lnTo>
                    <a:pt x="488666" y="339201"/>
                  </a:lnTo>
                  <a:lnTo>
                    <a:pt x="500381" y="296659"/>
                  </a:lnTo>
                  <a:lnTo>
                    <a:pt x="504444" y="251459"/>
                  </a:lnTo>
                  <a:lnTo>
                    <a:pt x="500381" y="206260"/>
                  </a:lnTo>
                  <a:lnTo>
                    <a:pt x="488666" y="163718"/>
                  </a:lnTo>
                  <a:lnTo>
                    <a:pt x="470012" y="124544"/>
                  </a:lnTo>
                  <a:lnTo>
                    <a:pt x="445131" y="89448"/>
                  </a:lnTo>
                  <a:lnTo>
                    <a:pt x="414733" y="59141"/>
                  </a:lnTo>
                  <a:lnTo>
                    <a:pt x="379532" y="34332"/>
                  </a:lnTo>
                  <a:lnTo>
                    <a:pt x="340238" y="15732"/>
                  </a:lnTo>
                  <a:lnTo>
                    <a:pt x="297564" y="4051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018782" y="581939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59"/>
                  </a:moveTo>
                  <a:lnTo>
                    <a:pt x="4062" y="206260"/>
                  </a:lnTo>
                  <a:lnTo>
                    <a:pt x="15777" y="163718"/>
                  </a:lnTo>
                  <a:lnTo>
                    <a:pt x="34431" y="124544"/>
                  </a:lnTo>
                  <a:lnTo>
                    <a:pt x="59312" y="89448"/>
                  </a:lnTo>
                  <a:lnTo>
                    <a:pt x="89710" y="59141"/>
                  </a:lnTo>
                  <a:lnTo>
                    <a:pt x="124911" y="34332"/>
                  </a:lnTo>
                  <a:lnTo>
                    <a:pt x="164205" y="15732"/>
                  </a:lnTo>
                  <a:lnTo>
                    <a:pt x="206879" y="4051"/>
                  </a:lnTo>
                  <a:lnTo>
                    <a:pt x="252222" y="0"/>
                  </a:lnTo>
                  <a:lnTo>
                    <a:pt x="297564" y="4051"/>
                  </a:lnTo>
                  <a:lnTo>
                    <a:pt x="340238" y="15732"/>
                  </a:lnTo>
                  <a:lnTo>
                    <a:pt x="379532" y="34332"/>
                  </a:lnTo>
                  <a:lnTo>
                    <a:pt x="414733" y="59141"/>
                  </a:lnTo>
                  <a:lnTo>
                    <a:pt x="445131" y="89448"/>
                  </a:lnTo>
                  <a:lnTo>
                    <a:pt x="470012" y="124544"/>
                  </a:lnTo>
                  <a:lnTo>
                    <a:pt x="488666" y="163718"/>
                  </a:lnTo>
                  <a:lnTo>
                    <a:pt x="500381" y="206260"/>
                  </a:lnTo>
                  <a:lnTo>
                    <a:pt x="504444" y="251459"/>
                  </a:lnTo>
                  <a:lnTo>
                    <a:pt x="500381" y="296659"/>
                  </a:lnTo>
                  <a:lnTo>
                    <a:pt x="488666" y="339201"/>
                  </a:lnTo>
                  <a:lnTo>
                    <a:pt x="470012" y="378375"/>
                  </a:lnTo>
                  <a:lnTo>
                    <a:pt x="445131" y="413471"/>
                  </a:lnTo>
                  <a:lnTo>
                    <a:pt x="414733" y="443778"/>
                  </a:lnTo>
                  <a:lnTo>
                    <a:pt x="379532" y="468587"/>
                  </a:lnTo>
                  <a:lnTo>
                    <a:pt x="340238" y="487187"/>
                  </a:lnTo>
                  <a:lnTo>
                    <a:pt x="297564" y="498868"/>
                  </a:lnTo>
                  <a:lnTo>
                    <a:pt x="252222" y="502919"/>
                  </a:lnTo>
                  <a:lnTo>
                    <a:pt x="206879" y="498868"/>
                  </a:lnTo>
                  <a:lnTo>
                    <a:pt x="164205" y="487187"/>
                  </a:lnTo>
                  <a:lnTo>
                    <a:pt x="124911" y="468587"/>
                  </a:lnTo>
                  <a:lnTo>
                    <a:pt x="89710" y="443778"/>
                  </a:lnTo>
                  <a:lnTo>
                    <a:pt x="59312" y="413471"/>
                  </a:lnTo>
                  <a:lnTo>
                    <a:pt x="34431" y="378375"/>
                  </a:lnTo>
                  <a:lnTo>
                    <a:pt x="15777" y="339201"/>
                  </a:lnTo>
                  <a:lnTo>
                    <a:pt x="4062" y="296659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175118" y="586841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89954" y="2426461"/>
            <a:ext cx="3043555" cy="1083310"/>
          </a:xfrm>
          <a:custGeom>
            <a:avLst/>
            <a:gdLst/>
            <a:ahLst/>
            <a:cxnLst/>
            <a:rect l="l" t="t" r="r" b="b"/>
            <a:pathLst>
              <a:path w="3043554" h="1083310">
                <a:moveTo>
                  <a:pt x="2237486" y="183515"/>
                </a:moveTo>
                <a:lnTo>
                  <a:pt x="2212937" y="218986"/>
                </a:lnTo>
                <a:lnTo>
                  <a:pt x="2204466" y="0"/>
                </a:lnTo>
                <a:lnTo>
                  <a:pt x="2178558" y="1016"/>
                </a:lnTo>
                <a:lnTo>
                  <a:pt x="2187029" y="219976"/>
                </a:lnTo>
                <a:lnTo>
                  <a:pt x="2159889" y="186563"/>
                </a:lnTo>
                <a:lnTo>
                  <a:pt x="2203704" y="314452"/>
                </a:lnTo>
                <a:lnTo>
                  <a:pt x="2223617" y="237236"/>
                </a:lnTo>
                <a:lnTo>
                  <a:pt x="2237486" y="183515"/>
                </a:lnTo>
                <a:close/>
              </a:path>
              <a:path w="3043554" h="1083310">
                <a:moveTo>
                  <a:pt x="3035808" y="624586"/>
                </a:moveTo>
                <a:lnTo>
                  <a:pt x="94996" y="624586"/>
                </a:lnTo>
                <a:lnTo>
                  <a:pt x="129540" y="598678"/>
                </a:lnTo>
                <a:lnTo>
                  <a:pt x="0" y="637540"/>
                </a:lnTo>
                <a:lnTo>
                  <a:pt x="129540" y="676402"/>
                </a:lnTo>
                <a:lnTo>
                  <a:pt x="94996" y="650494"/>
                </a:lnTo>
                <a:lnTo>
                  <a:pt x="3035808" y="650494"/>
                </a:lnTo>
                <a:lnTo>
                  <a:pt x="3035808" y="624586"/>
                </a:lnTo>
                <a:close/>
              </a:path>
              <a:path w="3043554" h="1083310">
                <a:moveTo>
                  <a:pt x="3043555" y="1043686"/>
                </a:moveTo>
                <a:lnTo>
                  <a:pt x="1455991" y="1030757"/>
                </a:lnTo>
                <a:lnTo>
                  <a:pt x="1456182" y="1030605"/>
                </a:lnTo>
                <a:lnTo>
                  <a:pt x="1490726" y="1005078"/>
                </a:lnTo>
                <a:lnTo>
                  <a:pt x="1360932" y="1042924"/>
                </a:lnTo>
                <a:lnTo>
                  <a:pt x="1490091" y="1082802"/>
                </a:lnTo>
                <a:lnTo>
                  <a:pt x="1455813" y="1056665"/>
                </a:lnTo>
                <a:lnTo>
                  <a:pt x="3043301" y="1069594"/>
                </a:lnTo>
                <a:lnTo>
                  <a:pt x="3043555" y="104368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92219" y="5496305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6067" y="76073"/>
                </a:moveTo>
                <a:lnTo>
                  <a:pt x="24053" y="93506"/>
                </a:lnTo>
                <a:lnTo>
                  <a:pt x="33019" y="314807"/>
                </a:lnTo>
                <a:lnTo>
                  <a:pt x="58419" y="313791"/>
                </a:lnTo>
                <a:lnTo>
                  <a:pt x="49454" y="92505"/>
                </a:lnTo>
                <a:lnTo>
                  <a:pt x="36067" y="76073"/>
                </a:lnTo>
                <a:close/>
              </a:path>
              <a:path w="76200" h="314960">
                <a:moveTo>
                  <a:pt x="33019" y="0"/>
                </a:moveTo>
                <a:lnTo>
                  <a:pt x="0" y="128409"/>
                </a:lnTo>
                <a:lnTo>
                  <a:pt x="24053" y="93506"/>
                </a:lnTo>
                <a:lnTo>
                  <a:pt x="23367" y="76581"/>
                </a:lnTo>
                <a:lnTo>
                  <a:pt x="48767" y="75565"/>
                </a:lnTo>
                <a:lnTo>
                  <a:pt x="59053" y="75565"/>
                </a:lnTo>
                <a:lnTo>
                  <a:pt x="33019" y="0"/>
                </a:lnTo>
                <a:close/>
              </a:path>
              <a:path w="76200" h="314960">
                <a:moveTo>
                  <a:pt x="59053" y="75565"/>
                </a:moveTo>
                <a:lnTo>
                  <a:pt x="48767" y="75565"/>
                </a:lnTo>
                <a:lnTo>
                  <a:pt x="49454" y="92505"/>
                </a:lnTo>
                <a:lnTo>
                  <a:pt x="76200" y="125336"/>
                </a:lnTo>
                <a:lnTo>
                  <a:pt x="59053" y="75565"/>
                </a:lnTo>
                <a:close/>
              </a:path>
              <a:path w="76200" h="314960">
                <a:moveTo>
                  <a:pt x="36067" y="76073"/>
                </a:moveTo>
                <a:lnTo>
                  <a:pt x="23367" y="76581"/>
                </a:lnTo>
                <a:lnTo>
                  <a:pt x="24053" y="93506"/>
                </a:lnTo>
                <a:lnTo>
                  <a:pt x="36067" y="76073"/>
                </a:lnTo>
                <a:close/>
              </a:path>
              <a:path w="76200" h="314960">
                <a:moveTo>
                  <a:pt x="48767" y="75565"/>
                </a:moveTo>
                <a:lnTo>
                  <a:pt x="36067" y="76073"/>
                </a:lnTo>
                <a:lnTo>
                  <a:pt x="49454" y="92505"/>
                </a:lnTo>
                <a:lnTo>
                  <a:pt x="48767" y="7556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22744" y="5494527"/>
            <a:ext cx="1525905" cy="315595"/>
          </a:xfrm>
          <a:custGeom>
            <a:avLst/>
            <a:gdLst/>
            <a:ahLst/>
            <a:cxnLst/>
            <a:rect l="l" t="t" r="r" b="b"/>
            <a:pathLst>
              <a:path w="1525904" h="315595">
                <a:moveTo>
                  <a:pt x="76200" y="125907"/>
                </a:moveTo>
                <a:lnTo>
                  <a:pt x="59080" y="76200"/>
                </a:lnTo>
                <a:lnTo>
                  <a:pt x="33020" y="508"/>
                </a:lnTo>
                <a:lnTo>
                  <a:pt x="0" y="128981"/>
                </a:lnTo>
                <a:lnTo>
                  <a:pt x="24041" y="94132"/>
                </a:lnTo>
                <a:lnTo>
                  <a:pt x="33020" y="315391"/>
                </a:lnTo>
                <a:lnTo>
                  <a:pt x="58420" y="314363"/>
                </a:lnTo>
                <a:lnTo>
                  <a:pt x="49441" y="93129"/>
                </a:lnTo>
                <a:lnTo>
                  <a:pt x="76200" y="125907"/>
                </a:lnTo>
                <a:close/>
              </a:path>
              <a:path w="1525904" h="315595">
                <a:moveTo>
                  <a:pt x="1525524" y="125310"/>
                </a:moveTo>
                <a:lnTo>
                  <a:pt x="1508379" y="75565"/>
                </a:lnTo>
                <a:lnTo>
                  <a:pt x="1498219" y="46088"/>
                </a:lnTo>
                <a:lnTo>
                  <a:pt x="1498219" y="75565"/>
                </a:lnTo>
                <a:lnTo>
                  <a:pt x="1485519" y="76085"/>
                </a:lnTo>
                <a:lnTo>
                  <a:pt x="1472819" y="76581"/>
                </a:lnTo>
                <a:lnTo>
                  <a:pt x="1498219" y="75565"/>
                </a:lnTo>
                <a:lnTo>
                  <a:pt x="1498219" y="46088"/>
                </a:lnTo>
                <a:lnTo>
                  <a:pt x="1482344" y="0"/>
                </a:lnTo>
                <a:lnTo>
                  <a:pt x="1449451" y="128384"/>
                </a:lnTo>
                <a:lnTo>
                  <a:pt x="1473492" y="93522"/>
                </a:lnTo>
                <a:lnTo>
                  <a:pt x="1482344" y="314794"/>
                </a:lnTo>
                <a:lnTo>
                  <a:pt x="1507744" y="313766"/>
                </a:lnTo>
                <a:lnTo>
                  <a:pt x="1498892" y="92544"/>
                </a:lnTo>
                <a:lnTo>
                  <a:pt x="1525524" y="12531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NUMBER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95169" y="1815416"/>
            <a:ext cx="4753610" cy="226441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1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ROUN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: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spe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ec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mal</a:t>
            </a:r>
            <a:endParaRPr sz="1800">
              <a:latin typeface="Gill Sans MT"/>
              <a:cs typeface="Gill Sans MT"/>
            </a:endParaRPr>
          </a:p>
          <a:p>
            <a:pPr marL="641985">
              <a:lnSpc>
                <a:spcPct val="100000"/>
              </a:lnSpc>
              <a:spcBef>
                <a:spcPts val="950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ROUND(45.926,</a:t>
            </a:r>
            <a:r>
              <a:rPr dirty="0" sz="1400" spc="-7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2)</a:t>
            </a:r>
            <a:endParaRPr sz="14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1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  <a:tab pos="1419225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TRUNC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:	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Truncates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specified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decimal</a:t>
            </a:r>
            <a:endParaRPr sz="1800">
              <a:latin typeface="Gill Sans MT"/>
              <a:cs typeface="Gill Sans MT"/>
            </a:endParaRPr>
          </a:p>
          <a:p>
            <a:pPr marL="641985">
              <a:lnSpc>
                <a:spcPct val="100000"/>
              </a:lnSpc>
              <a:spcBef>
                <a:spcPts val="955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TRUNC(45.926,</a:t>
            </a:r>
            <a:r>
              <a:rPr dirty="0" sz="1400" spc="-7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2)</a:t>
            </a:r>
            <a:endParaRPr sz="14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01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MOD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: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urns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ainder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 divis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endParaRPr sz="1800">
              <a:latin typeface="Gill Sans MT"/>
              <a:cs typeface="Gill Sans MT"/>
            </a:endParaRPr>
          </a:p>
          <a:p>
            <a:pPr marL="641985">
              <a:lnSpc>
                <a:spcPct val="100000"/>
              </a:lnSpc>
              <a:spcBef>
                <a:spcPts val="955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MOD(1600,</a:t>
            </a:r>
            <a:r>
              <a:rPr dirty="0" sz="1400" spc="-45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3300"/>
                </a:solidFill>
                <a:latin typeface="Courier New"/>
                <a:cs typeface="Courier New"/>
              </a:rPr>
              <a:t>300)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5004" y="2364486"/>
            <a:ext cx="5588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45.93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1164" y="3102101"/>
            <a:ext cx="5588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45.92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25004" y="3839971"/>
            <a:ext cx="3454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FF3300"/>
                </a:solidFill>
                <a:latin typeface="Courier New"/>
                <a:cs typeface="Courier New"/>
              </a:rPr>
              <a:t>100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1917" y="2345435"/>
            <a:ext cx="1186180" cy="151130"/>
          </a:xfrm>
          <a:custGeom>
            <a:avLst/>
            <a:gdLst/>
            <a:ahLst/>
            <a:cxnLst/>
            <a:rect l="l" t="t" r="r" b="b"/>
            <a:pathLst>
              <a:path w="1186179" h="151130">
                <a:moveTo>
                  <a:pt x="1085088" y="75437"/>
                </a:moveTo>
                <a:lnTo>
                  <a:pt x="1034796" y="150875"/>
                </a:lnTo>
                <a:lnTo>
                  <a:pt x="1135380" y="100584"/>
                </a:lnTo>
                <a:lnTo>
                  <a:pt x="1085088" y="100584"/>
                </a:lnTo>
                <a:lnTo>
                  <a:pt x="1085088" y="75437"/>
                </a:lnTo>
                <a:close/>
              </a:path>
              <a:path w="1186179" h="151130">
                <a:moveTo>
                  <a:pt x="1068324" y="50291"/>
                </a:moveTo>
                <a:lnTo>
                  <a:pt x="0" y="50291"/>
                </a:lnTo>
                <a:lnTo>
                  <a:pt x="0" y="100584"/>
                </a:lnTo>
                <a:lnTo>
                  <a:pt x="1068324" y="100584"/>
                </a:lnTo>
                <a:lnTo>
                  <a:pt x="1085088" y="75437"/>
                </a:lnTo>
                <a:lnTo>
                  <a:pt x="1068324" y="50291"/>
                </a:lnTo>
                <a:close/>
              </a:path>
              <a:path w="1186179" h="151130">
                <a:moveTo>
                  <a:pt x="1135380" y="50291"/>
                </a:moveTo>
                <a:lnTo>
                  <a:pt x="1085088" y="50291"/>
                </a:lnTo>
                <a:lnTo>
                  <a:pt x="1085088" y="100584"/>
                </a:lnTo>
                <a:lnTo>
                  <a:pt x="1135380" y="100584"/>
                </a:lnTo>
                <a:lnTo>
                  <a:pt x="1185672" y="75437"/>
                </a:lnTo>
                <a:lnTo>
                  <a:pt x="1135380" y="50291"/>
                </a:lnTo>
                <a:close/>
              </a:path>
              <a:path w="1186179" h="151130">
                <a:moveTo>
                  <a:pt x="1034796" y="0"/>
                </a:moveTo>
                <a:lnTo>
                  <a:pt x="1085088" y="75437"/>
                </a:lnTo>
                <a:lnTo>
                  <a:pt x="1085088" y="50291"/>
                </a:lnTo>
                <a:lnTo>
                  <a:pt x="1135380" y="50291"/>
                </a:lnTo>
                <a:lnTo>
                  <a:pt x="1034796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44361" y="3157727"/>
            <a:ext cx="1186180" cy="151130"/>
          </a:xfrm>
          <a:custGeom>
            <a:avLst/>
            <a:gdLst/>
            <a:ahLst/>
            <a:cxnLst/>
            <a:rect l="l" t="t" r="r" b="b"/>
            <a:pathLst>
              <a:path w="1186179" h="151129">
                <a:moveTo>
                  <a:pt x="1085088" y="75437"/>
                </a:moveTo>
                <a:lnTo>
                  <a:pt x="1034795" y="150875"/>
                </a:lnTo>
                <a:lnTo>
                  <a:pt x="1135379" y="100584"/>
                </a:lnTo>
                <a:lnTo>
                  <a:pt x="1085088" y="100584"/>
                </a:lnTo>
                <a:lnTo>
                  <a:pt x="1085088" y="75437"/>
                </a:lnTo>
                <a:close/>
              </a:path>
              <a:path w="1186179" h="151129">
                <a:moveTo>
                  <a:pt x="1068324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1068323" y="100584"/>
                </a:lnTo>
                <a:lnTo>
                  <a:pt x="1085088" y="75437"/>
                </a:lnTo>
                <a:lnTo>
                  <a:pt x="1068324" y="50292"/>
                </a:lnTo>
                <a:close/>
              </a:path>
              <a:path w="1186179" h="151129">
                <a:moveTo>
                  <a:pt x="1135380" y="50292"/>
                </a:moveTo>
                <a:lnTo>
                  <a:pt x="1085088" y="50292"/>
                </a:lnTo>
                <a:lnTo>
                  <a:pt x="1085088" y="100584"/>
                </a:lnTo>
                <a:lnTo>
                  <a:pt x="1135379" y="100584"/>
                </a:lnTo>
                <a:lnTo>
                  <a:pt x="1185671" y="75437"/>
                </a:lnTo>
                <a:lnTo>
                  <a:pt x="1135380" y="50292"/>
                </a:lnTo>
                <a:close/>
              </a:path>
              <a:path w="1186179" h="151129">
                <a:moveTo>
                  <a:pt x="1034795" y="0"/>
                </a:moveTo>
                <a:lnTo>
                  <a:pt x="1085088" y="75437"/>
                </a:lnTo>
                <a:lnTo>
                  <a:pt x="1085088" y="50292"/>
                </a:lnTo>
                <a:lnTo>
                  <a:pt x="1135380" y="50292"/>
                </a:lnTo>
                <a:lnTo>
                  <a:pt x="1034795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74485" y="3901440"/>
            <a:ext cx="1186180" cy="151130"/>
          </a:xfrm>
          <a:custGeom>
            <a:avLst/>
            <a:gdLst/>
            <a:ahLst/>
            <a:cxnLst/>
            <a:rect l="l" t="t" r="r" b="b"/>
            <a:pathLst>
              <a:path w="1186179" h="151129">
                <a:moveTo>
                  <a:pt x="1085088" y="75437"/>
                </a:moveTo>
                <a:lnTo>
                  <a:pt x="1034795" y="150876"/>
                </a:lnTo>
                <a:lnTo>
                  <a:pt x="1135379" y="100584"/>
                </a:lnTo>
                <a:lnTo>
                  <a:pt x="1085088" y="100584"/>
                </a:lnTo>
                <a:lnTo>
                  <a:pt x="1085088" y="75437"/>
                </a:lnTo>
                <a:close/>
              </a:path>
              <a:path w="1186179" h="151129">
                <a:moveTo>
                  <a:pt x="1068323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1068323" y="100584"/>
                </a:lnTo>
                <a:lnTo>
                  <a:pt x="1085088" y="75437"/>
                </a:lnTo>
                <a:lnTo>
                  <a:pt x="1068323" y="50292"/>
                </a:lnTo>
                <a:close/>
              </a:path>
              <a:path w="1186179" h="151129">
                <a:moveTo>
                  <a:pt x="1135379" y="50292"/>
                </a:moveTo>
                <a:lnTo>
                  <a:pt x="1085088" y="50292"/>
                </a:lnTo>
                <a:lnTo>
                  <a:pt x="1085088" y="100584"/>
                </a:lnTo>
                <a:lnTo>
                  <a:pt x="1135379" y="100584"/>
                </a:lnTo>
                <a:lnTo>
                  <a:pt x="1185671" y="75437"/>
                </a:lnTo>
                <a:lnTo>
                  <a:pt x="1135379" y="50292"/>
                </a:lnTo>
                <a:close/>
              </a:path>
              <a:path w="1186179" h="151129">
                <a:moveTo>
                  <a:pt x="1034795" y="0"/>
                </a:moveTo>
                <a:lnTo>
                  <a:pt x="1085088" y="75437"/>
                </a:lnTo>
                <a:lnTo>
                  <a:pt x="1085088" y="50292"/>
                </a:lnTo>
                <a:lnTo>
                  <a:pt x="1135379" y="50292"/>
                </a:lnTo>
                <a:lnTo>
                  <a:pt x="1034795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601" y="4168140"/>
            <a:ext cx="7105272" cy="4572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74912" y="3073844"/>
            <a:ext cx="7331709" cy="980440"/>
            <a:chOff x="2474912" y="3073844"/>
            <a:chExt cx="7331709" cy="980440"/>
          </a:xfrm>
        </p:grpSpPr>
        <p:sp>
          <p:nvSpPr>
            <p:cNvPr id="4" name="object 4"/>
            <p:cNvSpPr/>
            <p:nvPr/>
          </p:nvSpPr>
          <p:spPr>
            <a:xfrm>
              <a:off x="2538476" y="3136899"/>
              <a:ext cx="7268209" cy="916940"/>
            </a:xfrm>
            <a:custGeom>
              <a:avLst/>
              <a:gdLst/>
              <a:ahLst/>
              <a:cxnLst/>
              <a:rect l="l" t="t" r="r" b="b"/>
              <a:pathLst>
                <a:path w="7268209" h="916939">
                  <a:moveTo>
                    <a:pt x="7267956" y="0"/>
                  </a:moveTo>
                  <a:lnTo>
                    <a:pt x="7191502" y="0"/>
                  </a:lnTo>
                  <a:lnTo>
                    <a:pt x="7191502" y="13970"/>
                  </a:lnTo>
                  <a:lnTo>
                    <a:pt x="7191502" y="26670"/>
                  </a:lnTo>
                  <a:lnTo>
                    <a:pt x="7191502" y="839470"/>
                  </a:lnTo>
                  <a:lnTo>
                    <a:pt x="12954" y="839470"/>
                  </a:lnTo>
                  <a:lnTo>
                    <a:pt x="12954" y="839978"/>
                  </a:lnTo>
                  <a:lnTo>
                    <a:pt x="0" y="839978"/>
                  </a:lnTo>
                  <a:lnTo>
                    <a:pt x="0" y="890270"/>
                  </a:lnTo>
                  <a:lnTo>
                    <a:pt x="0" y="916940"/>
                  </a:lnTo>
                  <a:lnTo>
                    <a:pt x="7267956" y="916940"/>
                  </a:lnTo>
                  <a:lnTo>
                    <a:pt x="7267956" y="890270"/>
                  </a:lnTo>
                  <a:lnTo>
                    <a:pt x="7267956" y="26670"/>
                  </a:lnTo>
                  <a:lnTo>
                    <a:pt x="7267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7929" y="3086862"/>
              <a:ext cx="7242175" cy="890269"/>
            </a:xfrm>
            <a:custGeom>
              <a:avLst/>
              <a:gdLst/>
              <a:ahLst/>
              <a:cxnLst/>
              <a:rect l="l" t="t" r="r" b="b"/>
              <a:pathLst>
                <a:path w="7242175" h="890270">
                  <a:moveTo>
                    <a:pt x="7242048" y="0"/>
                  </a:moveTo>
                  <a:lnTo>
                    <a:pt x="0" y="0"/>
                  </a:lnTo>
                  <a:lnTo>
                    <a:pt x="0" y="890015"/>
                  </a:lnTo>
                  <a:lnTo>
                    <a:pt x="7242048" y="890015"/>
                  </a:lnTo>
                  <a:lnTo>
                    <a:pt x="724204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7929" y="3086862"/>
              <a:ext cx="7242175" cy="890269"/>
            </a:xfrm>
            <a:custGeom>
              <a:avLst/>
              <a:gdLst/>
              <a:ahLst/>
              <a:cxnLst/>
              <a:rect l="l" t="t" r="r" b="b"/>
              <a:pathLst>
                <a:path w="7242175" h="890270">
                  <a:moveTo>
                    <a:pt x="0" y="890015"/>
                  </a:moveTo>
                  <a:lnTo>
                    <a:pt x="7242048" y="890015"/>
                  </a:lnTo>
                  <a:lnTo>
                    <a:pt x="7242048" y="0"/>
                  </a:lnTo>
                  <a:lnTo>
                    <a:pt x="0" y="0"/>
                  </a:lnTo>
                  <a:lnTo>
                    <a:pt x="0" y="8900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554604" y="3074289"/>
            <a:ext cx="845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78708" y="3127248"/>
          <a:ext cx="4741545" cy="52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/>
                <a:gridCol w="2091689"/>
                <a:gridCol w="165099"/>
                <a:gridCol w="64135"/>
                <a:gridCol w="2290445"/>
              </a:tblGrid>
              <a:tr h="262255">
                <a:tc gridSpan="2">
                  <a:txBody>
                    <a:bodyPr/>
                    <a:lstStyle/>
                    <a:p>
                      <a:pPr marL="132080">
                        <a:lnSpc>
                          <a:spcPts val="1725"/>
                        </a:lnSpc>
                      </a:pPr>
                      <a:r>
                        <a:rPr dirty="0" sz="1800" spc="-15" b="1"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O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UN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D(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92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57150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1590">
                        <a:lnSpc>
                          <a:spcPts val="1725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725"/>
                        </a:lnSpc>
                      </a:pPr>
                      <a:r>
                        <a:rPr dirty="0" sz="1800" spc="-15" b="1"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O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U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ND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5.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92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),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814"/>
                        </a:lnSpc>
                      </a:pPr>
                      <a:r>
                        <a:rPr dirty="0" sz="1800" spc="-15" b="1"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O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UN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D(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92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800" spc="5" b="1"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-1)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57150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R="130810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T w="28575">
                      <a:solidFill>
                        <a:srgbClr val="FF50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554604" y="3622929"/>
            <a:ext cx="572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1502" y="3622929"/>
            <a:ext cx="706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Courier New"/>
                <a:cs typeface="Courier New"/>
              </a:rPr>
              <a:t>D</a:t>
            </a:r>
            <a:r>
              <a:rPr dirty="0" sz="1800" spc="-5" b="1">
                <a:latin typeface="Courier New"/>
                <a:cs typeface="Courier New"/>
              </a:rPr>
              <a:t>U</a:t>
            </a:r>
            <a:r>
              <a:rPr dirty="0" sz="1800" spc="-15" b="1">
                <a:latin typeface="Courier New"/>
                <a:cs typeface="Courier New"/>
              </a:rPr>
              <a:t>AL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53541" y="1249756"/>
            <a:ext cx="48571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33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</a:t>
            </a:r>
            <a:r>
              <a:rPr dirty="0" sz="2800" spc="-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ROUND</a:t>
            </a:r>
            <a:r>
              <a:rPr dirty="0" sz="2800" spc="-9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</a:t>
            </a:r>
            <a:r>
              <a:rPr dirty="0" sz="2800" spc="-15">
                <a:solidFill>
                  <a:srgbClr val="FFFFFF"/>
                </a:solidFill>
              </a:rPr>
              <a:t>C</a:t>
            </a:r>
            <a:r>
              <a:rPr dirty="0" sz="2800" spc="-5">
                <a:solidFill>
                  <a:srgbClr val="FFFFFF"/>
                </a:solidFill>
              </a:rPr>
              <a:t>TION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7228" y="4158932"/>
            <a:ext cx="2190115" cy="1336675"/>
            <a:chOff x="2717228" y="4158932"/>
            <a:chExt cx="2190115" cy="1336675"/>
          </a:xfrm>
        </p:grpSpPr>
        <p:sp>
          <p:nvSpPr>
            <p:cNvPr id="13" name="object 13"/>
            <p:cNvSpPr/>
            <p:nvPr/>
          </p:nvSpPr>
          <p:spPr>
            <a:xfrm>
              <a:off x="2730246" y="4171950"/>
              <a:ext cx="2164080" cy="454659"/>
            </a:xfrm>
            <a:custGeom>
              <a:avLst/>
              <a:gdLst/>
              <a:ahLst/>
              <a:cxnLst/>
              <a:rect l="l" t="t" r="r" b="b"/>
              <a:pathLst>
                <a:path w="2164079" h="454660">
                  <a:moveTo>
                    <a:pt x="0" y="454151"/>
                  </a:moveTo>
                  <a:lnTo>
                    <a:pt x="2164080" y="454151"/>
                  </a:lnTo>
                  <a:lnTo>
                    <a:pt x="216408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89882" y="498881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8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6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8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89882" y="498881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8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8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6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8"/>
                  </a:lnTo>
                  <a:close/>
                </a:path>
              </a:pathLst>
            </a:custGeom>
            <a:ln w="2590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018468" y="4158932"/>
            <a:ext cx="2284730" cy="1336675"/>
            <a:chOff x="5018468" y="4158932"/>
            <a:chExt cx="2284730" cy="1336675"/>
          </a:xfrm>
        </p:grpSpPr>
        <p:sp>
          <p:nvSpPr>
            <p:cNvPr id="17" name="object 17"/>
            <p:cNvSpPr/>
            <p:nvPr/>
          </p:nvSpPr>
          <p:spPr>
            <a:xfrm>
              <a:off x="5031485" y="4171950"/>
              <a:ext cx="2190115" cy="454659"/>
            </a:xfrm>
            <a:custGeom>
              <a:avLst/>
              <a:gdLst/>
              <a:ahLst/>
              <a:cxnLst/>
              <a:rect l="l" t="t" r="r" b="b"/>
              <a:pathLst>
                <a:path w="2190115" h="454660">
                  <a:moveTo>
                    <a:pt x="0" y="454151"/>
                  </a:moveTo>
                  <a:lnTo>
                    <a:pt x="2189988" y="454151"/>
                  </a:lnTo>
                  <a:lnTo>
                    <a:pt x="2189988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85610" y="4979670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2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59"/>
                  </a:lnTo>
                  <a:lnTo>
                    <a:pt x="4062" y="296676"/>
                  </a:lnTo>
                  <a:lnTo>
                    <a:pt x="15777" y="339226"/>
                  </a:lnTo>
                  <a:lnTo>
                    <a:pt x="34431" y="378403"/>
                  </a:lnTo>
                  <a:lnTo>
                    <a:pt x="59312" y="413497"/>
                  </a:lnTo>
                  <a:lnTo>
                    <a:pt x="89710" y="443799"/>
                  </a:lnTo>
                  <a:lnTo>
                    <a:pt x="124911" y="468601"/>
                  </a:lnTo>
                  <a:lnTo>
                    <a:pt x="164205" y="487194"/>
                  </a:lnTo>
                  <a:lnTo>
                    <a:pt x="206879" y="498870"/>
                  </a:lnTo>
                  <a:lnTo>
                    <a:pt x="252222" y="502919"/>
                  </a:lnTo>
                  <a:lnTo>
                    <a:pt x="297564" y="498870"/>
                  </a:lnTo>
                  <a:lnTo>
                    <a:pt x="340238" y="487194"/>
                  </a:lnTo>
                  <a:lnTo>
                    <a:pt x="379532" y="468601"/>
                  </a:lnTo>
                  <a:lnTo>
                    <a:pt x="414733" y="443799"/>
                  </a:lnTo>
                  <a:lnTo>
                    <a:pt x="445131" y="413497"/>
                  </a:lnTo>
                  <a:lnTo>
                    <a:pt x="470012" y="378403"/>
                  </a:lnTo>
                  <a:lnTo>
                    <a:pt x="488666" y="339226"/>
                  </a:lnTo>
                  <a:lnTo>
                    <a:pt x="500381" y="296676"/>
                  </a:lnTo>
                  <a:lnTo>
                    <a:pt x="504444" y="251459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85610" y="4979670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59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2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4" y="251459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2" y="502919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7379144" y="4158932"/>
            <a:ext cx="2417445" cy="1336675"/>
            <a:chOff x="7379144" y="4158932"/>
            <a:chExt cx="2417445" cy="1336675"/>
          </a:xfrm>
        </p:grpSpPr>
        <p:sp>
          <p:nvSpPr>
            <p:cNvPr id="21" name="object 21"/>
            <p:cNvSpPr/>
            <p:nvPr/>
          </p:nvSpPr>
          <p:spPr>
            <a:xfrm>
              <a:off x="7392161" y="4171950"/>
              <a:ext cx="2225040" cy="454659"/>
            </a:xfrm>
            <a:custGeom>
              <a:avLst/>
              <a:gdLst/>
              <a:ahLst/>
              <a:cxnLst/>
              <a:rect l="l" t="t" r="r" b="b"/>
              <a:pathLst>
                <a:path w="2225040" h="454660">
                  <a:moveTo>
                    <a:pt x="0" y="454151"/>
                  </a:moveTo>
                  <a:lnTo>
                    <a:pt x="2225040" y="454151"/>
                  </a:lnTo>
                  <a:lnTo>
                    <a:pt x="2225040" y="0"/>
                  </a:lnTo>
                  <a:lnTo>
                    <a:pt x="0" y="0"/>
                  </a:lnTo>
                  <a:lnTo>
                    <a:pt x="0" y="454151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289541" y="498881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8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6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8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289541" y="498881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8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8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6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8"/>
                  </a:lnTo>
                  <a:close/>
                </a:path>
              </a:pathLst>
            </a:custGeom>
            <a:ln w="2590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986720" y="2263076"/>
            <a:ext cx="520065" cy="520065"/>
            <a:chOff x="3986720" y="2263076"/>
            <a:chExt cx="520065" cy="520065"/>
          </a:xfrm>
        </p:grpSpPr>
        <p:sp>
          <p:nvSpPr>
            <p:cNvPr id="25" name="object 25"/>
            <p:cNvSpPr/>
            <p:nvPr/>
          </p:nvSpPr>
          <p:spPr>
            <a:xfrm>
              <a:off x="3999738" y="22760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99738" y="22760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149090" y="231990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98272" y="2263076"/>
            <a:ext cx="530860" cy="528955"/>
            <a:chOff x="6498272" y="2263076"/>
            <a:chExt cx="530860" cy="528955"/>
          </a:xfrm>
        </p:grpSpPr>
        <p:sp>
          <p:nvSpPr>
            <p:cNvPr id="29" name="object 29"/>
            <p:cNvSpPr/>
            <p:nvPr/>
          </p:nvSpPr>
          <p:spPr>
            <a:xfrm>
              <a:off x="6511289" y="227609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252221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59"/>
                  </a:lnTo>
                  <a:lnTo>
                    <a:pt x="4062" y="296676"/>
                  </a:lnTo>
                  <a:lnTo>
                    <a:pt x="15777" y="339226"/>
                  </a:lnTo>
                  <a:lnTo>
                    <a:pt x="34431" y="378403"/>
                  </a:lnTo>
                  <a:lnTo>
                    <a:pt x="59312" y="413497"/>
                  </a:lnTo>
                  <a:lnTo>
                    <a:pt x="89710" y="443799"/>
                  </a:lnTo>
                  <a:lnTo>
                    <a:pt x="124911" y="468601"/>
                  </a:lnTo>
                  <a:lnTo>
                    <a:pt x="164205" y="487194"/>
                  </a:lnTo>
                  <a:lnTo>
                    <a:pt x="206879" y="498870"/>
                  </a:lnTo>
                  <a:lnTo>
                    <a:pt x="252221" y="502919"/>
                  </a:lnTo>
                  <a:lnTo>
                    <a:pt x="297564" y="498870"/>
                  </a:lnTo>
                  <a:lnTo>
                    <a:pt x="340238" y="487194"/>
                  </a:lnTo>
                  <a:lnTo>
                    <a:pt x="379532" y="468601"/>
                  </a:lnTo>
                  <a:lnTo>
                    <a:pt x="414733" y="443799"/>
                  </a:lnTo>
                  <a:lnTo>
                    <a:pt x="445131" y="413497"/>
                  </a:lnTo>
                  <a:lnTo>
                    <a:pt x="470012" y="378403"/>
                  </a:lnTo>
                  <a:lnTo>
                    <a:pt x="488666" y="339226"/>
                  </a:lnTo>
                  <a:lnTo>
                    <a:pt x="500381" y="296676"/>
                  </a:lnTo>
                  <a:lnTo>
                    <a:pt x="504443" y="251459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1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11289" y="227609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0" y="251459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1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3" y="251459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1" y="502919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666992" y="232486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753792" y="3229292"/>
            <a:ext cx="520065" cy="520065"/>
            <a:chOff x="8753792" y="3229292"/>
            <a:chExt cx="520065" cy="520065"/>
          </a:xfrm>
        </p:grpSpPr>
        <p:sp>
          <p:nvSpPr>
            <p:cNvPr id="33" name="object 33"/>
            <p:cNvSpPr/>
            <p:nvPr/>
          </p:nvSpPr>
          <p:spPr>
            <a:xfrm>
              <a:off x="8766810" y="324230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766810" y="324230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917051" y="3284931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39402" y="503351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27477" y="5033517"/>
            <a:ext cx="6763384" cy="1274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7785">
              <a:lnSpc>
                <a:spcPct val="100000"/>
              </a:lnSpc>
              <a:spcBef>
                <a:spcPts val="100"/>
              </a:spcBef>
              <a:tabLst>
                <a:tab pos="2459355" algn="l"/>
              </a:tabLst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	</a:t>
            </a:r>
            <a:r>
              <a:rPr dirty="0" baseline="1157" sz="3600" spc="-7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baseline="1157" sz="3600">
              <a:latin typeface="Arial"/>
              <a:cs typeface="Arial"/>
            </a:endParaRPr>
          </a:p>
          <a:p>
            <a:pPr marL="12700">
              <a:lnSpc>
                <a:spcPts val="2550"/>
              </a:lnSpc>
              <a:spcBef>
                <a:spcPts val="1850"/>
              </a:spcBef>
            </a:pPr>
            <a:r>
              <a:rPr dirty="0" sz="2200" spc="-5" b="1">
                <a:latin typeface="Courier New"/>
                <a:cs typeface="Courier New"/>
              </a:rPr>
              <a:t>DUAL</a:t>
            </a:r>
            <a:r>
              <a:rPr dirty="0" sz="2200" spc="-680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Arial"/>
                <a:cs typeface="Arial"/>
              </a:rPr>
              <a:t>is</a:t>
            </a:r>
            <a:r>
              <a:rPr dirty="0" sz="220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a</a:t>
            </a:r>
            <a:r>
              <a:rPr dirty="0" sz="2200" spc="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dummy</a:t>
            </a:r>
            <a:r>
              <a:rPr dirty="0" sz="2200" spc="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table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you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can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use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to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view</a:t>
            </a:r>
            <a:r>
              <a:rPr dirty="0" sz="2200" spc="1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results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550"/>
              </a:lnSpc>
            </a:pPr>
            <a:r>
              <a:rPr dirty="0" sz="2200" spc="-5" b="1">
                <a:latin typeface="Arial"/>
                <a:cs typeface="Arial"/>
              </a:rPr>
              <a:t>from</a:t>
            </a:r>
            <a:r>
              <a:rPr dirty="0" sz="2200" spc="-1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functions</a:t>
            </a:r>
            <a:r>
              <a:rPr dirty="0" sz="2200" spc="4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and</a:t>
            </a:r>
            <a:r>
              <a:rPr dirty="0" sz="2200" spc="1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calculations.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99940" y="4666234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5940" y="76073"/>
                </a:moveTo>
                <a:lnTo>
                  <a:pt x="23928" y="93560"/>
                </a:lnTo>
                <a:lnTo>
                  <a:pt x="32893" y="314833"/>
                </a:lnTo>
                <a:lnTo>
                  <a:pt x="58293" y="313817"/>
                </a:lnTo>
                <a:lnTo>
                  <a:pt x="49327" y="92509"/>
                </a:lnTo>
                <a:lnTo>
                  <a:pt x="35940" y="76073"/>
                </a:lnTo>
                <a:close/>
              </a:path>
              <a:path w="76200" h="314960">
                <a:moveTo>
                  <a:pt x="32893" y="0"/>
                </a:moveTo>
                <a:lnTo>
                  <a:pt x="0" y="128397"/>
                </a:lnTo>
                <a:lnTo>
                  <a:pt x="23928" y="93560"/>
                </a:lnTo>
                <a:lnTo>
                  <a:pt x="23240" y="76581"/>
                </a:lnTo>
                <a:lnTo>
                  <a:pt x="48640" y="75565"/>
                </a:lnTo>
                <a:lnTo>
                  <a:pt x="58923" y="75565"/>
                </a:lnTo>
                <a:lnTo>
                  <a:pt x="32893" y="0"/>
                </a:lnTo>
                <a:close/>
              </a:path>
              <a:path w="76200" h="314960">
                <a:moveTo>
                  <a:pt x="58923" y="75565"/>
                </a:moveTo>
                <a:lnTo>
                  <a:pt x="48640" y="75565"/>
                </a:lnTo>
                <a:lnTo>
                  <a:pt x="49327" y="92509"/>
                </a:lnTo>
                <a:lnTo>
                  <a:pt x="76073" y="125349"/>
                </a:lnTo>
                <a:lnTo>
                  <a:pt x="58923" y="75565"/>
                </a:lnTo>
                <a:close/>
              </a:path>
              <a:path w="76200" h="314960">
                <a:moveTo>
                  <a:pt x="35940" y="76073"/>
                </a:moveTo>
                <a:lnTo>
                  <a:pt x="23240" y="76581"/>
                </a:lnTo>
                <a:lnTo>
                  <a:pt x="23928" y="93560"/>
                </a:lnTo>
                <a:lnTo>
                  <a:pt x="35940" y="76073"/>
                </a:lnTo>
                <a:close/>
              </a:path>
              <a:path w="76200" h="314960">
                <a:moveTo>
                  <a:pt x="48640" y="75565"/>
                </a:moveTo>
                <a:lnTo>
                  <a:pt x="35940" y="76073"/>
                </a:lnTo>
                <a:lnTo>
                  <a:pt x="49327" y="92509"/>
                </a:lnTo>
                <a:lnTo>
                  <a:pt x="48640" y="7556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989064" y="4665217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6067" y="76199"/>
                </a:moveTo>
                <a:lnTo>
                  <a:pt x="24052" y="93589"/>
                </a:lnTo>
                <a:lnTo>
                  <a:pt x="33019" y="314832"/>
                </a:lnTo>
                <a:lnTo>
                  <a:pt x="58419" y="313816"/>
                </a:lnTo>
                <a:lnTo>
                  <a:pt x="49453" y="92592"/>
                </a:lnTo>
                <a:lnTo>
                  <a:pt x="36067" y="76199"/>
                </a:lnTo>
                <a:close/>
              </a:path>
              <a:path w="76200" h="314960">
                <a:moveTo>
                  <a:pt x="33019" y="0"/>
                </a:moveTo>
                <a:lnTo>
                  <a:pt x="0" y="128396"/>
                </a:lnTo>
                <a:lnTo>
                  <a:pt x="24052" y="93589"/>
                </a:lnTo>
                <a:lnTo>
                  <a:pt x="23367" y="76707"/>
                </a:lnTo>
                <a:lnTo>
                  <a:pt x="48767" y="75691"/>
                </a:lnTo>
                <a:lnTo>
                  <a:pt x="59094" y="75691"/>
                </a:lnTo>
                <a:lnTo>
                  <a:pt x="33019" y="0"/>
                </a:lnTo>
                <a:close/>
              </a:path>
              <a:path w="76200" h="314960">
                <a:moveTo>
                  <a:pt x="59094" y="75691"/>
                </a:moveTo>
                <a:lnTo>
                  <a:pt x="48767" y="75691"/>
                </a:lnTo>
                <a:lnTo>
                  <a:pt x="49453" y="92592"/>
                </a:lnTo>
                <a:lnTo>
                  <a:pt x="76200" y="125348"/>
                </a:lnTo>
                <a:lnTo>
                  <a:pt x="59094" y="75691"/>
                </a:lnTo>
                <a:close/>
              </a:path>
              <a:path w="76200" h="314960">
                <a:moveTo>
                  <a:pt x="36067" y="76199"/>
                </a:moveTo>
                <a:lnTo>
                  <a:pt x="23367" y="76707"/>
                </a:lnTo>
                <a:lnTo>
                  <a:pt x="24052" y="93589"/>
                </a:lnTo>
                <a:lnTo>
                  <a:pt x="36067" y="76199"/>
                </a:lnTo>
                <a:close/>
              </a:path>
              <a:path w="76200" h="314960">
                <a:moveTo>
                  <a:pt x="48767" y="75691"/>
                </a:moveTo>
                <a:lnTo>
                  <a:pt x="36067" y="76199"/>
                </a:lnTo>
                <a:lnTo>
                  <a:pt x="49453" y="92592"/>
                </a:lnTo>
                <a:lnTo>
                  <a:pt x="48767" y="7569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471914" y="4664202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6067" y="76200"/>
                </a:moveTo>
                <a:lnTo>
                  <a:pt x="24052" y="93589"/>
                </a:lnTo>
                <a:lnTo>
                  <a:pt x="33019" y="314833"/>
                </a:lnTo>
                <a:lnTo>
                  <a:pt x="58419" y="313817"/>
                </a:lnTo>
                <a:lnTo>
                  <a:pt x="49453" y="92592"/>
                </a:lnTo>
                <a:lnTo>
                  <a:pt x="36067" y="76200"/>
                </a:lnTo>
                <a:close/>
              </a:path>
              <a:path w="76200" h="314960">
                <a:moveTo>
                  <a:pt x="33019" y="0"/>
                </a:moveTo>
                <a:lnTo>
                  <a:pt x="0" y="128397"/>
                </a:lnTo>
                <a:lnTo>
                  <a:pt x="24052" y="93589"/>
                </a:lnTo>
                <a:lnTo>
                  <a:pt x="23367" y="76708"/>
                </a:lnTo>
                <a:lnTo>
                  <a:pt x="48767" y="75692"/>
                </a:lnTo>
                <a:lnTo>
                  <a:pt x="59094" y="75692"/>
                </a:lnTo>
                <a:lnTo>
                  <a:pt x="33019" y="0"/>
                </a:lnTo>
                <a:close/>
              </a:path>
              <a:path w="76200" h="314960">
                <a:moveTo>
                  <a:pt x="59094" y="75692"/>
                </a:moveTo>
                <a:lnTo>
                  <a:pt x="48767" y="75692"/>
                </a:lnTo>
                <a:lnTo>
                  <a:pt x="49453" y="92592"/>
                </a:lnTo>
                <a:lnTo>
                  <a:pt x="76200" y="125349"/>
                </a:lnTo>
                <a:lnTo>
                  <a:pt x="59094" y="75692"/>
                </a:lnTo>
                <a:close/>
              </a:path>
              <a:path w="76200" h="314960">
                <a:moveTo>
                  <a:pt x="36067" y="76200"/>
                </a:moveTo>
                <a:lnTo>
                  <a:pt x="23367" y="76708"/>
                </a:lnTo>
                <a:lnTo>
                  <a:pt x="24052" y="93589"/>
                </a:lnTo>
                <a:lnTo>
                  <a:pt x="36067" y="76200"/>
                </a:lnTo>
                <a:close/>
              </a:path>
              <a:path w="76200" h="314960">
                <a:moveTo>
                  <a:pt x="48767" y="75692"/>
                </a:moveTo>
                <a:lnTo>
                  <a:pt x="36067" y="76200"/>
                </a:lnTo>
                <a:lnTo>
                  <a:pt x="49453" y="92592"/>
                </a:lnTo>
                <a:lnTo>
                  <a:pt x="48767" y="7569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25671" y="2796793"/>
            <a:ext cx="4539615" cy="769620"/>
          </a:xfrm>
          <a:custGeom>
            <a:avLst/>
            <a:gdLst/>
            <a:ahLst/>
            <a:cxnLst/>
            <a:rect l="l" t="t" r="r" b="b"/>
            <a:pathLst>
              <a:path w="4539615" h="769620">
                <a:moveTo>
                  <a:pt x="77597" y="183515"/>
                </a:moveTo>
                <a:lnTo>
                  <a:pt x="53047" y="218986"/>
                </a:lnTo>
                <a:lnTo>
                  <a:pt x="44577" y="0"/>
                </a:lnTo>
                <a:lnTo>
                  <a:pt x="40767" y="152"/>
                </a:lnTo>
                <a:lnTo>
                  <a:pt x="40767" y="236728"/>
                </a:lnTo>
                <a:lnTo>
                  <a:pt x="27813" y="237236"/>
                </a:lnTo>
                <a:lnTo>
                  <a:pt x="40754" y="236728"/>
                </a:lnTo>
                <a:lnTo>
                  <a:pt x="40767" y="152"/>
                </a:lnTo>
                <a:lnTo>
                  <a:pt x="18669" y="1016"/>
                </a:lnTo>
                <a:lnTo>
                  <a:pt x="27139" y="219976"/>
                </a:lnTo>
                <a:lnTo>
                  <a:pt x="0" y="186563"/>
                </a:lnTo>
                <a:lnTo>
                  <a:pt x="43815" y="314452"/>
                </a:lnTo>
                <a:lnTo>
                  <a:pt x="63728" y="237236"/>
                </a:lnTo>
                <a:lnTo>
                  <a:pt x="77597" y="183515"/>
                </a:lnTo>
                <a:close/>
              </a:path>
              <a:path w="4539615" h="769620">
                <a:moveTo>
                  <a:pt x="2586101" y="183515"/>
                </a:moveTo>
                <a:lnTo>
                  <a:pt x="2561552" y="218986"/>
                </a:lnTo>
                <a:lnTo>
                  <a:pt x="2553081" y="0"/>
                </a:lnTo>
                <a:lnTo>
                  <a:pt x="2549271" y="152"/>
                </a:lnTo>
                <a:lnTo>
                  <a:pt x="2549271" y="236728"/>
                </a:lnTo>
                <a:lnTo>
                  <a:pt x="2536317" y="237236"/>
                </a:lnTo>
                <a:lnTo>
                  <a:pt x="2549258" y="236728"/>
                </a:lnTo>
                <a:lnTo>
                  <a:pt x="2549271" y="152"/>
                </a:lnTo>
                <a:lnTo>
                  <a:pt x="2527173" y="1016"/>
                </a:lnTo>
                <a:lnTo>
                  <a:pt x="2535644" y="219976"/>
                </a:lnTo>
                <a:lnTo>
                  <a:pt x="2508504" y="186563"/>
                </a:lnTo>
                <a:lnTo>
                  <a:pt x="2552319" y="314452"/>
                </a:lnTo>
                <a:lnTo>
                  <a:pt x="2572232" y="237236"/>
                </a:lnTo>
                <a:lnTo>
                  <a:pt x="2586101" y="183515"/>
                </a:lnTo>
                <a:close/>
              </a:path>
              <a:path w="4539615" h="769620">
                <a:moveTo>
                  <a:pt x="4539615" y="717550"/>
                </a:moveTo>
                <a:lnTo>
                  <a:pt x="1598790" y="717550"/>
                </a:lnTo>
                <a:lnTo>
                  <a:pt x="1633347" y="691642"/>
                </a:lnTo>
                <a:lnTo>
                  <a:pt x="1503807" y="730504"/>
                </a:lnTo>
                <a:lnTo>
                  <a:pt x="1633347" y="769366"/>
                </a:lnTo>
                <a:lnTo>
                  <a:pt x="1598790" y="743458"/>
                </a:lnTo>
                <a:lnTo>
                  <a:pt x="4539615" y="743458"/>
                </a:lnTo>
                <a:lnTo>
                  <a:pt x="4539615" y="71755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TRUNC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6602" y="4424171"/>
            <a:ext cx="7106403" cy="4572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42286" y="3143249"/>
            <a:ext cx="7135495" cy="1075690"/>
          </a:xfrm>
          <a:custGeom>
            <a:avLst/>
            <a:gdLst/>
            <a:ahLst/>
            <a:cxnLst/>
            <a:rect l="l" t="t" r="r" b="b"/>
            <a:pathLst>
              <a:path w="7135495" h="1075689">
                <a:moveTo>
                  <a:pt x="7135368" y="0"/>
                </a:moveTo>
                <a:lnTo>
                  <a:pt x="7071868" y="0"/>
                </a:lnTo>
                <a:lnTo>
                  <a:pt x="7071868" y="1012190"/>
                </a:lnTo>
                <a:lnTo>
                  <a:pt x="0" y="1012190"/>
                </a:lnTo>
                <a:lnTo>
                  <a:pt x="0" y="1075690"/>
                </a:lnTo>
                <a:lnTo>
                  <a:pt x="7135368" y="1075690"/>
                </a:lnTo>
                <a:lnTo>
                  <a:pt x="7135368" y="1012190"/>
                </a:lnTo>
                <a:lnTo>
                  <a:pt x="7135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29332" y="4206240"/>
            <a:ext cx="7161530" cy="25400"/>
          </a:xfrm>
          <a:custGeom>
            <a:avLst/>
            <a:gdLst/>
            <a:ahLst/>
            <a:cxnLst/>
            <a:rect l="l" t="t" r="r" b="b"/>
            <a:pathLst>
              <a:path w="7161530" h="25400">
                <a:moveTo>
                  <a:pt x="0" y="25400"/>
                </a:moveTo>
                <a:lnTo>
                  <a:pt x="7161276" y="25400"/>
                </a:lnTo>
                <a:lnTo>
                  <a:pt x="7161276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29332" y="4206240"/>
            <a:ext cx="7161530" cy="25400"/>
          </a:xfrm>
          <a:custGeom>
            <a:avLst/>
            <a:gdLst/>
            <a:ahLst/>
            <a:cxnLst/>
            <a:rect l="l" t="t" r="r" b="b"/>
            <a:pathLst>
              <a:path w="7161530" h="25400">
                <a:moveTo>
                  <a:pt x="0" y="25400"/>
                </a:moveTo>
                <a:lnTo>
                  <a:pt x="7161276" y="25400"/>
                </a:lnTo>
                <a:lnTo>
                  <a:pt x="7161276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29332" y="415544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465768" y="3066224"/>
            <a:ext cx="7225030" cy="1140460"/>
            <a:chOff x="2465768" y="3066224"/>
            <a:chExt cx="7225030" cy="1140460"/>
          </a:xfrm>
        </p:grpSpPr>
        <p:sp>
          <p:nvSpPr>
            <p:cNvPr id="9" name="object 9"/>
            <p:cNvSpPr/>
            <p:nvPr/>
          </p:nvSpPr>
          <p:spPr>
            <a:xfrm>
              <a:off x="9614154" y="3129279"/>
              <a:ext cx="76835" cy="1076960"/>
            </a:xfrm>
            <a:custGeom>
              <a:avLst/>
              <a:gdLst/>
              <a:ahLst/>
              <a:cxnLst/>
              <a:rect l="l" t="t" r="r" b="b"/>
              <a:pathLst>
                <a:path w="76834" h="1076960">
                  <a:moveTo>
                    <a:pt x="76454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50546" y="26670"/>
                  </a:lnTo>
                  <a:lnTo>
                    <a:pt x="50546" y="1076960"/>
                  </a:lnTo>
                  <a:lnTo>
                    <a:pt x="76454" y="1076960"/>
                  </a:lnTo>
                  <a:lnTo>
                    <a:pt x="76454" y="26670"/>
                  </a:lnTo>
                  <a:lnTo>
                    <a:pt x="764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8785" y="3079241"/>
              <a:ext cx="7135495" cy="1076325"/>
            </a:xfrm>
            <a:custGeom>
              <a:avLst/>
              <a:gdLst/>
              <a:ahLst/>
              <a:cxnLst/>
              <a:rect l="l" t="t" r="r" b="b"/>
              <a:pathLst>
                <a:path w="7135495" h="1076325">
                  <a:moveTo>
                    <a:pt x="7135367" y="0"/>
                  </a:moveTo>
                  <a:lnTo>
                    <a:pt x="0" y="0"/>
                  </a:lnTo>
                  <a:lnTo>
                    <a:pt x="0" y="1075943"/>
                  </a:lnTo>
                  <a:lnTo>
                    <a:pt x="7135367" y="1075943"/>
                  </a:lnTo>
                  <a:lnTo>
                    <a:pt x="713536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78785" y="3079241"/>
              <a:ext cx="7135495" cy="1076325"/>
            </a:xfrm>
            <a:custGeom>
              <a:avLst/>
              <a:gdLst/>
              <a:ahLst/>
              <a:cxnLst/>
              <a:rect l="l" t="t" r="r" b="b"/>
              <a:pathLst>
                <a:path w="7135495" h="1076325">
                  <a:moveTo>
                    <a:pt x="0" y="1075943"/>
                  </a:moveTo>
                  <a:lnTo>
                    <a:pt x="7135367" y="1075943"/>
                  </a:lnTo>
                  <a:lnTo>
                    <a:pt x="7135367" y="0"/>
                  </a:lnTo>
                  <a:lnTo>
                    <a:pt x="0" y="0"/>
                  </a:lnTo>
                  <a:lnTo>
                    <a:pt x="0" y="1075943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554604" y="3150489"/>
            <a:ext cx="845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9415" y="3150489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0588" y="4410392"/>
            <a:ext cx="2013585" cy="1335405"/>
            <a:chOff x="2930588" y="4410392"/>
            <a:chExt cx="2013585" cy="1335405"/>
          </a:xfrm>
        </p:grpSpPr>
        <p:sp>
          <p:nvSpPr>
            <p:cNvPr id="15" name="object 15"/>
            <p:cNvSpPr/>
            <p:nvPr/>
          </p:nvSpPr>
          <p:spPr>
            <a:xfrm>
              <a:off x="2943606" y="4423409"/>
              <a:ext cx="1987550" cy="483234"/>
            </a:xfrm>
            <a:custGeom>
              <a:avLst/>
              <a:gdLst/>
              <a:ahLst/>
              <a:cxnLst/>
              <a:rect l="l" t="t" r="r" b="b"/>
              <a:pathLst>
                <a:path w="1987550" h="483235">
                  <a:moveTo>
                    <a:pt x="0" y="483107"/>
                  </a:moveTo>
                  <a:lnTo>
                    <a:pt x="1987295" y="483107"/>
                  </a:lnTo>
                  <a:lnTo>
                    <a:pt x="1987295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25907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24934" y="523874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24934" y="523874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053520" y="4410392"/>
            <a:ext cx="2162810" cy="1335405"/>
            <a:chOff x="5053520" y="4410392"/>
            <a:chExt cx="2162810" cy="1335405"/>
          </a:xfrm>
        </p:grpSpPr>
        <p:sp>
          <p:nvSpPr>
            <p:cNvPr id="19" name="object 19"/>
            <p:cNvSpPr/>
            <p:nvPr/>
          </p:nvSpPr>
          <p:spPr>
            <a:xfrm>
              <a:off x="5066538" y="4423409"/>
              <a:ext cx="1987550" cy="483234"/>
            </a:xfrm>
            <a:custGeom>
              <a:avLst/>
              <a:gdLst/>
              <a:ahLst/>
              <a:cxnLst/>
              <a:rect l="l" t="t" r="r" b="b"/>
              <a:pathLst>
                <a:path w="1987550" h="483235">
                  <a:moveTo>
                    <a:pt x="0" y="483107"/>
                  </a:moveTo>
                  <a:lnTo>
                    <a:pt x="1987295" y="483107"/>
                  </a:lnTo>
                  <a:lnTo>
                    <a:pt x="1987295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98742" y="5229605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2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60"/>
                  </a:lnTo>
                  <a:lnTo>
                    <a:pt x="4062" y="296659"/>
                  </a:lnTo>
                  <a:lnTo>
                    <a:pt x="15777" y="339201"/>
                  </a:lnTo>
                  <a:lnTo>
                    <a:pt x="34431" y="378375"/>
                  </a:lnTo>
                  <a:lnTo>
                    <a:pt x="59312" y="413471"/>
                  </a:lnTo>
                  <a:lnTo>
                    <a:pt x="89710" y="443778"/>
                  </a:lnTo>
                  <a:lnTo>
                    <a:pt x="124911" y="468587"/>
                  </a:lnTo>
                  <a:lnTo>
                    <a:pt x="164205" y="487187"/>
                  </a:lnTo>
                  <a:lnTo>
                    <a:pt x="206879" y="498868"/>
                  </a:lnTo>
                  <a:lnTo>
                    <a:pt x="252222" y="502920"/>
                  </a:lnTo>
                  <a:lnTo>
                    <a:pt x="297564" y="498868"/>
                  </a:lnTo>
                  <a:lnTo>
                    <a:pt x="340238" y="487187"/>
                  </a:lnTo>
                  <a:lnTo>
                    <a:pt x="379532" y="468587"/>
                  </a:lnTo>
                  <a:lnTo>
                    <a:pt x="414733" y="443778"/>
                  </a:lnTo>
                  <a:lnTo>
                    <a:pt x="445131" y="413471"/>
                  </a:lnTo>
                  <a:lnTo>
                    <a:pt x="470012" y="378375"/>
                  </a:lnTo>
                  <a:lnTo>
                    <a:pt x="488666" y="339201"/>
                  </a:lnTo>
                  <a:lnTo>
                    <a:pt x="500381" y="296659"/>
                  </a:lnTo>
                  <a:lnTo>
                    <a:pt x="504443" y="251460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98742" y="5229605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60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2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3" y="251460"/>
                  </a:lnTo>
                  <a:lnTo>
                    <a:pt x="500381" y="296659"/>
                  </a:lnTo>
                  <a:lnTo>
                    <a:pt x="488666" y="339201"/>
                  </a:lnTo>
                  <a:lnTo>
                    <a:pt x="470012" y="378375"/>
                  </a:lnTo>
                  <a:lnTo>
                    <a:pt x="445131" y="413471"/>
                  </a:lnTo>
                  <a:lnTo>
                    <a:pt x="414733" y="443778"/>
                  </a:lnTo>
                  <a:lnTo>
                    <a:pt x="379532" y="468587"/>
                  </a:lnTo>
                  <a:lnTo>
                    <a:pt x="340238" y="487187"/>
                  </a:lnTo>
                  <a:lnTo>
                    <a:pt x="297564" y="498868"/>
                  </a:lnTo>
                  <a:lnTo>
                    <a:pt x="252222" y="502920"/>
                  </a:lnTo>
                  <a:lnTo>
                    <a:pt x="206879" y="498868"/>
                  </a:lnTo>
                  <a:lnTo>
                    <a:pt x="164205" y="487187"/>
                  </a:lnTo>
                  <a:lnTo>
                    <a:pt x="124911" y="468587"/>
                  </a:lnTo>
                  <a:lnTo>
                    <a:pt x="89710" y="443778"/>
                  </a:lnTo>
                  <a:lnTo>
                    <a:pt x="59312" y="413471"/>
                  </a:lnTo>
                  <a:lnTo>
                    <a:pt x="34431" y="378375"/>
                  </a:lnTo>
                  <a:lnTo>
                    <a:pt x="15777" y="339201"/>
                  </a:lnTo>
                  <a:lnTo>
                    <a:pt x="4062" y="296659"/>
                  </a:lnTo>
                  <a:lnTo>
                    <a:pt x="0" y="251460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7606220" y="4410392"/>
            <a:ext cx="2158365" cy="1335405"/>
            <a:chOff x="7606220" y="4410392"/>
            <a:chExt cx="2158365" cy="1335405"/>
          </a:xfrm>
        </p:grpSpPr>
        <p:sp>
          <p:nvSpPr>
            <p:cNvPr id="23" name="object 23"/>
            <p:cNvSpPr/>
            <p:nvPr/>
          </p:nvSpPr>
          <p:spPr>
            <a:xfrm>
              <a:off x="7619237" y="4423409"/>
              <a:ext cx="1987550" cy="483234"/>
            </a:xfrm>
            <a:custGeom>
              <a:avLst/>
              <a:gdLst/>
              <a:ahLst/>
              <a:cxnLst/>
              <a:rect l="l" t="t" r="r" b="b"/>
              <a:pathLst>
                <a:path w="1987550" h="483235">
                  <a:moveTo>
                    <a:pt x="0" y="483107"/>
                  </a:moveTo>
                  <a:lnTo>
                    <a:pt x="1987296" y="483107"/>
                  </a:lnTo>
                  <a:lnTo>
                    <a:pt x="1987296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25907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257537" y="523874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257537" y="523874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407779" y="52828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4794" y="52828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4443" y="527801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634991" y="4915408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5941" y="76200"/>
                </a:moveTo>
                <a:lnTo>
                  <a:pt x="23929" y="93687"/>
                </a:lnTo>
                <a:lnTo>
                  <a:pt x="32893" y="314833"/>
                </a:lnTo>
                <a:lnTo>
                  <a:pt x="58293" y="313817"/>
                </a:lnTo>
                <a:lnTo>
                  <a:pt x="49326" y="92592"/>
                </a:lnTo>
                <a:lnTo>
                  <a:pt x="35941" y="76200"/>
                </a:lnTo>
                <a:close/>
              </a:path>
              <a:path w="76200" h="314960">
                <a:moveTo>
                  <a:pt x="32893" y="0"/>
                </a:moveTo>
                <a:lnTo>
                  <a:pt x="0" y="128524"/>
                </a:lnTo>
                <a:lnTo>
                  <a:pt x="23929" y="93687"/>
                </a:lnTo>
                <a:lnTo>
                  <a:pt x="23241" y="76708"/>
                </a:lnTo>
                <a:lnTo>
                  <a:pt x="48641" y="75692"/>
                </a:lnTo>
                <a:lnTo>
                  <a:pt x="58967" y="75692"/>
                </a:lnTo>
                <a:lnTo>
                  <a:pt x="32893" y="0"/>
                </a:lnTo>
                <a:close/>
              </a:path>
              <a:path w="76200" h="314960">
                <a:moveTo>
                  <a:pt x="58967" y="75692"/>
                </a:moveTo>
                <a:lnTo>
                  <a:pt x="48641" y="75692"/>
                </a:lnTo>
                <a:lnTo>
                  <a:pt x="49326" y="92592"/>
                </a:lnTo>
                <a:lnTo>
                  <a:pt x="76073" y="125349"/>
                </a:lnTo>
                <a:lnTo>
                  <a:pt x="58967" y="75692"/>
                </a:lnTo>
                <a:close/>
              </a:path>
              <a:path w="76200" h="314960">
                <a:moveTo>
                  <a:pt x="35941" y="76200"/>
                </a:moveTo>
                <a:lnTo>
                  <a:pt x="23241" y="76708"/>
                </a:lnTo>
                <a:lnTo>
                  <a:pt x="23929" y="93687"/>
                </a:lnTo>
                <a:lnTo>
                  <a:pt x="35941" y="76200"/>
                </a:lnTo>
                <a:close/>
              </a:path>
              <a:path w="76200" h="314960">
                <a:moveTo>
                  <a:pt x="48641" y="75692"/>
                </a:moveTo>
                <a:lnTo>
                  <a:pt x="35941" y="76200"/>
                </a:lnTo>
                <a:lnTo>
                  <a:pt x="49326" y="92592"/>
                </a:lnTo>
                <a:lnTo>
                  <a:pt x="48641" y="7569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01942" y="4914519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5940" y="76072"/>
                </a:moveTo>
                <a:lnTo>
                  <a:pt x="23928" y="93560"/>
                </a:lnTo>
                <a:lnTo>
                  <a:pt x="32892" y="314832"/>
                </a:lnTo>
                <a:lnTo>
                  <a:pt x="58292" y="313816"/>
                </a:lnTo>
                <a:lnTo>
                  <a:pt x="49327" y="92509"/>
                </a:lnTo>
                <a:lnTo>
                  <a:pt x="35940" y="76072"/>
                </a:lnTo>
                <a:close/>
              </a:path>
              <a:path w="76200" h="314960">
                <a:moveTo>
                  <a:pt x="32892" y="0"/>
                </a:moveTo>
                <a:lnTo>
                  <a:pt x="0" y="128396"/>
                </a:lnTo>
                <a:lnTo>
                  <a:pt x="23928" y="93560"/>
                </a:lnTo>
                <a:lnTo>
                  <a:pt x="23240" y="76580"/>
                </a:lnTo>
                <a:lnTo>
                  <a:pt x="48640" y="75564"/>
                </a:lnTo>
                <a:lnTo>
                  <a:pt x="58923" y="75564"/>
                </a:lnTo>
                <a:lnTo>
                  <a:pt x="32892" y="0"/>
                </a:lnTo>
                <a:close/>
              </a:path>
              <a:path w="76200" h="314960">
                <a:moveTo>
                  <a:pt x="58923" y="75564"/>
                </a:moveTo>
                <a:lnTo>
                  <a:pt x="48640" y="75564"/>
                </a:lnTo>
                <a:lnTo>
                  <a:pt x="49327" y="92509"/>
                </a:lnTo>
                <a:lnTo>
                  <a:pt x="76073" y="125348"/>
                </a:lnTo>
                <a:lnTo>
                  <a:pt x="58923" y="75564"/>
                </a:lnTo>
                <a:close/>
              </a:path>
              <a:path w="76200" h="314960">
                <a:moveTo>
                  <a:pt x="35940" y="76072"/>
                </a:moveTo>
                <a:lnTo>
                  <a:pt x="23240" y="76580"/>
                </a:lnTo>
                <a:lnTo>
                  <a:pt x="23928" y="93560"/>
                </a:lnTo>
                <a:lnTo>
                  <a:pt x="35940" y="76072"/>
                </a:lnTo>
                <a:close/>
              </a:path>
              <a:path w="76200" h="314960">
                <a:moveTo>
                  <a:pt x="48640" y="75564"/>
                </a:moveTo>
                <a:lnTo>
                  <a:pt x="35940" y="76072"/>
                </a:lnTo>
                <a:lnTo>
                  <a:pt x="49327" y="92509"/>
                </a:lnTo>
                <a:lnTo>
                  <a:pt x="48640" y="7556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440291" y="4913503"/>
            <a:ext cx="76200" cy="314960"/>
          </a:xfrm>
          <a:custGeom>
            <a:avLst/>
            <a:gdLst/>
            <a:ahLst/>
            <a:cxnLst/>
            <a:rect l="l" t="t" r="r" b="b"/>
            <a:pathLst>
              <a:path w="76200" h="314960">
                <a:moveTo>
                  <a:pt x="36067" y="76073"/>
                </a:moveTo>
                <a:lnTo>
                  <a:pt x="24053" y="93502"/>
                </a:lnTo>
                <a:lnTo>
                  <a:pt x="33019" y="314833"/>
                </a:lnTo>
                <a:lnTo>
                  <a:pt x="58292" y="313817"/>
                </a:lnTo>
                <a:lnTo>
                  <a:pt x="49444" y="92497"/>
                </a:lnTo>
                <a:lnTo>
                  <a:pt x="36067" y="76073"/>
                </a:lnTo>
                <a:close/>
              </a:path>
              <a:path w="76200" h="314960">
                <a:moveTo>
                  <a:pt x="32892" y="0"/>
                </a:moveTo>
                <a:lnTo>
                  <a:pt x="0" y="128397"/>
                </a:lnTo>
                <a:lnTo>
                  <a:pt x="24053" y="93502"/>
                </a:lnTo>
                <a:lnTo>
                  <a:pt x="23367" y="76581"/>
                </a:lnTo>
                <a:lnTo>
                  <a:pt x="48767" y="75565"/>
                </a:lnTo>
                <a:lnTo>
                  <a:pt x="59000" y="75565"/>
                </a:lnTo>
                <a:lnTo>
                  <a:pt x="32892" y="0"/>
                </a:lnTo>
                <a:close/>
              </a:path>
              <a:path w="76200" h="314960">
                <a:moveTo>
                  <a:pt x="59000" y="75565"/>
                </a:moveTo>
                <a:lnTo>
                  <a:pt x="48767" y="75565"/>
                </a:lnTo>
                <a:lnTo>
                  <a:pt x="49444" y="92497"/>
                </a:lnTo>
                <a:lnTo>
                  <a:pt x="76200" y="125349"/>
                </a:lnTo>
                <a:lnTo>
                  <a:pt x="59000" y="75565"/>
                </a:lnTo>
                <a:close/>
              </a:path>
              <a:path w="76200" h="314960">
                <a:moveTo>
                  <a:pt x="36067" y="76073"/>
                </a:moveTo>
                <a:lnTo>
                  <a:pt x="23367" y="76581"/>
                </a:lnTo>
                <a:lnTo>
                  <a:pt x="24053" y="93502"/>
                </a:lnTo>
                <a:lnTo>
                  <a:pt x="36067" y="76073"/>
                </a:lnTo>
                <a:close/>
              </a:path>
              <a:path w="76200" h="314960">
                <a:moveTo>
                  <a:pt x="48767" y="75565"/>
                </a:moveTo>
                <a:lnTo>
                  <a:pt x="36067" y="76073"/>
                </a:lnTo>
                <a:lnTo>
                  <a:pt x="49444" y="92497"/>
                </a:lnTo>
                <a:lnTo>
                  <a:pt x="48767" y="7556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907785" y="3555491"/>
            <a:ext cx="3035935" cy="78105"/>
          </a:xfrm>
          <a:custGeom>
            <a:avLst/>
            <a:gdLst/>
            <a:ahLst/>
            <a:cxnLst/>
            <a:rect l="l" t="t" r="r" b="b"/>
            <a:pathLst>
              <a:path w="3035934" h="78104">
                <a:moveTo>
                  <a:pt x="129539" y="0"/>
                </a:moveTo>
                <a:lnTo>
                  <a:pt x="0" y="38862"/>
                </a:lnTo>
                <a:lnTo>
                  <a:pt x="129539" y="77724"/>
                </a:lnTo>
                <a:lnTo>
                  <a:pt x="94996" y="51816"/>
                </a:lnTo>
                <a:lnTo>
                  <a:pt x="77724" y="51816"/>
                </a:lnTo>
                <a:lnTo>
                  <a:pt x="77724" y="25908"/>
                </a:lnTo>
                <a:lnTo>
                  <a:pt x="94995" y="25908"/>
                </a:lnTo>
                <a:lnTo>
                  <a:pt x="129539" y="0"/>
                </a:lnTo>
                <a:close/>
              </a:path>
              <a:path w="3035934" h="78104">
                <a:moveTo>
                  <a:pt x="77724" y="38862"/>
                </a:moveTo>
                <a:lnTo>
                  <a:pt x="77724" y="51816"/>
                </a:lnTo>
                <a:lnTo>
                  <a:pt x="94996" y="51816"/>
                </a:lnTo>
                <a:lnTo>
                  <a:pt x="77724" y="38862"/>
                </a:lnTo>
                <a:close/>
              </a:path>
              <a:path w="3035934" h="78104">
                <a:moveTo>
                  <a:pt x="3035808" y="25908"/>
                </a:moveTo>
                <a:lnTo>
                  <a:pt x="94995" y="25908"/>
                </a:lnTo>
                <a:lnTo>
                  <a:pt x="77724" y="38862"/>
                </a:lnTo>
                <a:lnTo>
                  <a:pt x="94996" y="51816"/>
                </a:lnTo>
                <a:lnTo>
                  <a:pt x="3035808" y="51816"/>
                </a:lnTo>
                <a:lnTo>
                  <a:pt x="3035808" y="25908"/>
                </a:lnTo>
                <a:close/>
              </a:path>
              <a:path w="3035934" h="78104">
                <a:moveTo>
                  <a:pt x="94995" y="25908"/>
                </a:moveTo>
                <a:lnTo>
                  <a:pt x="77724" y="25908"/>
                </a:lnTo>
                <a:lnTo>
                  <a:pt x="77724" y="38862"/>
                </a:lnTo>
                <a:lnTo>
                  <a:pt x="94995" y="2590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395471" y="3122676"/>
          <a:ext cx="4535805" cy="645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2347595"/>
                <a:gridCol w="222250"/>
                <a:gridCol w="1833879"/>
              </a:tblGrid>
              <a:tr h="321945"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T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RU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NC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.9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,2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),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T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UN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C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45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.9</a:t>
                      </a:r>
                      <a:r>
                        <a:rPr dirty="0" sz="1800" spc="-15" b="1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3)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6845">
                        <a:lnSpc>
                          <a:spcPts val="1985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TRUNC(45.923,-2)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R w="28575">
                      <a:solidFill>
                        <a:srgbClr val="FF5050"/>
                      </a:solidFill>
                      <a:prstDash val="solid"/>
                    </a:lnR>
                    <a:lnT w="28575">
                      <a:solidFill>
                        <a:srgbClr val="FF5050"/>
                      </a:solidFill>
                      <a:prstDash val="solid"/>
                    </a:lnT>
                    <a:lnB w="28575">
                      <a:solidFill>
                        <a:srgbClr val="FF50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5050"/>
                      </a:solidFill>
                      <a:prstDash val="solid"/>
                    </a:lnL>
                    <a:lnT w="28575">
                      <a:solidFill>
                        <a:srgbClr val="FF50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2554604" y="3699129"/>
            <a:ext cx="572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11502" y="3699129"/>
            <a:ext cx="706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Courier New"/>
                <a:cs typeface="Courier New"/>
              </a:rPr>
              <a:t>D</a:t>
            </a:r>
            <a:r>
              <a:rPr dirty="0" sz="1800" spc="-5" b="1">
                <a:latin typeface="Courier New"/>
                <a:cs typeface="Courier New"/>
              </a:rPr>
              <a:t>U</a:t>
            </a:r>
            <a:r>
              <a:rPr dirty="0" sz="1800" spc="-15" b="1">
                <a:latin typeface="Courier New"/>
                <a:cs typeface="Courier New"/>
              </a:rPr>
              <a:t>AL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375340" y="2263076"/>
            <a:ext cx="520065" cy="520065"/>
            <a:chOff x="4375340" y="2263076"/>
            <a:chExt cx="520065" cy="520065"/>
          </a:xfrm>
        </p:grpSpPr>
        <p:sp>
          <p:nvSpPr>
            <p:cNvPr id="37" name="object 37"/>
            <p:cNvSpPr/>
            <p:nvPr/>
          </p:nvSpPr>
          <p:spPr>
            <a:xfrm>
              <a:off x="4388358" y="22760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388358" y="22760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538217" y="231990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30860" y="2263076"/>
            <a:ext cx="532130" cy="528955"/>
            <a:chOff x="6630860" y="2263076"/>
            <a:chExt cx="532130" cy="528955"/>
          </a:xfrm>
        </p:grpSpPr>
        <p:sp>
          <p:nvSpPr>
            <p:cNvPr id="41" name="object 41"/>
            <p:cNvSpPr/>
            <p:nvPr/>
          </p:nvSpPr>
          <p:spPr>
            <a:xfrm>
              <a:off x="6643877" y="227609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19">
                  <a:moveTo>
                    <a:pt x="252983" y="0"/>
                  </a:moveTo>
                  <a:lnTo>
                    <a:pt x="207514" y="4049"/>
                  </a:lnTo>
                  <a:lnTo>
                    <a:pt x="164717" y="15725"/>
                  </a:lnTo>
                  <a:lnTo>
                    <a:pt x="125306" y="34318"/>
                  </a:lnTo>
                  <a:lnTo>
                    <a:pt x="89997" y="59120"/>
                  </a:lnTo>
                  <a:lnTo>
                    <a:pt x="59504" y="89422"/>
                  </a:lnTo>
                  <a:lnTo>
                    <a:pt x="34544" y="124516"/>
                  </a:lnTo>
                  <a:lnTo>
                    <a:pt x="15829" y="163693"/>
                  </a:lnTo>
                  <a:lnTo>
                    <a:pt x="4076" y="206243"/>
                  </a:lnTo>
                  <a:lnTo>
                    <a:pt x="0" y="251459"/>
                  </a:lnTo>
                  <a:lnTo>
                    <a:pt x="4076" y="296676"/>
                  </a:lnTo>
                  <a:lnTo>
                    <a:pt x="15829" y="339226"/>
                  </a:lnTo>
                  <a:lnTo>
                    <a:pt x="34544" y="378403"/>
                  </a:lnTo>
                  <a:lnTo>
                    <a:pt x="59504" y="413497"/>
                  </a:lnTo>
                  <a:lnTo>
                    <a:pt x="89997" y="443799"/>
                  </a:lnTo>
                  <a:lnTo>
                    <a:pt x="125306" y="468601"/>
                  </a:lnTo>
                  <a:lnTo>
                    <a:pt x="164717" y="487194"/>
                  </a:lnTo>
                  <a:lnTo>
                    <a:pt x="207514" y="498870"/>
                  </a:lnTo>
                  <a:lnTo>
                    <a:pt x="252983" y="502919"/>
                  </a:lnTo>
                  <a:lnTo>
                    <a:pt x="298453" y="498870"/>
                  </a:lnTo>
                  <a:lnTo>
                    <a:pt x="341250" y="487194"/>
                  </a:lnTo>
                  <a:lnTo>
                    <a:pt x="380661" y="468601"/>
                  </a:lnTo>
                  <a:lnTo>
                    <a:pt x="415970" y="443799"/>
                  </a:lnTo>
                  <a:lnTo>
                    <a:pt x="446463" y="413497"/>
                  </a:lnTo>
                  <a:lnTo>
                    <a:pt x="471424" y="378403"/>
                  </a:lnTo>
                  <a:lnTo>
                    <a:pt x="490138" y="339226"/>
                  </a:lnTo>
                  <a:lnTo>
                    <a:pt x="501891" y="296676"/>
                  </a:lnTo>
                  <a:lnTo>
                    <a:pt x="505968" y="251459"/>
                  </a:lnTo>
                  <a:lnTo>
                    <a:pt x="501891" y="206243"/>
                  </a:lnTo>
                  <a:lnTo>
                    <a:pt x="490138" y="163693"/>
                  </a:lnTo>
                  <a:lnTo>
                    <a:pt x="471424" y="124516"/>
                  </a:lnTo>
                  <a:lnTo>
                    <a:pt x="446463" y="89422"/>
                  </a:lnTo>
                  <a:lnTo>
                    <a:pt x="415970" y="59120"/>
                  </a:lnTo>
                  <a:lnTo>
                    <a:pt x="380661" y="34318"/>
                  </a:lnTo>
                  <a:lnTo>
                    <a:pt x="341250" y="15725"/>
                  </a:lnTo>
                  <a:lnTo>
                    <a:pt x="298453" y="4049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43877" y="227609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19">
                  <a:moveTo>
                    <a:pt x="0" y="251459"/>
                  </a:moveTo>
                  <a:lnTo>
                    <a:pt x="4076" y="206243"/>
                  </a:lnTo>
                  <a:lnTo>
                    <a:pt x="15829" y="163693"/>
                  </a:lnTo>
                  <a:lnTo>
                    <a:pt x="34544" y="124516"/>
                  </a:lnTo>
                  <a:lnTo>
                    <a:pt x="59504" y="89422"/>
                  </a:lnTo>
                  <a:lnTo>
                    <a:pt x="89997" y="59120"/>
                  </a:lnTo>
                  <a:lnTo>
                    <a:pt x="125306" y="34318"/>
                  </a:lnTo>
                  <a:lnTo>
                    <a:pt x="164717" y="15725"/>
                  </a:lnTo>
                  <a:lnTo>
                    <a:pt x="207514" y="4049"/>
                  </a:lnTo>
                  <a:lnTo>
                    <a:pt x="252983" y="0"/>
                  </a:lnTo>
                  <a:lnTo>
                    <a:pt x="298453" y="4049"/>
                  </a:lnTo>
                  <a:lnTo>
                    <a:pt x="341250" y="15725"/>
                  </a:lnTo>
                  <a:lnTo>
                    <a:pt x="380661" y="34318"/>
                  </a:lnTo>
                  <a:lnTo>
                    <a:pt x="415970" y="59120"/>
                  </a:lnTo>
                  <a:lnTo>
                    <a:pt x="446463" y="89422"/>
                  </a:lnTo>
                  <a:lnTo>
                    <a:pt x="471424" y="124516"/>
                  </a:lnTo>
                  <a:lnTo>
                    <a:pt x="490138" y="163693"/>
                  </a:lnTo>
                  <a:lnTo>
                    <a:pt x="501891" y="206243"/>
                  </a:lnTo>
                  <a:lnTo>
                    <a:pt x="505968" y="251459"/>
                  </a:lnTo>
                  <a:lnTo>
                    <a:pt x="501891" y="296676"/>
                  </a:lnTo>
                  <a:lnTo>
                    <a:pt x="490138" y="339226"/>
                  </a:lnTo>
                  <a:lnTo>
                    <a:pt x="471424" y="378403"/>
                  </a:lnTo>
                  <a:lnTo>
                    <a:pt x="446463" y="413497"/>
                  </a:lnTo>
                  <a:lnTo>
                    <a:pt x="415970" y="443799"/>
                  </a:lnTo>
                  <a:lnTo>
                    <a:pt x="380661" y="468601"/>
                  </a:lnTo>
                  <a:lnTo>
                    <a:pt x="341250" y="487194"/>
                  </a:lnTo>
                  <a:lnTo>
                    <a:pt x="298453" y="498870"/>
                  </a:lnTo>
                  <a:lnTo>
                    <a:pt x="252983" y="502919"/>
                  </a:lnTo>
                  <a:lnTo>
                    <a:pt x="207514" y="498870"/>
                  </a:lnTo>
                  <a:lnTo>
                    <a:pt x="164717" y="487194"/>
                  </a:lnTo>
                  <a:lnTo>
                    <a:pt x="125306" y="468601"/>
                  </a:lnTo>
                  <a:lnTo>
                    <a:pt x="89997" y="443799"/>
                  </a:lnTo>
                  <a:lnTo>
                    <a:pt x="59504" y="413497"/>
                  </a:lnTo>
                  <a:lnTo>
                    <a:pt x="34544" y="378403"/>
                  </a:lnTo>
                  <a:lnTo>
                    <a:pt x="15829" y="339226"/>
                  </a:lnTo>
                  <a:lnTo>
                    <a:pt x="4076" y="296676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800468" y="232486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614290" y="2796794"/>
            <a:ext cx="4838065" cy="1017905"/>
            <a:chOff x="4614290" y="2796794"/>
            <a:chExt cx="4838065" cy="1017905"/>
          </a:xfrm>
        </p:grpSpPr>
        <p:sp>
          <p:nvSpPr>
            <p:cNvPr id="45" name="object 45"/>
            <p:cNvSpPr/>
            <p:nvPr/>
          </p:nvSpPr>
          <p:spPr>
            <a:xfrm>
              <a:off x="4614291" y="2796793"/>
              <a:ext cx="2330450" cy="314960"/>
            </a:xfrm>
            <a:custGeom>
              <a:avLst/>
              <a:gdLst/>
              <a:ahLst/>
              <a:cxnLst/>
              <a:rect l="l" t="t" r="r" b="b"/>
              <a:pathLst>
                <a:path w="2330450" h="314960">
                  <a:moveTo>
                    <a:pt x="77597" y="183515"/>
                  </a:moveTo>
                  <a:lnTo>
                    <a:pt x="53047" y="218986"/>
                  </a:lnTo>
                  <a:lnTo>
                    <a:pt x="44577" y="0"/>
                  </a:lnTo>
                  <a:lnTo>
                    <a:pt x="40767" y="152"/>
                  </a:lnTo>
                  <a:lnTo>
                    <a:pt x="40767" y="236728"/>
                  </a:lnTo>
                  <a:lnTo>
                    <a:pt x="27813" y="237236"/>
                  </a:lnTo>
                  <a:lnTo>
                    <a:pt x="40754" y="236728"/>
                  </a:lnTo>
                  <a:lnTo>
                    <a:pt x="40767" y="152"/>
                  </a:lnTo>
                  <a:lnTo>
                    <a:pt x="18669" y="1016"/>
                  </a:lnTo>
                  <a:lnTo>
                    <a:pt x="27139" y="219976"/>
                  </a:lnTo>
                  <a:lnTo>
                    <a:pt x="0" y="186563"/>
                  </a:lnTo>
                  <a:lnTo>
                    <a:pt x="43815" y="314452"/>
                  </a:lnTo>
                  <a:lnTo>
                    <a:pt x="63728" y="237236"/>
                  </a:lnTo>
                  <a:lnTo>
                    <a:pt x="77597" y="183515"/>
                  </a:lnTo>
                  <a:close/>
                </a:path>
                <a:path w="2330450" h="314960">
                  <a:moveTo>
                    <a:pt x="2330069" y="183515"/>
                  </a:moveTo>
                  <a:lnTo>
                    <a:pt x="2305520" y="218986"/>
                  </a:lnTo>
                  <a:lnTo>
                    <a:pt x="2297049" y="0"/>
                  </a:lnTo>
                  <a:lnTo>
                    <a:pt x="2293239" y="152"/>
                  </a:lnTo>
                  <a:lnTo>
                    <a:pt x="2293239" y="236728"/>
                  </a:lnTo>
                  <a:lnTo>
                    <a:pt x="2280285" y="237236"/>
                  </a:lnTo>
                  <a:lnTo>
                    <a:pt x="2293226" y="236728"/>
                  </a:lnTo>
                  <a:lnTo>
                    <a:pt x="2293239" y="152"/>
                  </a:lnTo>
                  <a:lnTo>
                    <a:pt x="2271141" y="1016"/>
                  </a:lnTo>
                  <a:lnTo>
                    <a:pt x="2279612" y="219976"/>
                  </a:lnTo>
                  <a:lnTo>
                    <a:pt x="2252472" y="186563"/>
                  </a:lnTo>
                  <a:lnTo>
                    <a:pt x="2296287" y="314452"/>
                  </a:lnTo>
                  <a:lnTo>
                    <a:pt x="2316200" y="237236"/>
                  </a:lnTo>
                  <a:lnTo>
                    <a:pt x="2330069" y="183515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945117" y="330784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6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945117" y="330784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6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094978" y="335203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MOD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12492" y="3116579"/>
            <a:ext cx="7235825" cy="1143000"/>
            <a:chOff x="2412492" y="3116579"/>
            <a:chExt cx="7235825" cy="1143000"/>
          </a:xfrm>
        </p:grpSpPr>
        <p:sp>
          <p:nvSpPr>
            <p:cNvPr id="4" name="object 4"/>
            <p:cNvSpPr/>
            <p:nvPr/>
          </p:nvSpPr>
          <p:spPr>
            <a:xfrm>
              <a:off x="2475992" y="3180079"/>
              <a:ext cx="7172325" cy="1079500"/>
            </a:xfrm>
            <a:custGeom>
              <a:avLst/>
              <a:gdLst/>
              <a:ahLst/>
              <a:cxnLst/>
              <a:rect l="l" t="t" r="r" b="b"/>
              <a:pathLst>
                <a:path w="7172325" h="1079500">
                  <a:moveTo>
                    <a:pt x="7171944" y="0"/>
                  </a:moveTo>
                  <a:lnTo>
                    <a:pt x="7095490" y="0"/>
                  </a:lnTo>
                  <a:lnTo>
                    <a:pt x="7095490" y="12700"/>
                  </a:lnTo>
                  <a:lnTo>
                    <a:pt x="7095490" y="25400"/>
                  </a:lnTo>
                  <a:lnTo>
                    <a:pt x="7095490" y="1002030"/>
                  </a:lnTo>
                  <a:lnTo>
                    <a:pt x="12954" y="1002030"/>
                  </a:lnTo>
                  <a:lnTo>
                    <a:pt x="12954" y="1052830"/>
                  </a:lnTo>
                  <a:lnTo>
                    <a:pt x="0" y="1052830"/>
                  </a:lnTo>
                  <a:lnTo>
                    <a:pt x="0" y="1079500"/>
                  </a:lnTo>
                  <a:lnTo>
                    <a:pt x="7171944" y="1079500"/>
                  </a:lnTo>
                  <a:lnTo>
                    <a:pt x="7171944" y="1052830"/>
                  </a:lnTo>
                  <a:lnTo>
                    <a:pt x="7171944" y="25400"/>
                  </a:lnTo>
                  <a:lnTo>
                    <a:pt x="7171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5446" y="3129533"/>
              <a:ext cx="7146290" cy="1053465"/>
            </a:xfrm>
            <a:custGeom>
              <a:avLst/>
              <a:gdLst/>
              <a:ahLst/>
              <a:cxnLst/>
              <a:rect l="l" t="t" r="r" b="b"/>
              <a:pathLst>
                <a:path w="7146290" h="1053464">
                  <a:moveTo>
                    <a:pt x="7146035" y="0"/>
                  </a:moveTo>
                  <a:lnTo>
                    <a:pt x="0" y="0"/>
                  </a:lnTo>
                  <a:lnTo>
                    <a:pt x="0" y="1053083"/>
                  </a:lnTo>
                  <a:lnTo>
                    <a:pt x="7146035" y="1053083"/>
                  </a:lnTo>
                  <a:lnTo>
                    <a:pt x="714603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25446" y="3129533"/>
              <a:ext cx="7146290" cy="1053465"/>
            </a:xfrm>
            <a:custGeom>
              <a:avLst/>
              <a:gdLst/>
              <a:ahLst/>
              <a:cxnLst/>
              <a:rect l="l" t="t" r="r" b="b"/>
              <a:pathLst>
                <a:path w="7146290" h="1053464">
                  <a:moveTo>
                    <a:pt x="0" y="1053083"/>
                  </a:moveTo>
                  <a:lnTo>
                    <a:pt x="7146035" y="1053083"/>
                  </a:lnTo>
                  <a:lnTo>
                    <a:pt x="7146035" y="0"/>
                  </a:lnTo>
                  <a:lnTo>
                    <a:pt x="0" y="0"/>
                  </a:lnTo>
                  <a:lnTo>
                    <a:pt x="0" y="105308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75992" y="4182617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07055" y="3229102"/>
            <a:ext cx="3438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8661" y="3252978"/>
            <a:ext cx="2440305" cy="32639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9220">
              <a:lnSpc>
                <a:spcPts val="2070"/>
              </a:lnSpc>
            </a:pPr>
            <a:r>
              <a:rPr dirty="0" sz="1800" spc="-10" b="1">
                <a:latin typeface="Courier New"/>
                <a:cs typeface="Courier New"/>
              </a:rPr>
              <a:t>MOD(salary,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5000)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7055" y="3503117"/>
            <a:ext cx="70993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3975" y="3503117"/>
            <a:ext cx="248158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'SA_REP';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477770" y="2041016"/>
            <a:ext cx="62572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5"/>
              <a:t> remainder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5"/>
              <a:t>salary</a:t>
            </a:r>
            <a:r>
              <a:rPr dirty="0" spc="-5"/>
              <a:t> </a:t>
            </a:r>
            <a:r>
              <a:rPr dirty="0"/>
              <a:t>after</a:t>
            </a:r>
            <a:r>
              <a:rPr dirty="0" spc="-15"/>
              <a:t> </a:t>
            </a:r>
            <a:r>
              <a:rPr dirty="0" spc="-5"/>
              <a:t>it is divided </a:t>
            </a:r>
            <a:r>
              <a:rPr dirty="0" spc="-10"/>
              <a:t>by</a:t>
            </a:r>
            <a:r>
              <a:rPr dirty="0" spc="-5"/>
              <a:t> </a:t>
            </a:r>
            <a:r>
              <a:rPr dirty="0"/>
              <a:t>5000</a:t>
            </a:r>
            <a:r>
              <a:rPr dirty="0" spc="-5"/>
              <a:t> for</a:t>
            </a:r>
            <a:r>
              <a:rPr dirty="0" spc="-25"/>
              <a:t> </a:t>
            </a:r>
            <a:r>
              <a:rPr dirty="0"/>
              <a:t>all </a:t>
            </a:r>
            <a:r>
              <a:rPr dirty="0" spc="-484"/>
              <a:t> </a:t>
            </a:r>
            <a:r>
              <a:rPr dirty="0" spc="-10"/>
              <a:t>employees</a:t>
            </a:r>
            <a:r>
              <a:rPr dirty="0" spc="-30"/>
              <a:t> </a:t>
            </a:r>
            <a:r>
              <a:rPr dirty="0" spc="-5"/>
              <a:t>whose</a:t>
            </a:r>
            <a:r>
              <a:rPr dirty="0" spc="-10"/>
              <a:t> </a:t>
            </a:r>
            <a:r>
              <a:rPr dirty="0" spc="-5"/>
              <a:t>job </a:t>
            </a:r>
            <a:r>
              <a:rPr dirty="0"/>
              <a:t>title </a:t>
            </a:r>
            <a:r>
              <a:rPr dirty="0" spc="-5"/>
              <a:t>is</a:t>
            </a:r>
            <a:r>
              <a:rPr dirty="0" spc="5"/>
              <a:t> </a:t>
            </a:r>
            <a:r>
              <a:rPr dirty="0"/>
              <a:t>sales</a:t>
            </a:r>
            <a:r>
              <a:rPr dirty="0" spc="-20"/>
              <a:t> </a:t>
            </a:r>
            <a:r>
              <a:rPr dirty="0" spc="-10"/>
              <a:t>representative.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2453255" y="4314459"/>
            <a:ext cx="7105650" cy="879475"/>
            <a:chOff x="2453255" y="4314459"/>
            <a:chExt cx="7105650" cy="8794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3255" y="4314459"/>
              <a:ext cx="7104896" cy="8766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27469" y="4333494"/>
              <a:ext cx="3118485" cy="847725"/>
            </a:xfrm>
            <a:custGeom>
              <a:avLst/>
              <a:gdLst/>
              <a:ahLst/>
              <a:cxnLst/>
              <a:rect l="l" t="t" r="r" b="b"/>
              <a:pathLst>
                <a:path w="3118484" h="847725">
                  <a:moveTo>
                    <a:pt x="0" y="847343"/>
                  </a:moveTo>
                  <a:lnTo>
                    <a:pt x="3118104" y="847343"/>
                  </a:lnTo>
                  <a:lnTo>
                    <a:pt x="3118104" y="0"/>
                  </a:lnTo>
                  <a:lnTo>
                    <a:pt x="0" y="0"/>
                  </a:lnTo>
                  <a:lnTo>
                    <a:pt x="0" y="847343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ORKIN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-3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1196" y="4471352"/>
            <a:ext cx="7225030" cy="1639570"/>
            <a:chOff x="2461196" y="4471352"/>
            <a:chExt cx="7225030" cy="1639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223" y="5443728"/>
              <a:ext cx="7106782" cy="666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24760" y="4535170"/>
              <a:ext cx="7161530" cy="880110"/>
            </a:xfrm>
            <a:custGeom>
              <a:avLst/>
              <a:gdLst/>
              <a:ahLst/>
              <a:cxnLst/>
              <a:rect l="l" t="t" r="r" b="b"/>
              <a:pathLst>
                <a:path w="7161530" h="880110">
                  <a:moveTo>
                    <a:pt x="7161276" y="0"/>
                  </a:moveTo>
                  <a:lnTo>
                    <a:pt x="7084809" y="0"/>
                  </a:lnTo>
                  <a:lnTo>
                    <a:pt x="7084809" y="25400"/>
                  </a:lnTo>
                  <a:lnTo>
                    <a:pt x="7084822" y="816610"/>
                  </a:lnTo>
                  <a:lnTo>
                    <a:pt x="25908" y="816610"/>
                  </a:lnTo>
                  <a:lnTo>
                    <a:pt x="12954" y="816610"/>
                  </a:lnTo>
                  <a:lnTo>
                    <a:pt x="0" y="816610"/>
                  </a:lnTo>
                  <a:lnTo>
                    <a:pt x="0" y="867410"/>
                  </a:lnTo>
                  <a:lnTo>
                    <a:pt x="12954" y="867410"/>
                  </a:lnTo>
                  <a:lnTo>
                    <a:pt x="12954" y="880110"/>
                  </a:lnTo>
                  <a:lnTo>
                    <a:pt x="7148322" y="880110"/>
                  </a:lnTo>
                  <a:lnTo>
                    <a:pt x="7148322" y="867410"/>
                  </a:lnTo>
                  <a:lnTo>
                    <a:pt x="7161276" y="867410"/>
                  </a:lnTo>
                  <a:lnTo>
                    <a:pt x="7161276" y="25400"/>
                  </a:lnTo>
                  <a:lnTo>
                    <a:pt x="7161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3" y="4484370"/>
              <a:ext cx="7135495" cy="867410"/>
            </a:xfrm>
            <a:custGeom>
              <a:avLst/>
              <a:gdLst/>
              <a:ahLst/>
              <a:cxnLst/>
              <a:rect l="l" t="t" r="r" b="b"/>
              <a:pathLst>
                <a:path w="7135495" h="867410">
                  <a:moveTo>
                    <a:pt x="7135368" y="0"/>
                  </a:moveTo>
                  <a:lnTo>
                    <a:pt x="0" y="0"/>
                  </a:lnTo>
                  <a:lnTo>
                    <a:pt x="0" y="867155"/>
                  </a:lnTo>
                  <a:lnTo>
                    <a:pt x="7135368" y="867155"/>
                  </a:lnTo>
                  <a:lnTo>
                    <a:pt x="71353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74213" y="4484370"/>
              <a:ext cx="7135495" cy="867410"/>
            </a:xfrm>
            <a:custGeom>
              <a:avLst/>
              <a:gdLst/>
              <a:ahLst/>
              <a:cxnLst/>
              <a:rect l="l" t="t" r="r" b="b"/>
              <a:pathLst>
                <a:path w="7135495" h="867410">
                  <a:moveTo>
                    <a:pt x="0" y="867155"/>
                  </a:moveTo>
                  <a:lnTo>
                    <a:pt x="7135368" y="867155"/>
                  </a:lnTo>
                  <a:lnTo>
                    <a:pt x="7135368" y="0"/>
                  </a:lnTo>
                  <a:lnTo>
                    <a:pt x="0" y="0"/>
                  </a:lnTo>
                  <a:lnTo>
                    <a:pt x="0" y="867155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24760" y="5402579"/>
            <a:ext cx="7161530" cy="25400"/>
          </a:xfrm>
          <a:custGeom>
            <a:avLst/>
            <a:gdLst/>
            <a:ahLst/>
            <a:cxnLst/>
            <a:rect l="l" t="t" r="r" b="b"/>
            <a:pathLst>
              <a:path w="7161530" h="25400">
                <a:moveTo>
                  <a:pt x="0" y="25400"/>
                </a:moveTo>
                <a:lnTo>
                  <a:pt x="7161275" y="25400"/>
                </a:lnTo>
                <a:lnTo>
                  <a:pt x="7161275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77770" y="2064765"/>
            <a:ext cx="7074534" cy="1910714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17500" marR="5080" indent="-304800">
              <a:lnSpc>
                <a:spcPts val="1939"/>
              </a:lnSpc>
              <a:spcBef>
                <a:spcPts val="3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Oracle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stores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dates in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internal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numeric format:</a:t>
            </a:r>
            <a:r>
              <a:rPr dirty="0" sz="1800" spc="-1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century,</a:t>
            </a:r>
            <a:r>
              <a:rPr dirty="0" sz="1800" spc="-1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year,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nth,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7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4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hours,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mi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utes,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onds.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1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default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display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format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DD-MON-RR.</a:t>
            </a:r>
            <a:endParaRPr sz="1800">
              <a:latin typeface="Gill Sans MT"/>
              <a:cs typeface="Gill Sans MT"/>
            </a:endParaRPr>
          </a:p>
          <a:p>
            <a:pPr lvl="1" marL="641985" indent="-305435">
              <a:lnSpc>
                <a:spcPts val="1825"/>
              </a:lnSpc>
              <a:spcBef>
                <a:spcPts val="99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Allows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20">
                <a:solidFill>
                  <a:srgbClr val="3C3C3C"/>
                </a:solidFill>
                <a:latin typeface="Gill Sans MT"/>
                <a:cs typeface="Gill Sans MT"/>
              </a:rPr>
              <a:t>you</a:t>
            </a:r>
            <a:r>
              <a:rPr dirty="0" sz="16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store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21st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century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dates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20th 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century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specifying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endParaRPr sz="1600">
              <a:latin typeface="Gill Sans MT"/>
              <a:cs typeface="Gill Sans MT"/>
            </a:endParaRPr>
          </a:p>
          <a:p>
            <a:pPr marL="641985">
              <a:lnSpc>
                <a:spcPts val="1825"/>
              </a:lnSpc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last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digits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40">
                <a:solidFill>
                  <a:srgbClr val="3C3C3C"/>
                </a:solidFill>
                <a:latin typeface="Gill Sans MT"/>
                <a:cs typeface="Gill Sans MT"/>
              </a:rPr>
              <a:t>year.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9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Allows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20">
                <a:solidFill>
                  <a:srgbClr val="3C3C3C"/>
                </a:solidFill>
                <a:latin typeface="Gill Sans MT"/>
                <a:cs typeface="Gill Sans MT"/>
              </a:rPr>
              <a:t>you</a:t>
            </a:r>
            <a:r>
              <a:rPr dirty="0" sz="16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store</a:t>
            </a:r>
            <a:r>
              <a:rPr dirty="0" sz="16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20th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century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dates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21st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century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same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5">
                <a:solidFill>
                  <a:srgbClr val="3C3C3C"/>
                </a:solidFill>
                <a:latin typeface="Gill Sans MT"/>
                <a:cs typeface="Gill Sans MT"/>
              </a:rPr>
              <a:t>way.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3080" y="4465701"/>
            <a:ext cx="2346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1005" y="4530090"/>
            <a:ext cx="1277620" cy="28829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1755"/>
              </a:lnSpc>
            </a:pPr>
            <a:r>
              <a:rPr dirty="0" sz="1800" spc="-10" b="1">
                <a:latin typeface="Courier New"/>
                <a:cs typeface="Courier New"/>
              </a:rPr>
              <a:t>hire_date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3080" y="4739716"/>
            <a:ext cx="221170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9644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440" y="4978895"/>
            <a:ext cx="985519" cy="508634"/>
            <a:chOff x="5425440" y="4978895"/>
            <a:chExt cx="985519" cy="508634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5440" y="4978895"/>
              <a:ext cx="439686" cy="50826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5396" y="4978895"/>
              <a:ext cx="575297" cy="50826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510000" y="5014721"/>
            <a:ext cx="2755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last_name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'G%';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1061" y="5447538"/>
            <a:ext cx="3365500" cy="669290"/>
          </a:xfrm>
          <a:custGeom>
            <a:avLst/>
            <a:gdLst/>
            <a:ahLst/>
            <a:cxnLst/>
            <a:rect l="l" t="t" r="r" b="b"/>
            <a:pathLst>
              <a:path w="3365500" h="669289">
                <a:moveTo>
                  <a:pt x="0" y="669036"/>
                </a:moveTo>
                <a:lnTo>
                  <a:pt x="3364991" y="669036"/>
                </a:lnTo>
                <a:lnTo>
                  <a:pt x="3364991" y="0"/>
                </a:lnTo>
                <a:lnTo>
                  <a:pt x="0" y="0"/>
                </a:lnTo>
                <a:lnTo>
                  <a:pt x="0" y="669036"/>
                </a:lnTo>
                <a:close/>
              </a:path>
            </a:pathLst>
          </a:custGeom>
          <a:ln w="25907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ORKIN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 spc="-3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730826"/>
            <a:ext cx="3377565" cy="127063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SYSDAT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etu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Time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ARITHMETIC</a:t>
                      </a:r>
                      <a:r>
                        <a:rPr dirty="0" sz="2800" spc="-3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2235072"/>
            <a:ext cx="6849745" cy="124269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Add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 subtract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 date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resultant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value.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Subtract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dates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days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between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those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Add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hours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dividing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number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hours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24.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025" y="3113139"/>
            <a:ext cx="7105272" cy="8759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61260" y="2049779"/>
            <a:ext cx="7320915" cy="1005840"/>
            <a:chOff x="2461260" y="2049779"/>
            <a:chExt cx="7320915" cy="1005840"/>
          </a:xfrm>
        </p:grpSpPr>
        <p:sp>
          <p:nvSpPr>
            <p:cNvPr id="4" name="object 4"/>
            <p:cNvSpPr/>
            <p:nvPr/>
          </p:nvSpPr>
          <p:spPr>
            <a:xfrm>
              <a:off x="2524760" y="2113279"/>
              <a:ext cx="7257415" cy="942340"/>
            </a:xfrm>
            <a:custGeom>
              <a:avLst/>
              <a:gdLst/>
              <a:ahLst/>
              <a:cxnLst/>
              <a:rect l="l" t="t" r="r" b="b"/>
              <a:pathLst>
                <a:path w="7257415" h="942339">
                  <a:moveTo>
                    <a:pt x="7257288" y="0"/>
                  </a:moveTo>
                  <a:lnTo>
                    <a:pt x="7180834" y="0"/>
                  </a:lnTo>
                  <a:lnTo>
                    <a:pt x="7180834" y="12700"/>
                  </a:lnTo>
                  <a:lnTo>
                    <a:pt x="7180834" y="25400"/>
                  </a:lnTo>
                  <a:lnTo>
                    <a:pt x="7180834" y="864870"/>
                  </a:lnTo>
                  <a:lnTo>
                    <a:pt x="12954" y="864870"/>
                  </a:lnTo>
                  <a:lnTo>
                    <a:pt x="12954" y="865378"/>
                  </a:lnTo>
                  <a:lnTo>
                    <a:pt x="0" y="865378"/>
                  </a:lnTo>
                  <a:lnTo>
                    <a:pt x="0" y="915670"/>
                  </a:lnTo>
                  <a:lnTo>
                    <a:pt x="0" y="942340"/>
                  </a:lnTo>
                  <a:lnTo>
                    <a:pt x="7257288" y="942340"/>
                  </a:lnTo>
                  <a:lnTo>
                    <a:pt x="7257288" y="915670"/>
                  </a:lnTo>
                  <a:lnTo>
                    <a:pt x="7257288" y="25400"/>
                  </a:lnTo>
                  <a:lnTo>
                    <a:pt x="7257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4214" y="2062733"/>
              <a:ext cx="7231380" cy="916305"/>
            </a:xfrm>
            <a:custGeom>
              <a:avLst/>
              <a:gdLst/>
              <a:ahLst/>
              <a:cxnLst/>
              <a:rect l="l" t="t" r="r" b="b"/>
              <a:pathLst>
                <a:path w="7231380" h="916305">
                  <a:moveTo>
                    <a:pt x="723138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231380" y="915924"/>
                  </a:lnTo>
                  <a:lnTo>
                    <a:pt x="72313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4" y="2062733"/>
              <a:ext cx="7231380" cy="916305"/>
            </a:xfrm>
            <a:custGeom>
              <a:avLst/>
              <a:gdLst/>
              <a:ahLst/>
              <a:cxnLst/>
              <a:rect l="l" t="t" r="r" b="b"/>
              <a:pathLst>
                <a:path w="7231380" h="916305">
                  <a:moveTo>
                    <a:pt x="0" y="915924"/>
                  </a:moveTo>
                  <a:lnTo>
                    <a:pt x="7231380" y="915924"/>
                  </a:lnTo>
                  <a:lnTo>
                    <a:pt x="723138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3541" y="844677"/>
            <a:ext cx="5184775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26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ARITHME</a:t>
            </a:r>
            <a:r>
              <a:rPr dirty="0" sz="2800">
                <a:solidFill>
                  <a:srgbClr val="FFFFFF"/>
                </a:solidFill>
              </a:rPr>
              <a:t>T</a:t>
            </a:r>
            <a:r>
              <a:rPr dirty="0" sz="2800" spc="-5">
                <a:solidFill>
                  <a:srgbClr val="FFFFFF"/>
                </a:solidFill>
              </a:rPr>
              <a:t>IC</a:t>
            </a:r>
            <a:r>
              <a:rPr dirty="0" sz="2800" spc="-1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OP</a:t>
            </a:r>
            <a:r>
              <a:rPr dirty="0" sz="2800">
                <a:solidFill>
                  <a:srgbClr val="FFFFFF"/>
                </a:solidFill>
              </a:rPr>
              <a:t>E</a:t>
            </a:r>
            <a:r>
              <a:rPr dirty="0" sz="2800" spc="-5">
                <a:solidFill>
                  <a:srgbClr val="FFFFFF"/>
                </a:solidFill>
              </a:rPr>
              <a:t>R</a:t>
            </a:r>
            <a:r>
              <a:rPr dirty="0" sz="2800" spc="-285">
                <a:solidFill>
                  <a:srgbClr val="FFFFFF"/>
                </a:solidFill>
              </a:rPr>
              <a:t>A</a:t>
            </a:r>
            <a:r>
              <a:rPr dirty="0" sz="2800" spc="-185">
                <a:solidFill>
                  <a:srgbClr val="FFFFFF"/>
                </a:solidFill>
              </a:rPr>
              <a:t>T</a:t>
            </a:r>
            <a:r>
              <a:rPr dirty="0" sz="2800" spc="-10">
                <a:solidFill>
                  <a:srgbClr val="FFFFFF"/>
                </a:solidFill>
              </a:rPr>
              <a:t>ORS  </a:t>
            </a:r>
            <a:r>
              <a:rPr dirty="0" sz="2800" spc="-5">
                <a:solidFill>
                  <a:srgbClr val="FFFFFF"/>
                </a:solidFill>
              </a:rPr>
              <a:t>WITH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90">
                <a:solidFill>
                  <a:srgbClr val="FFFFFF"/>
                </a:solidFill>
              </a:rPr>
              <a:t>DATES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2553080" y="2079497"/>
            <a:ext cx="2346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721" y="2125217"/>
            <a:ext cx="4173220" cy="32512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900"/>
              </a:lnSpc>
            </a:pPr>
            <a:r>
              <a:rPr dirty="0" sz="1800" spc="-10" b="1">
                <a:latin typeface="Courier New"/>
                <a:cs typeface="Courier New"/>
              </a:rPr>
              <a:t>(SYSDATE-hire_date)/7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AS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WEEKS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3080" y="2353817"/>
            <a:ext cx="22104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	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es 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0000" y="2628138"/>
            <a:ext cx="2617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department_id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90;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5841" y="3118866"/>
            <a:ext cx="3221990" cy="859790"/>
          </a:xfrm>
          <a:custGeom>
            <a:avLst/>
            <a:gdLst/>
            <a:ahLst/>
            <a:cxnLst/>
            <a:rect l="l" t="t" r="r" b="b"/>
            <a:pathLst>
              <a:path w="3221990" h="859789">
                <a:moveTo>
                  <a:pt x="0" y="859536"/>
                </a:moveTo>
                <a:lnTo>
                  <a:pt x="3221736" y="859536"/>
                </a:lnTo>
                <a:lnTo>
                  <a:pt x="3221736" y="0"/>
                </a:lnTo>
                <a:lnTo>
                  <a:pt x="0" y="0"/>
                </a:lnTo>
                <a:lnTo>
                  <a:pt x="0" y="859536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14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DATE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29483" y="2066544"/>
          <a:ext cx="6501130" cy="4338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6225"/>
                <a:gridCol w="3645535"/>
              </a:tblGrid>
              <a:tr h="56832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Function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Description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0548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MONTHS_BETWEEN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1257300">
                        <a:lnSpc>
                          <a:spcPts val="2160"/>
                        </a:lnSpc>
                        <a:spcBef>
                          <a:spcPts val="765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20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months </a:t>
                      </a:r>
                      <a:r>
                        <a:rPr dirty="0" sz="2000" spc="-5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between</a:t>
                      </a:r>
                      <a:r>
                        <a:rPr dirty="0" sz="2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5" b="1">
                          <a:latin typeface="Arial"/>
                          <a:cs typeface="Arial"/>
                        </a:rPr>
                        <a:t>two</a:t>
                      </a:r>
                      <a:r>
                        <a:rPr dirty="0" sz="20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dates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9715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03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ADD_MONTHS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120014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608330">
                        <a:lnSpc>
                          <a:spcPts val="2160"/>
                        </a:lnSpc>
                        <a:spcBef>
                          <a:spcPts val="1135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Add</a:t>
                      </a:r>
                      <a:r>
                        <a:rPr dirty="0" sz="20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calendar</a:t>
                      </a:r>
                      <a:r>
                        <a:rPr dirty="0" sz="2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months</a:t>
                      </a:r>
                      <a:r>
                        <a:rPr dirty="0" sz="20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2000" spc="-5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4414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NEXT_DAY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10795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1103630">
                        <a:lnSpc>
                          <a:spcPts val="2160"/>
                        </a:lnSpc>
                        <a:spcBef>
                          <a:spcPts val="1245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Next</a:t>
                      </a:r>
                      <a:r>
                        <a:rPr dirty="0" sz="20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0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0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date </a:t>
                      </a:r>
                      <a:r>
                        <a:rPr dirty="0" sz="2000" spc="-5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specified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5811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LAST_DAY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16256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Last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month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7780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4991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ROUND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113664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0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2890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 b="1">
                          <a:latin typeface="Courier New"/>
                          <a:cs typeface="Courier New"/>
                        </a:rPr>
                        <a:t>TRUNC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000" spc="-15" b="1">
                          <a:latin typeface="Arial"/>
                          <a:cs typeface="Arial"/>
                        </a:rPr>
                        <a:t>Truncate</a:t>
                      </a:r>
                      <a:r>
                        <a:rPr dirty="0" sz="20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8826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6504" y="2133625"/>
            <a:ext cx="7503795" cy="163703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0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spc="-5" b="1">
                <a:latin typeface="Courier New"/>
                <a:cs typeface="Courier New"/>
              </a:rPr>
              <a:t>MONTHS_BETWEEN</a:t>
            </a:r>
            <a:r>
              <a:rPr dirty="0" sz="2200" spc="2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('01-SEP-95','11-JAN-94')</a:t>
            </a:r>
            <a:endParaRPr sz="2200">
              <a:latin typeface="Courier New"/>
              <a:cs typeface="Courier New"/>
            </a:endParaRPr>
          </a:p>
          <a:p>
            <a:pPr algn="r" marR="22860">
              <a:lnSpc>
                <a:spcPct val="100000"/>
              </a:lnSpc>
              <a:spcBef>
                <a:spcPts val="955"/>
              </a:spcBef>
            </a:pPr>
            <a:r>
              <a:rPr dirty="0" sz="2200" b="1">
                <a:latin typeface="Courier New"/>
                <a:cs typeface="Courier New"/>
              </a:rPr>
              <a:t>19.6774194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Courier New"/>
              <a:cs typeface="Courier New"/>
            </a:endParaRPr>
          </a:p>
          <a:p>
            <a:pPr marL="299085" indent="-287020">
              <a:lnSpc>
                <a:spcPct val="100000"/>
              </a:lnSpc>
              <a:buClr>
                <a:srgbClr val="828282"/>
              </a:buClr>
              <a:buFont typeface="Courier New"/>
              <a:buChar char="•"/>
              <a:tabLst>
                <a:tab pos="299720" algn="l"/>
                <a:tab pos="5640705" algn="l"/>
              </a:tabLst>
            </a:pPr>
            <a:r>
              <a:rPr dirty="0" sz="2200" b="1">
                <a:latin typeface="Courier New"/>
                <a:cs typeface="Courier New"/>
              </a:rPr>
              <a:t>ADD_MONTHS</a:t>
            </a:r>
            <a:r>
              <a:rPr dirty="0" sz="2200" spc="10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('11-JAN-94',6)	'11-JUL-94'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0919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10">
                <a:solidFill>
                  <a:srgbClr val="FFFFFF"/>
                </a:solidFill>
              </a:rPr>
              <a:t> </a:t>
            </a:r>
            <a:r>
              <a:rPr dirty="0" sz="2800" spc="-114">
                <a:solidFill>
                  <a:srgbClr val="FFFFFF"/>
                </a:solidFill>
              </a:rPr>
              <a:t>DATE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497327" y="4608957"/>
            <a:ext cx="7523480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ts val="2595"/>
              </a:lnSpc>
              <a:spcBef>
                <a:spcPts val="95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spc="-5" b="1">
                <a:latin typeface="Courier New"/>
                <a:cs typeface="Courier New"/>
              </a:rPr>
              <a:t>NEXT_DAY</a:t>
            </a:r>
            <a:r>
              <a:rPr dirty="0" sz="2200" spc="-10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('01-SEP-95','FRIDAY')</a:t>
            </a:r>
            <a:endParaRPr sz="2200">
              <a:latin typeface="Courier New"/>
              <a:cs typeface="Courier New"/>
            </a:endParaRPr>
          </a:p>
          <a:p>
            <a:pPr algn="r" marR="5080">
              <a:lnSpc>
                <a:spcPts val="2595"/>
              </a:lnSpc>
            </a:pPr>
            <a:r>
              <a:rPr dirty="0" sz="2200" b="1">
                <a:latin typeface="Courier New"/>
                <a:cs typeface="Courier New"/>
              </a:rPr>
              <a:t>'08-SEP-95'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6504" y="5776061"/>
            <a:ext cx="38442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b="1">
                <a:latin typeface="Courier New"/>
                <a:cs typeface="Courier New"/>
              </a:rPr>
              <a:t>LAST_DAY('01-FEB-95')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5018" y="5776061"/>
            <a:ext cx="18751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Courier New"/>
                <a:cs typeface="Courier New"/>
              </a:rPr>
              <a:t>'2</a:t>
            </a:r>
            <a:r>
              <a:rPr dirty="0" sz="2200" spc="5" b="1">
                <a:latin typeface="Courier New"/>
                <a:cs typeface="Courier New"/>
              </a:rPr>
              <a:t>8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-10" b="1">
                <a:latin typeface="Courier New"/>
                <a:cs typeface="Courier New"/>
              </a:rPr>
              <a:t>F</a:t>
            </a:r>
            <a:r>
              <a:rPr dirty="0" sz="2200" spc="10" b="1">
                <a:latin typeface="Courier New"/>
                <a:cs typeface="Courier New"/>
              </a:rPr>
              <a:t>E</a:t>
            </a:r>
            <a:r>
              <a:rPr dirty="0" sz="2200" spc="-5" b="1">
                <a:latin typeface="Courier New"/>
                <a:cs typeface="Courier New"/>
              </a:rPr>
              <a:t>B</a:t>
            </a:r>
            <a:r>
              <a:rPr dirty="0" sz="2200" spc="5" b="1">
                <a:latin typeface="Courier New"/>
                <a:cs typeface="Courier New"/>
              </a:rPr>
              <a:t>-</a:t>
            </a:r>
            <a:r>
              <a:rPr dirty="0" sz="2200" spc="10" b="1">
                <a:latin typeface="Courier New"/>
                <a:cs typeface="Courier New"/>
              </a:rPr>
              <a:t>9</a:t>
            </a:r>
            <a:r>
              <a:rPr dirty="0" sz="2200" spc="-10" b="1">
                <a:latin typeface="Courier New"/>
                <a:cs typeface="Courier New"/>
              </a:rPr>
              <a:t>5'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59802" y="5047488"/>
            <a:ext cx="495300" cy="151130"/>
          </a:xfrm>
          <a:custGeom>
            <a:avLst/>
            <a:gdLst/>
            <a:ahLst/>
            <a:cxnLst/>
            <a:rect l="l" t="t" r="r" b="b"/>
            <a:pathLst>
              <a:path w="495300" h="151129">
                <a:moveTo>
                  <a:pt x="344424" y="75437"/>
                </a:moveTo>
                <a:lnTo>
                  <a:pt x="243840" y="150875"/>
                </a:lnTo>
                <a:lnTo>
                  <a:pt x="411479" y="100584"/>
                </a:lnTo>
                <a:lnTo>
                  <a:pt x="344424" y="100584"/>
                </a:lnTo>
                <a:lnTo>
                  <a:pt x="344424" y="75437"/>
                </a:lnTo>
                <a:close/>
              </a:path>
              <a:path w="495300" h="151129">
                <a:moveTo>
                  <a:pt x="310896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310896" y="100584"/>
                </a:lnTo>
                <a:lnTo>
                  <a:pt x="344424" y="75437"/>
                </a:lnTo>
                <a:lnTo>
                  <a:pt x="310896" y="50292"/>
                </a:lnTo>
                <a:close/>
              </a:path>
              <a:path w="495300" h="151129">
                <a:moveTo>
                  <a:pt x="411480" y="50292"/>
                </a:moveTo>
                <a:lnTo>
                  <a:pt x="344424" y="50292"/>
                </a:lnTo>
                <a:lnTo>
                  <a:pt x="344424" y="100584"/>
                </a:lnTo>
                <a:lnTo>
                  <a:pt x="411479" y="100584"/>
                </a:lnTo>
                <a:lnTo>
                  <a:pt x="495300" y="75437"/>
                </a:lnTo>
                <a:lnTo>
                  <a:pt x="411480" y="50292"/>
                </a:lnTo>
                <a:close/>
              </a:path>
              <a:path w="495300" h="151129">
                <a:moveTo>
                  <a:pt x="243840" y="0"/>
                </a:moveTo>
                <a:lnTo>
                  <a:pt x="344424" y="75437"/>
                </a:lnTo>
                <a:lnTo>
                  <a:pt x="344424" y="50292"/>
                </a:lnTo>
                <a:lnTo>
                  <a:pt x="411480" y="50292"/>
                </a:lnTo>
                <a:lnTo>
                  <a:pt x="24384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59802" y="3543300"/>
            <a:ext cx="495300" cy="151130"/>
          </a:xfrm>
          <a:custGeom>
            <a:avLst/>
            <a:gdLst/>
            <a:ahLst/>
            <a:cxnLst/>
            <a:rect l="l" t="t" r="r" b="b"/>
            <a:pathLst>
              <a:path w="495300" h="151129">
                <a:moveTo>
                  <a:pt x="344424" y="75437"/>
                </a:moveTo>
                <a:lnTo>
                  <a:pt x="243840" y="150875"/>
                </a:lnTo>
                <a:lnTo>
                  <a:pt x="411480" y="100583"/>
                </a:lnTo>
                <a:lnTo>
                  <a:pt x="344424" y="100583"/>
                </a:lnTo>
                <a:lnTo>
                  <a:pt x="344424" y="75437"/>
                </a:lnTo>
                <a:close/>
              </a:path>
              <a:path w="495300" h="151129">
                <a:moveTo>
                  <a:pt x="310896" y="50291"/>
                </a:moveTo>
                <a:lnTo>
                  <a:pt x="0" y="50291"/>
                </a:lnTo>
                <a:lnTo>
                  <a:pt x="0" y="100583"/>
                </a:lnTo>
                <a:lnTo>
                  <a:pt x="310896" y="100583"/>
                </a:lnTo>
                <a:lnTo>
                  <a:pt x="344424" y="75437"/>
                </a:lnTo>
                <a:lnTo>
                  <a:pt x="310896" y="50291"/>
                </a:lnTo>
                <a:close/>
              </a:path>
              <a:path w="495300" h="151129">
                <a:moveTo>
                  <a:pt x="411479" y="50291"/>
                </a:moveTo>
                <a:lnTo>
                  <a:pt x="344424" y="50291"/>
                </a:lnTo>
                <a:lnTo>
                  <a:pt x="344424" y="100583"/>
                </a:lnTo>
                <a:lnTo>
                  <a:pt x="411480" y="100583"/>
                </a:lnTo>
                <a:lnTo>
                  <a:pt x="495300" y="75437"/>
                </a:lnTo>
                <a:lnTo>
                  <a:pt x="411479" y="50291"/>
                </a:lnTo>
                <a:close/>
              </a:path>
              <a:path w="495300" h="151129">
                <a:moveTo>
                  <a:pt x="243840" y="0"/>
                </a:moveTo>
                <a:lnTo>
                  <a:pt x="344424" y="75437"/>
                </a:lnTo>
                <a:lnTo>
                  <a:pt x="344424" y="50291"/>
                </a:lnTo>
                <a:lnTo>
                  <a:pt x="411479" y="50291"/>
                </a:lnTo>
                <a:lnTo>
                  <a:pt x="24384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59802" y="5917691"/>
            <a:ext cx="495300" cy="151130"/>
          </a:xfrm>
          <a:custGeom>
            <a:avLst/>
            <a:gdLst/>
            <a:ahLst/>
            <a:cxnLst/>
            <a:rect l="l" t="t" r="r" b="b"/>
            <a:pathLst>
              <a:path w="495300" h="151129">
                <a:moveTo>
                  <a:pt x="344424" y="75438"/>
                </a:moveTo>
                <a:lnTo>
                  <a:pt x="243840" y="150876"/>
                </a:lnTo>
                <a:lnTo>
                  <a:pt x="411480" y="100584"/>
                </a:lnTo>
                <a:lnTo>
                  <a:pt x="344424" y="100584"/>
                </a:lnTo>
                <a:lnTo>
                  <a:pt x="344424" y="75438"/>
                </a:lnTo>
                <a:close/>
              </a:path>
              <a:path w="495300" h="151129">
                <a:moveTo>
                  <a:pt x="310896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310896" y="100584"/>
                </a:lnTo>
                <a:lnTo>
                  <a:pt x="344424" y="75438"/>
                </a:lnTo>
                <a:lnTo>
                  <a:pt x="310896" y="50292"/>
                </a:lnTo>
                <a:close/>
              </a:path>
              <a:path w="495300" h="151129">
                <a:moveTo>
                  <a:pt x="411479" y="50292"/>
                </a:moveTo>
                <a:lnTo>
                  <a:pt x="344424" y="50292"/>
                </a:lnTo>
                <a:lnTo>
                  <a:pt x="344424" y="100584"/>
                </a:lnTo>
                <a:lnTo>
                  <a:pt x="411480" y="100584"/>
                </a:lnTo>
                <a:lnTo>
                  <a:pt x="495300" y="75438"/>
                </a:lnTo>
                <a:lnTo>
                  <a:pt x="411479" y="50292"/>
                </a:lnTo>
                <a:close/>
              </a:path>
              <a:path w="495300" h="151129">
                <a:moveTo>
                  <a:pt x="243840" y="0"/>
                </a:moveTo>
                <a:lnTo>
                  <a:pt x="344424" y="75438"/>
                </a:lnTo>
                <a:lnTo>
                  <a:pt x="344424" y="50292"/>
                </a:lnTo>
                <a:lnTo>
                  <a:pt x="411479" y="50292"/>
                </a:lnTo>
                <a:lnTo>
                  <a:pt x="24384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59802" y="2855976"/>
            <a:ext cx="495300" cy="151130"/>
          </a:xfrm>
          <a:custGeom>
            <a:avLst/>
            <a:gdLst/>
            <a:ahLst/>
            <a:cxnLst/>
            <a:rect l="l" t="t" r="r" b="b"/>
            <a:pathLst>
              <a:path w="495300" h="151130">
                <a:moveTo>
                  <a:pt x="344424" y="75437"/>
                </a:moveTo>
                <a:lnTo>
                  <a:pt x="243840" y="150875"/>
                </a:lnTo>
                <a:lnTo>
                  <a:pt x="411479" y="100584"/>
                </a:lnTo>
                <a:lnTo>
                  <a:pt x="344424" y="100584"/>
                </a:lnTo>
                <a:lnTo>
                  <a:pt x="344424" y="75437"/>
                </a:lnTo>
                <a:close/>
              </a:path>
              <a:path w="495300" h="151130">
                <a:moveTo>
                  <a:pt x="310896" y="50291"/>
                </a:moveTo>
                <a:lnTo>
                  <a:pt x="0" y="50291"/>
                </a:lnTo>
                <a:lnTo>
                  <a:pt x="0" y="100584"/>
                </a:lnTo>
                <a:lnTo>
                  <a:pt x="310896" y="100584"/>
                </a:lnTo>
                <a:lnTo>
                  <a:pt x="344424" y="75437"/>
                </a:lnTo>
                <a:lnTo>
                  <a:pt x="310896" y="50291"/>
                </a:lnTo>
                <a:close/>
              </a:path>
              <a:path w="495300" h="151130">
                <a:moveTo>
                  <a:pt x="411479" y="50291"/>
                </a:moveTo>
                <a:lnTo>
                  <a:pt x="344424" y="50291"/>
                </a:lnTo>
                <a:lnTo>
                  <a:pt x="344424" y="100584"/>
                </a:lnTo>
                <a:lnTo>
                  <a:pt x="411479" y="100584"/>
                </a:lnTo>
                <a:lnTo>
                  <a:pt x="495300" y="75437"/>
                </a:lnTo>
                <a:lnTo>
                  <a:pt x="411479" y="50291"/>
                </a:lnTo>
                <a:close/>
              </a:path>
              <a:path w="495300" h="151130">
                <a:moveTo>
                  <a:pt x="243840" y="0"/>
                </a:moveTo>
                <a:lnTo>
                  <a:pt x="344424" y="75437"/>
                </a:lnTo>
                <a:lnTo>
                  <a:pt x="344424" y="50291"/>
                </a:lnTo>
                <a:lnTo>
                  <a:pt x="411479" y="50291"/>
                </a:lnTo>
                <a:lnTo>
                  <a:pt x="24384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8775" y="2946907"/>
            <a:ext cx="15455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0</a:t>
            </a:r>
            <a:r>
              <a:rPr dirty="0" sz="2200" spc="35" b="1">
                <a:latin typeface="Courier New"/>
                <a:cs typeface="Courier New"/>
              </a:rPr>
              <a:t>1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10" b="1">
                <a:latin typeface="Courier New"/>
                <a:cs typeface="Courier New"/>
              </a:rPr>
              <a:t>AU</a:t>
            </a:r>
            <a:r>
              <a:rPr dirty="0" sz="2200" spc="-10" b="1">
                <a:latin typeface="Courier New"/>
                <a:cs typeface="Courier New"/>
              </a:rPr>
              <a:t>G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5" b="1">
                <a:latin typeface="Courier New"/>
                <a:cs typeface="Courier New"/>
              </a:rPr>
              <a:t>95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1226" y="3034283"/>
            <a:ext cx="753110" cy="151130"/>
          </a:xfrm>
          <a:custGeom>
            <a:avLst/>
            <a:gdLst/>
            <a:ahLst/>
            <a:cxnLst/>
            <a:rect l="l" t="t" r="r" b="b"/>
            <a:pathLst>
              <a:path w="753109" h="151130">
                <a:moveTo>
                  <a:pt x="601979" y="75437"/>
                </a:moveTo>
                <a:lnTo>
                  <a:pt x="501396" y="150875"/>
                </a:lnTo>
                <a:lnTo>
                  <a:pt x="669036" y="100583"/>
                </a:lnTo>
                <a:lnTo>
                  <a:pt x="601979" y="100583"/>
                </a:lnTo>
                <a:lnTo>
                  <a:pt x="601979" y="75437"/>
                </a:lnTo>
                <a:close/>
              </a:path>
              <a:path w="753109" h="151130">
                <a:moveTo>
                  <a:pt x="568451" y="50291"/>
                </a:moveTo>
                <a:lnTo>
                  <a:pt x="0" y="50291"/>
                </a:lnTo>
                <a:lnTo>
                  <a:pt x="0" y="100583"/>
                </a:lnTo>
                <a:lnTo>
                  <a:pt x="568451" y="100583"/>
                </a:lnTo>
                <a:lnTo>
                  <a:pt x="601979" y="75437"/>
                </a:lnTo>
                <a:lnTo>
                  <a:pt x="568451" y="50291"/>
                </a:lnTo>
                <a:close/>
              </a:path>
              <a:path w="753109" h="151130">
                <a:moveTo>
                  <a:pt x="669035" y="50291"/>
                </a:moveTo>
                <a:lnTo>
                  <a:pt x="601979" y="50291"/>
                </a:lnTo>
                <a:lnTo>
                  <a:pt x="601979" y="100583"/>
                </a:lnTo>
                <a:lnTo>
                  <a:pt x="669036" y="100583"/>
                </a:lnTo>
                <a:lnTo>
                  <a:pt x="752855" y="75437"/>
                </a:lnTo>
                <a:lnTo>
                  <a:pt x="669035" y="50291"/>
                </a:lnTo>
                <a:close/>
              </a:path>
              <a:path w="753109" h="151130">
                <a:moveTo>
                  <a:pt x="501396" y="0"/>
                </a:moveTo>
                <a:lnTo>
                  <a:pt x="601979" y="75437"/>
                </a:lnTo>
                <a:lnTo>
                  <a:pt x="601979" y="50291"/>
                </a:lnTo>
                <a:lnTo>
                  <a:pt x="669035" y="50291"/>
                </a:lnTo>
                <a:lnTo>
                  <a:pt x="501396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78404" y="2414777"/>
            <a:ext cx="4811395" cy="892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Assume</a:t>
            </a:r>
            <a:r>
              <a:rPr dirty="0" sz="2200" spc="5" b="1">
                <a:latin typeface="Arial"/>
                <a:cs typeface="Arial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SYSDATE</a:t>
            </a:r>
            <a:r>
              <a:rPr dirty="0" sz="2200" spc="15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=</a:t>
            </a:r>
            <a:r>
              <a:rPr dirty="0" sz="2200" spc="-10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'25-JUL-95'</a:t>
            </a:r>
            <a:r>
              <a:rPr dirty="0" sz="2200" spc="-5" b="1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550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b="1">
                <a:latin typeface="Courier New"/>
                <a:cs typeface="Courier New"/>
              </a:rPr>
              <a:t>ROUND(SYSDATE,'MONTH')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8404" y="3593719"/>
            <a:ext cx="4011929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b="1">
                <a:latin typeface="Courier New"/>
                <a:cs typeface="Courier New"/>
              </a:rPr>
              <a:t>ROUND(SYSDATE</a:t>
            </a:r>
            <a:r>
              <a:rPr dirty="0" sz="2200" spc="-7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,'YEAR')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8748" y="3593719"/>
            <a:ext cx="15455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0</a:t>
            </a:r>
            <a:r>
              <a:rPr dirty="0" sz="2200" spc="35" b="1">
                <a:latin typeface="Courier New"/>
                <a:cs typeface="Courier New"/>
              </a:rPr>
              <a:t>1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10" b="1">
                <a:latin typeface="Courier New"/>
                <a:cs typeface="Courier New"/>
              </a:rPr>
              <a:t>JA</a:t>
            </a:r>
            <a:r>
              <a:rPr dirty="0" sz="2200" spc="-10" b="1">
                <a:latin typeface="Courier New"/>
                <a:cs typeface="Courier New"/>
              </a:rPr>
              <a:t>N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5" b="1">
                <a:latin typeface="Courier New"/>
                <a:cs typeface="Courier New"/>
              </a:rPr>
              <a:t>96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1226" y="3745991"/>
            <a:ext cx="768350" cy="151130"/>
          </a:xfrm>
          <a:custGeom>
            <a:avLst/>
            <a:gdLst/>
            <a:ahLst/>
            <a:cxnLst/>
            <a:rect l="l" t="t" r="r" b="b"/>
            <a:pathLst>
              <a:path w="768350" h="151129">
                <a:moveTo>
                  <a:pt x="617220" y="75437"/>
                </a:moveTo>
                <a:lnTo>
                  <a:pt x="516635" y="150875"/>
                </a:lnTo>
                <a:lnTo>
                  <a:pt x="684276" y="100583"/>
                </a:lnTo>
                <a:lnTo>
                  <a:pt x="617220" y="100583"/>
                </a:lnTo>
                <a:lnTo>
                  <a:pt x="617220" y="75437"/>
                </a:lnTo>
                <a:close/>
              </a:path>
              <a:path w="768350" h="151129">
                <a:moveTo>
                  <a:pt x="583691" y="50291"/>
                </a:moveTo>
                <a:lnTo>
                  <a:pt x="0" y="50291"/>
                </a:lnTo>
                <a:lnTo>
                  <a:pt x="0" y="100583"/>
                </a:lnTo>
                <a:lnTo>
                  <a:pt x="583692" y="100583"/>
                </a:lnTo>
                <a:lnTo>
                  <a:pt x="617220" y="75437"/>
                </a:lnTo>
                <a:lnTo>
                  <a:pt x="583691" y="50291"/>
                </a:lnTo>
                <a:close/>
              </a:path>
              <a:path w="768350" h="151129">
                <a:moveTo>
                  <a:pt x="684275" y="50291"/>
                </a:moveTo>
                <a:lnTo>
                  <a:pt x="617220" y="50291"/>
                </a:lnTo>
                <a:lnTo>
                  <a:pt x="617220" y="100583"/>
                </a:lnTo>
                <a:lnTo>
                  <a:pt x="684276" y="100583"/>
                </a:lnTo>
                <a:lnTo>
                  <a:pt x="768096" y="75437"/>
                </a:lnTo>
                <a:lnTo>
                  <a:pt x="684275" y="50291"/>
                </a:lnTo>
                <a:close/>
              </a:path>
              <a:path w="768350" h="151129">
                <a:moveTo>
                  <a:pt x="516635" y="0"/>
                </a:moveTo>
                <a:lnTo>
                  <a:pt x="617220" y="75437"/>
                </a:lnTo>
                <a:lnTo>
                  <a:pt x="617220" y="50291"/>
                </a:lnTo>
                <a:lnTo>
                  <a:pt x="684275" y="50291"/>
                </a:lnTo>
                <a:lnTo>
                  <a:pt x="516635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8404" y="4206062"/>
            <a:ext cx="41789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b="1">
                <a:latin typeface="Courier New"/>
                <a:cs typeface="Courier New"/>
              </a:rPr>
              <a:t>TRUNC(SYSDATE</a:t>
            </a:r>
            <a:r>
              <a:rPr dirty="0" sz="2200" spc="-90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,'MONTH')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7998" y="4206062"/>
            <a:ext cx="15449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0</a:t>
            </a:r>
            <a:r>
              <a:rPr dirty="0" sz="2200" spc="40" b="1">
                <a:latin typeface="Courier New"/>
                <a:cs typeface="Courier New"/>
              </a:rPr>
              <a:t>1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10" b="1">
                <a:latin typeface="Courier New"/>
                <a:cs typeface="Courier New"/>
              </a:rPr>
              <a:t>JU</a:t>
            </a:r>
            <a:r>
              <a:rPr dirty="0" sz="2200" spc="-10" b="1">
                <a:latin typeface="Courier New"/>
                <a:cs typeface="Courier New"/>
              </a:rPr>
              <a:t>L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5" b="1">
                <a:latin typeface="Courier New"/>
                <a:cs typeface="Courier New"/>
              </a:rPr>
              <a:t>9</a:t>
            </a:r>
            <a:r>
              <a:rPr dirty="0" sz="2200" spc="-5" b="1">
                <a:latin typeface="Courier New"/>
                <a:cs typeface="Courier New"/>
              </a:rPr>
              <a:t>5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61226" y="4335779"/>
            <a:ext cx="782320" cy="151130"/>
          </a:xfrm>
          <a:custGeom>
            <a:avLst/>
            <a:gdLst/>
            <a:ahLst/>
            <a:cxnLst/>
            <a:rect l="l" t="t" r="r" b="b"/>
            <a:pathLst>
              <a:path w="782320" h="151129">
                <a:moveTo>
                  <a:pt x="630935" y="75438"/>
                </a:moveTo>
                <a:lnTo>
                  <a:pt x="530351" y="150876"/>
                </a:lnTo>
                <a:lnTo>
                  <a:pt x="697992" y="100584"/>
                </a:lnTo>
                <a:lnTo>
                  <a:pt x="630935" y="100584"/>
                </a:lnTo>
                <a:lnTo>
                  <a:pt x="630935" y="75438"/>
                </a:lnTo>
                <a:close/>
              </a:path>
              <a:path w="782320" h="151129">
                <a:moveTo>
                  <a:pt x="597407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597407" y="100584"/>
                </a:lnTo>
                <a:lnTo>
                  <a:pt x="630935" y="75438"/>
                </a:lnTo>
                <a:lnTo>
                  <a:pt x="597407" y="50292"/>
                </a:lnTo>
                <a:close/>
              </a:path>
              <a:path w="782320" h="151129">
                <a:moveTo>
                  <a:pt x="697992" y="50292"/>
                </a:moveTo>
                <a:lnTo>
                  <a:pt x="630935" y="50292"/>
                </a:lnTo>
                <a:lnTo>
                  <a:pt x="630935" y="100584"/>
                </a:lnTo>
                <a:lnTo>
                  <a:pt x="697992" y="100584"/>
                </a:lnTo>
                <a:lnTo>
                  <a:pt x="781812" y="75438"/>
                </a:lnTo>
                <a:lnTo>
                  <a:pt x="697992" y="50292"/>
                </a:lnTo>
                <a:close/>
              </a:path>
              <a:path w="782320" h="151129">
                <a:moveTo>
                  <a:pt x="530351" y="0"/>
                </a:moveTo>
                <a:lnTo>
                  <a:pt x="630935" y="75438"/>
                </a:lnTo>
                <a:lnTo>
                  <a:pt x="630935" y="50292"/>
                </a:lnTo>
                <a:lnTo>
                  <a:pt x="697992" y="50292"/>
                </a:lnTo>
                <a:lnTo>
                  <a:pt x="530351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78404" y="4846447"/>
            <a:ext cx="4011929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828282"/>
              </a:buClr>
              <a:buFont typeface="Courier New"/>
              <a:buChar char="•"/>
              <a:tabLst>
                <a:tab pos="299720" algn="l"/>
              </a:tabLst>
            </a:pPr>
            <a:r>
              <a:rPr dirty="0" sz="2200" b="1">
                <a:latin typeface="Courier New"/>
                <a:cs typeface="Courier New"/>
              </a:rPr>
              <a:t>TRUNC(SYSDATE</a:t>
            </a:r>
            <a:r>
              <a:rPr dirty="0" sz="2200" spc="-7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,'YEAR')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78748" y="4846447"/>
            <a:ext cx="15455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0</a:t>
            </a:r>
            <a:r>
              <a:rPr dirty="0" sz="2200" spc="35" b="1">
                <a:latin typeface="Courier New"/>
                <a:cs typeface="Courier New"/>
              </a:rPr>
              <a:t>1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10" b="1">
                <a:latin typeface="Courier New"/>
                <a:cs typeface="Courier New"/>
              </a:rPr>
              <a:t>JA</a:t>
            </a:r>
            <a:r>
              <a:rPr dirty="0" sz="2200" spc="-10" b="1">
                <a:latin typeface="Courier New"/>
                <a:cs typeface="Courier New"/>
              </a:rPr>
              <a:t>N</a:t>
            </a:r>
            <a:r>
              <a:rPr dirty="0" sz="2200" spc="-5" b="1">
                <a:latin typeface="Courier New"/>
                <a:cs typeface="Courier New"/>
              </a:rPr>
              <a:t>-</a:t>
            </a:r>
            <a:r>
              <a:rPr dirty="0" sz="2200" spc="5" b="1">
                <a:latin typeface="Courier New"/>
                <a:cs typeface="Courier New"/>
              </a:rPr>
              <a:t>95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61226" y="4985003"/>
            <a:ext cx="795655" cy="151130"/>
          </a:xfrm>
          <a:custGeom>
            <a:avLst/>
            <a:gdLst/>
            <a:ahLst/>
            <a:cxnLst/>
            <a:rect l="l" t="t" r="r" b="b"/>
            <a:pathLst>
              <a:path w="795654" h="151129">
                <a:moveTo>
                  <a:pt x="644651" y="75438"/>
                </a:moveTo>
                <a:lnTo>
                  <a:pt x="544068" y="150876"/>
                </a:lnTo>
                <a:lnTo>
                  <a:pt x="711708" y="100584"/>
                </a:lnTo>
                <a:lnTo>
                  <a:pt x="644651" y="100584"/>
                </a:lnTo>
                <a:lnTo>
                  <a:pt x="644651" y="75438"/>
                </a:lnTo>
                <a:close/>
              </a:path>
              <a:path w="795654" h="151129">
                <a:moveTo>
                  <a:pt x="611124" y="50292"/>
                </a:moveTo>
                <a:lnTo>
                  <a:pt x="0" y="50292"/>
                </a:lnTo>
                <a:lnTo>
                  <a:pt x="0" y="100584"/>
                </a:lnTo>
                <a:lnTo>
                  <a:pt x="611124" y="100584"/>
                </a:lnTo>
                <a:lnTo>
                  <a:pt x="644651" y="75438"/>
                </a:lnTo>
                <a:lnTo>
                  <a:pt x="611124" y="50292"/>
                </a:lnTo>
                <a:close/>
              </a:path>
              <a:path w="795654" h="151129">
                <a:moveTo>
                  <a:pt x="711707" y="50292"/>
                </a:moveTo>
                <a:lnTo>
                  <a:pt x="644651" y="50292"/>
                </a:lnTo>
                <a:lnTo>
                  <a:pt x="644651" y="100584"/>
                </a:lnTo>
                <a:lnTo>
                  <a:pt x="711708" y="100584"/>
                </a:lnTo>
                <a:lnTo>
                  <a:pt x="795527" y="75438"/>
                </a:lnTo>
                <a:lnTo>
                  <a:pt x="711707" y="50292"/>
                </a:lnTo>
                <a:close/>
              </a:path>
              <a:path w="795654" h="151129">
                <a:moveTo>
                  <a:pt x="544068" y="0"/>
                </a:moveTo>
                <a:lnTo>
                  <a:pt x="644651" y="75438"/>
                </a:lnTo>
                <a:lnTo>
                  <a:pt x="644651" y="50292"/>
                </a:lnTo>
                <a:lnTo>
                  <a:pt x="711707" y="50292"/>
                </a:lnTo>
                <a:lnTo>
                  <a:pt x="544068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0919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10">
                <a:solidFill>
                  <a:srgbClr val="FFFFFF"/>
                </a:solidFill>
              </a:rPr>
              <a:t> </a:t>
            </a:r>
            <a:r>
              <a:rPr dirty="0" sz="2800" spc="-114">
                <a:solidFill>
                  <a:srgbClr val="FFFFFF"/>
                </a:solidFill>
              </a:rPr>
              <a:t>DATE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FUNCTIONS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</a:t>
                      </a:r>
                      <a:r>
                        <a:rPr dirty="0" sz="2800" spc="-114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CTICE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3,</a:t>
                      </a:r>
                      <a:r>
                        <a:rPr dirty="0" sz="2800" spc="-2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29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2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E: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VE</a:t>
                      </a:r>
                      <a:r>
                        <a:rPr dirty="0" sz="2800" spc="-2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VIEW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99658"/>
            <a:ext cx="6937375" cy="171577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practice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covers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following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topics: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70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Writing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displays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current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endParaRPr sz="1800">
              <a:latin typeface="Gill Sans MT"/>
              <a:cs typeface="Gill Sans MT"/>
            </a:endParaRPr>
          </a:p>
          <a:p>
            <a:pPr marL="317500" marR="289560" indent="-304800">
              <a:lnSpc>
                <a:spcPts val="1839"/>
              </a:lnSpc>
              <a:spcBef>
                <a:spcPts val="10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eating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queries that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equi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 of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umeri</a:t>
            </a:r>
            <a:r>
              <a:rPr dirty="0" sz="1800" spc="3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ate 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69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Performing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calculations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years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months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service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employee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7850" y="3778503"/>
            <a:ext cx="4604385" cy="1917064"/>
            <a:chOff x="3117850" y="3778503"/>
            <a:chExt cx="4604385" cy="1917064"/>
          </a:xfrm>
        </p:grpSpPr>
        <p:sp>
          <p:nvSpPr>
            <p:cNvPr id="3" name="object 3"/>
            <p:cNvSpPr/>
            <p:nvPr/>
          </p:nvSpPr>
          <p:spPr>
            <a:xfrm>
              <a:off x="6134861" y="3803903"/>
              <a:ext cx="0" cy="313690"/>
            </a:xfrm>
            <a:custGeom>
              <a:avLst/>
              <a:gdLst/>
              <a:ahLst/>
              <a:cxnLst/>
              <a:rect l="l" t="t" r="r" b="b"/>
              <a:pathLst>
                <a:path w="0" h="313689">
                  <a:moveTo>
                    <a:pt x="0" y="0"/>
                  </a:moveTo>
                  <a:lnTo>
                    <a:pt x="0" y="313182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478274" y="4117085"/>
              <a:ext cx="3218815" cy="571500"/>
            </a:xfrm>
            <a:custGeom>
              <a:avLst/>
              <a:gdLst/>
              <a:ahLst/>
              <a:cxnLst/>
              <a:rect l="l" t="t" r="r" b="b"/>
              <a:pathLst>
                <a:path w="3218815" h="571500">
                  <a:moveTo>
                    <a:pt x="0" y="571372"/>
                  </a:moveTo>
                  <a:lnTo>
                    <a:pt x="0" y="0"/>
                  </a:lnTo>
                  <a:lnTo>
                    <a:pt x="3218560" y="0"/>
                  </a:lnTo>
                  <a:lnTo>
                    <a:pt x="3218560" y="476250"/>
                  </a:lnTo>
                </a:path>
              </a:pathLst>
            </a:custGeom>
            <a:ln w="50291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4434839"/>
              <a:ext cx="2769107" cy="12542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24200" y="4434839"/>
              <a:ext cx="2769235" cy="1254760"/>
            </a:xfrm>
            <a:custGeom>
              <a:avLst/>
              <a:gdLst/>
              <a:ahLst/>
              <a:cxnLst/>
              <a:rect l="l" t="t" r="r" b="b"/>
              <a:pathLst>
                <a:path w="2769235" h="1254760">
                  <a:moveTo>
                    <a:pt x="0" y="1254252"/>
                  </a:moveTo>
                  <a:lnTo>
                    <a:pt x="2769107" y="1254252"/>
                  </a:lnTo>
                  <a:lnTo>
                    <a:pt x="2769107" y="0"/>
                  </a:lnTo>
                  <a:lnTo>
                    <a:pt x="0" y="0"/>
                  </a:lnTo>
                  <a:lnTo>
                    <a:pt x="0" y="1254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2780" y="4636007"/>
              <a:ext cx="2652522" cy="6210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9019" y="4971287"/>
              <a:ext cx="1860042" cy="62103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43580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CONVERSION</a:t>
            </a:r>
            <a:r>
              <a:rPr dirty="0" sz="2800" spc="-3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FUNCTIONS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3355085" y="4707763"/>
            <a:ext cx="230632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Implicit data </a:t>
            </a:r>
            <a:r>
              <a:rPr dirty="0" sz="2200" spc="-10" b="1">
                <a:solidFill>
                  <a:srgbClr val="FFFFCC"/>
                </a:solidFill>
                <a:latin typeface="Arial"/>
                <a:cs typeface="Arial"/>
              </a:rPr>
              <a:t>type </a:t>
            </a:r>
            <a:r>
              <a:rPr dirty="0" sz="2200" spc="-60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conversion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8250" y="4428490"/>
            <a:ext cx="2781935" cy="1267460"/>
            <a:chOff x="6318250" y="4428490"/>
            <a:chExt cx="2781935" cy="12674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600" y="4434840"/>
              <a:ext cx="2769107" cy="12542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24600" y="4434840"/>
              <a:ext cx="2769235" cy="1254760"/>
            </a:xfrm>
            <a:custGeom>
              <a:avLst/>
              <a:gdLst/>
              <a:ahLst/>
              <a:cxnLst/>
              <a:rect l="l" t="t" r="r" b="b"/>
              <a:pathLst>
                <a:path w="2769234" h="1254760">
                  <a:moveTo>
                    <a:pt x="0" y="1254252"/>
                  </a:moveTo>
                  <a:lnTo>
                    <a:pt x="2769107" y="1254252"/>
                  </a:lnTo>
                  <a:lnTo>
                    <a:pt x="2769107" y="0"/>
                  </a:lnTo>
                  <a:lnTo>
                    <a:pt x="0" y="0"/>
                  </a:lnTo>
                  <a:lnTo>
                    <a:pt x="0" y="1254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5560" y="4636008"/>
              <a:ext cx="2667762" cy="6210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9419" y="4971288"/>
              <a:ext cx="1860042" cy="6210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548119" y="4707763"/>
            <a:ext cx="2322195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5925" marR="5080" indent="-40386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Explicit data </a:t>
            </a:r>
            <a:r>
              <a:rPr dirty="0" sz="2200" spc="-10" b="1">
                <a:solidFill>
                  <a:srgbClr val="FFFFCC"/>
                </a:solidFill>
                <a:latin typeface="Arial"/>
                <a:cs typeface="Arial"/>
              </a:rPr>
              <a:t>type </a:t>
            </a:r>
            <a:r>
              <a:rPr dirty="0" sz="2200" spc="-600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conversion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1164" y="2549651"/>
            <a:ext cx="2769235" cy="1254760"/>
            <a:chOff x="4741164" y="2549651"/>
            <a:chExt cx="2769235" cy="125476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41164" y="2549651"/>
              <a:ext cx="2769108" cy="12542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24856" y="2750819"/>
              <a:ext cx="1625346" cy="62102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7508" y="3086099"/>
              <a:ext cx="1860041" cy="62103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741164" y="2549651"/>
            <a:ext cx="2769235" cy="1254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Times New Roman"/>
              <a:cs typeface="Times New Roman"/>
            </a:endParaRPr>
          </a:p>
          <a:p>
            <a:pPr marL="640080" marR="631190" indent="116839">
              <a:lnSpc>
                <a:spcPct val="100000"/>
              </a:lnSpc>
            </a:pP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Data </a:t>
            </a:r>
            <a:r>
              <a:rPr dirty="0" sz="2200" spc="-10" b="1">
                <a:solidFill>
                  <a:srgbClr val="FFFFCC"/>
                </a:solidFill>
                <a:latin typeface="Arial"/>
                <a:cs typeface="Arial"/>
              </a:rPr>
              <a:t>type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con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vers</a:t>
            </a:r>
            <a:r>
              <a:rPr dirty="0" sz="2200" spc="-5" b="1">
                <a:solidFill>
                  <a:srgbClr val="FFFFCC"/>
                </a:solidFill>
                <a:latin typeface="Arial"/>
                <a:cs typeface="Arial"/>
              </a:rPr>
              <a:t>ion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544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IMPL</a:t>
            </a:r>
            <a:r>
              <a:rPr dirty="0" sz="2800" spc="-20">
                <a:solidFill>
                  <a:srgbClr val="FFFFFF"/>
                </a:solidFill>
              </a:rPr>
              <a:t>I</a:t>
            </a:r>
            <a:r>
              <a:rPr dirty="0" sz="2800" spc="-5">
                <a:solidFill>
                  <a:srgbClr val="FFFFFF"/>
                </a:solidFill>
              </a:rPr>
              <a:t>CIT</a:t>
            </a:r>
            <a:r>
              <a:rPr dirty="0" sz="2800" spc="5">
                <a:solidFill>
                  <a:srgbClr val="FFFFFF"/>
                </a:solidFill>
              </a:rPr>
              <a:t> </a:t>
            </a:r>
            <a:r>
              <a:rPr dirty="0" sz="2800" spc="-160">
                <a:solidFill>
                  <a:srgbClr val="FFFFFF"/>
                </a:solidFill>
              </a:rPr>
              <a:t>D</a:t>
            </a:r>
            <a:r>
              <a:rPr dirty="0" sz="2800" spc="-290">
                <a:solidFill>
                  <a:srgbClr val="FFFFFF"/>
                </a:solidFill>
              </a:rPr>
              <a:t>A</a:t>
            </a:r>
            <a:r>
              <a:rPr dirty="0" sz="2800" spc="-280">
                <a:solidFill>
                  <a:srgbClr val="FFFFFF"/>
                </a:solidFill>
              </a:rPr>
              <a:t>T</a:t>
            </a:r>
            <a:r>
              <a:rPr dirty="0" sz="2800" spc="-5">
                <a:solidFill>
                  <a:srgbClr val="FFFFFF"/>
                </a:solidFill>
              </a:rPr>
              <a:t>A</a:t>
            </a:r>
            <a:r>
              <a:rPr dirty="0" sz="2800" spc="-36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TYPE</a:t>
            </a:r>
            <a:r>
              <a:rPr dirty="0" sz="2800" spc="-1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CONVER</a:t>
            </a:r>
            <a:r>
              <a:rPr dirty="0" sz="2800">
                <a:solidFill>
                  <a:srgbClr val="FFFFFF"/>
                </a:solidFill>
              </a:rPr>
              <a:t>S</a:t>
            </a:r>
            <a:r>
              <a:rPr dirty="0" sz="2800" spc="-5">
                <a:solidFill>
                  <a:srgbClr val="FFFFFF"/>
                </a:solidFill>
              </a:rPr>
              <a:t>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2406" y="2081529"/>
            <a:ext cx="6985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assignments,</a:t>
            </a:r>
            <a:r>
              <a:rPr dirty="0" sz="1800" spc="-20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Oracle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server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automatically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convert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following:</a:t>
            </a:r>
            <a:endParaRPr sz="1800">
              <a:latin typeface="Gill Sans MT"/>
              <a:cs typeface="Gill Sans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74976" y="2699004"/>
          <a:ext cx="7310120" cy="3274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5535"/>
                <a:gridCol w="3625849"/>
              </a:tblGrid>
              <a:tr h="386715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From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75" b="1">
                          <a:latin typeface="Arial"/>
                          <a:cs typeface="Arial"/>
                        </a:rPr>
                        <a:t>To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 or</a:t>
                      </a:r>
                      <a:r>
                        <a:rPr dirty="0" sz="2200" spc="-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CHAR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113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NUMBER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113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or</a:t>
                      </a:r>
                      <a:r>
                        <a:rPr dirty="0" sz="2200" spc="-1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CHAR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21018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DATE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21018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NUMBER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4795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4795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68707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DATE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0795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0795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544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IMPL</a:t>
            </a:r>
            <a:r>
              <a:rPr dirty="0" sz="2800" spc="-20">
                <a:solidFill>
                  <a:srgbClr val="FFFFFF"/>
                </a:solidFill>
              </a:rPr>
              <a:t>I</a:t>
            </a:r>
            <a:r>
              <a:rPr dirty="0" sz="2800" spc="-5">
                <a:solidFill>
                  <a:srgbClr val="FFFFFF"/>
                </a:solidFill>
              </a:rPr>
              <a:t>CIT</a:t>
            </a:r>
            <a:r>
              <a:rPr dirty="0" sz="2800" spc="5">
                <a:solidFill>
                  <a:srgbClr val="FFFFFF"/>
                </a:solidFill>
              </a:rPr>
              <a:t> </a:t>
            </a:r>
            <a:r>
              <a:rPr dirty="0" sz="2800" spc="-160">
                <a:solidFill>
                  <a:srgbClr val="FFFFFF"/>
                </a:solidFill>
              </a:rPr>
              <a:t>D</a:t>
            </a:r>
            <a:r>
              <a:rPr dirty="0" sz="2800" spc="-290">
                <a:solidFill>
                  <a:srgbClr val="FFFFFF"/>
                </a:solidFill>
              </a:rPr>
              <a:t>A</a:t>
            </a:r>
            <a:r>
              <a:rPr dirty="0" sz="2800" spc="-280">
                <a:solidFill>
                  <a:srgbClr val="FFFFFF"/>
                </a:solidFill>
              </a:rPr>
              <a:t>T</a:t>
            </a:r>
            <a:r>
              <a:rPr dirty="0" sz="2800" spc="-5">
                <a:solidFill>
                  <a:srgbClr val="FFFFFF"/>
                </a:solidFill>
              </a:rPr>
              <a:t>A</a:t>
            </a:r>
            <a:r>
              <a:rPr dirty="0" sz="2800" spc="-36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TYPE</a:t>
            </a:r>
            <a:r>
              <a:rPr dirty="0" sz="2800" spc="-1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CONVER</a:t>
            </a:r>
            <a:r>
              <a:rPr dirty="0" sz="2800">
                <a:solidFill>
                  <a:srgbClr val="FFFFFF"/>
                </a:solidFill>
              </a:rPr>
              <a:t>S</a:t>
            </a:r>
            <a:r>
              <a:rPr dirty="0" sz="2800" spc="-5">
                <a:solidFill>
                  <a:srgbClr val="FFFFFF"/>
                </a:solidFill>
              </a:rPr>
              <a:t>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93139" y="2125471"/>
            <a:ext cx="791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evaluation,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Oracle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Server can automatically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convert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following:</a:t>
            </a:r>
            <a:endParaRPr sz="1800">
              <a:latin typeface="Gill Sans MT"/>
              <a:cs typeface="Gill Sans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38400" y="2874264"/>
          <a:ext cx="7346950" cy="1838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1729"/>
                <a:gridCol w="3625214"/>
              </a:tblGrid>
              <a:tr h="38671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From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75" b="1">
                          <a:latin typeface="Arial"/>
                          <a:cs typeface="Arial"/>
                        </a:rPr>
                        <a:t>To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 or</a:t>
                      </a:r>
                      <a:r>
                        <a:rPr dirty="0" sz="2200" spc="-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CHAR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113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NUMBER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9113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VARCHAR2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or</a:t>
                      </a:r>
                      <a:r>
                        <a:rPr dirty="0" sz="2200" spc="-1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" b="1">
                          <a:latin typeface="Courier New"/>
                          <a:cs typeface="Courier New"/>
                        </a:rPr>
                        <a:t>CHAR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20955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DATE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6076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EXPLICIT</a:t>
            </a:r>
            <a:r>
              <a:rPr dirty="0" sz="2800" spc="5">
                <a:solidFill>
                  <a:srgbClr val="FFFFFF"/>
                </a:solidFill>
              </a:rPr>
              <a:t> </a:t>
            </a:r>
            <a:r>
              <a:rPr dirty="0" sz="2800" spc="-160">
                <a:solidFill>
                  <a:srgbClr val="FFFFFF"/>
                </a:solidFill>
              </a:rPr>
              <a:t>D</a:t>
            </a:r>
            <a:r>
              <a:rPr dirty="0" sz="2800" spc="-290">
                <a:solidFill>
                  <a:srgbClr val="FFFFFF"/>
                </a:solidFill>
              </a:rPr>
              <a:t>A</a:t>
            </a:r>
            <a:r>
              <a:rPr dirty="0" sz="2800" spc="-280">
                <a:solidFill>
                  <a:srgbClr val="FFFFFF"/>
                </a:solidFill>
              </a:rPr>
              <a:t>T</a:t>
            </a:r>
            <a:r>
              <a:rPr dirty="0" sz="2800" spc="-5">
                <a:solidFill>
                  <a:srgbClr val="FFFFFF"/>
                </a:solidFill>
              </a:rPr>
              <a:t>A</a:t>
            </a:r>
            <a:r>
              <a:rPr dirty="0" sz="2800" spc="-36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TYPE</a:t>
            </a:r>
            <a:r>
              <a:rPr dirty="0" sz="2800" spc="-2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CONVER</a:t>
            </a:r>
            <a:r>
              <a:rPr dirty="0" sz="2800">
                <a:solidFill>
                  <a:srgbClr val="FFFFFF"/>
                </a:solidFill>
              </a:rPr>
              <a:t>S</a:t>
            </a:r>
            <a:r>
              <a:rPr dirty="0" sz="2800" spc="-5">
                <a:solidFill>
                  <a:srgbClr val="FFFFFF"/>
                </a:solidFill>
              </a:rPr>
              <a:t>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999994" y="4049014"/>
            <a:ext cx="10318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NU</a:t>
            </a:r>
            <a:r>
              <a:rPr dirty="0" sz="2200" spc="10" b="1">
                <a:latin typeface="Courier New"/>
                <a:cs typeface="Courier New"/>
              </a:rPr>
              <a:t>M</a:t>
            </a:r>
            <a:r>
              <a:rPr dirty="0" sz="2200" spc="-10" b="1">
                <a:latin typeface="Courier New"/>
                <a:cs typeface="Courier New"/>
              </a:rPr>
              <a:t>BER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29477" y="4494529"/>
            <a:ext cx="2715260" cy="1221105"/>
            <a:chOff x="6229477" y="4494529"/>
            <a:chExt cx="2715260" cy="1221105"/>
          </a:xfrm>
        </p:grpSpPr>
        <p:sp>
          <p:nvSpPr>
            <p:cNvPr id="5" name="object 5"/>
            <p:cNvSpPr/>
            <p:nvPr/>
          </p:nvSpPr>
          <p:spPr>
            <a:xfrm>
              <a:off x="7585710" y="4519929"/>
              <a:ext cx="1333500" cy="1170305"/>
            </a:xfrm>
            <a:custGeom>
              <a:avLst/>
              <a:gdLst/>
              <a:ahLst/>
              <a:cxnLst/>
              <a:rect l="l" t="t" r="r" b="b"/>
              <a:pathLst>
                <a:path w="1333500" h="1170304">
                  <a:moveTo>
                    <a:pt x="1333500" y="0"/>
                  </a:moveTo>
                  <a:lnTo>
                    <a:pt x="1331955" y="46080"/>
                  </a:lnTo>
                  <a:lnTo>
                    <a:pt x="1328469" y="91697"/>
                  </a:lnTo>
                  <a:lnTo>
                    <a:pt x="1323080" y="136820"/>
                  </a:lnTo>
                  <a:lnTo>
                    <a:pt x="1315822" y="181417"/>
                  </a:lnTo>
                  <a:lnTo>
                    <a:pt x="1306731" y="225456"/>
                  </a:lnTo>
                  <a:lnTo>
                    <a:pt x="1295845" y="268904"/>
                  </a:lnTo>
                  <a:lnTo>
                    <a:pt x="1283199" y="311729"/>
                  </a:lnTo>
                  <a:lnTo>
                    <a:pt x="1268830" y="353900"/>
                  </a:lnTo>
                  <a:lnTo>
                    <a:pt x="1252772" y="395385"/>
                  </a:lnTo>
                  <a:lnTo>
                    <a:pt x="1235063" y="436152"/>
                  </a:lnTo>
                  <a:lnTo>
                    <a:pt x="1215739" y="476168"/>
                  </a:lnTo>
                  <a:lnTo>
                    <a:pt x="1194836" y="515402"/>
                  </a:lnTo>
                  <a:lnTo>
                    <a:pt x="1172390" y="553821"/>
                  </a:lnTo>
                  <a:lnTo>
                    <a:pt x="1148437" y="591394"/>
                  </a:lnTo>
                  <a:lnTo>
                    <a:pt x="1123013" y="628089"/>
                  </a:lnTo>
                  <a:lnTo>
                    <a:pt x="1096155" y="663873"/>
                  </a:lnTo>
                  <a:lnTo>
                    <a:pt x="1067898" y="698715"/>
                  </a:lnTo>
                  <a:lnTo>
                    <a:pt x="1038279" y="732583"/>
                  </a:lnTo>
                  <a:lnTo>
                    <a:pt x="1007334" y="765445"/>
                  </a:lnTo>
                  <a:lnTo>
                    <a:pt x="975098" y="797268"/>
                  </a:lnTo>
                  <a:lnTo>
                    <a:pt x="941609" y="828020"/>
                  </a:lnTo>
                  <a:lnTo>
                    <a:pt x="906902" y="857671"/>
                  </a:lnTo>
                  <a:lnTo>
                    <a:pt x="871014" y="886187"/>
                  </a:lnTo>
                  <a:lnTo>
                    <a:pt x="833980" y="913537"/>
                  </a:lnTo>
                  <a:lnTo>
                    <a:pt x="795837" y="939689"/>
                  </a:lnTo>
                  <a:lnTo>
                    <a:pt x="756620" y="964610"/>
                  </a:lnTo>
                  <a:lnTo>
                    <a:pt x="716367" y="988269"/>
                  </a:lnTo>
                  <a:lnTo>
                    <a:pt x="675113" y="1010634"/>
                  </a:lnTo>
                  <a:lnTo>
                    <a:pt x="632894" y="1031672"/>
                  </a:lnTo>
                  <a:lnTo>
                    <a:pt x="589746" y="1051352"/>
                  </a:lnTo>
                  <a:lnTo>
                    <a:pt x="545706" y="1069642"/>
                  </a:lnTo>
                  <a:lnTo>
                    <a:pt x="500810" y="1086510"/>
                  </a:lnTo>
                  <a:lnTo>
                    <a:pt x="455093" y="1101923"/>
                  </a:lnTo>
                  <a:lnTo>
                    <a:pt x="408592" y="1115850"/>
                  </a:lnTo>
                  <a:lnTo>
                    <a:pt x="361344" y="1128259"/>
                  </a:lnTo>
                  <a:lnTo>
                    <a:pt x="313384" y="1139118"/>
                  </a:lnTo>
                  <a:lnTo>
                    <a:pt x="264748" y="1148394"/>
                  </a:lnTo>
                  <a:lnTo>
                    <a:pt x="215473" y="1156057"/>
                  </a:lnTo>
                  <a:lnTo>
                    <a:pt x="165594" y="1162073"/>
                  </a:lnTo>
                  <a:lnTo>
                    <a:pt x="115148" y="1166411"/>
                  </a:lnTo>
                  <a:lnTo>
                    <a:pt x="64171" y="1169038"/>
                  </a:lnTo>
                  <a:lnTo>
                    <a:pt x="12700" y="1169924"/>
                  </a:lnTo>
                  <a:lnTo>
                    <a:pt x="8382" y="1169924"/>
                  </a:lnTo>
                  <a:lnTo>
                    <a:pt x="4191" y="1169873"/>
                  </a:lnTo>
                  <a:lnTo>
                    <a:pt x="0" y="1169809"/>
                  </a:lnTo>
                </a:path>
              </a:pathLst>
            </a:custGeom>
            <a:ln w="50292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29477" y="4507229"/>
              <a:ext cx="1388745" cy="1207770"/>
            </a:xfrm>
            <a:custGeom>
              <a:avLst/>
              <a:gdLst/>
              <a:ahLst/>
              <a:cxnLst/>
              <a:rect l="l" t="t" r="r" b="b"/>
              <a:pathLst>
                <a:path w="1388745" h="1207770">
                  <a:moveTo>
                    <a:pt x="68199" y="150495"/>
                  </a:moveTo>
                  <a:lnTo>
                    <a:pt x="47632" y="182360"/>
                  </a:lnTo>
                  <a:lnTo>
                    <a:pt x="47751" y="183134"/>
                  </a:lnTo>
                  <a:lnTo>
                    <a:pt x="53339" y="212852"/>
                  </a:lnTo>
                  <a:lnTo>
                    <a:pt x="66548" y="271653"/>
                  </a:lnTo>
                  <a:lnTo>
                    <a:pt x="83058" y="329184"/>
                  </a:lnTo>
                  <a:lnTo>
                    <a:pt x="102488" y="385572"/>
                  </a:lnTo>
                  <a:lnTo>
                    <a:pt x="124968" y="440690"/>
                  </a:lnTo>
                  <a:lnTo>
                    <a:pt x="150240" y="494665"/>
                  </a:lnTo>
                  <a:lnTo>
                    <a:pt x="178308" y="547243"/>
                  </a:lnTo>
                  <a:lnTo>
                    <a:pt x="209042" y="598297"/>
                  </a:lnTo>
                  <a:lnTo>
                    <a:pt x="242443" y="647827"/>
                  </a:lnTo>
                  <a:lnTo>
                    <a:pt x="278256" y="695833"/>
                  </a:lnTo>
                  <a:lnTo>
                    <a:pt x="316611" y="742188"/>
                  </a:lnTo>
                  <a:lnTo>
                    <a:pt x="378587" y="808609"/>
                  </a:lnTo>
                  <a:lnTo>
                    <a:pt x="422655" y="850265"/>
                  </a:lnTo>
                  <a:lnTo>
                    <a:pt x="468883" y="890143"/>
                  </a:lnTo>
                  <a:lnTo>
                    <a:pt x="517144" y="927989"/>
                  </a:lnTo>
                  <a:lnTo>
                    <a:pt x="567308" y="963803"/>
                  </a:lnTo>
                  <a:lnTo>
                    <a:pt x="619505" y="997585"/>
                  </a:lnTo>
                  <a:lnTo>
                    <a:pt x="673226" y="1028827"/>
                  </a:lnTo>
                  <a:lnTo>
                    <a:pt x="728852" y="1058037"/>
                  </a:lnTo>
                  <a:lnTo>
                    <a:pt x="786129" y="1084783"/>
                  </a:lnTo>
                  <a:lnTo>
                    <a:pt x="845184" y="1109205"/>
                  </a:lnTo>
                  <a:lnTo>
                    <a:pt x="905509" y="1131100"/>
                  </a:lnTo>
                  <a:lnTo>
                    <a:pt x="967486" y="1150391"/>
                  </a:lnTo>
                  <a:lnTo>
                    <a:pt x="1030477" y="1166926"/>
                  </a:lnTo>
                  <a:lnTo>
                    <a:pt x="1094867" y="1180884"/>
                  </a:lnTo>
                  <a:lnTo>
                    <a:pt x="1160526" y="1192022"/>
                  </a:lnTo>
                  <a:lnTo>
                    <a:pt x="1227074" y="1200238"/>
                  </a:lnTo>
                  <a:lnTo>
                    <a:pt x="1294638" y="1205560"/>
                  </a:lnTo>
                  <a:lnTo>
                    <a:pt x="1362582" y="1207757"/>
                  </a:lnTo>
                  <a:lnTo>
                    <a:pt x="1372451" y="1206005"/>
                  </a:lnTo>
                  <a:lnTo>
                    <a:pt x="1380569" y="1200800"/>
                  </a:lnTo>
                  <a:lnTo>
                    <a:pt x="1386139" y="1192934"/>
                  </a:lnTo>
                  <a:lnTo>
                    <a:pt x="1388364" y="1183195"/>
                  </a:lnTo>
                  <a:lnTo>
                    <a:pt x="1386585" y="1173360"/>
                  </a:lnTo>
                  <a:lnTo>
                    <a:pt x="1381378" y="1165245"/>
                  </a:lnTo>
                  <a:lnTo>
                    <a:pt x="1373504" y="1159676"/>
                  </a:lnTo>
                  <a:lnTo>
                    <a:pt x="1363726" y="1157478"/>
                  </a:lnTo>
                  <a:lnTo>
                    <a:pt x="1329944" y="1156716"/>
                  </a:lnTo>
                  <a:lnTo>
                    <a:pt x="1296797" y="1155306"/>
                  </a:lnTo>
                  <a:lnTo>
                    <a:pt x="1231519" y="1150150"/>
                  </a:lnTo>
                  <a:lnTo>
                    <a:pt x="1167129" y="1142174"/>
                  </a:lnTo>
                  <a:lnTo>
                    <a:pt x="1103883" y="1131404"/>
                  </a:lnTo>
                  <a:lnTo>
                    <a:pt x="1041780" y="1117917"/>
                  </a:lnTo>
                  <a:lnTo>
                    <a:pt x="980694" y="1101890"/>
                  </a:lnTo>
                  <a:lnTo>
                    <a:pt x="921130" y="1083271"/>
                  </a:lnTo>
                  <a:lnTo>
                    <a:pt x="862838" y="1062101"/>
                  </a:lnTo>
                  <a:lnTo>
                    <a:pt x="805942" y="1038479"/>
                  </a:lnTo>
                  <a:lnTo>
                    <a:pt x="750697" y="1012698"/>
                  </a:lnTo>
                  <a:lnTo>
                    <a:pt x="696976" y="984504"/>
                  </a:lnTo>
                  <a:lnTo>
                    <a:pt x="644778" y="954151"/>
                  </a:lnTo>
                  <a:lnTo>
                    <a:pt x="594614" y="921639"/>
                  </a:lnTo>
                  <a:lnTo>
                    <a:pt x="546353" y="887095"/>
                  </a:lnTo>
                  <a:lnTo>
                    <a:pt x="499872" y="850646"/>
                  </a:lnTo>
                  <a:lnTo>
                    <a:pt x="455675" y="812292"/>
                  </a:lnTo>
                  <a:lnTo>
                    <a:pt x="413257" y="772033"/>
                  </a:lnTo>
                  <a:lnTo>
                    <a:pt x="373125" y="729996"/>
                  </a:lnTo>
                  <a:lnTo>
                    <a:pt x="335533" y="686689"/>
                  </a:lnTo>
                  <a:lnTo>
                    <a:pt x="299974" y="641477"/>
                  </a:lnTo>
                  <a:lnTo>
                    <a:pt x="266826" y="594614"/>
                  </a:lnTo>
                  <a:lnTo>
                    <a:pt x="236220" y="546481"/>
                  </a:lnTo>
                  <a:lnTo>
                    <a:pt x="208025" y="496951"/>
                  </a:lnTo>
                  <a:lnTo>
                    <a:pt x="182499" y="446024"/>
                  </a:lnTo>
                  <a:lnTo>
                    <a:pt x="159765" y="393827"/>
                  </a:lnTo>
                  <a:lnTo>
                    <a:pt x="139700" y="340487"/>
                  </a:lnTo>
                  <a:lnTo>
                    <a:pt x="122682" y="286004"/>
                  </a:lnTo>
                  <a:lnTo>
                    <a:pt x="108458" y="230505"/>
                  </a:lnTo>
                  <a:lnTo>
                    <a:pt x="99620" y="186765"/>
                  </a:lnTo>
                  <a:lnTo>
                    <a:pt x="68199" y="150495"/>
                  </a:lnTo>
                  <a:close/>
                </a:path>
                <a:path w="1388745" h="1207770">
                  <a:moveTo>
                    <a:pt x="57531" y="0"/>
                  </a:moveTo>
                  <a:lnTo>
                    <a:pt x="0" y="256159"/>
                  </a:lnTo>
                  <a:lnTo>
                    <a:pt x="47632" y="182360"/>
                  </a:lnTo>
                  <a:lnTo>
                    <a:pt x="43307" y="154432"/>
                  </a:lnTo>
                  <a:lnTo>
                    <a:pt x="43741" y="144444"/>
                  </a:lnTo>
                  <a:lnTo>
                    <a:pt x="47831" y="135683"/>
                  </a:lnTo>
                  <a:lnTo>
                    <a:pt x="54897" y="129089"/>
                  </a:lnTo>
                  <a:lnTo>
                    <a:pt x="64262" y="125603"/>
                  </a:lnTo>
                  <a:lnTo>
                    <a:pt x="105095" y="125603"/>
                  </a:lnTo>
                  <a:lnTo>
                    <a:pt x="57531" y="0"/>
                  </a:lnTo>
                  <a:close/>
                </a:path>
                <a:path w="1388745" h="1207770">
                  <a:moveTo>
                    <a:pt x="105095" y="125603"/>
                  </a:moveTo>
                  <a:lnTo>
                    <a:pt x="64262" y="125603"/>
                  </a:lnTo>
                  <a:lnTo>
                    <a:pt x="74229" y="126091"/>
                  </a:lnTo>
                  <a:lnTo>
                    <a:pt x="82946" y="130175"/>
                  </a:lnTo>
                  <a:lnTo>
                    <a:pt x="89497" y="137211"/>
                  </a:lnTo>
                  <a:lnTo>
                    <a:pt x="92963" y="146558"/>
                  </a:lnTo>
                  <a:lnTo>
                    <a:pt x="97282" y="173990"/>
                  </a:lnTo>
                  <a:lnTo>
                    <a:pt x="99620" y="186765"/>
                  </a:lnTo>
                  <a:lnTo>
                    <a:pt x="150495" y="245491"/>
                  </a:lnTo>
                  <a:lnTo>
                    <a:pt x="105095" y="125603"/>
                  </a:lnTo>
                  <a:close/>
                </a:path>
                <a:path w="1388745" h="1207770">
                  <a:moveTo>
                    <a:pt x="93583" y="150495"/>
                  </a:moveTo>
                  <a:lnTo>
                    <a:pt x="68199" y="150495"/>
                  </a:lnTo>
                  <a:lnTo>
                    <a:pt x="99620" y="186765"/>
                  </a:lnTo>
                  <a:lnTo>
                    <a:pt x="97282" y="173990"/>
                  </a:lnTo>
                  <a:lnTo>
                    <a:pt x="93583" y="150495"/>
                  </a:lnTo>
                  <a:close/>
                </a:path>
                <a:path w="1388745" h="1207770">
                  <a:moveTo>
                    <a:pt x="64262" y="125603"/>
                  </a:moveTo>
                  <a:lnTo>
                    <a:pt x="54897" y="129089"/>
                  </a:lnTo>
                  <a:lnTo>
                    <a:pt x="47831" y="135683"/>
                  </a:lnTo>
                  <a:lnTo>
                    <a:pt x="43741" y="144444"/>
                  </a:lnTo>
                  <a:lnTo>
                    <a:pt x="43307" y="154432"/>
                  </a:lnTo>
                  <a:lnTo>
                    <a:pt x="47632" y="182360"/>
                  </a:lnTo>
                  <a:lnTo>
                    <a:pt x="68199" y="150495"/>
                  </a:lnTo>
                  <a:lnTo>
                    <a:pt x="93583" y="150495"/>
                  </a:lnTo>
                  <a:lnTo>
                    <a:pt x="92963" y="146558"/>
                  </a:lnTo>
                  <a:lnTo>
                    <a:pt x="89497" y="137211"/>
                  </a:lnTo>
                  <a:lnTo>
                    <a:pt x="82946" y="130175"/>
                  </a:lnTo>
                  <a:lnTo>
                    <a:pt x="74229" y="126091"/>
                  </a:lnTo>
                  <a:lnTo>
                    <a:pt x="64262" y="12560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83930" y="4111244"/>
            <a:ext cx="6972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Courier New"/>
                <a:cs typeface="Courier New"/>
              </a:rPr>
              <a:t>DA</a:t>
            </a:r>
            <a:r>
              <a:rPr dirty="0" sz="2200" spc="10" b="1">
                <a:latin typeface="Courier New"/>
                <a:cs typeface="Courier New"/>
              </a:rPr>
              <a:t>T</a:t>
            </a:r>
            <a:r>
              <a:rPr dirty="0" sz="2200" spc="-5" b="1">
                <a:latin typeface="Courier New"/>
                <a:cs typeface="Courier New"/>
              </a:rPr>
              <a:t>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8931" y="5790691"/>
            <a:ext cx="12014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Courier New"/>
                <a:cs typeface="Courier New"/>
              </a:rPr>
              <a:t>TO_CHAR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9420" y="4135628"/>
            <a:ext cx="17907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CHAR</a:t>
            </a:r>
            <a:r>
              <a:rPr dirty="0" sz="2200" spc="-15" b="1">
                <a:latin typeface="Arial"/>
                <a:cs typeface="Arial"/>
              </a:rPr>
              <a:t>A</a:t>
            </a:r>
            <a:r>
              <a:rPr dirty="0" sz="2200" spc="-5" b="1">
                <a:latin typeface="Arial"/>
                <a:cs typeface="Arial"/>
              </a:rPr>
              <a:t>CTER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93008" y="4482084"/>
            <a:ext cx="2712085" cy="1233170"/>
            <a:chOff x="3493008" y="4482084"/>
            <a:chExt cx="2712085" cy="1233170"/>
          </a:xfrm>
        </p:grpSpPr>
        <p:sp>
          <p:nvSpPr>
            <p:cNvPr id="11" name="object 11"/>
            <p:cNvSpPr/>
            <p:nvPr/>
          </p:nvSpPr>
          <p:spPr>
            <a:xfrm>
              <a:off x="4791456" y="4519930"/>
              <a:ext cx="1413510" cy="1195070"/>
            </a:xfrm>
            <a:custGeom>
              <a:avLst/>
              <a:gdLst/>
              <a:ahLst/>
              <a:cxnLst/>
              <a:rect l="l" t="t" r="r" b="b"/>
              <a:pathLst>
                <a:path w="1413510" h="1195070">
                  <a:moveTo>
                    <a:pt x="1346200" y="150368"/>
                  </a:moveTo>
                  <a:lnTo>
                    <a:pt x="1314419" y="186163"/>
                  </a:lnTo>
                  <a:lnTo>
                    <a:pt x="1311148" y="202819"/>
                  </a:lnTo>
                  <a:lnTo>
                    <a:pt x="1304798" y="230886"/>
                  </a:lnTo>
                  <a:lnTo>
                    <a:pt x="1289939" y="286258"/>
                  </a:lnTo>
                  <a:lnTo>
                    <a:pt x="1272159" y="340360"/>
                  </a:lnTo>
                  <a:lnTo>
                    <a:pt x="1251458" y="393573"/>
                  </a:lnTo>
                  <a:lnTo>
                    <a:pt x="1228090" y="445643"/>
                  </a:lnTo>
                  <a:lnTo>
                    <a:pt x="1201928" y="496189"/>
                  </a:lnTo>
                  <a:lnTo>
                    <a:pt x="1173099" y="545592"/>
                  </a:lnTo>
                  <a:lnTo>
                    <a:pt x="1141857" y="593471"/>
                  </a:lnTo>
                  <a:lnTo>
                    <a:pt x="1108075" y="639953"/>
                  </a:lnTo>
                  <a:lnTo>
                    <a:pt x="1071880" y="684784"/>
                  </a:lnTo>
                  <a:lnTo>
                    <a:pt x="1033399" y="728091"/>
                  </a:lnTo>
                  <a:lnTo>
                    <a:pt x="992505" y="769747"/>
                  </a:lnTo>
                  <a:lnTo>
                    <a:pt x="949706" y="809498"/>
                  </a:lnTo>
                  <a:lnTo>
                    <a:pt x="904748" y="847471"/>
                  </a:lnTo>
                  <a:lnTo>
                    <a:pt x="857885" y="883412"/>
                  </a:lnTo>
                  <a:lnTo>
                    <a:pt x="808990" y="917321"/>
                  </a:lnTo>
                  <a:lnTo>
                    <a:pt x="758444" y="949325"/>
                  </a:lnTo>
                  <a:lnTo>
                    <a:pt x="705993" y="979043"/>
                  </a:lnTo>
                  <a:lnTo>
                    <a:pt x="652145" y="1006602"/>
                  </a:lnTo>
                  <a:lnTo>
                    <a:pt x="596519" y="1031748"/>
                  </a:lnTo>
                  <a:lnTo>
                    <a:pt x="539369" y="1054608"/>
                  </a:lnTo>
                  <a:lnTo>
                    <a:pt x="480822" y="1075131"/>
                  </a:lnTo>
                  <a:lnTo>
                    <a:pt x="420751" y="1093190"/>
                  </a:lnTo>
                  <a:lnTo>
                    <a:pt x="359664" y="1108519"/>
                  </a:lnTo>
                  <a:lnTo>
                    <a:pt x="297180" y="1121333"/>
                  </a:lnTo>
                  <a:lnTo>
                    <a:pt x="233680" y="1131328"/>
                  </a:lnTo>
                  <a:lnTo>
                    <a:pt x="169164" y="1138618"/>
                  </a:lnTo>
                  <a:lnTo>
                    <a:pt x="103632" y="1143012"/>
                  </a:lnTo>
                  <a:lnTo>
                    <a:pt x="37338" y="1144397"/>
                  </a:lnTo>
                  <a:lnTo>
                    <a:pt x="24511" y="1144689"/>
                  </a:lnTo>
                  <a:lnTo>
                    <a:pt x="14805" y="1146889"/>
                  </a:lnTo>
                  <a:lnTo>
                    <a:pt x="6969" y="1152461"/>
                  </a:lnTo>
                  <a:lnTo>
                    <a:pt x="1776" y="1160576"/>
                  </a:lnTo>
                  <a:lnTo>
                    <a:pt x="0" y="1170406"/>
                  </a:lnTo>
                  <a:lnTo>
                    <a:pt x="2224" y="1180145"/>
                  </a:lnTo>
                  <a:lnTo>
                    <a:pt x="7794" y="1188011"/>
                  </a:lnTo>
                  <a:lnTo>
                    <a:pt x="15912" y="1193216"/>
                  </a:lnTo>
                  <a:lnTo>
                    <a:pt x="25781" y="1194968"/>
                  </a:lnTo>
                  <a:lnTo>
                    <a:pt x="37846" y="1194689"/>
                  </a:lnTo>
                  <a:lnTo>
                    <a:pt x="72263" y="1194295"/>
                  </a:lnTo>
                  <a:lnTo>
                    <a:pt x="140462" y="1191285"/>
                  </a:lnTo>
                  <a:lnTo>
                    <a:pt x="207772" y="1185252"/>
                  </a:lnTo>
                  <a:lnTo>
                    <a:pt x="273939" y="1176235"/>
                  </a:lnTo>
                  <a:lnTo>
                    <a:pt x="339217" y="1164399"/>
                  </a:lnTo>
                  <a:lnTo>
                    <a:pt x="403225" y="1149769"/>
                  </a:lnTo>
                  <a:lnTo>
                    <a:pt x="465963" y="1132484"/>
                  </a:lnTo>
                  <a:lnTo>
                    <a:pt x="527431" y="1112494"/>
                  </a:lnTo>
                  <a:lnTo>
                    <a:pt x="587375" y="1090002"/>
                  </a:lnTo>
                  <a:lnTo>
                    <a:pt x="645922" y="1065022"/>
                  </a:lnTo>
                  <a:lnTo>
                    <a:pt x="702691" y="1037463"/>
                  </a:lnTo>
                  <a:lnTo>
                    <a:pt x="785241" y="991870"/>
                  </a:lnTo>
                  <a:lnTo>
                    <a:pt x="837819" y="958596"/>
                  </a:lnTo>
                  <a:lnTo>
                    <a:pt x="888492" y="923290"/>
                  </a:lnTo>
                  <a:lnTo>
                    <a:pt x="937133" y="885825"/>
                  </a:lnTo>
                  <a:lnTo>
                    <a:pt x="983869" y="846455"/>
                  </a:lnTo>
                  <a:lnTo>
                    <a:pt x="1028446" y="805053"/>
                  </a:lnTo>
                  <a:lnTo>
                    <a:pt x="1070610" y="761873"/>
                  </a:lnTo>
                  <a:lnTo>
                    <a:pt x="1110615" y="716788"/>
                  </a:lnTo>
                  <a:lnTo>
                    <a:pt x="1148207" y="670052"/>
                  </a:lnTo>
                  <a:lnTo>
                    <a:pt x="1183640" y="621538"/>
                  </a:lnTo>
                  <a:lnTo>
                    <a:pt x="1216152" y="571500"/>
                  </a:lnTo>
                  <a:lnTo>
                    <a:pt x="1246251" y="519811"/>
                  </a:lnTo>
                  <a:lnTo>
                    <a:pt x="1273556" y="466852"/>
                  </a:lnTo>
                  <a:lnTo>
                    <a:pt x="1298067" y="412496"/>
                  </a:lnTo>
                  <a:lnTo>
                    <a:pt x="1319657" y="356743"/>
                  </a:lnTo>
                  <a:lnTo>
                    <a:pt x="1338326" y="299847"/>
                  </a:lnTo>
                  <a:lnTo>
                    <a:pt x="1353820" y="241935"/>
                  </a:lnTo>
                  <a:lnTo>
                    <a:pt x="1366328" y="182375"/>
                  </a:lnTo>
                  <a:lnTo>
                    <a:pt x="1346200" y="150368"/>
                  </a:lnTo>
                  <a:close/>
                </a:path>
                <a:path w="1413510" h="1195070">
                  <a:moveTo>
                    <a:pt x="1385267" y="125476"/>
                  </a:moveTo>
                  <a:lnTo>
                    <a:pt x="1350391" y="125476"/>
                  </a:lnTo>
                  <a:lnTo>
                    <a:pt x="1359660" y="129035"/>
                  </a:lnTo>
                  <a:lnTo>
                    <a:pt x="1366631" y="135667"/>
                  </a:lnTo>
                  <a:lnTo>
                    <a:pt x="1370625" y="144442"/>
                  </a:lnTo>
                  <a:lnTo>
                    <a:pt x="1370965" y="154432"/>
                  </a:lnTo>
                  <a:lnTo>
                    <a:pt x="1366328" y="182375"/>
                  </a:lnTo>
                  <a:lnTo>
                    <a:pt x="1413129" y="256794"/>
                  </a:lnTo>
                  <a:lnTo>
                    <a:pt x="1385267" y="125476"/>
                  </a:lnTo>
                  <a:close/>
                </a:path>
                <a:path w="1413510" h="1195070">
                  <a:moveTo>
                    <a:pt x="1358646" y="0"/>
                  </a:moveTo>
                  <a:lnTo>
                    <a:pt x="1262761" y="244348"/>
                  </a:lnTo>
                  <a:lnTo>
                    <a:pt x="1314419" y="186163"/>
                  </a:lnTo>
                  <a:lnTo>
                    <a:pt x="1316736" y="174371"/>
                  </a:lnTo>
                  <a:lnTo>
                    <a:pt x="1321435" y="146177"/>
                  </a:lnTo>
                  <a:lnTo>
                    <a:pt x="1324994" y="136834"/>
                  </a:lnTo>
                  <a:lnTo>
                    <a:pt x="1331626" y="129825"/>
                  </a:lnTo>
                  <a:lnTo>
                    <a:pt x="1340401" y="125817"/>
                  </a:lnTo>
                  <a:lnTo>
                    <a:pt x="1350391" y="125476"/>
                  </a:lnTo>
                  <a:lnTo>
                    <a:pt x="1385267" y="125476"/>
                  </a:lnTo>
                  <a:lnTo>
                    <a:pt x="1358646" y="0"/>
                  </a:lnTo>
                  <a:close/>
                </a:path>
                <a:path w="1413510" h="1195070">
                  <a:moveTo>
                    <a:pt x="1350391" y="125476"/>
                  </a:moveTo>
                  <a:lnTo>
                    <a:pt x="1316736" y="174371"/>
                  </a:lnTo>
                  <a:lnTo>
                    <a:pt x="1314419" y="186163"/>
                  </a:lnTo>
                  <a:lnTo>
                    <a:pt x="1346200" y="150368"/>
                  </a:lnTo>
                  <a:lnTo>
                    <a:pt x="1370826" y="150368"/>
                  </a:lnTo>
                  <a:lnTo>
                    <a:pt x="1370625" y="144442"/>
                  </a:lnTo>
                  <a:lnTo>
                    <a:pt x="1366631" y="135667"/>
                  </a:lnTo>
                  <a:lnTo>
                    <a:pt x="1359660" y="129035"/>
                  </a:lnTo>
                  <a:lnTo>
                    <a:pt x="1350391" y="125476"/>
                  </a:lnTo>
                  <a:close/>
                </a:path>
                <a:path w="1413510" h="1195070">
                  <a:moveTo>
                    <a:pt x="1370826" y="150368"/>
                  </a:moveTo>
                  <a:lnTo>
                    <a:pt x="1346200" y="150368"/>
                  </a:lnTo>
                  <a:lnTo>
                    <a:pt x="1366328" y="182375"/>
                  </a:lnTo>
                  <a:lnTo>
                    <a:pt x="1370965" y="154432"/>
                  </a:lnTo>
                  <a:lnTo>
                    <a:pt x="1370826" y="15036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18154" y="4507230"/>
              <a:ext cx="1305560" cy="1183005"/>
            </a:xfrm>
            <a:custGeom>
              <a:avLst/>
              <a:gdLst/>
              <a:ahLst/>
              <a:cxnLst/>
              <a:rect l="l" t="t" r="r" b="b"/>
              <a:pathLst>
                <a:path w="1305560" h="1183004">
                  <a:moveTo>
                    <a:pt x="1305306" y="1182624"/>
                  </a:moveTo>
                  <a:lnTo>
                    <a:pt x="1253881" y="1181190"/>
                  </a:lnTo>
                  <a:lnTo>
                    <a:pt x="1202974" y="1178022"/>
                  </a:lnTo>
                  <a:lnTo>
                    <a:pt x="1152619" y="1173152"/>
                  </a:lnTo>
                  <a:lnTo>
                    <a:pt x="1102852" y="1166611"/>
                  </a:lnTo>
                  <a:lnTo>
                    <a:pt x="1053710" y="1158433"/>
                  </a:lnTo>
                  <a:lnTo>
                    <a:pt x="1005226" y="1148650"/>
                  </a:lnTo>
                  <a:lnTo>
                    <a:pt x="957438" y="1137293"/>
                  </a:lnTo>
                  <a:lnTo>
                    <a:pt x="910381" y="1124396"/>
                  </a:lnTo>
                  <a:lnTo>
                    <a:pt x="864091" y="1109990"/>
                  </a:lnTo>
                  <a:lnTo>
                    <a:pt x="818603" y="1094109"/>
                  </a:lnTo>
                  <a:lnTo>
                    <a:pt x="773952" y="1076783"/>
                  </a:lnTo>
                  <a:lnTo>
                    <a:pt x="730175" y="1058046"/>
                  </a:lnTo>
                  <a:lnTo>
                    <a:pt x="687308" y="1037931"/>
                  </a:lnTo>
                  <a:lnTo>
                    <a:pt x="645385" y="1016468"/>
                  </a:lnTo>
                  <a:lnTo>
                    <a:pt x="604443" y="993691"/>
                  </a:lnTo>
                  <a:lnTo>
                    <a:pt x="564517" y="969632"/>
                  </a:lnTo>
                  <a:lnTo>
                    <a:pt x="525644" y="944323"/>
                  </a:lnTo>
                  <a:lnTo>
                    <a:pt x="487857" y="917797"/>
                  </a:lnTo>
                  <a:lnTo>
                    <a:pt x="451194" y="890085"/>
                  </a:lnTo>
                  <a:lnTo>
                    <a:pt x="415690" y="861221"/>
                  </a:lnTo>
                  <a:lnTo>
                    <a:pt x="381381" y="831237"/>
                  </a:lnTo>
                  <a:lnTo>
                    <a:pt x="348301" y="800164"/>
                  </a:lnTo>
                  <a:lnTo>
                    <a:pt x="316488" y="768036"/>
                  </a:lnTo>
                  <a:lnTo>
                    <a:pt x="285976" y="734884"/>
                  </a:lnTo>
                  <a:lnTo>
                    <a:pt x="256802" y="700741"/>
                  </a:lnTo>
                  <a:lnTo>
                    <a:pt x="229000" y="665639"/>
                  </a:lnTo>
                  <a:lnTo>
                    <a:pt x="202607" y="629611"/>
                  </a:lnTo>
                  <a:lnTo>
                    <a:pt x="177658" y="592689"/>
                  </a:lnTo>
                  <a:lnTo>
                    <a:pt x="154190" y="554905"/>
                  </a:lnTo>
                  <a:lnTo>
                    <a:pt x="132236" y="516291"/>
                  </a:lnTo>
                  <a:lnTo>
                    <a:pt x="111835" y="476881"/>
                  </a:lnTo>
                  <a:lnTo>
                    <a:pt x="93020" y="436705"/>
                  </a:lnTo>
                  <a:lnTo>
                    <a:pt x="75827" y="395797"/>
                  </a:lnTo>
                  <a:lnTo>
                    <a:pt x="60293" y="354189"/>
                  </a:lnTo>
                  <a:lnTo>
                    <a:pt x="46453" y="311913"/>
                  </a:lnTo>
                  <a:lnTo>
                    <a:pt x="34343" y="269002"/>
                  </a:lnTo>
                  <a:lnTo>
                    <a:pt x="23998" y="225487"/>
                  </a:lnTo>
                  <a:lnTo>
                    <a:pt x="15453" y="181402"/>
                  </a:lnTo>
                  <a:lnTo>
                    <a:pt x="8746" y="136778"/>
                  </a:lnTo>
                  <a:lnTo>
                    <a:pt x="3911" y="91648"/>
                  </a:lnTo>
                  <a:lnTo>
                    <a:pt x="983" y="46045"/>
                  </a:lnTo>
                  <a:lnTo>
                    <a:pt x="0" y="0"/>
                  </a:lnTo>
                </a:path>
              </a:pathLst>
            </a:custGeom>
            <a:ln w="50292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070350" y="5790691"/>
            <a:ext cx="12014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Courier New"/>
                <a:cs typeface="Courier New"/>
              </a:rPr>
              <a:t>TO_CHAR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64940" y="2840354"/>
            <a:ext cx="5499735" cy="1233805"/>
            <a:chOff x="3464940" y="2840354"/>
            <a:chExt cx="5499735" cy="1233805"/>
          </a:xfrm>
        </p:grpSpPr>
        <p:sp>
          <p:nvSpPr>
            <p:cNvPr id="15" name="object 15"/>
            <p:cNvSpPr/>
            <p:nvPr/>
          </p:nvSpPr>
          <p:spPr>
            <a:xfrm>
              <a:off x="4873751" y="2865881"/>
              <a:ext cx="1304290" cy="1183005"/>
            </a:xfrm>
            <a:custGeom>
              <a:avLst/>
              <a:gdLst/>
              <a:ahLst/>
              <a:cxnLst/>
              <a:rect l="l" t="t" r="r" b="b"/>
              <a:pathLst>
                <a:path w="1304289" h="1183004">
                  <a:moveTo>
                    <a:pt x="0" y="0"/>
                  </a:moveTo>
                  <a:lnTo>
                    <a:pt x="51387" y="1492"/>
                  </a:lnTo>
                  <a:lnTo>
                    <a:pt x="102255" y="4716"/>
                  </a:lnTo>
                  <a:lnTo>
                    <a:pt x="152570" y="9638"/>
                  </a:lnTo>
                  <a:lnTo>
                    <a:pt x="202295" y="16226"/>
                  </a:lnTo>
                  <a:lnTo>
                    <a:pt x="251395" y="24448"/>
                  </a:lnTo>
                  <a:lnTo>
                    <a:pt x="299834" y="34272"/>
                  </a:lnTo>
                  <a:lnTo>
                    <a:pt x="347577" y="45665"/>
                  </a:lnTo>
                  <a:lnTo>
                    <a:pt x="394589" y="58595"/>
                  </a:lnTo>
                  <a:lnTo>
                    <a:pt x="440833" y="73030"/>
                  </a:lnTo>
                  <a:lnTo>
                    <a:pt x="486274" y="88938"/>
                  </a:lnTo>
                  <a:lnTo>
                    <a:pt x="530876" y="106287"/>
                  </a:lnTo>
                  <a:lnTo>
                    <a:pt x="574605" y="125043"/>
                  </a:lnTo>
                  <a:lnTo>
                    <a:pt x="617425" y="145176"/>
                  </a:lnTo>
                  <a:lnTo>
                    <a:pt x="659299" y="166652"/>
                  </a:lnTo>
                  <a:lnTo>
                    <a:pt x="700193" y="189439"/>
                  </a:lnTo>
                  <a:lnTo>
                    <a:pt x="740070" y="213506"/>
                  </a:lnTo>
                  <a:lnTo>
                    <a:pt x="778896" y="238820"/>
                  </a:lnTo>
                  <a:lnTo>
                    <a:pt x="816635" y="265349"/>
                  </a:lnTo>
                  <a:lnTo>
                    <a:pt x="853251" y="293060"/>
                  </a:lnTo>
                  <a:lnTo>
                    <a:pt x="888708" y="321921"/>
                  </a:lnTo>
                  <a:lnTo>
                    <a:pt x="922972" y="351901"/>
                  </a:lnTo>
                  <a:lnTo>
                    <a:pt x="956006" y="382966"/>
                  </a:lnTo>
                  <a:lnTo>
                    <a:pt x="987776" y="415084"/>
                  </a:lnTo>
                  <a:lnTo>
                    <a:pt x="1018245" y="448224"/>
                  </a:lnTo>
                  <a:lnTo>
                    <a:pt x="1047378" y="482353"/>
                  </a:lnTo>
                  <a:lnTo>
                    <a:pt x="1075139" y="517439"/>
                  </a:lnTo>
                  <a:lnTo>
                    <a:pt x="1101493" y="553449"/>
                  </a:lnTo>
                  <a:lnTo>
                    <a:pt x="1126405" y="590352"/>
                  </a:lnTo>
                  <a:lnTo>
                    <a:pt x="1149838" y="628115"/>
                  </a:lnTo>
                  <a:lnTo>
                    <a:pt x="1171758" y="666705"/>
                  </a:lnTo>
                  <a:lnTo>
                    <a:pt x="1192128" y="706091"/>
                  </a:lnTo>
                  <a:lnTo>
                    <a:pt x="1210914" y="746240"/>
                  </a:lnTo>
                  <a:lnTo>
                    <a:pt x="1228079" y="787121"/>
                  </a:lnTo>
                  <a:lnTo>
                    <a:pt x="1243588" y="828700"/>
                  </a:lnTo>
                  <a:lnTo>
                    <a:pt x="1257405" y="870946"/>
                  </a:lnTo>
                  <a:lnTo>
                    <a:pt x="1269496" y="913826"/>
                  </a:lnTo>
                  <a:lnTo>
                    <a:pt x="1279824" y="957309"/>
                  </a:lnTo>
                  <a:lnTo>
                    <a:pt x="1288354" y="1001361"/>
                  </a:lnTo>
                  <a:lnTo>
                    <a:pt x="1295050" y="1045951"/>
                  </a:lnTo>
                  <a:lnTo>
                    <a:pt x="1299877" y="1091046"/>
                  </a:lnTo>
                  <a:lnTo>
                    <a:pt x="1302800" y="1136614"/>
                  </a:lnTo>
                  <a:lnTo>
                    <a:pt x="1303782" y="1182623"/>
                  </a:lnTo>
                </a:path>
              </a:pathLst>
            </a:custGeom>
            <a:ln w="50291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64940" y="2840354"/>
              <a:ext cx="1401445" cy="1197610"/>
            </a:xfrm>
            <a:custGeom>
              <a:avLst/>
              <a:gdLst/>
              <a:ahLst/>
              <a:cxnLst/>
              <a:rect l="l" t="t" r="r" b="b"/>
              <a:pathLst>
                <a:path w="1401445" h="1197610">
                  <a:moveTo>
                    <a:pt x="0" y="940308"/>
                  </a:moveTo>
                  <a:lnTo>
                    <a:pt x="54737" y="1197102"/>
                  </a:lnTo>
                  <a:lnTo>
                    <a:pt x="103868" y="1071499"/>
                  </a:lnTo>
                  <a:lnTo>
                    <a:pt x="62864" y="1071499"/>
                  </a:lnTo>
                  <a:lnTo>
                    <a:pt x="53522" y="1067939"/>
                  </a:lnTo>
                  <a:lnTo>
                    <a:pt x="46513" y="1061307"/>
                  </a:lnTo>
                  <a:lnTo>
                    <a:pt x="42505" y="1052532"/>
                  </a:lnTo>
                  <a:lnTo>
                    <a:pt x="42163" y="1042543"/>
                  </a:lnTo>
                  <a:lnTo>
                    <a:pt x="46783" y="1014700"/>
                  </a:lnTo>
                  <a:lnTo>
                    <a:pt x="0" y="940308"/>
                  </a:lnTo>
                  <a:close/>
                </a:path>
                <a:path w="1401445" h="1197610">
                  <a:moveTo>
                    <a:pt x="46783" y="1014700"/>
                  </a:moveTo>
                  <a:lnTo>
                    <a:pt x="42163" y="1042543"/>
                  </a:lnTo>
                  <a:lnTo>
                    <a:pt x="42505" y="1052532"/>
                  </a:lnTo>
                  <a:lnTo>
                    <a:pt x="46513" y="1061307"/>
                  </a:lnTo>
                  <a:lnTo>
                    <a:pt x="53522" y="1067939"/>
                  </a:lnTo>
                  <a:lnTo>
                    <a:pt x="62864" y="1071499"/>
                  </a:lnTo>
                  <a:lnTo>
                    <a:pt x="72854" y="1071157"/>
                  </a:lnTo>
                  <a:lnTo>
                    <a:pt x="81629" y="1067149"/>
                  </a:lnTo>
                  <a:lnTo>
                    <a:pt x="88261" y="1060140"/>
                  </a:lnTo>
                  <a:lnTo>
                    <a:pt x="91821" y="1050798"/>
                  </a:lnTo>
                  <a:lnTo>
                    <a:pt x="92495" y="1046734"/>
                  </a:lnTo>
                  <a:lnTo>
                    <a:pt x="66929" y="1046734"/>
                  </a:lnTo>
                  <a:lnTo>
                    <a:pt x="46783" y="1014700"/>
                  </a:lnTo>
                  <a:close/>
                </a:path>
                <a:path w="1401445" h="1197610">
                  <a:moveTo>
                    <a:pt x="150368" y="952627"/>
                  </a:moveTo>
                  <a:lnTo>
                    <a:pt x="98753" y="1010840"/>
                  </a:lnTo>
                  <a:lnTo>
                    <a:pt x="96520" y="1022477"/>
                  </a:lnTo>
                  <a:lnTo>
                    <a:pt x="91821" y="1050798"/>
                  </a:lnTo>
                  <a:lnTo>
                    <a:pt x="88261" y="1060140"/>
                  </a:lnTo>
                  <a:lnTo>
                    <a:pt x="81629" y="1067149"/>
                  </a:lnTo>
                  <a:lnTo>
                    <a:pt x="72854" y="1071157"/>
                  </a:lnTo>
                  <a:lnTo>
                    <a:pt x="62864" y="1071499"/>
                  </a:lnTo>
                  <a:lnTo>
                    <a:pt x="103868" y="1071499"/>
                  </a:lnTo>
                  <a:lnTo>
                    <a:pt x="150368" y="952627"/>
                  </a:lnTo>
                  <a:close/>
                </a:path>
                <a:path w="1401445" h="1197610">
                  <a:moveTo>
                    <a:pt x="1375664" y="0"/>
                  </a:moveTo>
                  <a:lnTo>
                    <a:pt x="1306957" y="1524"/>
                  </a:lnTo>
                  <a:lnTo>
                    <a:pt x="1239139" y="6223"/>
                  </a:lnTo>
                  <a:lnTo>
                    <a:pt x="1172337" y="13843"/>
                  </a:lnTo>
                  <a:lnTo>
                    <a:pt x="1106678" y="24384"/>
                  </a:lnTo>
                  <a:lnTo>
                    <a:pt x="1041908" y="37592"/>
                  </a:lnTo>
                  <a:lnTo>
                    <a:pt x="978535" y="53721"/>
                  </a:lnTo>
                  <a:lnTo>
                    <a:pt x="916432" y="72517"/>
                  </a:lnTo>
                  <a:lnTo>
                    <a:pt x="855599" y="93853"/>
                  </a:lnTo>
                  <a:lnTo>
                    <a:pt x="796289" y="117729"/>
                  </a:lnTo>
                  <a:lnTo>
                    <a:pt x="738632" y="144018"/>
                  </a:lnTo>
                  <a:lnTo>
                    <a:pt x="682244" y="172847"/>
                  </a:lnTo>
                  <a:lnTo>
                    <a:pt x="627761" y="203835"/>
                  </a:lnTo>
                  <a:lnTo>
                    <a:pt x="575183" y="237109"/>
                  </a:lnTo>
                  <a:lnTo>
                    <a:pt x="524510" y="272542"/>
                  </a:lnTo>
                  <a:lnTo>
                    <a:pt x="475742" y="310134"/>
                  </a:lnTo>
                  <a:lnTo>
                    <a:pt x="429006" y="349631"/>
                  </a:lnTo>
                  <a:lnTo>
                    <a:pt x="384429" y="391160"/>
                  </a:lnTo>
                  <a:lnTo>
                    <a:pt x="342264" y="434340"/>
                  </a:lnTo>
                  <a:lnTo>
                    <a:pt x="302260" y="479425"/>
                  </a:lnTo>
                  <a:lnTo>
                    <a:pt x="264413" y="526288"/>
                  </a:lnTo>
                  <a:lnTo>
                    <a:pt x="229235" y="574929"/>
                  </a:lnTo>
                  <a:lnTo>
                    <a:pt x="196596" y="625094"/>
                  </a:lnTo>
                  <a:lnTo>
                    <a:pt x="166624" y="676656"/>
                  </a:lnTo>
                  <a:lnTo>
                    <a:pt x="139446" y="729742"/>
                  </a:lnTo>
                  <a:lnTo>
                    <a:pt x="114808" y="784225"/>
                  </a:lnTo>
                  <a:lnTo>
                    <a:pt x="93345" y="839851"/>
                  </a:lnTo>
                  <a:lnTo>
                    <a:pt x="74675" y="896874"/>
                  </a:lnTo>
                  <a:lnTo>
                    <a:pt x="59309" y="955040"/>
                  </a:lnTo>
                  <a:lnTo>
                    <a:pt x="46783" y="1014700"/>
                  </a:lnTo>
                  <a:lnTo>
                    <a:pt x="66929" y="1046734"/>
                  </a:lnTo>
                  <a:lnTo>
                    <a:pt x="98753" y="1010840"/>
                  </a:lnTo>
                  <a:lnTo>
                    <a:pt x="101981" y="994029"/>
                  </a:lnTo>
                  <a:lnTo>
                    <a:pt x="108331" y="965962"/>
                  </a:lnTo>
                  <a:lnTo>
                    <a:pt x="123189" y="910590"/>
                  </a:lnTo>
                  <a:lnTo>
                    <a:pt x="140843" y="856361"/>
                  </a:lnTo>
                  <a:lnTo>
                    <a:pt x="161544" y="803021"/>
                  </a:lnTo>
                  <a:lnTo>
                    <a:pt x="184912" y="751078"/>
                  </a:lnTo>
                  <a:lnTo>
                    <a:pt x="211074" y="700278"/>
                  </a:lnTo>
                  <a:lnTo>
                    <a:pt x="239857" y="650621"/>
                  </a:lnTo>
                  <a:lnTo>
                    <a:pt x="271145" y="602742"/>
                  </a:lnTo>
                  <a:lnTo>
                    <a:pt x="304926" y="556260"/>
                  </a:lnTo>
                  <a:lnTo>
                    <a:pt x="340995" y="511429"/>
                  </a:lnTo>
                  <a:lnTo>
                    <a:pt x="379475" y="468122"/>
                  </a:lnTo>
                  <a:lnTo>
                    <a:pt x="420370" y="426339"/>
                  </a:lnTo>
                  <a:lnTo>
                    <a:pt x="463296" y="386461"/>
                  </a:lnTo>
                  <a:lnTo>
                    <a:pt x="508126" y="348488"/>
                  </a:lnTo>
                  <a:lnTo>
                    <a:pt x="555117" y="312420"/>
                  </a:lnTo>
                  <a:lnTo>
                    <a:pt x="604012" y="278384"/>
                  </a:lnTo>
                  <a:lnTo>
                    <a:pt x="654685" y="246380"/>
                  </a:lnTo>
                  <a:lnTo>
                    <a:pt x="707009" y="216535"/>
                  </a:lnTo>
                  <a:lnTo>
                    <a:pt x="760984" y="188975"/>
                  </a:lnTo>
                  <a:lnTo>
                    <a:pt x="816610" y="163703"/>
                  </a:lnTo>
                  <a:lnTo>
                    <a:pt x="873887" y="140716"/>
                  </a:lnTo>
                  <a:lnTo>
                    <a:pt x="932561" y="120142"/>
                  </a:lnTo>
                  <a:lnTo>
                    <a:pt x="992505" y="102108"/>
                  </a:lnTo>
                  <a:lnTo>
                    <a:pt x="1053719" y="86614"/>
                  </a:lnTo>
                  <a:lnTo>
                    <a:pt x="1116203" y="73787"/>
                  </a:lnTo>
                  <a:lnTo>
                    <a:pt x="1179703" y="63627"/>
                  </a:lnTo>
                  <a:lnTo>
                    <a:pt x="1244346" y="56261"/>
                  </a:lnTo>
                  <a:lnTo>
                    <a:pt x="1309878" y="51816"/>
                  </a:lnTo>
                  <a:lnTo>
                    <a:pt x="1376172" y="50292"/>
                  </a:lnTo>
                  <a:lnTo>
                    <a:pt x="1385972" y="48216"/>
                  </a:lnTo>
                  <a:lnTo>
                    <a:pt x="1393904" y="42735"/>
                  </a:lnTo>
                  <a:lnTo>
                    <a:pt x="1399192" y="34682"/>
                  </a:lnTo>
                  <a:lnTo>
                    <a:pt x="1401064" y="24892"/>
                  </a:lnTo>
                  <a:lnTo>
                    <a:pt x="1398988" y="15091"/>
                  </a:lnTo>
                  <a:lnTo>
                    <a:pt x="1393507" y="7159"/>
                  </a:lnTo>
                  <a:lnTo>
                    <a:pt x="1385454" y="1871"/>
                  </a:lnTo>
                  <a:lnTo>
                    <a:pt x="1375664" y="0"/>
                  </a:lnTo>
                  <a:close/>
                </a:path>
                <a:path w="1401445" h="1197610">
                  <a:moveTo>
                    <a:pt x="98753" y="1010840"/>
                  </a:moveTo>
                  <a:lnTo>
                    <a:pt x="66929" y="1046734"/>
                  </a:lnTo>
                  <a:lnTo>
                    <a:pt x="92495" y="1046734"/>
                  </a:lnTo>
                  <a:lnTo>
                    <a:pt x="96520" y="1022477"/>
                  </a:lnTo>
                  <a:lnTo>
                    <a:pt x="98753" y="101084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578216" y="2840735"/>
              <a:ext cx="1386205" cy="1207770"/>
            </a:xfrm>
            <a:custGeom>
              <a:avLst/>
              <a:gdLst/>
              <a:ahLst/>
              <a:cxnLst/>
              <a:rect l="l" t="t" r="r" b="b"/>
              <a:pathLst>
                <a:path w="1386204" h="1207770">
                  <a:moveTo>
                    <a:pt x="1235582" y="962151"/>
                  </a:moveTo>
                  <a:lnTo>
                    <a:pt x="1328547" y="1207643"/>
                  </a:lnTo>
                  <a:lnTo>
                    <a:pt x="1356756" y="1082039"/>
                  </a:lnTo>
                  <a:lnTo>
                    <a:pt x="1321815" y="1082039"/>
                  </a:lnTo>
                  <a:lnTo>
                    <a:pt x="1311848" y="1081605"/>
                  </a:lnTo>
                  <a:lnTo>
                    <a:pt x="1303131" y="1077515"/>
                  </a:lnTo>
                  <a:lnTo>
                    <a:pt x="1296580" y="1070449"/>
                  </a:lnTo>
                  <a:lnTo>
                    <a:pt x="1293113" y="1061084"/>
                  </a:lnTo>
                  <a:lnTo>
                    <a:pt x="1288796" y="1033652"/>
                  </a:lnTo>
                  <a:lnTo>
                    <a:pt x="1286503" y="1020930"/>
                  </a:lnTo>
                  <a:lnTo>
                    <a:pt x="1235582" y="962151"/>
                  </a:lnTo>
                  <a:close/>
                </a:path>
                <a:path w="1386204" h="1207770">
                  <a:moveTo>
                    <a:pt x="1286503" y="1020930"/>
                  </a:moveTo>
                  <a:lnTo>
                    <a:pt x="1288796" y="1033652"/>
                  </a:lnTo>
                  <a:lnTo>
                    <a:pt x="1293113" y="1061084"/>
                  </a:lnTo>
                  <a:lnTo>
                    <a:pt x="1296580" y="1070449"/>
                  </a:lnTo>
                  <a:lnTo>
                    <a:pt x="1303131" y="1077515"/>
                  </a:lnTo>
                  <a:lnTo>
                    <a:pt x="1311848" y="1081605"/>
                  </a:lnTo>
                  <a:lnTo>
                    <a:pt x="1321815" y="1082039"/>
                  </a:lnTo>
                  <a:lnTo>
                    <a:pt x="1331180" y="1078573"/>
                  </a:lnTo>
                  <a:lnTo>
                    <a:pt x="1338246" y="1072022"/>
                  </a:lnTo>
                  <a:lnTo>
                    <a:pt x="1342336" y="1063305"/>
                  </a:lnTo>
                  <a:lnTo>
                    <a:pt x="1342604" y="1057147"/>
                  </a:lnTo>
                  <a:lnTo>
                    <a:pt x="1317878" y="1057147"/>
                  </a:lnTo>
                  <a:lnTo>
                    <a:pt x="1286503" y="1020930"/>
                  </a:lnTo>
                  <a:close/>
                </a:path>
                <a:path w="1386204" h="1207770">
                  <a:moveTo>
                    <a:pt x="1386077" y="951483"/>
                  </a:moveTo>
                  <a:lnTo>
                    <a:pt x="1338414" y="1025331"/>
                  </a:lnTo>
                  <a:lnTo>
                    <a:pt x="1342771" y="1053338"/>
                  </a:lnTo>
                  <a:lnTo>
                    <a:pt x="1342336" y="1063305"/>
                  </a:lnTo>
                  <a:lnTo>
                    <a:pt x="1338246" y="1072022"/>
                  </a:lnTo>
                  <a:lnTo>
                    <a:pt x="1331180" y="1078573"/>
                  </a:lnTo>
                  <a:lnTo>
                    <a:pt x="1321815" y="1082039"/>
                  </a:lnTo>
                  <a:lnTo>
                    <a:pt x="1356756" y="1082039"/>
                  </a:lnTo>
                  <a:lnTo>
                    <a:pt x="1386077" y="951483"/>
                  </a:lnTo>
                  <a:close/>
                </a:path>
                <a:path w="1386204" h="1207770">
                  <a:moveTo>
                    <a:pt x="25653" y="0"/>
                  </a:moveTo>
                  <a:lnTo>
                    <a:pt x="15841" y="1778"/>
                  </a:lnTo>
                  <a:lnTo>
                    <a:pt x="7731" y="6985"/>
                  </a:lnTo>
                  <a:lnTo>
                    <a:pt x="2168" y="14859"/>
                  </a:lnTo>
                  <a:lnTo>
                    <a:pt x="0" y="24637"/>
                  </a:lnTo>
                  <a:lnTo>
                    <a:pt x="1722" y="34432"/>
                  </a:lnTo>
                  <a:lnTo>
                    <a:pt x="6921" y="42513"/>
                  </a:lnTo>
                  <a:lnTo>
                    <a:pt x="14787" y="48069"/>
                  </a:lnTo>
                  <a:lnTo>
                    <a:pt x="24510" y="50291"/>
                  </a:lnTo>
                  <a:lnTo>
                    <a:pt x="58419" y="51053"/>
                  </a:lnTo>
                  <a:lnTo>
                    <a:pt x="91312" y="52577"/>
                  </a:lnTo>
                  <a:lnTo>
                    <a:pt x="156590" y="57785"/>
                  </a:lnTo>
                  <a:lnTo>
                    <a:pt x="220852" y="65912"/>
                  </a:lnTo>
                  <a:lnTo>
                    <a:pt x="284225" y="76708"/>
                  </a:lnTo>
                  <a:lnTo>
                    <a:pt x="346201" y="90169"/>
                  </a:lnTo>
                  <a:lnTo>
                    <a:pt x="407161" y="106299"/>
                  </a:lnTo>
                  <a:lnTo>
                    <a:pt x="466725" y="124967"/>
                  </a:lnTo>
                  <a:lnTo>
                    <a:pt x="524890" y="146176"/>
                  </a:lnTo>
                  <a:lnTo>
                    <a:pt x="581532" y="169672"/>
                  </a:lnTo>
                  <a:lnTo>
                    <a:pt x="636777" y="195579"/>
                  </a:lnTo>
                  <a:lnTo>
                    <a:pt x="690372" y="223774"/>
                  </a:lnTo>
                  <a:lnTo>
                    <a:pt x="742568" y="254253"/>
                  </a:lnTo>
                  <a:lnTo>
                    <a:pt x="792606" y="286638"/>
                  </a:lnTo>
                  <a:lnTo>
                    <a:pt x="840866" y="321310"/>
                  </a:lnTo>
                  <a:lnTo>
                    <a:pt x="887222" y="357759"/>
                  </a:lnTo>
                  <a:lnTo>
                    <a:pt x="931544" y="396113"/>
                  </a:lnTo>
                  <a:lnTo>
                    <a:pt x="973708" y="436244"/>
                  </a:lnTo>
                  <a:lnTo>
                    <a:pt x="1013713" y="478154"/>
                  </a:lnTo>
                  <a:lnTo>
                    <a:pt x="1051432" y="521588"/>
                  </a:lnTo>
                  <a:lnTo>
                    <a:pt x="1086865" y="566801"/>
                  </a:lnTo>
                  <a:lnTo>
                    <a:pt x="1119885" y="613537"/>
                  </a:lnTo>
                  <a:lnTo>
                    <a:pt x="1150492" y="661669"/>
                  </a:lnTo>
                  <a:lnTo>
                    <a:pt x="1178559" y="711200"/>
                  </a:lnTo>
                  <a:lnTo>
                    <a:pt x="1203959" y="762126"/>
                  </a:lnTo>
                  <a:lnTo>
                    <a:pt x="1226692" y="814196"/>
                  </a:lnTo>
                  <a:lnTo>
                    <a:pt x="1246504" y="867537"/>
                  </a:lnTo>
                  <a:lnTo>
                    <a:pt x="1263650" y="921893"/>
                  </a:lnTo>
                  <a:lnTo>
                    <a:pt x="1277747" y="977391"/>
                  </a:lnTo>
                  <a:lnTo>
                    <a:pt x="1286503" y="1020930"/>
                  </a:lnTo>
                  <a:lnTo>
                    <a:pt x="1317878" y="1057147"/>
                  </a:lnTo>
                  <a:lnTo>
                    <a:pt x="1338414" y="1025331"/>
                  </a:lnTo>
                  <a:lnTo>
                    <a:pt x="1338326" y="1024763"/>
                  </a:lnTo>
                  <a:lnTo>
                    <a:pt x="1332864" y="995044"/>
                  </a:lnTo>
                  <a:lnTo>
                    <a:pt x="1319656" y="936497"/>
                  </a:lnTo>
                  <a:lnTo>
                    <a:pt x="1303274" y="878839"/>
                  </a:lnTo>
                  <a:lnTo>
                    <a:pt x="1283842" y="822451"/>
                  </a:lnTo>
                  <a:lnTo>
                    <a:pt x="1261490" y="767333"/>
                  </a:lnTo>
                  <a:lnTo>
                    <a:pt x="1236344" y="713486"/>
                  </a:lnTo>
                  <a:lnTo>
                    <a:pt x="1208277" y="660908"/>
                  </a:lnTo>
                  <a:lnTo>
                    <a:pt x="1177671" y="609980"/>
                  </a:lnTo>
                  <a:lnTo>
                    <a:pt x="1144397" y="560451"/>
                  </a:lnTo>
                  <a:lnTo>
                    <a:pt x="1108582" y="512572"/>
                  </a:lnTo>
                  <a:lnTo>
                    <a:pt x="1070355" y="466089"/>
                  </a:lnTo>
                  <a:lnTo>
                    <a:pt x="1008379" y="399796"/>
                  </a:lnTo>
                  <a:lnTo>
                    <a:pt x="964437" y="358139"/>
                  </a:lnTo>
                  <a:lnTo>
                    <a:pt x="918336" y="318135"/>
                  </a:lnTo>
                  <a:lnTo>
                    <a:pt x="870076" y="280288"/>
                  </a:lnTo>
                  <a:lnTo>
                    <a:pt x="819911" y="244475"/>
                  </a:lnTo>
                  <a:lnTo>
                    <a:pt x="767841" y="210819"/>
                  </a:lnTo>
                  <a:lnTo>
                    <a:pt x="714375" y="179577"/>
                  </a:lnTo>
                  <a:lnTo>
                    <a:pt x="658749" y="150367"/>
                  </a:lnTo>
                  <a:lnTo>
                    <a:pt x="601344" y="123443"/>
                  </a:lnTo>
                  <a:lnTo>
                    <a:pt x="542543" y="99060"/>
                  </a:lnTo>
                  <a:lnTo>
                    <a:pt x="482218" y="77088"/>
                  </a:lnTo>
                  <a:lnTo>
                    <a:pt x="420497" y="57785"/>
                  </a:lnTo>
                  <a:lnTo>
                    <a:pt x="357377" y="41148"/>
                  </a:lnTo>
                  <a:lnTo>
                    <a:pt x="293115" y="27177"/>
                  </a:lnTo>
                  <a:lnTo>
                    <a:pt x="227710" y="16001"/>
                  </a:lnTo>
                  <a:lnTo>
                    <a:pt x="161162" y="7747"/>
                  </a:lnTo>
                  <a:lnTo>
                    <a:pt x="93599" y="2286"/>
                  </a:lnTo>
                  <a:lnTo>
                    <a:pt x="59435" y="762"/>
                  </a:lnTo>
                  <a:lnTo>
                    <a:pt x="25653" y="0"/>
                  </a:lnTo>
                  <a:close/>
                </a:path>
                <a:path w="1386204" h="1207770">
                  <a:moveTo>
                    <a:pt x="1338414" y="1025331"/>
                  </a:moveTo>
                  <a:lnTo>
                    <a:pt x="1317878" y="1057147"/>
                  </a:lnTo>
                  <a:lnTo>
                    <a:pt x="1342604" y="1057147"/>
                  </a:lnTo>
                  <a:lnTo>
                    <a:pt x="1342771" y="1053338"/>
                  </a:lnTo>
                  <a:lnTo>
                    <a:pt x="1338414" y="1025331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49161" y="2865881"/>
              <a:ext cx="1321435" cy="1171575"/>
            </a:xfrm>
            <a:custGeom>
              <a:avLst/>
              <a:gdLst/>
              <a:ahLst/>
              <a:cxnLst/>
              <a:rect l="l" t="t" r="r" b="b"/>
              <a:pathLst>
                <a:path w="1321434" h="1171575">
                  <a:moveTo>
                    <a:pt x="0" y="1171447"/>
                  </a:moveTo>
                  <a:lnTo>
                    <a:pt x="1418" y="1126398"/>
                  </a:lnTo>
                  <a:lnTo>
                    <a:pt x="4693" y="1081787"/>
                  </a:lnTo>
                  <a:lnTo>
                    <a:pt x="9792" y="1037644"/>
                  </a:lnTo>
                  <a:lnTo>
                    <a:pt x="16680" y="994000"/>
                  </a:lnTo>
                  <a:lnTo>
                    <a:pt x="25323" y="950885"/>
                  </a:lnTo>
                  <a:lnTo>
                    <a:pt x="35689" y="908329"/>
                  </a:lnTo>
                  <a:lnTo>
                    <a:pt x="47743" y="866360"/>
                  </a:lnTo>
                  <a:lnTo>
                    <a:pt x="61452" y="825011"/>
                  </a:lnTo>
                  <a:lnTo>
                    <a:pt x="76781" y="784309"/>
                  </a:lnTo>
                  <a:lnTo>
                    <a:pt x="93697" y="744286"/>
                  </a:lnTo>
                  <a:lnTo>
                    <a:pt x="112167" y="704971"/>
                  </a:lnTo>
                  <a:lnTo>
                    <a:pt x="132156" y="666394"/>
                  </a:lnTo>
                  <a:lnTo>
                    <a:pt x="153631" y="628586"/>
                  </a:lnTo>
                  <a:lnTo>
                    <a:pt x="176557" y="591575"/>
                  </a:lnTo>
                  <a:lnTo>
                    <a:pt x="200902" y="555392"/>
                  </a:lnTo>
                  <a:lnTo>
                    <a:pt x="226632" y="520068"/>
                  </a:lnTo>
                  <a:lnTo>
                    <a:pt x="253712" y="485631"/>
                  </a:lnTo>
                  <a:lnTo>
                    <a:pt x="282109" y="452112"/>
                  </a:lnTo>
                  <a:lnTo>
                    <a:pt x="311789" y="419540"/>
                  </a:lnTo>
                  <a:lnTo>
                    <a:pt x="342718" y="387947"/>
                  </a:lnTo>
                  <a:lnTo>
                    <a:pt x="374864" y="357361"/>
                  </a:lnTo>
                  <a:lnTo>
                    <a:pt x="408191" y="327812"/>
                  </a:lnTo>
                  <a:lnTo>
                    <a:pt x="442666" y="299331"/>
                  </a:lnTo>
                  <a:lnTo>
                    <a:pt x="478256" y="271948"/>
                  </a:lnTo>
                  <a:lnTo>
                    <a:pt x="514927" y="245692"/>
                  </a:lnTo>
                  <a:lnTo>
                    <a:pt x="552644" y="220593"/>
                  </a:lnTo>
                  <a:lnTo>
                    <a:pt x="591375" y="196682"/>
                  </a:lnTo>
                  <a:lnTo>
                    <a:pt x="631085" y="173988"/>
                  </a:lnTo>
                  <a:lnTo>
                    <a:pt x="671740" y="152541"/>
                  </a:lnTo>
                  <a:lnTo>
                    <a:pt x="713308" y="132371"/>
                  </a:lnTo>
                  <a:lnTo>
                    <a:pt x="755753" y="113508"/>
                  </a:lnTo>
                  <a:lnTo>
                    <a:pt x="799043" y="95982"/>
                  </a:lnTo>
                  <a:lnTo>
                    <a:pt x="843144" y="79823"/>
                  </a:lnTo>
                  <a:lnTo>
                    <a:pt x="888021" y="65060"/>
                  </a:lnTo>
                  <a:lnTo>
                    <a:pt x="933642" y="51725"/>
                  </a:lnTo>
                  <a:lnTo>
                    <a:pt x="979972" y="39846"/>
                  </a:lnTo>
                  <a:lnTo>
                    <a:pt x="1026977" y="29454"/>
                  </a:lnTo>
                  <a:lnTo>
                    <a:pt x="1074624" y="20579"/>
                  </a:lnTo>
                  <a:lnTo>
                    <a:pt x="1122880" y="13250"/>
                  </a:lnTo>
                  <a:lnTo>
                    <a:pt x="1171710" y="7498"/>
                  </a:lnTo>
                  <a:lnTo>
                    <a:pt x="1221080" y="3352"/>
                  </a:lnTo>
                  <a:lnTo>
                    <a:pt x="1270957" y="843"/>
                  </a:lnTo>
                  <a:lnTo>
                    <a:pt x="1321308" y="0"/>
                  </a:lnTo>
                </a:path>
              </a:pathLst>
            </a:custGeom>
            <a:ln w="50292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959733" y="2323337"/>
            <a:ext cx="15379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Courier New"/>
                <a:cs typeface="Courier New"/>
              </a:rPr>
              <a:t>TO_NUMBER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23278" y="2323337"/>
            <a:ext cx="12014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Courier New"/>
                <a:cs typeface="Courier New"/>
              </a:rPr>
              <a:t>TO_DATE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TO_CHAR</a:t>
                      </a:r>
                      <a:r>
                        <a:rPr dirty="0" sz="2800" spc="-944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r>
                        <a:rPr dirty="0" sz="2800" spc="-3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49195" y="3350857"/>
            <a:ext cx="6904355" cy="2053589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00">
                <a:latin typeface="Gill Sans MT"/>
                <a:cs typeface="Gill Sans MT"/>
              </a:rPr>
              <a:t>The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format</a:t>
            </a:r>
            <a:r>
              <a:rPr dirty="0" sz="1800" spc="-4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model: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Must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be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enclosed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in </a:t>
            </a:r>
            <a:r>
              <a:rPr dirty="0" sz="1800">
                <a:latin typeface="Gill Sans MT"/>
                <a:cs typeface="Gill Sans MT"/>
              </a:rPr>
              <a:t>single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quotation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marks</a:t>
            </a:r>
            <a:r>
              <a:rPr dirty="0" sz="1800" spc="-5">
                <a:latin typeface="Gill Sans MT"/>
                <a:cs typeface="Gill Sans MT"/>
              </a:rPr>
              <a:t> and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is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case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sensitive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Can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include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15">
                <a:latin typeface="Gill Sans MT"/>
                <a:cs typeface="Gill Sans MT"/>
              </a:rPr>
              <a:t>any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valid</a:t>
            </a:r>
            <a:r>
              <a:rPr dirty="0" sz="1800" spc="-5">
                <a:latin typeface="Gill Sans MT"/>
                <a:cs typeface="Gill Sans MT"/>
              </a:rPr>
              <a:t> date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format</a:t>
            </a:r>
            <a:r>
              <a:rPr dirty="0" sz="1800" spc="-4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element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Has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an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5" i="1">
                <a:latin typeface="Courier New"/>
                <a:cs typeface="Courier New"/>
              </a:rPr>
              <a:t>f</a:t>
            </a:r>
            <a:r>
              <a:rPr dirty="0" sz="1800" i="1">
                <a:latin typeface="Courier New"/>
                <a:cs typeface="Courier New"/>
              </a:rPr>
              <a:t>m</a:t>
            </a:r>
            <a:r>
              <a:rPr dirty="0" sz="1800" spc="-590" i="1">
                <a:latin typeface="Courier New"/>
                <a:cs typeface="Courier New"/>
              </a:rPr>
              <a:t> </a:t>
            </a:r>
            <a:r>
              <a:rPr dirty="0" sz="1800">
                <a:latin typeface="Gill Sans MT"/>
                <a:cs typeface="Gill Sans MT"/>
              </a:rPr>
              <a:t>ele</a:t>
            </a:r>
            <a:r>
              <a:rPr dirty="0" sz="1800" spc="5">
                <a:latin typeface="Gill Sans MT"/>
                <a:cs typeface="Gill Sans MT"/>
              </a:rPr>
              <a:t>m</a:t>
            </a:r>
            <a:r>
              <a:rPr dirty="0" sz="1800">
                <a:latin typeface="Gill Sans MT"/>
                <a:cs typeface="Gill Sans MT"/>
              </a:rPr>
              <a:t>ent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to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45">
                <a:latin typeface="Gill Sans MT"/>
                <a:cs typeface="Gill Sans MT"/>
              </a:rPr>
              <a:t>r</a:t>
            </a:r>
            <a:r>
              <a:rPr dirty="0" sz="1800">
                <a:latin typeface="Gill Sans MT"/>
                <a:cs typeface="Gill Sans MT"/>
              </a:rPr>
              <a:t>em</a:t>
            </a:r>
            <a:r>
              <a:rPr dirty="0" sz="1800" spc="-10">
                <a:latin typeface="Gill Sans MT"/>
                <a:cs typeface="Gill Sans MT"/>
              </a:rPr>
              <a:t>o</a:t>
            </a:r>
            <a:r>
              <a:rPr dirty="0" sz="1800" spc="-35">
                <a:latin typeface="Gill Sans MT"/>
                <a:cs typeface="Gill Sans MT"/>
              </a:rPr>
              <a:t>v</a:t>
            </a:r>
            <a:r>
              <a:rPr dirty="0" sz="1800">
                <a:latin typeface="Gill Sans MT"/>
                <a:cs typeface="Gill Sans MT"/>
              </a:rPr>
              <a:t>e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pa</a:t>
            </a:r>
            <a:r>
              <a:rPr dirty="0" sz="1800" spc="-20">
                <a:latin typeface="Gill Sans MT"/>
                <a:cs typeface="Gill Sans MT"/>
              </a:rPr>
              <a:t>d</a:t>
            </a:r>
            <a:r>
              <a:rPr dirty="0" sz="1800" spc="-5">
                <a:latin typeface="Gill Sans MT"/>
                <a:cs typeface="Gill Sans MT"/>
              </a:rPr>
              <a:t>d</a:t>
            </a:r>
            <a:r>
              <a:rPr dirty="0" sz="1800">
                <a:latin typeface="Gill Sans MT"/>
                <a:cs typeface="Gill Sans MT"/>
              </a:rPr>
              <a:t>ed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blanks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or supp</a:t>
            </a:r>
            <a:r>
              <a:rPr dirty="0" sz="1800" spc="-40">
                <a:latin typeface="Gill Sans MT"/>
                <a:cs typeface="Gill Sans MT"/>
              </a:rPr>
              <a:t>r</a:t>
            </a:r>
            <a:r>
              <a:rPr dirty="0" sz="1800">
                <a:latin typeface="Gill Sans MT"/>
                <a:cs typeface="Gill Sans MT"/>
              </a:rPr>
              <a:t>ess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leadin</a:t>
            </a:r>
            <a:r>
              <a:rPr dirty="0" sz="1800">
                <a:latin typeface="Gill Sans MT"/>
                <a:cs typeface="Gill Sans MT"/>
              </a:rPr>
              <a:t>g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z</a:t>
            </a:r>
            <a:r>
              <a:rPr dirty="0" sz="1800" spc="5">
                <a:latin typeface="Gill Sans MT"/>
                <a:cs typeface="Gill Sans MT"/>
              </a:rPr>
              <a:t>e</a:t>
            </a:r>
            <a:r>
              <a:rPr dirty="0" sz="1800" spc="-55">
                <a:latin typeface="Gill Sans MT"/>
                <a:cs typeface="Gill Sans MT"/>
              </a:rPr>
              <a:t>r</a:t>
            </a:r>
            <a:r>
              <a:rPr dirty="0" sz="1800">
                <a:latin typeface="Gill Sans MT"/>
                <a:cs typeface="Gill Sans MT"/>
              </a:rPr>
              <a:t>os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Is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separated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 spc="-15">
                <a:latin typeface="Gill Sans MT"/>
                <a:cs typeface="Gill Sans MT"/>
              </a:rPr>
              <a:t>from</a:t>
            </a:r>
            <a:r>
              <a:rPr dirty="0" sz="1800" spc="-2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the</a:t>
            </a:r>
            <a:r>
              <a:rPr dirty="0" sz="1800" spc="-5">
                <a:latin typeface="Gill Sans MT"/>
                <a:cs typeface="Gill Sans MT"/>
              </a:rPr>
              <a:t> date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value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10">
                <a:latin typeface="Gill Sans MT"/>
                <a:cs typeface="Gill Sans MT"/>
              </a:rPr>
              <a:t>by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comma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61260" y="2461260"/>
            <a:ext cx="7363459" cy="621030"/>
            <a:chOff x="2461260" y="2461260"/>
            <a:chExt cx="7363459" cy="621030"/>
          </a:xfrm>
        </p:grpSpPr>
        <p:sp>
          <p:nvSpPr>
            <p:cNvPr id="5" name="object 5"/>
            <p:cNvSpPr/>
            <p:nvPr/>
          </p:nvSpPr>
          <p:spPr>
            <a:xfrm>
              <a:off x="2524760" y="2524759"/>
              <a:ext cx="7299959" cy="557530"/>
            </a:xfrm>
            <a:custGeom>
              <a:avLst/>
              <a:gdLst/>
              <a:ahLst/>
              <a:cxnLst/>
              <a:rect l="l" t="t" r="r" b="b"/>
              <a:pathLst>
                <a:path w="7299959" h="557530">
                  <a:moveTo>
                    <a:pt x="7299960" y="0"/>
                  </a:moveTo>
                  <a:lnTo>
                    <a:pt x="7223493" y="0"/>
                  </a:lnTo>
                  <a:lnTo>
                    <a:pt x="7223493" y="25400"/>
                  </a:lnTo>
                  <a:lnTo>
                    <a:pt x="7223506" y="481330"/>
                  </a:lnTo>
                  <a:lnTo>
                    <a:pt x="12954" y="481330"/>
                  </a:lnTo>
                  <a:lnTo>
                    <a:pt x="12954" y="532130"/>
                  </a:lnTo>
                  <a:lnTo>
                    <a:pt x="0" y="532130"/>
                  </a:lnTo>
                  <a:lnTo>
                    <a:pt x="0" y="557530"/>
                  </a:lnTo>
                  <a:lnTo>
                    <a:pt x="7299947" y="557530"/>
                  </a:lnTo>
                  <a:lnTo>
                    <a:pt x="7299947" y="532130"/>
                  </a:lnTo>
                  <a:lnTo>
                    <a:pt x="7299960" y="25400"/>
                  </a:lnTo>
                  <a:lnTo>
                    <a:pt x="7299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4" y="2474214"/>
              <a:ext cx="7274559" cy="532130"/>
            </a:xfrm>
            <a:custGeom>
              <a:avLst/>
              <a:gdLst/>
              <a:ahLst/>
              <a:cxnLst/>
              <a:rect l="l" t="t" r="r" b="b"/>
              <a:pathLst>
                <a:path w="7274559" h="532130">
                  <a:moveTo>
                    <a:pt x="7274052" y="0"/>
                  </a:moveTo>
                  <a:lnTo>
                    <a:pt x="0" y="0"/>
                  </a:lnTo>
                  <a:lnTo>
                    <a:pt x="0" y="531876"/>
                  </a:lnTo>
                  <a:lnTo>
                    <a:pt x="7274052" y="531876"/>
                  </a:lnTo>
                  <a:lnTo>
                    <a:pt x="72740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74214" y="2474214"/>
              <a:ext cx="7274559" cy="532130"/>
            </a:xfrm>
            <a:custGeom>
              <a:avLst/>
              <a:gdLst/>
              <a:ahLst/>
              <a:cxnLst/>
              <a:rect l="l" t="t" r="r" b="b"/>
              <a:pathLst>
                <a:path w="7274559" h="532130">
                  <a:moveTo>
                    <a:pt x="0" y="531876"/>
                  </a:moveTo>
                  <a:lnTo>
                    <a:pt x="7274052" y="531876"/>
                  </a:lnTo>
                  <a:lnTo>
                    <a:pt x="7274052" y="0"/>
                  </a:lnTo>
                  <a:lnTo>
                    <a:pt x="0" y="0"/>
                  </a:lnTo>
                  <a:lnTo>
                    <a:pt x="0" y="53187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24760" y="300608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53080" y="2623515"/>
            <a:ext cx="3985260" cy="300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solidFill>
                  <a:srgbClr val="000000"/>
                </a:solidFill>
                <a:latin typeface="Courier New"/>
                <a:cs typeface="Courier New"/>
              </a:rPr>
              <a:t>TO_CHAR(</a:t>
            </a:r>
            <a:r>
              <a:rPr dirty="0" spc="-10" b="1" i="1">
                <a:solidFill>
                  <a:srgbClr val="000000"/>
                </a:solidFill>
                <a:latin typeface="Courier New"/>
                <a:cs typeface="Courier New"/>
              </a:rPr>
              <a:t>date,</a:t>
            </a:r>
            <a:r>
              <a:rPr dirty="0" spc="-60" b="1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pc="-10" b="1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dirty="0" spc="-10" b="1" i="1">
                <a:solidFill>
                  <a:srgbClr val="000000"/>
                </a:solidFill>
                <a:latin typeface="Courier New"/>
                <a:cs typeface="Courier New"/>
              </a:rPr>
              <a:t>format_model</a:t>
            </a:r>
            <a:r>
              <a:rPr dirty="0" spc="-10" b="1">
                <a:solidFill>
                  <a:srgbClr val="000000"/>
                </a:solidFill>
                <a:latin typeface="Courier New"/>
                <a:cs typeface="Courier New"/>
              </a:rPr>
              <a:t>')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74976" y="2083306"/>
          <a:ext cx="7310120" cy="470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5375"/>
                <a:gridCol w="4906009"/>
              </a:tblGrid>
              <a:tr h="64770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dirty="0" sz="2200" spc="-10" b="1">
                          <a:latin typeface="Arial"/>
                          <a:cs typeface="Arial"/>
                        </a:rPr>
                        <a:t>YYYY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1526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numbers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1526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200" spc="-10" b="1">
                          <a:latin typeface="Arial"/>
                          <a:cs typeface="Arial"/>
                        </a:rPr>
                        <a:t>YEAR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441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200" spc="-35" b="1"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2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spelled out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441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2200" spc="-15" b="1">
                          <a:latin typeface="Arial"/>
                          <a:cs typeface="Arial"/>
                        </a:rPr>
                        <a:t>MM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2200" spc="-20" b="1">
                          <a:latin typeface="Arial"/>
                          <a:cs typeface="Arial"/>
                        </a:rPr>
                        <a:t>Two-digit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month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200" spc="-10" b="1">
                          <a:latin typeface="Arial"/>
                          <a:cs typeface="Arial"/>
                        </a:rPr>
                        <a:t>MONTH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name of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month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7620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2200" spc="-15" b="1">
                          <a:latin typeface="Arial"/>
                          <a:cs typeface="Arial"/>
                        </a:rPr>
                        <a:t>MON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419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68605" marR="509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Three-letter</a:t>
                      </a:r>
                      <a:r>
                        <a:rPr dirty="0" sz="22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abbreviation</a:t>
                      </a:r>
                      <a:r>
                        <a:rPr dirty="0" sz="22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2200" spc="-5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month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0231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dirty="0" sz="2200" spc="-10" b="1">
                          <a:latin typeface="Arial"/>
                          <a:cs typeface="Arial"/>
                        </a:rPr>
                        <a:t>DY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165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 marR="4965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Three-letter</a:t>
                      </a:r>
                      <a:r>
                        <a:rPr dirty="0" sz="22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abbreviation</a:t>
                      </a:r>
                      <a:r>
                        <a:rPr dirty="0" sz="22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2200" spc="-5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week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79375">
                        <a:lnSpc>
                          <a:spcPts val="2540"/>
                        </a:lnSpc>
                        <a:spcBef>
                          <a:spcPts val="660"/>
                        </a:spcBef>
                      </a:pPr>
                      <a:r>
                        <a:rPr dirty="0" sz="2200" spc="-75" b="1">
                          <a:latin typeface="Arial"/>
                          <a:cs typeface="Arial"/>
                        </a:rPr>
                        <a:t>DAY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2540"/>
                        </a:lnSpc>
                        <a:spcBef>
                          <a:spcPts val="66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name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week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8133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200" spc="-10" b="1">
                          <a:latin typeface="Arial"/>
                          <a:cs typeface="Arial"/>
                        </a:rPr>
                        <a:t>DD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Numeric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day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month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66186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ELEM</a:t>
            </a:r>
            <a:r>
              <a:rPr dirty="0" sz="2800">
                <a:solidFill>
                  <a:srgbClr val="FFFFFF"/>
                </a:solidFill>
              </a:rPr>
              <a:t>E</a:t>
            </a:r>
            <a:r>
              <a:rPr dirty="0" sz="2800" spc="-5">
                <a:solidFill>
                  <a:srgbClr val="FFFFFF"/>
                </a:solidFill>
              </a:rPr>
              <a:t>NTS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O</a:t>
            </a:r>
            <a:r>
              <a:rPr dirty="0" sz="2800" spc="-5">
                <a:solidFill>
                  <a:srgbClr val="FFFFFF"/>
                </a:solidFill>
              </a:rPr>
              <a:t>F</a:t>
            </a:r>
            <a:r>
              <a:rPr dirty="0" sz="2800" spc="-36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65">
                <a:solidFill>
                  <a:srgbClr val="FFFFFF"/>
                </a:solidFill>
              </a:rPr>
              <a:t>D</a:t>
            </a:r>
            <a:r>
              <a:rPr dirty="0" sz="2800" spc="-290">
                <a:solidFill>
                  <a:srgbClr val="FFFFFF"/>
                </a:solidFill>
              </a:rPr>
              <a:t>A</a:t>
            </a:r>
            <a:r>
              <a:rPr dirty="0" sz="2800" spc="-5">
                <a:solidFill>
                  <a:srgbClr val="FFFFFF"/>
                </a:solidFill>
              </a:rPr>
              <a:t>TE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FORM</a:t>
            </a:r>
            <a:r>
              <a:rPr dirty="0" sz="2800" spc="-295">
                <a:solidFill>
                  <a:srgbClr val="FFFFFF"/>
                </a:solidFill>
              </a:rPr>
              <a:t>A</a:t>
            </a:r>
            <a:r>
              <a:rPr dirty="0" sz="2800" spc="-5">
                <a:solidFill>
                  <a:srgbClr val="FFFFFF"/>
                </a:solidFill>
              </a:rPr>
              <a:t>T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5">
                <a:solidFill>
                  <a:srgbClr val="FFFFFF"/>
                </a:solidFill>
              </a:rPr>
              <a:t>M</a:t>
            </a:r>
            <a:r>
              <a:rPr dirty="0" sz="2800" spc="-10">
                <a:solidFill>
                  <a:srgbClr val="FFFFFF"/>
                </a:solidFill>
              </a:rPr>
              <a:t>ODEL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ELEM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NTS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</a:t>
                      </a:r>
                      <a:r>
                        <a:rPr dirty="0" sz="2800" spc="-3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FORM</a:t>
                      </a:r>
                      <a:r>
                        <a:rPr dirty="0" sz="2800" spc="-29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ODEL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33017" y="2127630"/>
            <a:ext cx="5097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299085" algn="l"/>
                <a:tab pos="29972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Time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elements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format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time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portion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date.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017" y="2994786"/>
            <a:ext cx="6581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299085" algn="l"/>
                <a:tab pos="29972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Add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enclosing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them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in double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quotation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marks.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017" y="4281296"/>
            <a:ext cx="36055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299085" algn="l"/>
                <a:tab pos="29972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suffixes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spell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numbers.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20161" y="2490977"/>
            <a:ext cx="3395979" cy="436245"/>
          </a:xfrm>
          <a:custGeom>
            <a:avLst/>
            <a:gdLst/>
            <a:ahLst/>
            <a:cxnLst/>
            <a:rect l="l" t="t" r="r" b="b"/>
            <a:pathLst>
              <a:path w="3395979" h="436244">
                <a:moveTo>
                  <a:pt x="0" y="435863"/>
                </a:moveTo>
                <a:lnTo>
                  <a:pt x="3395472" y="435863"/>
                </a:lnTo>
                <a:lnTo>
                  <a:pt x="3395472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47638" y="2490977"/>
            <a:ext cx="3395979" cy="436245"/>
          </a:xfrm>
          <a:custGeom>
            <a:avLst/>
            <a:gdLst/>
            <a:ahLst/>
            <a:cxnLst/>
            <a:rect l="l" t="t" r="r" b="b"/>
            <a:pathLst>
              <a:path w="3395979" h="436244">
                <a:moveTo>
                  <a:pt x="0" y="435863"/>
                </a:moveTo>
                <a:lnTo>
                  <a:pt x="3395471" y="435863"/>
                </a:lnTo>
                <a:lnTo>
                  <a:pt x="3395471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20161" y="2490977"/>
            <a:ext cx="3411854" cy="436245"/>
          </a:xfrm>
          <a:prstGeom prst="rect"/>
          <a:solidFill>
            <a:srgbClr val="FF9933"/>
          </a:solidFill>
          <a:ln w="25907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440"/>
              </a:spcBef>
            </a:pPr>
            <a:r>
              <a:rPr dirty="0" sz="2200" b="1">
                <a:solidFill>
                  <a:srgbClr val="000000"/>
                </a:solidFill>
                <a:latin typeface="Courier New"/>
                <a:cs typeface="Courier New"/>
              </a:rPr>
              <a:t>HH24:MI:SS</a:t>
            </a:r>
            <a:r>
              <a:rPr dirty="0" sz="2200" spc="-6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000000"/>
                </a:solidFill>
                <a:latin typeface="Courier New"/>
                <a:cs typeface="Courier New"/>
              </a:rPr>
              <a:t>AM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4590" y="2490977"/>
            <a:ext cx="3398520" cy="436245"/>
          </a:xfrm>
          <a:prstGeom prst="rect">
            <a:avLst/>
          </a:prstGeom>
          <a:solidFill>
            <a:srgbClr val="FF9933"/>
          </a:solidFill>
        </p:spPr>
        <p:txBody>
          <a:bodyPr wrap="square" lIns="0" tIns="55880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440"/>
              </a:spcBef>
            </a:pPr>
            <a:r>
              <a:rPr dirty="0" sz="2200" spc="-5" b="1">
                <a:latin typeface="Courier New"/>
                <a:cs typeface="Courier New"/>
              </a:rPr>
              <a:t>15:45:32</a:t>
            </a:r>
            <a:r>
              <a:rPr dirty="0" sz="2200" spc="-25" b="1">
                <a:latin typeface="Courier New"/>
                <a:cs typeface="Courier New"/>
              </a:rPr>
              <a:t> </a:t>
            </a:r>
            <a:r>
              <a:rPr dirty="0" sz="2200" spc="-10" b="1">
                <a:latin typeface="Courier New"/>
                <a:cs typeface="Courier New"/>
              </a:rPr>
              <a:t>PM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03398" y="3551682"/>
            <a:ext cx="6840220" cy="449580"/>
          </a:xfrm>
          <a:custGeom>
            <a:avLst/>
            <a:gdLst/>
            <a:ahLst/>
            <a:cxnLst/>
            <a:rect l="l" t="t" r="r" b="b"/>
            <a:pathLst>
              <a:path w="6840220" h="449579">
                <a:moveTo>
                  <a:pt x="0" y="449579"/>
                </a:moveTo>
                <a:lnTo>
                  <a:pt x="3404616" y="449579"/>
                </a:lnTo>
                <a:lnTo>
                  <a:pt x="3404616" y="0"/>
                </a:lnTo>
                <a:lnTo>
                  <a:pt x="0" y="0"/>
                </a:lnTo>
                <a:lnTo>
                  <a:pt x="0" y="449579"/>
                </a:lnTo>
                <a:close/>
              </a:path>
              <a:path w="6840220" h="449579">
                <a:moveTo>
                  <a:pt x="3435096" y="449579"/>
                </a:moveTo>
                <a:lnTo>
                  <a:pt x="6839711" y="449579"/>
                </a:lnTo>
                <a:lnTo>
                  <a:pt x="6839711" y="0"/>
                </a:lnTo>
                <a:lnTo>
                  <a:pt x="3435096" y="0"/>
                </a:lnTo>
                <a:lnTo>
                  <a:pt x="3435096" y="44957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16351" y="3564635"/>
            <a:ext cx="3394075" cy="424180"/>
          </a:xfrm>
          <a:prstGeom prst="rect">
            <a:avLst/>
          </a:prstGeom>
          <a:solidFill>
            <a:srgbClr val="FF9933"/>
          </a:solidFill>
        </p:spPr>
        <p:txBody>
          <a:bodyPr wrap="square" lIns="0" tIns="4699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370"/>
              </a:spcBef>
            </a:pPr>
            <a:r>
              <a:rPr dirty="0" sz="2200" spc="-5" b="1">
                <a:latin typeface="Courier New"/>
                <a:cs typeface="Courier New"/>
              </a:rPr>
              <a:t>DD</a:t>
            </a:r>
            <a:r>
              <a:rPr dirty="0" sz="2200" spc="-25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"of"</a:t>
            </a:r>
            <a:r>
              <a:rPr dirty="0" sz="2200" spc="-20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MONTH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6208" y="3564635"/>
            <a:ext cx="3394075" cy="424180"/>
          </a:xfrm>
          <a:prstGeom prst="rect">
            <a:avLst/>
          </a:prstGeom>
          <a:solidFill>
            <a:srgbClr val="FF9933"/>
          </a:solidFill>
        </p:spPr>
        <p:txBody>
          <a:bodyPr wrap="square" lIns="0" tIns="4699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370"/>
              </a:spcBef>
            </a:pPr>
            <a:r>
              <a:rPr dirty="0" sz="2200" spc="-5" b="1">
                <a:latin typeface="Courier New"/>
                <a:cs typeface="Courier New"/>
              </a:rPr>
              <a:t>12</a:t>
            </a:r>
            <a:r>
              <a:rPr dirty="0" sz="2200" spc="-30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of</a:t>
            </a:r>
            <a:r>
              <a:rPr dirty="0" sz="2200" spc="-2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OCTOBER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3398" y="4933950"/>
            <a:ext cx="6840220" cy="405765"/>
          </a:xfrm>
          <a:custGeom>
            <a:avLst/>
            <a:gdLst/>
            <a:ahLst/>
            <a:cxnLst/>
            <a:rect l="l" t="t" r="r" b="b"/>
            <a:pathLst>
              <a:path w="6840220" h="405764">
                <a:moveTo>
                  <a:pt x="0" y="405384"/>
                </a:moveTo>
                <a:lnTo>
                  <a:pt x="3404616" y="405384"/>
                </a:lnTo>
                <a:lnTo>
                  <a:pt x="3404616" y="0"/>
                </a:lnTo>
                <a:lnTo>
                  <a:pt x="0" y="0"/>
                </a:lnTo>
                <a:lnTo>
                  <a:pt x="0" y="405384"/>
                </a:lnTo>
                <a:close/>
              </a:path>
              <a:path w="6840220" h="405764">
                <a:moveTo>
                  <a:pt x="3435096" y="405384"/>
                </a:moveTo>
                <a:lnTo>
                  <a:pt x="6839711" y="405384"/>
                </a:lnTo>
                <a:lnTo>
                  <a:pt x="6839711" y="0"/>
                </a:lnTo>
                <a:lnTo>
                  <a:pt x="3435096" y="0"/>
                </a:lnTo>
                <a:lnTo>
                  <a:pt x="3435096" y="40538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16351" y="4946903"/>
            <a:ext cx="3394075" cy="379730"/>
          </a:xfrm>
          <a:prstGeom prst="rect">
            <a:avLst/>
          </a:prstGeom>
          <a:solidFill>
            <a:srgbClr val="FF9933"/>
          </a:solidFill>
        </p:spPr>
        <p:txBody>
          <a:bodyPr wrap="square" lIns="0" tIns="4254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335"/>
              </a:spcBef>
            </a:pPr>
            <a:r>
              <a:rPr dirty="0" sz="2200" spc="-5" b="1">
                <a:latin typeface="Courier New"/>
                <a:cs typeface="Courier New"/>
              </a:rPr>
              <a:t>ddspth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36208" y="4946903"/>
            <a:ext cx="3394075" cy="379730"/>
          </a:xfrm>
          <a:prstGeom prst="rect">
            <a:avLst/>
          </a:prstGeom>
          <a:solidFill>
            <a:srgbClr val="FF9933"/>
          </a:solidFill>
        </p:spPr>
        <p:txBody>
          <a:bodyPr wrap="square" lIns="0" tIns="42545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335"/>
              </a:spcBef>
            </a:pPr>
            <a:r>
              <a:rPr dirty="0" sz="2200" b="1">
                <a:latin typeface="Courier New"/>
                <a:cs typeface="Courier New"/>
              </a:rPr>
              <a:t>fourteenth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4267" y="1847088"/>
            <a:ext cx="7188200" cy="1211580"/>
            <a:chOff x="2144267" y="1847088"/>
            <a:chExt cx="7188200" cy="1211580"/>
          </a:xfrm>
        </p:grpSpPr>
        <p:sp>
          <p:nvSpPr>
            <p:cNvPr id="3" name="object 3"/>
            <p:cNvSpPr/>
            <p:nvPr/>
          </p:nvSpPr>
          <p:spPr>
            <a:xfrm>
              <a:off x="2207768" y="1910079"/>
              <a:ext cx="7124700" cy="1148080"/>
            </a:xfrm>
            <a:custGeom>
              <a:avLst/>
              <a:gdLst/>
              <a:ahLst/>
              <a:cxnLst/>
              <a:rect l="l" t="t" r="r" b="b"/>
              <a:pathLst>
                <a:path w="7124700" h="1148080">
                  <a:moveTo>
                    <a:pt x="7124700" y="0"/>
                  </a:moveTo>
                  <a:lnTo>
                    <a:pt x="7048246" y="0"/>
                  </a:lnTo>
                  <a:lnTo>
                    <a:pt x="7048246" y="13970"/>
                  </a:lnTo>
                  <a:lnTo>
                    <a:pt x="7048246" y="26670"/>
                  </a:lnTo>
                  <a:lnTo>
                    <a:pt x="7048246" y="1071880"/>
                  </a:lnTo>
                  <a:lnTo>
                    <a:pt x="25908" y="1071880"/>
                  </a:lnTo>
                  <a:lnTo>
                    <a:pt x="12954" y="1071880"/>
                  </a:lnTo>
                  <a:lnTo>
                    <a:pt x="0" y="1071880"/>
                  </a:lnTo>
                  <a:lnTo>
                    <a:pt x="0" y="1122680"/>
                  </a:lnTo>
                  <a:lnTo>
                    <a:pt x="0" y="1148080"/>
                  </a:lnTo>
                  <a:lnTo>
                    <a:pt x="7124700" y="1148080"/>
                  </a:lnTo>
                  <a:lnTo>
                    <a:pt x="7124700" y="1122680"/>
                  </a:lnTo>
                  <a:lnTo>
                    <a:pt x="7124700" y="26670"/>
                  </a:lnTo>
                  <a:lnTo>
                    <a:pt x="7124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157221" y="1860042"/>
              <a:ext cx="7099300" cy="1122045"/>
            </a:xfrm>
            <a:custGeom>
              <a:avLst/>
              <a:gdLst/>
              <a:ahLst/>
              <a:cxnLst/>
              <a:rect l="l" t="t" r="r" b="b"/>
              <a:pathLst>
                <a:path w="7099300" h="1122045">
                  <a:moveTo>
                    <a:pt x="7098792" y="0"/>
                  </a:moveTo>
                  <a:lnTo>
                    <a:pt x="0" y="0"/>
                  </a:lnTo>
                  <a:lnTo>
                    <a:pt x="0" y="1121664"/>
                  </a:lnTo>
                  <a:lnTo>
                    <a:pt x="7098792" y="1121664"/>
                  </a:lnTo>
                  <a:lnTo>
                    <a:pt x="70987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157221" y="1860042"/>
              <a:ext cx="7099300" cy="1122045"/>
            </a:xfrm>
            <a:custGeom>
              <a:avLst/>
              <a:gdLst/>
              <a:ahLst/>
              <a:cxnLst/>
              <a:rect l="l" t="t" r="r" b="b"/>
              <a:pathLst>
                <a:path w="7099300" h="1122045">
                  <a:moveTo>
                    <a:pt x="0" y="1121664"/>
                  </a:moveTo>
                  <a:lnTo>
                    <a:pt x="7098792" y="1121664"/>
                  </a:lnTo>
                  <a:lnTo>
                    <a:pt x="7098792" y="0"/>
                  </a:lnTo>
                  <a:lnTo>
                    <a:pt x="0" y="0"/>
                  </a:lnTo>
                  <a:lnTo>
                    <a:pt x="0" y="11216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41" y="1249756"/>
            <a:ext cx="73736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33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</a:t>
            </a:r>
            <a:r>
              <a:rPr dirty="0" sz="2800" spc="-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TO_CHAR</a:t>
            </a:r>
            <a:r>
              <a:rPr dirty="0" sz="2800" spc="-94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</a:t>
            </a:r>
            <a:r>
              <a:rPr dirty="0" sz="2800" spc="-15">
                <a:solidFill>
                  <a:srgbClr val="FFFFFF"/>
                </a:solidFill>
              </a:rPr>
              <a:t>C</a:t>
            </a:r>
            <a:r>
              <a:rPr dirty="0" sz="2800" spc="-5">
                <a:solidFill>
                  <a:srgbClr val="FFFFFF"/>
                </a:solidFill>
              </a:rPr>
              <a:t>TION</a:t>
            </a:r>
            <a:r>
              <a:rPr dirty="0" sz="2800" spc="-34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WITH</a:t>
            </a:r>
            <a:r>
              <a:rPr dirty="0" sz="2800">
                <a:solidFill>
                  <a:srgbClr val="FFFFFF"/>
                </a:solidFill>
              </a:rPr>
              <a:t> </a:t>
            </a:r>
            <a:r>
              <a:rPr dirty="0" sz="2800" spc="-160">
                <a:solidFill>
                  <a:srgbClr val="FFFFFF"/>
                </a:solidFill>
              </a:rPr>
              <a:t>D</a:t>
            </a:r>
            <a:r>
              <a:rPr dirty="0" sz="2800" spc="-290">
                <a:solidFill>
                  <a:srgbClr val="FFFFFF"/>
                </a:solidFill>
              </a:rPr>
              <a:t>A</a:t>
            </a:r>
            <a:r>
              <a:rPr dirty="0" sz="2800" spc="-5">
                <a:solidFill>
                  <a:srgbClr val="FFFFFF"/>
                </a:solidFill>
              </a:rPr>
              <a:t>TES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454" y="1807845"/>
            <a:ext cx="2346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1538" y="2123694"/>
            <a:ext cx="5101590" cy="53975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3180">
              <a:lnSpc>
                <a:spcPts val="1935"/>
              </a:lnSpc>
            </a:pPr>
            <a:r>
              <a:rPr dirty="0" sz="1800" spc="-10" b="1">
                <a:latin typeface="Courier New"/>
                <a:cs typeface="Courier New"/>
              </a:rPr>
              <a:t>TO_CHAR(hire_date,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'fmDD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Month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YYYY')</a:t>
            </a:r>
            <a:endParaRPr sz="1800">
              <a:latin typeface="Courier New"/>
              <a:cs typeface="Courier New"/>
            </a:endParaRPr>
          </a:p>
          <a:p>
            <a:pPr marL="43180" marR="3175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AS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HIREDATE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5454" y="2631185"/>
            <a:ext cx="572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2351" y="2631185"/>
            <a:ext cx="1389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s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8967" y="4708397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6460" y="5081015"/>
            <a:ext cx="7190232" cy="21031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156460" y="3116579"/>
            <a:ext cx="7162800" cy="1762125"/>
            <a:chOff x="2156460" y="3116579"/>
            <a:chExt cx="7162800" cy="176212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460" y="3116579"/>
              <a:ext cx="7162800" cy="17617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29022" y="3146297"/>
              <a:ext cx="3912235" cy="1713230"/>
            </a:xfrm>
            <a:custGeom>
              <a:avLst/>
              <a:gdLst/>
              <a:ahLst/>
              <a:cxnLst/>
              <a:rect l="l" t="t" r="r" b="b"/>
              <a:pathLst>
                <a:path w="3912234" h="1713229">
                  <a:moveTo>
                    <a:pt x="0" y="1712976"/>
                  </a:moveTo>
                  <a:lnTo>
                    <a:pt x="3912108" y="1712976"/>
                  </a:lnTo>
                  <a:lnTo>
                    <a:pt x="3912108" y="0"/>
                  </a:lnTo>
                  <a:lnTo>
                    <a:pt x="0" y="0"/>
                  </a:lnTo>
                  <a:lnTo>
                    <a:pt x="0" y="1712976"/>
                  </a:lnTo>
                  <a:close/>
                </a:path>
              </a:pathLst>
            </a:custGeom>
            <a:ln w="25907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1249756"/>
            <a:ext cx="79330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33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 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TO_CHAR</a:t>
            </a:r>
            <a:r>
              <a:rPr dirty="0" sz="2800" spc="-9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FUNCTION</a:t>
            </a:r>
            <a:r>
              <a:rPr dirty="0" sz="2800" spc="-340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WITH</a:t>
            </a:r>
            <a:r>
              <a:rPr dirty="0" sz="2800" spc="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NUMBERS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64307" y="2051304"/>
            <a:ext cx="7355840" cy="572770"/>
            <a:chOff x="2464307" y="2051304"/>
            <a:chExt cx="7355840" cy="572770"/>
          </a:xfrm>
        </p:grpSpPr>
        <p:sp>
          <p:nvSpPr>
            <p:cNvPr id="4" name="object 4"/>
            <p:cNvSpPr/>
            <p:nvPr/>
          </p:nvSpPr>
          <p:spPr>
            <a:xfrm>
              <a:off x="2527808" y="2114549"/>
              <a:ext cx="7292340" cy="509270"/>
            </a:xfrm>
            <a:custGeom>
              <a:avLst/>
              <a:gdLst/>
              <a:ahLst/>
              <a:cxnLst/>
              <a:rect l="l" t="t" r="r" b="b"/>
              <a:pathLst>
                <a:path w="7292340" h="509269">
                  <a:moveTo>
                    <a:pt x="7292340" y="0"/>
                  </a:moveTo>
                  <a:lnTo>
                    <a:pt x="7215886" y="0"/>
                  </a:lnTo>
                  <a:lnTo>
                    <a:pt x="7215886" y="12700"/>
                  </a:lnTo>
                  <a:lnTo>
                    <a:pt x="7215886" y="26670"/>
                  </a:lnTo>
                  <a:lnTo>
                    <a:pt x="7215886" y="433070"/>
                  </a:lnTo>
                  <a:lnTo>
                    <a:pt x="525437" y="433070"/>
                  </a:lnTo>
                  <a:lnTo>
                    <a:pt x="525335" y="432816"/>
                  </a:lnTo>
                  <a:lnTo>
                    <a:pt x="369874" y="432816"/>
                  </a:lnTo>
                  <a:lnTo>
                    <a:pt x="369773" y="433070"/>
                  </a:lnTo>
                  <a:lnTo>
                    <a:pt x="25908" y="433070"/>
                  </a:lnTo>
                  <a:lnTo>
                    <a:pt x="12954" y="433070"/>
                  </a:lnTo>
                  <a:lnTo>
                    <a:pt x="0" y="433070"/>
                  </a:lnTo>
                  <a:lnTo>
                    <a:pt x="0" y="483870"/>
                  </a:lnTo>
                  <a:lnTo>
                    <a:pt x="0" y="509270"/>
                  </a:lnTo>
                  <a:lnTo>
                    <a:pt x="7292340" y="509270"/>
                  </a:lnTo>
                  <a:lnTo>
                    <a:pt x="7292340" y="483870"/>
                  </a:lnTo>
                  <a:lnTo>
                    <a:pt x="7292340" y="26670"/>
                  </a:lnTo>
                  <a:lnTo>
                    <a:pt x="7292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50051" y="255517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156718" y="0"/>
                  </a:lnTo>
                </a:path>
              </a:pathLst>
            </a:custGeom>
            <a:ln w="15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7261" y="2064258"/>
              <a:ext cx="7266940" cy="483234"/>
            </a:xfrm>
            <a:custGeom>
              <a:avLst/>
              <a:gdLst/>
              <a:ahLst/>
              <a:cxnLst/>
              <a:rect l="l" t="t" r="r" b="b"/>
              <a:pathLst>
                <a:path w="7266940" h="483235">
                  <a:moveTo>
                    <a:pt x="7266432" y="0"/>
                  </a:moveTo>
                  <a:lnTo>
                    <a:pt x="0" y="0"/>
                  </a:lnTo>
                  <a:lnTo>
                    <a:pt x="0" y="483108"/>
                  </a:lnTo>
                  <a:lnTo>
                    <a:pt x="7266432" y="483108"/>
                  </a:lnTo>
                  <a:lnTo>
                    <a:pt x="726643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77261" y="2064258"/>
              <a:ext cx="7266940" cy="483234"/>
            </a:xfrm>
            <a:custGeom>
              <a:avLst/>
              <a:gdLst/>
              <a:ahLst/>
              <a:cxnLst/>
              <a:rect l="l" t="t" r="r" b="b"/>
              <a:pathLst>
                <a:path w="7266940" h="483235">
                  <a:moveTo>
                    <a:pt x="0" y="483108"/>
                  </a:moveTo>
                  <a:lnTo>
                    <a:pt x="7266432" y="483108"/>
                  </a:lnTo>
                  <a:lnTo>
                    <a:pt x="7266432" y="0"/>
                  </a:lnTo>
                  <a:lnTo>
                    <a:pt x="0" y="0"/>
                  </a:lnTo>
                  <a:lnTo>
                    <a:pt x="0" y="4831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7770" y="2190115"/>
            <a:ext cx="6698615" cy="1179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TO_CHAR(</a:t>
            </a:r>
            <a:r>
              <a:rPr dirty="0" sz="1800" spc="-10" b="1" i="1">
                <a:latin typeface="Courier New"/>
                <a:cs typeface="Courier New"/>
              </a:rPr>
              <a:t>number,</a:t>
            </a:r>
            <a:r>
              <a:rPr dirty="0" sz="1800" spc="-6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</a:t>
            </a:r>
            <a:r>
              <a:rPr dirty="0" sz="1800" spc="-10" b="1" i="1">
                <a:latin typeface="Courier New"/>
                <a:cs typeface="Courier New"/>
              </a:rPr>
              <a:t>format_model</a:t>
            </a:r>
            <a:r>
              <a:rPr dirty="0" sz="1800" spc="-10" b="1">
                <a:latin typeface="Courier New"/>
                <a:cs typeface="Courier New"/>
              </a:rPr>
              <a:t>')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some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format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elements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you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with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TO_CHAR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display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character:</a:t>
            </a:r>
            <a:endParaRPr sz="1800">
              <a:latin typeface="Gill Sans MT"/>
              <a:cs typeface="Gill Sans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61260" y="3659123"/>
          <a:ext cx="7326630" cy="274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4920"/>
                <a:gridCol w="6022975"/>
              </a:tblGrid>
              <a:tr h="450850">
                <a:tc>
                  <a:txBody>
                    <a:bodyPr/>
                    <a:lstStyle/>
                    <a:p>
                      <a:pPr algn="r" marR="5613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9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Represents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number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algn="r" marR="5613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Forces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zero</a:t>
                      </a:r>
                      <a:r>
                        <a:rPr dirty="0" sz="2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displayed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r" marR="56134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$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Places a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floating</a:t>
                      </a:r>
                      <a:r>
                        <a:rPr dirty="0" sz="220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dollar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sign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07365">
                <a:tc>
                  <a:txBody>
                    <a:bodyPr/>
                    <a:lstStyle/>
                    <a:p>
                      <a:pPr algn="r" marR="55372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L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Uses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floating</a:t>
                      </a:r>
                      <a:r>
                        <a:rPr dirty="0" sz="22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currency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symbol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r" marR="5994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Prints a</a:t>
                      </a:r>
                      <a:r>
                        <a:rPr dirty="0" sz="2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decimal</a:t>
                      </a:r>
                      <a:r>
                        <a:rPr dirty="0" sz="2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point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r" marR="599440">
                        <a:lnSpc>
                          <a:spcPts val="2405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,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10"/>
                        </a:lnSpc>
                        <a:spcBef>
                          <a:spcPts val="254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Prints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thousand</a:t>
                      </a:r>
                      <a:r>
                        <a:rPr dirty="0" sz="220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indicator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R="485140">
                        <a:lnSpc>
                          <a:spcPct val="100000"/>
                        </a:lnSpc>
                      </a:pP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5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5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TO_CHAR</a:t>
                      </a:r>
                      <a:r>
                        <a:rPr dirty="0" sz="2500" spc="-79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</a:t>
                      </a:r>
                      <a:r>
                        <a:rPr dirty="0" sz="25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 NUMBERS</a:t>
                      </a:r>
                      <a:endParaRPr sz="2500">
                        <a:latin typeface="Gill Sans MT"/>
                        <a:cs typeface="Gill Sans MT"/>
                      </a:endParaRPr>
                    </a:p>
                  </a:txBody>
                  <a:tcPr marL="0" marR="0" marB="0" marT="635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42972" y="2391155"/>
            <a:ext cx="7208520" cy="1007744"/>
            <a:chOff x="2442972" y="2391155"/>
            <a:chExt cx="7208520" cy="1007744"/>
          </a:xfrm>
        </p:grpSpPr>
        <p:sp>
          <p:nvSpPr>
            <p:cNvPr id="4" name="object 4"/>
            <p:cNvSpPr/>
            <p:nvPr/>
          </p:nvSpPr>
          <p:spPr>
            <a:xfrm>
              <a:off x="2506472" y="2454909"/>
              <a:ext cx="7145020" cy="943610"/>
            </a:xfrm>
            <a:custGeom>
              <a:avLst/>
              <a:gdLst/>
              <a:ahLst/>
              <a:cxnLst/>
              <a:rect l="l" t="t" r="r" b="b"/>
              <a:pathLst>
                <a:path w="7145020" h="943610">
                  <a:moveTo>
                    <a:pt x="7144512" y="0"/>
                  </a:moveTo>
                  <a:lnTo>
                    <a:pt x="7068058" y="0"/>
                  </a:lnTo>
                  <a:lnTo>
                    <a:pt x="7068058" y="12700"/>
                  </a:lnTo>
                  <a:lnTo>
                    <a:pt x="7068058" y="25400"/>
                  </a:lnTo>
                  <a:lnTo>
                    <a:pt x="7068058" y="866140"/>
                  </a:lnTo>
                  <a:lnTo>
                    <a:pt x="12954" y="866140"/>
                  </a:lnTo>
                  <a:lnTo>
                    <a:pt x="12954" y="916940"/>
                  </a:lnTo>
                  <a:lnTo>
                    <a:pt x="0" y="916940"/>
                  </a:lnTo>
                  <a:lnTo>
                    <a:pt x="0" y="943610"/>
                  </a:lnTo>
                  <a:lnTo>
                    <a:pt x="7144512" y="943610"/>
                  </a:lnTo>
                  <a:lnTo>
                    <a:pt x="7144512" y="916940"/>
                  </a:lnTo>
                  <a:lnTo>
                    <a:pt x="7144512" y="25400"/>
                  </a:lnTo>
                  <a:lnTo>
                    <a:pt x="7144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55926" y="2404109"/>
              <a:ext cx="7118984" cy="917575"/>
            </a:xfrm>
            <a:custGeom>
              <a:avLst/>
              <a:gdLst/>
              <a:ahLst/>
              <a:cxnLst/>
              <a:rect l="l" t="t" r="r" b="b"/>
              <a:pathLst>
                <a:path w="7118984" h="917575">
                  <a:moveTo>
                    <a:pt x="7118604" y="0"/>
                  </a:moveTo>
                  <a:lnTo>
                    <a:pt x="0" y="0"/>
                  </a:lnTo>
                  <a:lnTo>
                    <a:pt x="0" y="917448"/>
                  </a:lnTo>
                  <a:lnTo>
                    <a:pt x="7118604" y="917448"/>
                  </a:lnTo>
                  <a:lnTo>
                    <a:pt x="711860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55926" y="2404109"/>
              <a:ext cx="7118984" cy="917575"/>
            </a:xfrm>
            <a:custGeom>
              <a:avLst/>
              <a:gdLst/>
              <a:ahLst/>
              <a:cxnLst/>
              <a:rect l="l" t="t" r="r" b="b"/>
              <a:pathLst>
                <a:path w="7118984" h="917575">
                  <a:moveTo>
                    <a:pt x="0" y="917448"/>
                  </a:moveTo>
                  <a:lnTo>
                    <a:pt x="7118604" y="917448"/>
                  </a:lnTo>
                  <a:lnTo>
                    <a:pt x="7118604" y="0"/>
                  </a:lnTo>
                  <a:lnTo>
                    <a:pt x="0" y="0"/>
                  </a:lnTo>
                  <a:lnTo>
                    <a:pt x="0" y="91744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06472" y="332155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22141" y="2445257"/>
            <a:ext cx="5064760" cy="32639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6675">
              <a:lnSpc>
                <a:spcPts val="2070"/>
              </a:lnSpc>
            </a:pPr>
            <a:r>
              <a:rPr dirty="0" sz="1800" spc="-10" b="1">
                <a:latin typeface="Courier New"/>
                <a:cs typeface="Courier New"/>
              </a:rPr>
              <a:t>TO_CHAR(salary,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'$99,999.00')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19552" y="2420873"/>
            <a:ext cx="84518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000000"/>
                </a:solidFill>
                <a:latin typeface="Courier New"/>
                <a:cs typeface="Courier New"/>
              </a:rPr>
              <a:t>SE</a:t>
            </a:r>
            <a:r>
              <a:rPr dirty="0" spc="-15" b="1">
                <a:solidFill>
                  <a:srgbClr val="000000"/>
                </a:solidFill>
                <a:latin typeface="Courier New"/>
                <a:cs typeface="Courier New"/>
              </a:rPr>
              <a:t>L</a:t>
            </a:r>
            <a:r>
              <a:rPr dirty="0" spc="-5" b="1">
                <a:solidFill>
                  <a:srgbClr val="000000"/>
                </a:solidFill>
                <a:latin typeface="Courier New"/>
                <a:cs typeface="Courier New"/>
              </a:rPr>
              <a:t>E</a:t>
            </a:r>
            <a:r>
              <a:rPr dirty="0" spc="-15" b="1">
                <a:solidFill>
                  <a:srgbClr val="000000"/>
                </a:solidFill>
                <a:latin typeface="Courier New"/>
                <a:cs typeface="Courier New"/>
              </a:rPr>
              <a:t>C</a:t>
            </a:r>
            <a:r>
              <a:rPr dirty="0" b="1">
                <a:solidFill>
                  <a:srgbClr val="000000"/>
                </a:solidFill>
                <a:latin typeface="Courier New"/>
                <a:cs typeface="Courier New"/>
              </a:rPr>
              <a:t>T  </a:t>
            </a:r>
            <a:r>
              <a:rPr dirty="0" spc="-10" b="1">
                <a:solidFill>
                  <a:srgbClr val="000000"/>
                </a:solidFill>
                <a:latin typeface="Courier New"/>
                <a:cs typeface="Courier New"/>
              </a:rPr>
              <a:t>FROM </a:t>
            </a:r>
            <a:r>
              <a:rPr dirty="0" spc="-5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pc="-10" b="1">
                <a:solidFill>
                  <a:srgbClr val="000000"/>
                </a:solidFill>
                <a:latin typeface="Courier New"/>
                <a:cs typeface="Courier New"/>
              </a:rPr>
              <a:t>WHERE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76450" y="2695194"/>
            <a:ext cx="2754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last_name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'Ernst';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3739" y="3587469"/>
            <a:ext cx="7105650" cy="45687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4600">
                        <a:latin typeface="Times New Roman"/>
                        <a:cs typeface="Times New Roman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TO_NUMB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2800" spc="-12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TO_DATE</a:t>
                      </a:r>
                      <a:r>
                        <a:rPr dirty="0" sz="2800" spc="-9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63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670048" y="2819400"/>
            <a:ext cx="7206615" cy="571500"/>
            <a:chOff x="2670048" y="2819400"/>
            <a:chExt cx="7206615" cy="571500"/>
          </a:xfrm>
        </p:grpSpPr>
        <p:sp>
          <p:nvSpPr>
            <p:cNvPr id="4" name="object 4"/>
            <p:cNvSpPr/>
            <p:nvPr/>
          </p:nvSpPr>
          <p:spPr>
            <a:xfrm>
              <a:off x="2733548" y="2882899"/>
              <a:ext cx="7143115" cy="508000"/>
            </a:xfrm>
            <a:custGeom>
              <a:avLst/>
              <a:gdLst/>
              <a:ahLst/>
              <a:cxnLst/>
              <a:rect l="l" t="t" r="r" b="b"/>
              <a:pathLst>
                <a:path w="7143115" h="508000">
                  <a:moveTo>
                    <a:pt x="7142988" y="0"/>
                  </a:moveTo>
                  <a:lnTo>
                    <a:pt x="7066534" y="0"/>
                  </a:lnTo>
                  <a:lnTo>
                    <a:pt x="7066534" y="12700"/>
                  </a:lnTo>
                  <a:lnTo>
                    <a:pt x="7066534" y="25400"/>
                  </a:lnTo>
                  <a:lnTo>
                    <a:pt x="7066534" y="430530"/>
                  </a:lnTo>
                  <a:lnTo>
                    <a:pt x="12954" y="430530"/>
                  </a:lnTo>
                  <a:lnTo>
                    <a:pt x="12954" y="481330"/>
                  </a:lnTo>
                  <a:lnTo>
                    <a:pt x="0" y="481330"/>
                  </a:lnTo>
                  <a:lnTo>
                    <a:pt x="0" y="508000"/>
                  </a:lnTo>
                  <a:lnTo>
                    <a:pt x="7142988" y="508000"/>
                  </a:lnTo>
                  <a:lnTo>
                    <a:pt x="7142988" y="481330"/>
                  </a:lnTo>
                  <a:lnTo>
                    <a:pt x="7142988" y="25400"/>
                  </a:lnTo>
                  <a:lnTo>
                    <a:pt x="71429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83002" y="2832353"/>
              <a:ext cx="7117080" cy="481965"/>
            </a:xfrm>
            <a:custGeom>
              <a:avLst/>
              <a:gdLst/>
              <a:ahLst/>
              <a:cxnLst/>
              <a:rect l="l" t="t" r="r" b="b"/>
              <a:pathLst>
                <a:path w="7117080" h="481964">
                  <a:moveTo>
                    <a:pt x="7117080" y="0"/>
                  </a:moveTo>
                  <a:lnTo>
                    <a:pt x="0" y="0"/>
                  </a:lnTo>
                  <a:lnTo>
                    <a:pt x="0" y="481584"/>
                  </a:lnTo>
                  <a:lnTo>
                    <a:pt x="7117080" y="481584"/>
                  </a:lnTo>
                  <a:lnTo>
                    <a:pt x="71170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83002" y="2832353"/>
              <a:ext cx="7117080" cy="481965"/>
            </a:xfrm>
            <a:custGeom>
              <a:avLst/>
              <a:gdLst/>
              <a:ahLst/>
              <a:cxnLst/>
              <a:rect l="l" t="t" r="r" b="b"/>
              <a:pathLst>
                <a:path w="7117080" h="481964">
                  <a:moveTo>
                    <a:pt x="0" y="481584"/>
                  </a:moveTo>
                  <a:lnTo>
                    <a:pt x="7117080" y="481584"/>
                  </a:lnTo>
                  <a:lnTo>
                    <a:pt x="7117080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733548" y="331393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689860" y="3875532"/>
            <a:ext cx="7168515" cy="621665"/>
            <a:chOff x="2689860" y="3875532"/>
            <a:chExt cx="7168515" cy="621665"/>
          </a:xfrm>
        </p:grpSpPr>
        <p:sp>
          <p:nvSpPr>
            <p:cNvPr id="9" name="object 9"/>
            <p:cNvSpPr/>
            <p:nvPr/>
          </p:nvSpPr>
          <p:spPr>
            <a:xfrm>
              <a:off x="2753360" y="3939539"/>
              <a:ext cx="7105015" cy="557530"/>
            </a:xfrm>
            <a:custGeom>
              <a:avLst/>
              <a:gdLst/>
              <a:ahLst/>
              <a:cxnLst/>
              <a:rect l="l" t="t" r="r" b="b"/>
              <a:pathLst>
                <a:path w="7105015" h="557529">
                  <a:moveTo>
                    <a:pt x="7104888" y="0"/>
                  </a:moveTo>
                  <a:lnTo>
                    <a:pt x="7028434" y="0"/>
                  </a:lnTo>
                  <a:lnTo>
                    <a:pt x="7028434" y="12700"/>
                  </a:lnTo>
                  <a:lnTo>
                    <a:pt x="7028434" y="25400"/>
                  </a:lnTo>
                  <a:lnTo>
                    <a:pt x="7028434" y="481330"/>
                  </a:lnTo>
                  <a:lnTo>
                    <a:pt x="25908" y="481330"/>
                  </a:lnTo>
                  <a:lnTo>
                    <a:pt x="12954" y="481330"/>
                  </a:lnTo>
                  <a:lnTo>
                    <a:pt x="0" y="481330"/>
                  </a:lnTo>
                  <a:lnTo>
                    <a:pt x="0" y="530860"/>
                  </a:lnTo>
                  <a:lnTo>
                    <a:pt x="0" y="557530"/>
                  </a:lnTo>
                  <a:lnTo>
                    <a:pt x="7104888" y="557530"/>
                  </a:lnTo>
                  <a:lnTo>
                    <a:pt x="7104888" y="530860"/>
                  </a:lnTo>
                  <a:lnTo>
                    <a:pt x="7104888" y="25400"/>
                  </a:lnTo>
                  <a:lnTo>
                    <a:pt x="71048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02814" y="3888486"/>
              <a:ext cx="7078980" cy="532130"/>
            </a:xfrm>
            <a:custGeom>
              <a:avLst/>
              <a:gdLst/>
              <a:ahLst/>
              <a:cxnLst/>
              <a:rect l="l" t="t" r="r" b="b"/>
              <a:pathLst>
                <a:path w="7078980" h="532129">
                  <a:moveTo>
                    <a:pt x="7078980" y="0"/>
                  </a:moveTo>
                  <a:lnTo>
                    <a:pt x="0" y="0"/>
                  </a:lnTo>
                  <a:lnTo>
                    <a:pt x="0" y="531876"/>
                  </a:lnTo>
                  <a:lnTo>
                    <a:pt x="7078980" y="531876"/>
                  </a:lnTo>
                  <a:lnTo>
                    <a:pt x="70789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02814" y="3888486"/>
              <a:ext cx="7078980" cy="532130"/>
            </a:xfrm>
            <a:custGeom>
              <a:avLst/>
              <a:gdLst/>
              <a:ahLst/>
              <a:cxnLst/>
              <a:rect l="l" t="t" r="r" b="b"/>
              <a:pathLst>
                <a:path w="7078980" h="532129">
                  <a:moveTo>
                    <a:pt x="0" y="531876"/>
                  </a:moveTo>
                  <a:lnTo>
                    <a:pt x="7078980" y="531876"/>
                  </a:lnTo>
                  <a:lnTo>
                    <a:pt x="7078980" y="0"/>
                  </a:lnTo>
                  <a:lnTo>
                    <a:pt x="0" y="0"/>
                  </a:lnTo>
                  <a:lnTo>
                    <a:pt x="0" y="53187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37640" y="2323338"/>
            <a:ext cx="8049895" cy="3007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Co</a:t>
            </a:r>
            <a:r>
              <a:rPr dirty="0" sz="1800" spc="-25">
                <a:latin typeface="Gill Sans MT"/>
                <a:cs typeface="Gill Sans MT"/>
              </a:rPr>
              <a:t>n</a:t>
            </a:r>
            <a:r>
              <a:rPr dirty="0" sz="1800" spc="-35">
                <a:latin typeface="Gill Sans MT"/>
                <a:cs typeface="Gill Sans MT"/>
              </a:rPr>
              <a:t>v</a:t>
            </a:r>
            <a:r>
              <a:rPr dirty="0" sz="1800">
                <a:latin typeface="Gill Sans MT"/>
                <a:cs typeface="Gill Sans MT"/>
              </a:rPr>
              <a:t>e</a:t>
            </a:r>
            <a:r>
              <a:rPr dirty="0" sz="1800" spc="30">
                <a:latin typeface="Gill Sans MT"/>
                <a:cs typeface="Gill Sans MT"/>
              </a:rPr>
              <a:t>r</a:t>
            </a:r>
            <a:r>
              <a:rPr dirty="0" sz="1800">
                <a:latin typeface="Gill Sans MT"/>
                <a:cs typeface="Gill Sans MT"/>
              </a:rPr>
              <a:t>t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character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string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to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15">
                <a:latin typeface="Gill Sans MT"/>
                <a:cs typeface="Gill Sans MT"/>
              </a:rPr>
              <a:t>n</a:t>
            </a:r>
            <a:r>
              <a:rPr dirty="0" sz="1800">
                <a:latin typeface="Gill Sans MT"/>
                <a:cs typeface="Gill Sans MT"/>
              </a:rPr>
              <a:t>umber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10">
                <a:latin typeface="Gill Sans MT"/>
                <a:cs typeface="Gill Sans MT"/>
              </a:rPr>
              <a:t>f</a:t>
            </a:r>
            <a:r>
              <a:rPr dirty="0" sz="1800">
                <a:latin typeface="Gill Sans MT"/>
                <a:cs typeface="Gill Sans MT"/>
              </a:rPr>
              <a:t>ormat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using the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Courier New"/>
                <a:cs typeface="Courier New"/>
              </a:rPr>
              <a:t>TO_NUMBER</a:t>
            </a:r>
            <a:r>
              <a:rPr dirty="0" sz="1800" spc="-645">
                <a:latin typeface="Courier New"/>
                <a:cs typeface="Courier New"/>
              </a:rPr>
              <a:t> </a:t>
            </a:r>
            <a:r>
              <a:rPr dirty="0" sz="1800">
                <a:latin typeface="Gill Sans MT"/>
                <a:cs typeface="Gill Sans MT"/>
              </a:rPr>
              <a:t>function: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590B8"/>
              </a:buClr>
              <a:buFont typeface="Wingdings 2"/>
              <a:buChar char=""/>
            </a:pPr>
            <a:endParaRPr sz="2400">
              <a:latin typeface="Gill Sans MT"/>
              <a:cs typeface="Gill Sans MT"/>
            </a:endParaRPr>
          </a:p>
          <a:p>
            <a:pPr marL="173736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TO_NUMBER(</a:t>
            </a:r>
            <a:r>
              <a:rPr dirty="0" sz="1800" spc="-10" b="1" i="1">
                <a:latin typeface="Courier New"/>
                <a:cs typeface="Courier New"/>
              </a:rPr>
              <a:t>char</a:t>
            </a: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,</a:t>
            </a:r>
            <a:r>
              <a:rPr dirty="0" sz="1800" spc="-5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</a:t>
            </a:r>
            <a:r>
              <a:rPr dirty="0" sz="1800" spc="-10" b="1" i="1">
                <a:latin typeface="Courier New"/>
                <a:cs typeface="Courier New"/>
              </a:rPr>
              <a:t>format_model</a:t>
            </a:r>
            <a:r>
              <a:rPr dirty="0" sz="1800" spc="-10" b="1">
                <a:latin typeface="Courier New"/>
                <a:cs typeface="Courier New"/>
              </a:rPr>
              <a:t>'])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Courier New"/>
              <a:cs typeface="Courier New"/>
            </a:endParaRPr>
          </a:p>
          <a:p>
            <a:pPr marL="316865" indent="-304800">
              <a:lnSpc>
                <a:spcPct val="100000"/>
              </a:lnSpc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Co</a:t>
            </a:r>
            <a:r>
              <a:rPr dirty="0" sz="1800" spc="-25">
                <a:latin typeface="Gill Sans MT"/>
                <a:cs typeface="Gill Sans MT"/>
              </a:rPr>
              <a:t>n</a:t>
            </a:r>
            <a:r>
              <a:rPr dirty="0" sz="1800" spc="-35">
                <a:latin typeface="Gill Sans MT"/>
                <a:cs typeface="Gill Sans MT"/>
              </a:rPr>
              <a:t>v</a:t>
            </a:r>
            <a:r>
              <a:rPr dirty="0" sz="1800">
                <a:latin typeface="Gill Sans MT"/>
                <a:cs typeface="Gill Sans MT"/>
              </a:rPr>
              <a:t>e</a:t>
            </a:r>
            <a:r>
              <a:rPr dirty="0" sz="1800" spc="30">
                <a:latin typeface="Gill Sans MT"/>
                <a:cs typeface="Gill Sans MT"/>
              </a:rPr>
              <a:t>r</a:t>
            </a:r>
            <a:r>
              <a:rPr dirty="0" sz="1800">
                <a:latin typeface="Gill Sans MT"/>
                <a:cs typeface="Gill Sans MT"/>
              </a:rPr>
              <a:t>t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character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string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to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d</a:t>
            </a:r>
            <a:r>
              <a:rPr dirty="0" sz="1800">
                <a:latin typeface="Gill Sans MT"/>
                <a:cs typeface="Gill Sans MT"/>
              </a:rPr>
              <a:t>ate</a:t>
            </a:r>
            <a:r>
              <a:rPr dirty="0" sz="1800" spc="-10">
                <a:latin typeface="Gill Sans MT"/>
                <a:cs typeface="Gill Sans MT"/>
              </a:rPr>
              <a:t> f</a:t>
            </a:r>
            <a:r>
              <a:rPr dirty="0" sz="1800">
                <a:latin typeface="Gill Sans MT"/>
                <a:cs typeface="Gill Sans MT"/>
              </a:rPr>
              <a:t>ormat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using the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5">
                <a:latin typeface="Courier New"/>
                <a:cs typeface="Courier New"/>
              </a:rPr>
              <a:t>TO_DAT</a:t>
            </a:r>
            <a:r>
              <a:rPr dirty="0" sz="1800">
                <a:latin typeface="Courier New"/>
                <a:cs typeface="Courier New"/>
              </a:rPr>
              <a:t>E</a:t>
            </a:r>
            <a:r>
              <a:rPr dirty="0" sz="1800" spc="-610">
                <a:latin typeface="Courier New"/>
                <a:cs typeface="Courier New"/>
              </a:rPr>
              <a:t> </a:t>
            </a:r>
            <a:r>
              <a:rPr dirty="0" sz="1800">
                <a:latin typeface="Gill Sans MT"/>
                <a:cs typeface="Gill Sans MT"/>
              </a:rPr>
              <a:t>function:</a:t>
            </a:r>
            <a:endParaRPr sz="1800">
              <a:latin typeface="Gill Sans MT"/>
              <a:cs typeface="Gill Sans MT"/>
            </a:endParaRPr>
          </a:p>
          <a:p>
            <a:pPr marL="1756410">
              <a:lnSpc>
                <a:spcPct val="100000"/>
              </a:lnSpc>
              <a:spcBef>
                <a:spcPts val="1770"/>
              </a:spcBef>
            </a:pPr>
            <a:r>
              <a:rPr dirty="0" sz="1800" spc="-10" b="1">
                <a:latin typeface="Courier New"/>
                <a:cs typeface="Courier New"/>
              </a:rPr>
              <a:t>TO_DATE(</a:t>
            </a:r>
            <a:r>
              <a:rPr dirty="0" sz="1800" spc="-10" b="1" i="1">
                <a:latin typeface="Courier New"/>
                <a:cs typeface="Courier New"/>
              </a:rPr>
              <a:t>char</a:t>
            </a:r>
            <a:r>
              <a:rPr dirty="0" sz="1800" spc="-10" b="1">
                <a:latin typeface="Courier New"/>
                <a:cs typeface="Courier New"/>
              </a:rPr>
              <a:t>[,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</a:t>
            </a:r>
            <a:r>
              <a:rPr dirty="0" sz="1800" spc="-10" b="1" i="1">
                <a:latin typeface="Courier New"/>
                <a:cs typeface="Courier New"/>
              </a:rPr>
              <a:t>format_model</a:t>
            </a:r>
            <a:r>
              <a:rPr dirty="0" sz="1800" spc="-10" b="1">
                <a:latin typeface="Courier New"/>
                <a:cs typeface="Courier New"/>
              </a:rPr>
              <a:t>'])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 marL="316865" marR="5080" indent="-304800">
              <a:lnSpc>
                <a:spcPct val="100000"/>
              </a:lnSpc>
              <a:spcBef>
                <a:spcPts val="122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latin typeface="Gill Sans MT"/>
                <a:cs typeface="Gill Sans MT"/>
              </a:rPr>
              <a:t>These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functions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 spc="-25">
                <a:latin typeface="Gill Sans MT"/>
                <a:cs typeface="Gill Sans MT"/>
              </a:rPr>
              <a:t>have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5">
                <a:latin typeface="Courier New"/>
                <a:cs typeface="Courier New"/>
              </a:rPr>
              <a:t>fx</a:t>
            </a:r>
            <a:r>
              <a:rPr dirty="0" sz="1800" spc="-590">
                <a:latin typeface="Courier New"/>
                <a:cs typeface="Courier New"/>
              </a:rPr>
              <a:t> </a:t>
            </a:r>
            <a:r>
              <a:rPr dirty="0" sz="1800" spc="-10">
                <a:latin typeface="Gill Sans MT"/>
                <a:cs typeface="Gill Sans MT"/>
              </a:rPr>
              <a:t>modifier.This</a:t>
            </a:r>
            <a:r>
              <a:rPr dirty="0" sz="1800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modifier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specifies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the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exact</a:t>
            </a:r>
            <a:r>
              <a:rPr dirty="0" sz="1800" spc="-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matching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 spc="-5">
                <a:latin typeface="Gill Sans MT"/>
                <a:cs typeface="Gill Sans MT"/>
              </a:rPr>
              <a:t>for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the </a:t>
            </a:r>
            <a:r>
              <a:rPr dirty="0" sz="1800" spc="-484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character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ar</a:t>
            </a:r>
            <a:r>
              <a:rPr dirty="0" sz="1800" spc="-5">
                <a:latin typeface="Gill Sans MT"/>
                <a:cs typeface="Gill Sans MT"/>
              </a:rPr>
              <a:t>g</a:t>
            </a:r>
            <a:r>
              <a:rPr dirty="0" sz="1800">
                <a:latin typeface="Gill Sans MT"/>
                <a:cs typeface="Gill Sans MT"/>
              </a:rPr>
              <a:t>ument</a:t>
            </a:r>
            <a:r>
              <a:rPr dirty="0" sz="1800" spc="-2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and</a:t>
            </a:r>
            <a:r>
              <a:rPr dirty="0" sz="1800" spc="-1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date</a:t>
            </a:r>
            <a:r>
              <a:rPr dirty="0" sz="1800" spc="-10">
                <a:latin typeface="Gill Sans MT"/>
                <a:cs typeface="Gill Sans MT"/>
              </a:rPr>
              <a:t> f</a:t>
            </a:r>
            <a:r>
              <a:rPr dirty="0" sz="1800">
                <a:latin typeface="Gill Sans MT"/>
                <a:cs typeface="Gill Sans MT"/>
              </a:rPr>
              <a:t>ormat</a:t>
            </a:r>
            <a:r>
              <a:rPr dirty="0" sz="1800" spc="-30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m</a:t>
            </a:r>
            <a:r>
              <a:rPr dirty="0" sz="1800" spc="5">
                <a:latin typeface="Gill Sans MT"/>
                <a:cs typeface="Gill Sans MT"/>
              </a:rPr>
              <a:t>o</a:t>
            </a:r>
            <a:r>
              <a:rPr dirty="0" sz="1800" spc="-5">
                <a:latin typeface="Gill Sans MT"/>
                <a:cs typeface="Gill Sans MT"/>
              </a:rPr>
              <a:t>d</a:t>
            </a:r>
            <a:r>
              <a:rPr dirty="0" sz="1800">
                <a:latin typeface="Gill Sans MT"/>
                <a:cs typeface="Gill Sans MT"/>
              </a:rPr>
              <a:t>el of</a:t>
            </a:r>
            <a:r>
              <a:rPr dirty="0" sz="1800" spc="-15">
                <a:latin typeface="Gill Sans MT"/>
                <a:cs typeface="Gill Sans MT"/>
              </a:rPr>
              <a:t> </a:t>
            </a:r>
            <a:r>
              <a:rPr dirty="0" sz="1800">
                <a:latin typeface="Gill Sans MT"/>
                <a:cs typeface="Gill Sans MT"/>
              </a:rPr>
              <a:t>a </a:t>
            </a:r>
            <a:r>
              <a:rPr dirty="0" sz="1800" spc="-5">
                <a:latin typeface="Courier New"/>
                <a:cs typeface="Courier New"/>
              </a:rPr>
              <a:t>TO_DAT</a:t>
            </a:r>
            <a:r>
              <a:rPr dirty="0" sz="1800">
                <a:latin typeface="Courier New"/>
                <a:cs typeface="Courier New"/>
              </a:rPr>
              <a:t>E</a:t>
            </a:r>
            <a:r>
              <a:rPr dirty="0" sz="1800" spc="-625">
                <a:latin typeface="Courier New"/>
                <a:cs typeface="Courier New"/>
              </a:rPr>
              <a:t> </a:t>
            </a:r>
            <a:r>
              <a:rPr dirty="0" sz="1800">
                <a:latin typeface="Gill Sans MT"/>
                <a:cs typeface="Gill Sans MT"/>
              </a:rPr>
              <a:t>function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RR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14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DATE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FORMAT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83357" y="2044445"/>
            <a:ext cx="7279005" cy="1490980"/>
            <a:chOff x="2483357" y="2044445"/>
            <a:chExt cx="7279005" cy="1490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3357" y="2044445"/>
              <a:ext cx="1940051" cy="14904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6457" y="2044445"/>
              <a:ext cx="2266188" cy="1490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9598" y="2044445"/>
              <a:ext cx="1461516" cy="14904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9401" y="2044445"/>
              <a:ext cx="1592579" cy="1490472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4426458" y="2044445"/>
            <a:ext cx="2266315" cy="1490980"/>
          </a:xfrm>
          <a:custGeom>
            <a:avLst/>
            <a:gdLst/>
            <a:ahLst/>
            <a:cxnLst/>
            <a:rect l="l" t="t" r="r" b="b"/>
            <a:pathLst>
              <a:path w="2266315" h="1490979">
                <a:moveTo>
                  <a:pt x="0" y="1490472"/>
                </a:moveTo>
                <a:lnTo>
                  <a:pt x="2266188" y="1490472"/>
                </a:lnTo>
                <a:lnTo>
                  <a:pt x="2266188" y="0"/>
                </a:lnTo>
                <a:lnTo>
                  <a:pt x="0" y="0"/>
                </a:lnTo>
                <a:lnTo>
                  <a:pt x="0" y="149047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70404" y="2044445"/>
          <a:ext cx="7305040" cy="1488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1830"/>
                <a:gridCol w="2266315"/>
                <a:gridCol w="1469389"/>
                <a:gridCol w="1602105"/>
              </a:tblGrid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ts val="2110"/>
                        </a:lnSpc>
                        <a:spcBef>
                          <a:spcPts val="3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Year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110"/>
                        </a:lnSpc>
                        <a:spcBef>
                          <a:spcPts val="3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Specified</a:t>
                      </a:r>
                      <a:r>
                        <a:rPr dirty="0" sz="18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Date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110"/>
                        </a:lnSpc>
                        <a:spcBef>
                          <a:spcPts val="3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RR</a:t>
                      </a:r>
                      <a:r>
                        <a:rPr dirty="0" sz="18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Format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110"/>
                        </a:lnSpc>
                        <a:spcBef>
                          <a:spcPts val="30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YY</a:t>
                      </a:r>
                      <a:r>
                        <a:rPr dirty="0" sz="18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Format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105"/>
                        </a:lnSpc>
                      </a:pPr>
                      <a:r>
                        <a:rPr dirty="0" sz="1800" spc="-15" b="1">
                          <a:latin typeface="Arial"/>
                          <a:cs typeface="Arial"/>
                        </a:rPr>
                        <a:t>27-OCT-95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10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10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060"/>
                        </a:lnSpc>
                      </a:pPr>
                      <a:r>
                        <a:rPr dirty="0" sz="1800" spc="-15" b="1">
                          <a:latin typeface="Arial"/>
                          <a:cs typeface="Arial"/>
                        </a:rPr>
                        <a:t>27-OCT-17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060"/>
                        </a:lnSpc>
                      </a:pPr>
                      <a:r>
                        <a:rPr dirty="0" sz="1800" spc="-15" b="1">
                          <a:latin typeface="Arial"/>
                          <a:cs typeface="Arial"/>
                        </a:rPr>
                        <a:t>27-OCT-17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06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2017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marL="91440">
                        <a:lnSpc>
                          <a:spcPts val="206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065"/>
                        </a:lnSpc>
                      </a:pPr>
                      <a:r>
                        <a:rPr dirty="0" sz="1800" spc="-15" b="1">
                          <a:latin typeface="Arial"/>
                          <a:cs typeface="Arial"/>
                        </a:rPr>
                        <a:t>27-OCT-95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06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065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2095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2481833" y="3711702"/>
            <a:ext cx="7286625" cy="2662555"/>
            <a:chOff x="2481833" y="3711702"/>
            <a:chExt cx="7286625" cy="266255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81833" y="3713226"/>
              <a:ext cx="7286244" cy="26609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7457" y="3711702"/>
              <a:ext cx="4960620" cy="534924"/>
            </a:xfrm>
            <a:prstGeom prst="rect">
              <a:avLst/>
            </a:prstGeom>
          </p:spPr>
        </p:pic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468879" y="3698747"/>
          <a:ext cx="7325359" cy="266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7485"/>
                <a:gridCol w="861694"/>
                <a:gridCol w="2438400"/>
                <a:gridCol w="2518410"/>
              </a:tblGrid>
              <a:tr h="534035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0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20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0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specified</a:t>
                      </a:r>
                      <a:r>
                        <a:rPr dirty="0" sz="2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two-digit</a:t>
                      </a:r>
                      <a:r>
                        <a:rPr dirty="0" sz="20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0" b="1"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20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b="1">
                          <a:latin typeface="Arial"/>
                          <a:cs typeface="Arial"/>
                        </a:rPr>
                        <a:t>is: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957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92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800" spc="-10" b="1">
                          <a:solidFill>
                            <a:srgbClr val="EBEBEB"/>
                          </a:solidFill>
                          <a:latin typeface="Arial"/>
                          <a:cs typeface="Arial"/>
                        </a:rPr>
                        <a:t>0–49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022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746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50</a:t>
                      </a:r>
                      <a:r>
                        <a:rPr dirty="0" sz="1800" spc="-10" b="1">
                          <a:solidFill>
                            <a:srgbClr val="EBEBEB"/>
                          </a:solidFill>
                          <a:latin typeface="Arial"/>
                          <a:cs typeface="Arial"/>
                        </a:rPr>
                        <a:t>–99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022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73125">
                <a:tc rowSpan="2">
                  <a:txBody>
                    <a:bodyPr/>
                    <a:lstStyle/>
                    <a:p>
                      <a:pPr marL="96520" marR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10" b="1">
                          <a:latin typeface="Arial"/>
                          <a:cs typeface="Arial"/>
                        </a:rPr>
                        <a:t>two</a:t>
                      </a:r>
                      <a:r>
                        <a:rPr dirty="0" sz="18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digits </a:t>
                      </a:r>
                      <a:r>
                        <a:rPr dirty="0" sz="1800" spc="-48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of the 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current 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are: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800" spc="-10" b="1">
                          <a:solidFill>
                            <a:srgbClr val="EBEBEB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1149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return date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800" spc="-48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century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22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 marR="1155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return date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800" spc="-48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century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before 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 one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39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1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50</a:t>
                      </a:r>
                      <a:r>
                        <a:rPr dirty="0" sz="1800" spc="-10" b="1">
                          <a:solidFill>
                            <a:srgbClr val="EBEBEB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99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1239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return date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800" spc="-48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century</a:t>
                      </a:r>
                      <a:r>
                        <a:rPr dirty="0" sz="1800" spc="4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after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 the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 one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 marR="1155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return date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800" spc="-48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century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EXAMPLE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RR</a:t>
                      </a:r>
                      <a:r>
                        <a:rPr dirty="0" sz="2800" spc="-9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1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FORM</a:t>
                      </a:r>
                      <a:r>
                        <a:rPr dirty="0" sz="2800" spc="-29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87167" y="2985516"/>
            <a:ext cx="7296784" cy="1100455"/>
            <a:chOff x="2487167" y="2985516"/>
            <a:chExt cx="7296784" cy="1100455"/>
          </a:xfrm>
        </p:grpSpPr>
        <p:sp>
          <p:nvSpPr>
            <p:cNvPr id="4" name="object 4"/>
            <p:cNvSpPr/>
            <p:nvPr/>
          </p:nvSpPr>
          <p:spPr>
            <a:xfrm>
              <a:off x="2550668" y="3049269"/>
              <a:ext cx="7233284" cy="1036319"/>
            </a:xfrm>
            <a:custGeom>
              <a:avLst/>
              <a:gdLst/>
              <a:ahLst/>
              <a:cxnLst/>
              <a:rect l="l" t="t" r="r" b="b"/>
              <a:pathLst>
                <a:path w="7233284" h="1036320">
                  <a:moveTo>
                    <a:pt x="7232904" y="0"/>
                  </a:moveTo>
                  <a:lnTo>
                    <a:pt x="7156437" y="0"/>
                  </a:lnTo>
                  <a:lnTo>
                    <a:pt x="7156437" y="25400"/>
                  </a:lnTo>
                  <a:lnTo>
                    <a:pt x="7156450" y="960120"/>
                  </a:lnTo>
                  <a:lnTo>
                    <a:pt x="12954" y="960120"/>
                  </a:lnTo>
                  <a:lnTo>
                    <a:pt x="12954" y="1009650"/>
                  </a:lnTo>
                  <a:lnTo>
                    <a:pt x="0" y="1009650"/>
                  </a:lnTo>
                  <a:lnTo>
                    <a:pt x="0" y="1036320"/>
                  </a:lnTo>
                  <a:lnTo>
                    <a:pt x="7232904" y="1036320"/>
                  </a:lnTo>
                  <a:lnTo>
                    <a:pt x="7232904" y="1009650"/>
                  </a:lnTo>
                  <a:lnTo>
                    <a:pt x="7232904" y="25400"/>
                  </a:lnTo>
                  <a:lnTo>
                    <a:pt x="7232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00121" y="2998470"/>
              <a:ext cx="7207250" cy="1010919"/>
            </a:xfrm>
            <a:custGeom>
              <a:avLst/>
              <a:gdLst/>
              <a:ahLst/>
              <a:cxnLst/>
              <a:rect l="l" t="t" r="r" b="b"/>
              <a:pathLst>
                <a:path w="7207250" h="1010920">
                  <a:moveTo>
                    <a:pt x="7206996" y="0"/>
                  </a:moveTo>
                  <a:lnTo>
                    <a:pt x="0" y="0"/>
                  </a:lnTo>
                  <a:lnTo>
                    <a:pt x="0" y="1010411"/>
                  </a:lnTo>
                  <a:lnTo>
                    <a:pt x="7206996" y="1010411"/>
                  </a:lnTo>
                  <a:lnTo>
                    <a:pt x="72069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00121" y="2998470"/>
              <a:ext cx="7207250" cy="1010919"/>
            </a:xfrm>
            <a:custGeom>
              <a:avLst/>
              <a:gdLst/>
              <a:ahLst/>
              <a:cxnLst/>
              <a:rect l="l" t="t" r="r" b="b"/>
              <a:pathLst>
                <a:path w="7207250" h="1010920">
                  <a:moveTo>
                    <a:pt x="0" y="1010411"/>
                  </a:moveTo>
                  <a:lnTo>
                    <a:pt x="7206996" y="1010411"/>
                  </a:lnTo>
                  <a:lnTo>
                    <a:pt x="7206996" y="0"/>
                  </a:lnTo>
                  <a:lnTo>
                    <a:pt x="0" y="0"/>
                  </a:lnTo>
                  <a:lnTo>
                    <a:pt x="0" y="101041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50667" y="400939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30"/>
                </a:moveTo>
                <a:lnTo>
                  <a:pt x="25907" y="49530"/>
                </a:lnTo>
                <a:lnTo>
                  <a:pt x="25907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22121" y="1980565"/>
            <a:ext cx="8769985" cy="187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051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  <a:tab pos="318135" algn="l"/>
              </a:tabLst>
            </a:pPr>
            <a:r>
              <a:rPr dirty="0" sz="1800" spc="-13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find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employees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hired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prior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 1990,</a:t>
            </a:r>
            <a:r>
              <a:rPr dirty="0" sz="1800" spc="-1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RR</a:t>
            </a:r>
            <a:r>
              <a:rPr dirty="0" sz="1800" spc="-58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format,</a:t>
            </a:r>
            <a:r>
              <a:rPr dirty="0" sz="1800" spc="-2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produces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same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results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whether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command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 run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in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1999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now: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Gill Sans MT"/>
              <a:cs typeface="Gill Sans MT"/>
            </a:endParaRPr>
          </a:p>
          <a:p>
            <a:pPr marL="1647825" marR="151130">
              <a:lnSpc>
                <a:spcPct val="100000"/>
              </a:lnSpc>
              <a:tabLst>
                <a:tab pos="24676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TO_CHAR(hire_date, 'DD-Mon-YYYY')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1647825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WHERE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hire_date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&lt;</a:t>
            </a:r>
            <a:r>
              <a:rPr dirty="0" sz="1800" spc="-10" b="1">
                <a:latin typeface="Courier New"/>
                <a:cs typeface="Courier New"/>
              </a:rPr>
              <a:t> TO_DATE('01-Jan-90',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'DD-Mon-RR');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3650" y="4267215"/>
            <a:ext cx="7105650" cy="87665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NESTING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7355" y="3681984"/>
            <a:ext cx="7299959" cy="2268220"/>
            <a:chOff x="2467355" y="3681984"/>
            <a:chExt cx="7299959" cy="2268220"/>
          </a:xfrm>
        </p:grpSpPr>
        <p:sp>
          <p:nvSpPr>
            <p:cNvPr id="4" name="object 4"/>
            <p:cNvSpPr/>
            <p:nvPr/>
          </p:nvSpPr>
          <p:spPr>
            <a:xfrm>
              <a:off x="2962655" y="4382262"/>
              <a:ext cx="5783580" cy="1567815"/>
            </a:xfrm>
            <a:custGeom>
              <a:avLst/>
              <a:gdLst/>
              <a:ahLst/>
              <a:cxnLst/>
              <a:rect l="l" t="t" r="r" b="b"/>
              <a:pathLst>
                <a:path w="5783580" h="1567814">
                  <a:moveTo>
                    <a:pt x="75437" y="150875"/>
                  </a:moveTo>
                  <a:lnTo>
                    <a:pt x="50292" y="184404"/>
                  </a:lnTo>
                  <a:lnTo>
                    <a:pt x="50292" y="1542224"/>
                  </a:lnTo>
                  <a:lnTo>
                    <a:pt x="52274" y="1552009"/>
                  </a:lnTo>
                  <a:lnTo>
                    <a:pt x="57673" y="1560002"/>
                  </a:lnTo>
                  <a:lnTo>
                    <a:pt x="65668" y="1565393"/>
                  </a:lnTo>
                  <a:lnTo>
                    <a:pt x="75437" y="1567370"/>
                  </a:lnTo>
                  <a:lnTo>
                    <a:pt x="5708015" y="1567370"/>
                  </a:lnTo>
                  <a:lnTo>
                    <a:pt x="5717837" y="1565393"/>
                  </a:lnTo>
                  <a:lnTo>
                    <a:pt x="5725826" y="1560002"/>
                  </a:lnTo>
                  <a:lnTo>
                    <a:pt x="5731196" y="1552009"/>
                  </a:lnTo>
                  <a:lnTo>
                    <a:pt x="5733161" y="1542224"/>
                  </a:lnTo>
                  <a:lnTo>
                    <a:pt x="100583" y="1542224"/>
                  </a:lnTo>
                  <a:lnTo>
                    <a:pt x="75437" y="1517078"/>
                  </a:lnTo>
                  <a:lnTo>
                    <a:pt x="100583" y="1517078"/>
                  </a:lnTo>
                  <a:lnTo>
                    <a:pt x="100583" y="184404"/>
                  </a:lnTo>
                  <a:lnTo>
                    <a:pt x="75437" y="150875"/>
                  </a:lnTo>
                  <a:close/>
                </a:path>
                <a:path w="5783580" h="1567814">
                  <a:moveTo>
                    <a:pt x="100583" y="1517078"/>
                  </a:moveTo>
                  <a:lnTo>
                    <a:pt x="75437" y="1517078"/>
                  </a:lnTo>
                  <a:lnTo>
                    <a:pt x="100583" y="1542224"/>
                  </a:lnTo>
                  <a:lnTo>
                    <a:pt x="100583" y="1517078"/>
                  </a:lnTo>
                  <a:close/>
                </a:path>
                <a:path w="5783580" h="1567814">
                  <a:moveTo>
                    <a:pt x="5682869" y="1517078"/>
                  </a:moveTo>
                  <a:lnTo>
                    <a:pt x="100583" y="1517078"/>
                  </a:lnTo>
                  <a:lnTo>
                    <a:pt x="100583" y="1542224"/>
                  </a:lnTo>
                  <a:lnTo>
                    <a:pt x="5682869" y="1542224"/>
                  </a:lnTo>
                  <a:lnTo>
                    <a:pt x="5682869" y="1517078"/>
                  </a:lnTo>
                  <a:close/>
                </a:path>
                <a:path w="5783580" h="1567814">
                  <a:moveTo>
                    <a:pt x="5708015" y="150875"/>
                  </a:moveTo>
                  <a:lnTo>
                    <a:pt x="5682869" y="184404"/>
                  </a:lnTo>
                  <a:lnTo>
                    <a:pt x="5682869" y="1542224"/>
                  </a:lnTo>
                  <a:lnTo>
                    <a:pt x="5708015" y="1517078"/>
                  </a:lnTo>
                  <a:lnTo>
                    <a:pt x="5733161" y="1517078"/>
                  </a:lnTo>
                  <a:lnTo>
                    <a:pt x="5733161" y="184404"/>
                  </a:lnTo>
                  <a:lnTo>
                    <a:pt x="5708015" y="150875"/>
                  </a:lnTo>
                  <a:close/>
                </a:path>
                <a:path w="5783580" h="1567814">
                  <a:moveTo>
                    <a:pt x="5733161" y="1517078"/>
                  </a:moveTo>
                  <a:lnTo>
                    <a:pt x="5708015" y="1517078"/>
                  </a:lnTo>
                  <a:lnTo>
                    <a:pt x="5682869" y="1542224"/>
                  </a:lnTo>
                  <a:lnTo>
                    <a:pt x="5733161" y="1542224"/>
                  </a:lnTo>
                  <a:lnTo>
                    <a:pt x="5733161" y="1517078"/>
                  </a:lnTo>
                  <a:close/>
                </a:path>
                <a:path w="5783580" h="1567814">
                  <a:moveTo>
                    <a:pt x="75437" y="0"/>
                  </a:moveTo>
                  <a:lnTo>
                    <a:pt x="0" y="251460"/>
                  </a:lnTo>
                  <a:lnTo>
                    <a:pt x="50291" y="184404"/>
                  </a:lnTo>
                  <a:lnTo>
                    <a:pt x="50292" y="150875"/>
                  </a:lnTo>
                  <a:lnTo>
                    <a:pt x="52274" y="141106"/>
                  </a:lnTo>
                  <a:lnTo>
                    <a:pt x="57673" y="133111"/>
                  </a:lnTo>
                  <a:lnTo>
                    <a:pt x="65668" y="127712"/>
                  </a:lnTo>
                  <a:lnTo>
                    <a:pt x="75437" y="125730"/>
                  </a:lnTo>
                  <a:lnTo>
                    <a:pt x="113156" y="125730"/>
                  </a:lnTo>
                  <a:lnTo>
                    <a:pt x="75437" y="0"/>
                  </a:lnTo>
                  <a:close/>
                </a:path>
                <a:path w="5783580" h="1567814">
                  <a:moveTo>
                    <a:pt x="113156" y="125730"/>
                  </a:moveTo>
                  <a:lnTo>
                    <a:pt x="75437" y="125730"/>
                  </a:lnTo>
                  <a:lnTo>
                    <a:pt x="85207" y="127712"/>
                  </a:lnTo>
                  <a:lnTo>
                    <a:pt x="93202" y="133111"/>
                  </a:lnTo>
                  <a:lnTo>
                    <a:pt x="98601" y="141106"/>
                  </a:lnTo>
                  <a:lnTo>
                    <a:pt x="100583" y="150875"/>
                  </a:lnTo>
                  <a:lnTo>
                    <a:pt x="100584" y="184404"/>
                  </a:lnTo>
                  <a:lnTo>
                    <a:pt x="150875" y="251460"/>
                  </a:lnTo>
                  <a:lnTo>
                    <a:pt x="113156" y="125730"/>
                  </a:lnTo>
                  <a:close/>
                </a:path>
                <a:path w="5783580" h="1567814">
                  <a:moveTo>
                    <a:pt x="5708015" y="0"/>
                  </a:moveTo>
                  <a:lnTo>
                    <a:pt x="5632577" y="251460"/>
                  </a:lnTo>
                  <a:lnTo>
                    <a:pt x="5682869" y="184404"/>
                  </a:lnTo>
                  <a:lnTo>
                    <a:pt x="5682869" y="150875"/>
                  </a:lnTo>
                  <a:lnTo>
                    <a:pt x="5684851" y="141106"/>
                  </a:lnTo>
                  <a:lnTo>
                    <a:pt x="5690250" y="133111"/>
                  </a:lnTo>
                  <a:lnTo>
                    <a:pt x="5698245" y="127712"/>
                  </a:lnTo>
                  <a:lnTo>
                    <a:pt x="5708015" y="125730"/>
                  </a:lnTo>
                  <a:lnTo>
                    <a:pt x="5745734" y="125730"/>
                  </a:lnTo>
                  <a:lnTo>
                    <a:pt x="5708015" y="0"/>
                  </a:lnTo>
                  <a:close/>
                </a:path>
                <a:path w="5783580" h="1567814">
                  <a:moveTo>
                    <a:pt x="5745734" y="125730"/>
                  </a:moveTo>
                  <a:lnTo>
                    <a:pt x="5708015" y="125730"/>
                  </a:lnTo>
                  <a:lnTo>
                    <a:pt x="5717837" y="127712"/>
                  </a:lnTo>
                  <a:lnTo>
                    <a:pt x="5725826" y="133111"/>
                  </a:lnTo>
                  <a:lnTo>
                    <a:pt x="5731196" y="141106"/>
                  </a:lnTo>
                  <a:lnTo>
                    <a:pt x="5733161" y="150875"/>
                  </a:lnTo>
                  <a:lnTo>
                    <a:pt x="5733161" y="184404"/>
                  </a:lnTo>
                  <a:lnTo>
                    <a:pt x="5783453" y="251460"/>
                  </a:lnTo>
                  <a:lnTo>
                    <a:pt x="5745734" y="125730"/>
                  </a:lnTo>
                  <a:close/>
                </a:path>
                <a:path w="5783580" h="1567814">
                  <a:moveTo>
                    <a:pt x="75437" y="125730"/>
                  </a:moveTo>
                  <a:lnTo>
                    <a:pt x="65668" y="127712"/>
                  </a:lnTo>
                  <a:lnTo>
                    <a:pt x="57673" y="133111"/>
                  </a:lnTo>
                  <a:lnTo>
                    <a:pt x="52274" y="141106"/>
                  </a:lnTo>
                  <a:lnTo>
                    <a:pt x="50292" y="150875"/>
                  </a:lnTo>
                  <a:lnTo>
                    <a:pt x="50292" y="184404"/>
                  </a:lnTo>
                  <a:lnTo>
                    <a:pt x="75437" y="150875"/>
                  </a:lnTo>
                  <a:lnTo>
                    <a:pt x="100583" y="150875"/>
                  </a:lnTo>
                  <a:lnTo>
                    <a:pt x="98601" y="141106"/>
                  </a:lnTo>
                  <a:lnTo>
                    <a:pt x="93202" y="133111"/>
                  </a:lnTo>
                  <a:lnTo>
                    <a:pt x="85207" y="127712"/>
                  </a:lnTo>
                  <a:lnTo>
                    <a:pt x="75437" y="125730"/>
                  </a:lnTo>
                  <a:close/>
                </a:path>
                <a:path w="5783580" h="1567814">
                  <a:moveTo>
                    <a:pt x="100583" y="150875"/>
                  </a:moveTo>
                  <a:lnTo>
                    <a:pt x="75437" y="150875"/>
                  </a:lnTo>
                  <a:lnTo>
                    <a:pt x="100584" y="184404"/>
                  </a:lnTo>
                  <a:lnTo>
                    <a:pt x="100583" y="150875"/>
                  </a:lnTo>
                  <a:close/>
                </a:path>
                <a:path w="5783580" h="1567814">
                  <a:moveTo>
                    <a:pt x="5708015" y="125730"/>
                  </a:moveTo>
                  <a:lnTo>
                    <a:pt x="5698245" y="127712"/>
                  </a:lnTo>
                  <a:lnTo>
                    <a:pt x="5690250" y="133111"/>
                  </a:lnTo>
                  <a:lnTo>
                    <a:pt x="5684851" y="141106"/>
                  </a:lnTo>
                  <a:lnTo>
                    <a:pt x="5682869" y="150875"/>
                  </a:lnTo>
                  <a:lnTo>
                    <a:pt x="5682869" y="184404"/>
                  </a:lnTo>
                  <a:lnTo>
                    <a:pt x="5708015" y="150875"/>
                  </a:lnTo>
                  <a:lnTo>
                    <a:pt x="5733161" y="150875"/>
                  </a:lnTo>
                  <a:lnTo>
                    <a:pt x="5731196" y="141106"/>
                  </a:lnTo>
                  <a:lnTo>
                    <a:pt x="5725826" y="133111"/>
                  </a:lnTo>
                  <a:lnTo>
                    <a:pt x="5717837" y="127712"/>
                  </a:lnTo>
                  <a:lnTo>
                    <a:pt x="5708015" y="125730"/>
                  </a:lnTo>
                  <a:close/>
                </a:path>
                <a:path w="5783580" h="1567814">
                  <a:moveTo>
                    <a:pt x="5733161" y="150875"/>
                  </a:moveTo>
                  <a:lnTo>
                    <a:pt x="5708015" y="150875"/>
                  </a:lnTo>
                  <a:lnTo>
                    <a:pt x="5733161" y="184404"/>
                  </a:lnTo>
                  <a:lnTo>
                    <a:pt x="5733161" y="150875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355" y="3681984"/>
              <a:ext cx="7299959" cy="6812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77770" y="1903221"/>
            <a:ext cx="7114540" cy="836294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Single-row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nested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any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level.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Nested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are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evaluated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deepest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level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least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deep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level.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7355" y="3681984"/>
            <a:ext cx="7299959" cy="6813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484"/>
              </a:spcBef>
            </a:pPr>
            <a:r>
              <a:rPr dirty="0" sz="2800" spc="-10" b="1">
                <a:solidFill>
                  <a:srgbClr val="FFCC00"/>
                </a:solidFill>
                <a:latin typeface="Courier New"/>
                <a:cs typeface="Courier New"/>
              </a:rPr>
              <a:t>F3</a:t>
            </a:r>
            <a:r>
              <a:rPr dirty="0" sz="2800" spc="-10" b="1">
                <a:solidFill>
                  <a:srgbClr val="8BF4EA"/>
                </a:solidFill>
                <a:latin typeface="Courier New"/>
                <a:cs typeface="Courier New"/>
              </a:rPr>
              <a:t>(F2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(F1(col,arg1)</a:t>
            </a:r>
            <a:r>
              <a:rPr dirty="0" sz="2800" spc="-10" b="1">
                <a:solidFill>
                  <a:srgbClr val="8BF4EA"/>
                </a:solidFill>
                <a:latin typeface="Courier New"/>
                <a:cs typeface="Courier New"/>
              </a:rPr>
              <a:t>,arg2)</a:t>
            </a:r>
            <a:r>
              <a:rPr dirty="0" sz="2800" spc="-10" b="1">
                <a:solidFill>
                  <a:srgbClr val="F9FC00"/>
                </a:solidFill>
                <a:latin typeface="Courier New"/>
                <a:cs typeface="Courier New"/>
              </a:rPr>
              <a:t>,</a:t>
            </a:r>
            <a:r>
              <a:rPr dirty="0" sz="2800" spc="-10" b="1">
                <a:solidFill>
                  <a:srgbClr val="FFCC00"/>
                </a:solidFill>
                <a:latin typeface="Courier New"/>
                <a:cs typeface="Courier New"/>
              </a:rPr>
              <a:t>arg3)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7905" y="4380077"/>
            <a:ext cx="2065020" cy="1470660"/>
          </a:xfrm>
          <a:prstGeom prst="rect">
            <a:avLst/>
          </a:prstGeom>
        </p:spPr>
        <p:txBody>
          <a:bodyPr wrap="square" lIns="0" tIns="184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2000" b="1">
                <a:latin typeface="Arial"/>
                <a:cs typeface="Arial"/>
              </a:rPr>
              <a:t>Step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=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Result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b="1">
                <a:solidFill>
                  <a:srgbClr val="3C3C3C"/>
                </a:solidFill>
                <a:latin typeface="Arial"/>
                <a:cs typeface="Arial"/>
              </a:rPr>
              <a:t>Step</a:t>
            </a:r>
            <a:r>
              <a:rPr dirty="0" sz="2000" spc="-30" b="1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3C3C"/>
                </a:solidFill>
                <a:latin typeface="Arial"/>
                <a:cs typeface="Arial"/>
              </a:rPr>
              <a:t>2</a:t>
            </a:r>
            <a:r>
              <a:rPr dirty="0" sz="2000" spc="-15" b="1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3C3C"/>
                </a:solidFill>
                <a:latin typeface="Arial"/>
                <a:cs typeface="Arial"/>
              </a:rPr>
              <a:t>=</a:t>
            </a:r>
            <a:r>
              <a:rPr dirty="0" sz="2000" spc="-30" b="1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3C3C"/>
                </a:solidFill>
                <a:latin typeface="Arial"/>
                <a:cs typeface="Arial"/>
              </a:rPr>
              <a:t>Result</a:t>
            </a:r>
            <a:r>
              <a:rPr dirty="0" sz="2000" spc="-40" b="1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3C3C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000" b="1">
                <a:solidFill>
                  <a:srgbClr val="FFCC00"/>
                </a:solidFill>
                <a:latin typeface="Arial"/>
                <a:cs typeface="Arial"/>
              </a:rPr>
              <a:t>Step</a:t>
            </a:r>
            <a:r>
              <a:rPr dirty="0" sz="2000" spc="-30" b="1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CC00"/>
                </a:solidFill>
                <a:latin typeface="Arial"/>
                <a:cs typeface="Arial"/>
              </a:rPr>
              <a:t>3</a:t>
            </a:r>
            <a:r>
              <a:rPr dirty="0" sz="2000" spc="-15" b="1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CC00"/>
                </a:solidFill>
                <a:latin typeface="Arial"/>
                <a:cs typeface="Arial"/>
              </a:rPr>
              <a:t>=</a:t>
            </a:r>
            <a:r>
              <a:rPr dirty="0" sz="2000" spc="-30" b="1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CC00"/>
                </a:solidFill>
                <a:latin typeface="Arial"/>
                <a:cs typeface="Arial"/>
              </a:rPr>
              <a:t>Result</a:t>
            </a:r>
            <a:r>
              <a:rPr dirty="0" sz="2000" spc="-40" b="1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CC00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0732" y="4360926"/>
            <a:ext cx="3959225" cy="1080135"/>
          </a:xfrm>
          <a:custGeom>
            <a:avLst/>
            <a:gdLst/>
            <a:ahLst/>
            <a:cxnLst/>
            <a:rect l="l" t="t" r="r" b="b"/>
            <a:pathLst>
              <a:path w="3959225" h="1080135">
                <a:moveTo>
                  <a:pt x="75437" y="150875"/>
                </a:moveTo>
                <a:lnTo>
                  <a:pt x="50291" y="184404"/>
                </a:lnTo>
                <a:lnTo>
                  <a:pt x="50291" y="1054481"/>
                </a:lnTo>
                <a:lnTo>
                  <a:pt x="52274" y="1064303"/>
                </a:lnTo>
                <a:lnTo>
                  <a:pt x="57673" y="1072292"/>
                </a:lnTo>
                <a:lnTo>
                  <a:pt x="65668" y="1077662"/>
                </a:lnTo>
                <a:lnTo>
                  <a:pt x="75437" y="1079627"/>
                </a:lnTo>
                <a:lnTo>
                  <a:pt x="3883787" y="1079627"/>
                </a:lnTo>
                <a:lnTo>
                  <a:pt x="3893609" y="1077662"/>
                </a:lnTo>
                <a:lnTo>
                  <a:pt x="3901598" y="1072292"/>
                </a:lnTo>
                <a:lnTo>
                  <a:pt x="3906968" y="1064303"/>
                </a:lnTo>
                <a:lnTo>
                  <a:pt x="3908933" y="1054481"/>
                </a:lnTo>
                <a:lnTo>
                  <a:pt x="100583" y="1054481"/>
                </a:lnTo>
                <a:lnTo>
                  <a:pt x="75437" y="1029335"/>
                </a:lnTo>
                <a:lnTo>
                  <a:pt x="100583" y="1029335"/>
                </a:lnTo>
                <a:lnTo>
                  <a:pt x="100583" y="184404"/>
                </a:lnTo>
                <a:lnTo>
                  <a:pt x="75437" y="150875"/>
                </a:lnTo>
                <a:close/>
              </a:path>
              <a:path w="3959225" h="1080135">
                <a:moveTo>
                  <a:pt x="100583" y="1029335"/>
                </a:moveTo>
                <a:lnTo>
                  <a:pt x="75437" y="1029335"/>
                </a:lnTo>
                <a:lnTo>
                  <a:pt x="100583" y="1054481"/>
                </a:lnTo>
                <a:lnTo>
                  <a:pt x="100583" y="1029335"/>
                </a:lnTo>
                <a:close/>
              </a:path>
              <a:path w="3959225" h="1080135">
                <a:moveTo>
                  <a:pt x="3858641" y="1029335"/>
                </a:moveTo>
                <a:lnTo>
                  <a:pt x="100583" y="1029335"/>
                </a:lnTo>
                <a:lnTo>
                  <a:pt x="100583" y="1054481"/>
                </a:lnTo>
                <a:lnTo>
                  <a:pt x="3858641" y="1054481"/>
                </a:lnTo>
                <a:lnTo>
                  <a:pt x="3858641" y="1029335"/>
                </a:lnTo>
                <a:close/>
              </a:path>
              <a:path w="3959225" h="1080135">
                <a:moveTo>
                  <a:pt x="3883787" y="150875"/>
                </a:moveTo>
                <a:lnTo>
                  <a:pt x="3858641" y="184404"/>
                </a:lnTo>
                <a:lnTo>
                  <a:pt x="3858641" y="1054481"/>
                </a:lnTo>
                <a:lnTo>
                  <a:pt x="3883787" y="1029335"/>
                </a:lnTo>
                <a:lnTo>
                  <a:pt x="3908933" y="1029335"/>
                </a:lnTo>
                <a:lnTo>
                  <a:pt x="3908933" y="184404"/>
                </a:lnTo>
                <a:lnTo>
                  <a:pt x="3883787" y="150875"/>
                </a:lnTo>
                <a:close/>
              </a:path>
              <a:path w="3959225" h="1080135">
                <a:moveTo>
                  <a:pt x="3908933" y="1029335"/>
                </a:moveTo>
                <a:lnTo>
                  <a:pt x="3883787" y="1029335"/>
                </a:lnTo>
                <a:lnTo>
                  <a:pt x="3858641" y="1054481"/>
                </a:lnTo>
                <a:lnTo>
                  <a:pt x="3908933" y="1054481"/>
                </a:lnTo>
                <a:lnTo>
                  <a:pt x="3908933" y="1029335"/>
                </a:lnTo>
                <a:close/>
              </a:path>
              <a:path w="3959225" h="1080135">
                <a:moveTo>
                  <a:pt x="75437" y="0"/>
                </a:moveTo>
                <a:lnTo>
                  <a:pt x="0" y="251460"/>
                </a:lnTo>
                <a:lnTo>
                  <a:pt x="50291" y="184404"/>
                </a:lnTo>
                <a:lnTo>
                  <a:pt x="50291" y="150875"/>
                </a:lnTo>
                <a:lnTo>
                  <a:pt x="52274" y="141106"/>
                </a:lnTo>
                <a:lnTo>
                  <a:pt x="57673" y="133111"/>
                </a:lnTo>
                <a:lnTo>
                  <a:pt x="65668" y="127712"/>
                </a:lnTo>
                <a:lnTo>
                  <a:pt x="75437" y="125730"/>
                </a:lnTo>
                <a:lnTo>
                  <a:pt x="113157" y="125730"/>
                </a:lnTo>
                <a:lnTo>
                  <a:pt x="75437" y="0"/>
                </a:lnTo>
                <a:close/>
              </a:path>
              <a:path w="3959225" h="1080135">
                <a:moveTo>
                  <a:pt x="113157" y="125730"/>
                </a:moveTo>
                <a:lnTo>
                  <a:pt x="75437" y="125730"/>
                </a:lnTo>
                <a:lnTo>
                  <a:pt x="85207" y="127712"/>
                </a:lnTo>
                <a:lnTo>
                  <a:pt x="93202" y="133111"/>
                </a:lnTo>
                <a:lnTo>
                  <a:pt x="98601" y="141106"/>
                </a:lnTo>
                <a:lnTo>
                  <a:pt x="100583" y="150875"/>
                </a:lnTo>
                <a:lnTo>
                  <a:pt x="100584" y="184404"/>
                </a:lnTo>
                <a:lnTo>
                  <a:pt x="150875" y="251460"/>
                </a:lnTo>
                <a:lnTo>
                  <a:pt x="113157" y="125730"/>
                </a:lnTo>
                <a:close/>
              </a:path>
              <a:path w="3959225" h="1080135">
                <a:moveTo>
                  <a:pt x="3883787" y="0"/>
                </a:moveTo>
                <a:lnTo>
                  <a:pt x="3808348" y="251460"/>
                </a:lnTo>
                <a:lnTo>
                  <a:pt x="3858641" y="184404"/>
                </a:lnTo>
                <a:lnTo>
                  <a:pt x="3858641" y="150875"/>
                </a:lnTo>
                <a:lnTo>
                  <a:pt x="3860623" y="141106"/>
                </a:lnTo>
                <a:lnTo>
                  <a:pt x="3866022" y="133111"/>
                </a:lnTo>
                <a:lnTo>
                  <a:pt x="3874017" y="127712"/>
                </a:lnTo>
                <a:lnTo>
                  <a:pt x="3883787" y="125730"/>
                </a:lnTo>
                <a:lnTo>
                  <a:pt x="3921506" y="125730"/>
                </a:lnTo>
                <a:lnTo>
                  <a:pt x="3883787" y="0"/>
                </a:lnTo>
                <a:close/>
              </a:path>
              <a:path w="3959225" h="1080135">
                <a:moveTo>
                  <a:pt x="3921506" y="125730"/>
                </a:moveTo>
                <a:lnTo>
                  <a:pt x="3883787" y="125730"/>
                </a:lnTo>
                <a:lnTo>
                  <a:pt x="3893609" y="127712"/>
                </a:lnTo>
                <a:lnTo>
                  <a:pt x="3901598" y="133111"/>
                </a:lnTo>
                <a:lnTo>
                  <a:pt x="3906968" y="141106"/>
                </a:lnTo>
                <a:lnTo>
                  <a:pt x="3908933" y="150875"/>
                </a:lnTo>
                <a:lnTo>
                  <a:pt x="3908933" y="184404"/>
                </a:lnTo>
                <a:lnTo>
                  <a:pt x="3959224" y="251460"/>
                </a:lnTo>
                <a:lnTo>
                  <a:pt x="3921506" y="125730"/>
                </a:lnTo>
                <a:close/>
              </a:path>
              <a:path w="3959225" h="1080135">
                <a:moveTo>
                  <a:pt x="75437" y="125730"/>
                </a:moveTo>
                <a:lnTo>
                  <a:pt x="65668" y="127712"/>
                </a:lnTo>
                <a:lnTo>
                  <a:pt x="57673" y="133111"/>
                </a:lnTo>
                <a:lnTo>
                  <a:pt x="52274" y="141106"/>
                </a:lnTo>
                <a:lnTo>
                  <a:pt x="50291" y="150875"/>
                </a:lnTo>
                <a:lnTo>
                  <a:pt x="50291" y="184404"/>
                </a:lnTo>
                <a:lnTo>
                  <a:pt x="75437" y="150875"/>
                </a:lnTo>
                <a:lnTo>
                  <a:pt x="100583" y="150875"/>
                </a:lnTo>
                <a:lnTo>
                  <a:pt x="98601" y="141106"/>
                </a:lnTo>
                <a:lnTo>
                  <a:pt x="93202" y="133111"/>
                </a:lnTo>
                <a:lnTo>
                  <a:pt x="85207" y="127712"/>
                </a:lnTo>
                <a:lnTo>
                  <a:pt x="75437" y="125730"/>
                </a:lnTo>
                <a:close/>
              </a:path>
              <a:path w="3959225" h="1080135">
                <a:moveTo>
                  <a:pt x="100583" y="150875"/>
                </a:moveTo>
                <a:lnTo>
                  <a:pt x="75437" y="150875"/>
                </a:lnTo>
                <a:lnTo>
                  <a:pt x="100584" y="184404"/>
                </a:lnTo>
                <a:lnTo>
                  <a:pt x="100583" y="150875"/>
                </a:lnTo>
                <a:close/>
              </a:path>
              <a:path w="3959225" h="1080135">
                <a:moveTo>
                  <a:pt x="3883787" y="125730"/>
                </a:moveTo>
                <a:lnTo>
                  <a:pt x="3874017" y="127712"/>
                </a:lnTo>
                <a:lnTo>
                  <a:pt x="3866022" y="133111"/>
                </a:lnTo>
                <a:lnTo>
                  <a:pt x="3860623" y="141106"/>
                </a:lnTo>
                <a:lnTo>
                  <a:pt x="3858641" y="150875"/>
                </a:lnTo>
                <a:lnTo>
                  <a:pt x="3858641" y="184404"/>
                </a:lnTo>
                <a:lnTo>
                  <a:pt x="3883787" y="150875"/>
                </a:lnTo>
                <a:lnTo>
                  <a:pt x="3908933" y="150875"/>
                </a:lnTo>
                <a:lnTo>
                  <a:pt x="3906968" y="141106"/>
                </a:lnTo>
                <a:lnTo>
                  <a:pt x="3901598" y="133111"/>
                </a:lnTo>
                <a:lnTo>
                  <a:pt x="3893609" y="127712"/>
                </a:lnTo>
                <a:lnTo>
                  <a:pt x="3883787" y="125730"/>
                </a:lnTo>
                <a:close/>
              </a:path>
              <a:path w="3959225" h="1080135">
                <a:moveTo>
                  <a:pt x="3908933" y="150875"/>
                </a:moveTo>
                <a:lnTo>
                  <a:pt x="3883787" y="150875"/>
                </a:lnTo>
                <a:lnTo>
                  <a:pt x="3908933" y="184404"/>
                </a:lnTo>
                <a:lnTo>
                  <a:pt x="3908933" y="150875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35552" y="4380738"/>
            <a:ext cx="2623185" cy="593725"/>
          </a:xfrm>
          <a:custGeom>
            <a:avLst/>
            <a:gdLst/>
            <a:ahLst/>
            <a:cxnLst/>
            <a:rect l="l" t="t" r="r" b="b"/>
            <a:pathLst>
              <a:path w="2623184" h="593725">
                <a:moveTo>
                  <a:pt x="75437" y="150875"/>
                </a:moveTo>
                <a:lnTo>
                  <a:pt x="50292" y="184404"/>
                </a:lnTo>
                <a:lnTo>
                  <a:pt x="50292" y="568325"/>
                </a:lnTo>
                <a:lnTo>
                  <a:pt x="52274" y="578147"/>
                </a:lnTo>
                <a:lnTo>
                  <a:pt x="57673" y="586136"/>
                </a:lnTo>
                <a:lnTo>
                  <a:pt x="65668" y="591506"/>
                </a:lnTo>
                <a:lnTo>
                  <a:pt x="75437" y="593470"/>
                </a:lnTo>
                <a:lnTo>
                  <a:pt x="2547239" y="593470"/>
                </a:lnTo>
                <a:lnTo>
                  <a:pt x="2557061" y="591506"/>
                </a:lnTo>
                <a:lnTo>
                  <a:pt x="2565050" y="586136"/>
                </a:lnTo>
                <a:lnTo>
                  <a:pt x="2570420" y="578147"/>
                </a:lnTo>
                <a:lnTo>
                  <a:pt x="2572384" y="568325"/>
                </a:lnTo>
                <a:lnTo>
                  <a:pt x="100584" y="568325"/>
                </a:lnTo>
                <a:lnTo>
                  <a:pt x="75437" y="543179"/>
                </a:lnTo>
                <a:lnTo>
                  <a:pt x="100584" y="543179"/>
                </a:lnTo>
                <a:lnTo>
                  <a:pt x="100584" y="184404"/>
                </a:lnTo>
                <a:lnTo>
                  <a:pt x="75437" y="150875"/>
                </a:lnTo>
                <a:close/>
              </a:path>
              <a:path w="2623184" h="593725">
                <a:moveTo>
                  <a:pt x="100584" y="543179"/>
                </a:moveTo>
                <a:lnTo>
                  <a:pt x="75437" y="543179"/>
                </a:lnTo>
                <a:lnTo>
                  <a:pt x="100584" y="568325"/>
                </a:lnTo>
                <a:lnTo>
                  <a:pt x="100584" y="543179"/>
                </a:lnTo>
                <a:close/>
              </a:path>
              <a:path w="2623184" h="593725">
                <a:moveTo>
                  <a:pt x="2522093" y="543179"/>
                </a:moveTo>
                <a:lnTo>
                  <a:pt x="100584" y="543179"/>
                </a:lnTo>
                <a:lnTo>
                  <a:pt x="100584" y="568325"/>
                </a:lnTo>
                <a:lnTo>
                  <a:pt x="2522093" y="568325"/>
                </a:lnTo>
                <a:lnTo>
                  <a:pt x="2522093" y="543179"/>
                </a:lnTo>
                <a:close/>
              </a:path>
              <a:path w="2623184" h="593725">
                <a:moveTo>
                  <a:pt x="2547239" y="150875"/>
                </a:moveTo>
                <a:lnTo>
                  <a:pt x="2522093" y="184404"/>
                </a:lnTo>
                <a:lnTo>
                  <a:pt x="2522093" y="568325"/>
                </a:lnTo>
                <a:lnTo>
                  <a:pt x="2547239" y="543179"/>
                </a:lnTo>
                <a:lnTo>
                  <a:pt x="2572384" y="543179"/>
                </a:lnTo>
                <a:lnTo>
                  <a:pt x="2572384" y="184404"/>
                </a:lnTo>
                <a:lnTo>
                  <a:pt x="2547239" y="150875"/>
                </a:lnTo>
                <a:close/>
              </a:path>
              <a:path w="2623184" h="593725">
                <a:moveTo>
                  <a:pt x="2572384" y="543179"/>
                </a:moveTo>
                <a:lnTo>
                  <a:pt x="2547239" y="543179"/>
                </a:lnTo>
                <a:lnTo>
                  <a:pt x="2522093" y="568325"/>
                </a:lnTo>
                <a:lnTo>
                  <a:pt x="2572384" y="568325"/>
                </a:lnTo>
                <a:lnTo>
                  <a:pt x="2572384" y="543179"/>
                </a:lnTo>
                <a:close/>
              </a:path>
              <a:path w="2623184" h="593725">
                <a:moveTo>
                  <a:pt x="75437" y="0"/>
                </a:moveTo>
                <a:lnTo>
                  <a:pt x="0" y="251460"/>
                </a:lnTo>
                <a:lnTo>
                  <a:pt x="50291" y="184404"/>
                </a:lnTo>
                <a:lnTo>
                  <a:pt x="50292" y="150875"/>
                </a:lnTo>
                <a:lnTo>
                  <a:pt x="52274" y="141106"/>
                </a:lnTo>
                <a:lnTo>
                  <a:pt x="57673" y="133111"/>
                </a:lnTo>
                <a:lnTo>
                  <a:pt x="65668" y="127712"/>
                </a:lnTo>
                <a:lnTo>
                  <a:pt x="75437" y="125730"/>
                </a:lnTo>
                <a:lnTo>
                  <a:pt x="113156" y="125730"/>
                </a:lnTo>
                <a:lnTo>
                  <a:pt x="75437" y="0"/>
                </a:lnTo>
                <a:close/>
              </a:path>
              <a:path w="2623184" h="593725">
                <a:moveTo>
                  <a:pt x="113156" y="125730"/>
                </a:moveTo>
                <a:lnTo>
                  <a:pt x="75437" y="125730"/>
                </a:lnTo>
                <a:lnTo>
                  <a:pt x="85207" y="127712"/>
                </a:lnTo>
                <a:lnTo>
                  <a:pt x="93202" y="133111"/>
                </a:lnTo>
                <a:lnTo>
                  <a:pt x="98601" y="141106"/>
                </a:lnTo>
                <a:lnTo>
                  <a:pt x="100584" y="150875"/>
                </a:lnTo>
                <a:lnTo>
                  <a:pt x="100584" y="184404"/>
                </a:lnTo>
                <a:lnTo>
                  <a:pt x="150875" y="251460"/>
                </a:lnTo>
                <a:lnTo>
                  <a:pt x="113156" y="125730"/>
                </a:lnTo>
                <a:close/>
              </a:path>
              <a:path w="2623184" h="593725">
                <a:moveTo>
                  <a:pt x="2547239" y="0"/>
                </a:moveTo>
                <a:lnTo>
                  <a:pt x="2471801" y="251460"/>
                </a:lnTo>
                <a:lnTo>
                  <a:pt x="2522093" y="184404"/>
                </a:lnTo>
                <a:lnTo>
                  <a:pt x="2522093" y="150875"/>
                </a:lnTo>
                <a:lnTo>
                  <a:pt x="2524075" y="141106"/>
                </a:lnTo>
                <a:lnTo>
                  <a:pt x="2529474" y="133111"/>
                </a:lnTo>
                <a:lnTo>
                  <a:pt x="2537469" y="127712"/>
                </a:lnTo>
                <a:lnTo>
                  <a:pt x="2547239" y="125730"/>
                </a:lnTo>
                <a:lnTo>
                  <a:pt x="2584957" y="125730"/>
                </a:lnTo>
                <a:lnTo>
                  <a:pt x="2547239" y="0"/>
                </a:lnTo>
                <a:close/>
              </a:path>
              <a:path w="2623184" h="593725">
                <a:moveTo>
                  <a:pt x="2584957" y="125730"/>
                </a:moveTo>
                <a:lnTo>
                  <a:pt x="2547239" y="125730"/>
                </a:lnTo>
                <a:lnTo>
                  <a:pt x="2557061" y="127712"/>
                </a:lnTo>
                <a:lnTo>
                  <a:pt x="2565050" y="133111"/>
                </a:lnTo>
                <a:lnTo>
                  <a:pt x="2570420" y="141106"/>
                </a:lnTo>
                <a:lnTo>
                  <a:pt x="2572384" y="150875"/>
                </a:lnTo>
                <a:lnTo>
                  <a:pt x="2572385" y="184404"/>
                </a:lnTo>
                <a:lnTo>
                  <a:pt x="2622677" y="251460"/>
                </a:lnTo>
                <a:lnTo>
                  <a:pt x="2584957" y="125730"/>
                </a:lnTo>
                <a:close/>
              </a:path>
              <a:path w="2623184" h="593725">
                <a:moveTo>
                  <a:pt x="75437" y="125730"/>
                </a:moveTo>
                <a:lnTo>
                  <a:pt x="65668" y="127712"/>
                </a:lnTo>
                <a:lnTo>
                  <a:pt x="57673" y="133111"/>
                </a:lnTo>
                <a:lnTo>
                  <a:pt x="52274" y="141106"/>
                </a:lnTo>
                <a:lnTo>
                  <a:pt x="50292" y="150875"/>
                </a:lnTo>
                <a:lnTo>
                  <a:pt x="50292" y="184404"/>
                </a:lnTo>
                <a:lnTo>
                  <a:pt x="75437" y="150875"/>
                </a:lnTo>
                <a:lnTo>
                  <a:pt x="100584" y="150875"/>
                </a:lnTo>
                <a:lnTo>
                  <a:pt x="98601" y="141106"/>
                </a:lnTo>
                <a:lnTo>
                  <a:pt x="93202" y="133111"/>
                </a:lnTo>
                <a:lnTo>
                  <a:pt x="85207" y="127712"/>
                </a:lnTo>
                <a:lnTo>
                  <a:pt x="75437" y="125730"/>
                </a:lnTo>
                <a:close/>
              </a:path>
              <a:path w="2623184" h="593725">
                <a:moveTo>
                  <a:pt x="100584" y="150875"/>
                </a:moveTo>
                <a:lnTo>
                  <a:pt x="75437" y="150875"/>
                </a:lnTo>
                <a:lnTo>
                  <a:pt x="100584" y="184404"/>
                </a:lnTo>
                <a:lnTo>
                  <a:pt x="100584" y="150875"/>
                </a:lnTo>
                <a:close/>
              </a:path>
              <a:path w="2623184" h="593725">
                <a:moveTo>
                  <a:pt x="2547239" y="125730"/>
                </a:moveTo>
                <a:lnTo>
                  <a:pt x="2537469" y="127712"/>
                </a:lnTo>
                <a:lnTo>
                  <a:pt x="2529474" y="133111"/>
                </a:lnTo>
                <a:lnTo>
                  <a:pt x="2524075" y="141106"/>
                </a:lnTo>
                <a:lnTo>
                  <a:pt x="2522093" y="150875"/>
                </a:lnTo>
                <a:lnTo>
                  <a:pt x="2522093" y="184404"/>
                </a:lnTo>
                <a:lnTo>
                  <a:pt x="2547239" y="150875"/>
                </a:lnTo>
                <a:lnTo>
                  <a:pt x="2572384" y="150875"/>
                </a:lnTo>
                <a:lnTo>
                  <a:pt x="2570420" y="141106"/>
                </a:lnTo>
                <a:lnTo>
                  <a:pt x="2565050" y="133111"/>
                </a:lnTo>
                <a:lnTo>
                  <a:pt x="2557061" y="127712"/>
                </a:lnTo>
                <a:lnTo>
                  <a:pt x="2547239" y="125730"/>
                </a:lnTo>
                <a:close/>
              </a:path>
              <a:path w="2623184" h="593725">
                <a:moveTo>
                  <a:pt x="2572384" y="150875"/>
                </a:moveTo>
                <a:lnTo>
                  <a:pt x="2547239" y="150875"/>
                </a:lnTo>
                <a:lnTo>
                  <a:pt x="2572385" y="184404"/>
                </a:lnTo>
                <a:lnTo>
                  <a:pt x="2572384" y="150875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NESTING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5351" y="2098548"/>
            <a:ext cx="7211059" cy="1301750"/>
            <a:chOff x="2435351" y="2098548"/>
            <a:chExt cx="7211059" cy="1301750"/>
          </a:xfrm>
        </p:grpSpPr>
        <p:sp>
          <p:nvSpPr>
            <p:cNvPr id="4" name="object 4"/>
            <p:cNvSpPr/>
            <p:nvPr/>
          </p:nvSpPr>
          <p:spPr>
            <a:xfrm>
              <a:off x="2498852" y="2161539"/>
              <a:ext cx="7147559" cy="1238250"/>
            </a:xfrm>
            <a:custGeom>
              <a:avLst/>
              <a:gdLst/>
              <a:ahLst/>
              <a:cxnLst/>
              <a:rect l="l" t="t" r="r" b="b"/>
              <a:pathLst>
                <a:path w="7147559" h="1238250">
                  <a:moveTo>
                    <a:pt x="7147560" y="0"/>
                  </a:moveTo>
                  <a:lnTo>
                    <a:pt x="7071106" y="0"/>
                  </a:lnTo>
                  <a:lnTo>
                    <a:pt x="7071106" y="13970"/>
                  </a:lnTo>
                  <a:lnTo>
                    <a:pt x="7071106" y="26670"/>
                  </a:lnTo>
                  <a:lnTo>
                    <a:pt x="7071106" y="1162050"/>
                  </a:lnTo>
                  <a:lnTo>
                    <a:pt x="12954" y="1162050"/>
                  </a:lnTo>
                  <a:lnTo>
                    <a:pt x="12954" y="1211580"/>
                  </a:lnTo>
                  <a:lnTo>
                    <a:pt x="0" y="1211580"/>
                  </a:lnTo>
                  <a:lnTo>
                    <a:pt x="0" y="1238250"/>
                  </a:lnTo>
                  <a:lnTo>
                    <a:pt x="7147560" y="1238250"/>
                  </a:lnTo>
                  <a:lnTo>
                    <a:pt x="7147560" y="1211580"/>
                  </a:lnTo>
                  <a:lnTo>
                    <a:pt x="7147560" y="26670"/>
                  </a:lnTo>
                  <a:lnTo>
                    <a:pt x="7147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8305" y="2111502"/>
              <a:ext cx="7122159" cy="1211580"/>
            </a:xfrm>
            <a:custGeom>
              <a:avLst/>
              <a:gdLst/>
              <a:ahLst/>
              <a:cxnLst/>
              <a:rect l="l" t="t" r="r" b="b"/>
              <a:pathLst>
                <a:path w="7122159" h="1211579">
                  <a:moveTo>
                    <a:pt x="7121652" y="0"/>
                  </a:moveTo>
                  <a:lnTo>
                    <a:pt x="0" y="0"/>
                  </a:lnTo>
                  <a:lnTo>
                    <a:pt x="0" y="1211580"/>
                  </a:lnTo>
                  <a:lnTo>
                    <a:pt x="7121652" y="1211580"/>
                  </a:lnTo>
                  <a:lnTo>
                    <a:pt x="71216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8305" y="2111502"/>
              <a:ext cx="7122159" cy="1211580"/>
            </a:xfrm>
            <a:custGeom>
              <a:avLst/>
              <a:gdLst/>
              <a:ahLst/>
              <a:cxnLst/>
              <a:rect l="l" t="t" r="r" b="b"/>
              <a:pathLst>
                <a:path w="7122159" h="1211579">
                  <a:moveTo>
                    <a:pt x="0" y="1211580"/>
                  </a:moveTo>
                  <a:lnTo>
                    <a:pt x="7121652" y="1211580"/>
                  </a:lnTo>
                  <a:lnTo>
                    <a:pt x="7121652" y="0"/>
                  </a:lnTo>
                  <a:lnTo>
                    <a:pt x="0" y="0"/>
                  </a:lnTo>
                  <a:lnTo>
                    <a:pt x="0" y="1211580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98851" y="332359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29"/>
                </a:moveTo>
                <a:lnTo>
                  <a:pt x="25908" y="49529"/>
                </a:lnTo>
                <a:lnTo>
                  <a:pt x="25908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86482" y="2155697"/>
            <a:ext cx="2333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4334" y="2434589"/>
            <a:ext cx="5316220" cy="32512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60"/>
              </a:spcBef>
            </a:pPr>
            <a:r>
              <a:rPr dirty="0" sz="1800" spc="-10" b="1">
                <a:latin typeface="Courier New"/>
                <a:cs typeface="Courier New"/>
              </a:rPr>
              <a:t>NVL(TO_CHAR(manager_id),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'No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Manager')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6482" y="2704591"/>
            <a:ext cx="697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3379" y="2704591"/>
            <a:ext cx="26047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manager_id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IS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NULL;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66594" y="3532632"/>
            <a:ext cx="7105650" cy="469900"/>
            <a:chOff x="2466594" y="3532632"/>
            <a:chExt cx="7105650" cy="4699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6594" y="3544824"/>
              <a:ext cx="7105650" cy="457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98798" y="3545586"/>
              <a:ext cx="5455920" cy="431800"/>
            </a:xfrm>
            <a:custGeom>
              <a:avLst/>
              <a:gdLst/>
              <a:ahLst/>
              <a:cxnLst/>
              <a:rect l="l" t="t" r="r" b="b"/>
              <a:pathLst>
                <a:path w="5455920" h="431800">
                  <a:moveTo>
                    <a:pt x="0" y="431291"/>
                  </a:moveTo>
                  <a:lnTo>
                    <a:pt x="5455920" y="431291"/>
                  </a:lnTo>
                  <a:lnTo>
                    <a:pt x="5455920" y="0"/>
                  </a:lnTo>
                  <a:lnTo>
                    <a:pt x="0" y="0"/>
                  </a:lnTo>
                  <a:lnTo>
                    <a:pt x="0" y="431291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GENERAL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826294"/>
            <a:ext cx="5197475" cy="233108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work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any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pertain</a:t>
            </a:r>
            <a:endParaRPr sz="18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nulls.</a:t>
            </a:r>
            <a:endParaRPr sz="1800">
              <a:latin typeface="Gill Sans MT"/>
              <a:cs typeface="Gill Sans MT"/>
            </a:endParaRPr>
          </a:p>
          <a:p>
            <a:pPr marL="405765" indent="-393700">
              <a:lnSpc>
                <a:spcPct val="100000"/>
              </a:lnSpc>
              <a:spcBef>
                <a:spcPts val="8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405765" algn="l"/>
                <a:tab pos="4064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NVL</a:t>
            </a:r>
            <a:r>
              <a:rPr dirty="0" sz="1800" spc="-4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(expr1,</a:t>
            </a:r>
            <a:r>
              <a:rPr dirty="0" sz="1800" spc="-4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expr2)</a:t>
            </a:r>
            <a:endParaRPr sz="1800">
              <a:latin typeface="Courier New"/>
              <a:cs typeface="Courier New"/>
            </a:endParaRPr>
          </a:p>
          <a:p>
            <a:pPr marL="405765" indent="-3937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405765" algn="l"/>
                <a:tab pos="4064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NVL2</a:t>
            </a:r>
            <a:r>
              <a:rPr dirty="0" sz="1800" spc="-3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(expr1,</a:t>
            </a:r>
            <a:r>
              <a:rPr dirty="0" sz="1800" spc="-2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expr2,</a:t>
            </a:r>
            <a:r>
              <a:rPr dirty="0" sz="1800" spc="-3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expr3)</a:t>
            </a:r>
            <a:endParaRPr sz="1800">
              <a:latin typeface="Courier New"/>
              <a:cs typeface="Courier New"/>
            </a:endParaRPr>
          </a:p>
          <a:p>
            <a:pPr marL="405765" indent="-3937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405765" algn="l"/>
                <a:tab pos="4064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NULLIF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(expr1,</a:t>
            </a:r>
            <a:r>
              <a:rPr dirty="0" sz="1800" spc="-4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expr2)</a:t>
            </a:r>
            <a:endParaRPr sz="1800">
              <a:latin typeface="Courier New"/>
              <a:cs typeface="Courier New"/>
            </a:endParaRPr>
          </a:p>
          <a:p>
            <a:pPr marL="405765" indent="-3937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405765" algn="l"/>
                <a:tab pos="406400" algn="l"/>
              </a:tabLst>
            </a:pP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COALESCE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(expr1,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expr2, ...,</a:t>
            </a:r>
            <a:r>
              <a:rPr dirty="0" sz="1800" spc="-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expr</a:t>
            </a:r>
            <a:r>
              <a:rPr dirty="0" sz="1800" spc="-10" i="1">
                <a:solidFill>
                  <a:srgbClr val="3C3C3C"/>
                </a:solidFill>
                <a:latin typeface="Courier New"/>
                <a:cs typeface="Courier New"/>
              </a:rPr>
              <a:t>n</a:t>
            </a:r>
            <a:r>
              <a:rPr dirty="0" sz="1800" spc="-10">
                <a:solidFill>
                  <a:srgbClr val="3C3C3C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NVL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Converts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5"/>
              <a:t>null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actual</a:t>
            </a:r>
            <a:r>
              <a:rPr dirty="0" spc="-15"/>
              <a:t> </a:t>
            </a:r>
            <a:r>
              <a:rPr dirty="0" spc="5"/>
              <a:t>value.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/>
              <a:t>Data</a:t>
            </a:r>
            <a:r>
              <a:rPr dirty="0" spc="-25"/>
              <a:t> </a:t>
            </a:r>
            <a:r>
              <a:rPr dirty="0"/>
              <a:t>types</a:t>
            </a:r>
            <a:r>
              <a:rPr dirty="0" spc="-5"/>
              <a:t> </a:t>
            </a:r>
            <a:r>
              <a:rPr dirty="0"/>
              <a:t>that</a:t>
            </a:r>
            <a:r>
              <a:rPr dirty="0" spc="-10"/>
              <a:t> </a:t>
            </a:r>
            <a:r>
              <a:rPr dirty="0"/>
              <a:t>can</a:t>
            </a:r>
            <a:r>
              <a:rPr dirty="0" spc="-10"/>
              <a:t> </a:t>
            </a:r>
            <a:r>
              <a:rPr dirty="0"/>
              <a:t>be</a:t>
            </a:r>
            <a:r>
              <a:rPr dirty="0" spc="-10"/>
              <a:t> </a:t>
            </a:r>
            <a:r>
              <a:rPr dirty="0"/>
              <a:t>used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45"/>
              <a:t>r</a:t>
            </a:r>
            <a:r>
              <a:rPr dirty="0"/>
              <a:t>e </a:t>
            </a:r>
            <a:r>
              <a:rPr dirty="0" spc="-5"/>
              <a:t>d</a:t>
            </a:r>
            <a:r>
              <a:rPr dirty="0"/>
              <a:t>at</a:t>
            </a:r>
            <a:r>
              <a:rPr dirty="0" spc="35"/>
              <a:t>e</a:t>
            </a:r>
            <a:r>
              <a:rPr dirty="0"/>
              <a:t>,</a:t>
            </a:r>
            <a:r>
              <a:rPr dirty="0" spc="-190"/>
              <a:t> </a:t>
            </a:r>
            <a:r>
              <a:rPr dirty="0"/>
              <a:t>characte</a:t>
            </a:r>
            <a:r>
              <a:rPr dirty="0" spc="-185"/>
              <a:t>r</a:t>
            </a:r>
            <a:r>
              <a:rPr dirty="0"/>
              <a:t>,</a:t>
            </a:r>
            <a:r>
              <a:rPr dirty="0" spc="-19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5"/>
              <a:t>n</a:t>
            </a:r>
            <a:r>
              <a:rPr dirty="0"/>
              <a:t>umbe</a:t>
            </a:r>
            <a:r>
              <a:rPr dirty="0" spc="-190"/>
              <a:t>r</a:t>
            </a:r>
            <a:r>
              <a:rPr dirty="0"/>
              <a:t>.</a:t>
            </a: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/>
              <a:t>Data</a:t>
            </a:r>
            <a:r>
              <a:rPr dirty="0" spc="-45"/>
              <a:t> </a:t>
            </a:r>
            <a:r>
              <a:rPr dirty="0"/>
              <a:t>types</a:t>
            </a:r>
            <a:r>
              <a:rPr dirty="0" spc="-30"/>
              <a:t> </a:t>
            </a:r>
            <a:r>
              <a:rPr dirty="0" spc="-5"/>
              <a:t>must</a:t>
            </a:r>
            <a:r>
              <a:rPr dirty="0" spc="-40"/>
              <a:t> </a:t>
            </a:r>
            <a:r>
              <a:rPr dirty="0"/>
              <a:t>match:</a:t>
            </a:r>
          </a:p>
          <a:p>
            <a:pPr lvl="1" marL="641985" indent="-305435">
              <a:lnSpc>
                <a:spcPct val="100000"/>
              </a:lnSpc>
              <a:spcBef>
                <a:spcPts val="869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NVL(commission_pct,0)</a:t>
            </a:r>
            <a:endParaRPr sz="1600">
              <a:latin typeface="Courier New"/>
              <a:cs typeface="Courier New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NVL(hire_date,'01-JAN-97')</a:t>
            </a:r>
            <a:endParaRPr sz="1600">
              <a:latin typeface="Courier New"/>
              <a:cs typeface="Courier New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NVL(job_id,'No</a:t>
            </a:r>
            <a:r>
              <a:rPr dirty="0" sz="1600" spc="-3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Job</a:t>
            </a:r>
            <a:r>
              <a:rPr dirty="0" sz="1600" spc="-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Yet')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NVL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170" y="3398527"/>
            <a:ext cx="7106782" cy="19339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04808" y="2189924"/>
            <a:ext cx="7380605" cy="887730"/>
            <a:chOff x="2404808" y="2189924"/>
            <a:chExt cx="7380605" cy="887730"/>
          </a:xfrm>
        </p:grpSpPr>
        <p:sp>
          <p:nvSpPr>
            <p:cNvPr id="5" name="object 5"/>
            <p:cNvSpPr/>
            <p:nvPr/>
          </p:nvSpPr>
          <p:spPr>
            <a:xfrm>
              <a:off x="2468372" y="2252979"/>
              <a:ext cx="7317105" cy="824230"/>
            </a:xfrm>
            <a:custGeom>
              <a:avLst/>
              <a:gdLst/>
              <a:ahLst/>
              <a:cxnLst/>
              <a:rect l="l" t="t" r="r" b="b"/>
              <a:pathLst>
                <a:path w="7317105" h="824230">
                  <a:moveTo>
                    <a:pt x="7316724" y="0"/>
                  </a:moveTo>
                  <a:lnTo>
                    <a:pt x="7240270" y="0"/>
                  </a:lnTo>
                  <a:lnTo>
                    <a:pt x="7240270" y="13970"/>
                  </a:lnTo>
                  <a:lnTo>
                    <a:pt x="7240270" y="26670"/>
                  </a:lnTo>
                  <a:lnTo>
                    <a:pt x="7240270" y="760730"/>
                  </a:lnTo>
                  <a:lnTo>
                    <a:pt x="25908" y="760730"/>
                  </a:lnTo>
                  <a:lnTo>
                    <a:pt x="12954" y="760730"/>
                  </a:lnTo>
                  <a:lnTo>
                    <a:pt x="0" y="760730"/>
                  </a:lnTo>
                  <a:lnTo>
                    <a:pt x="0" y="811530"/>
                  </a:lnTo>
                  <a:lnTo>
                    <a:pt x="12954" y="811530"/>
                  </a:lnTo>
                  <a:lnTo>
                    <a:pt x="12954" y="824230"/>
                  </a:lnTo>
                  <a:lnTo>
                    <a:pt x="7303770" y="824230"/>
                  </a:lnTo>
                  <a:lnTo>
                    <a:pt x="7303770" y="811530"/>
                  </a:lnTo>
                  <a:lnTo>
                    <a:pt x="7316724" y="811530"/>
                  </a:lnTo>
                  <a:lnTo>
                    <a:pt x="7316724" y="26670"/>
                  </a:lnTo>
                  <a:lnTo>
                    <a:pt x="7316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17825" y="2202941"/>
              <a:ext cx="7291070" cy="810895"/>
            </a:xfrm>
            <a:custGeom>
              <a:avLst/>
              <a:gdLst/>
              <a:ahLst/>
              <a:cxnLst/>
              <a:rect l="l" t="t" r="r" b="b"/>
              <a:pathLst>
                <a:path w="7291070" h="810894">
                  <a:moveTo>
                    <a:pt x="7290816" y="0"/>
                  </a:moveTo>
                  <a:lnTo>
                    <a:pt x="0" y="0"/>
                  </a:lnTo>
                  <a:lnTo>
                    <a:pt x="0" y="810767"/>
                  </a:lnTo>
                  <a:lnTo>
                    <a:pt x="7290816" y="810767"/>
                  </a:lnTo>
                  <a:lnTo>
                    <a:pt x="72908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17825" y="2202941"/>
              <a:ext cx="7291070" cy="810895"/>
            </a:xfrm>
            <a:custGeom>
              <a:avLst/>
              <a:gdLst/>
              <a:ahLst/>
              <a:cxnLst/>
              <a:rect l="l" t="t" r="r" b="b"/>
              <a:pathLst>
                <a:path w="7291070" h="810894">
                  <a:moveTo>
                    <a:pt x="0" y="810767"/>
                  </a:moveTo>
                  <a:lnTo>
                    <a:pt x="7290816" y="810767"/>
                  </a:lnTo>
                  <a:lnTo>
                    <a:pt x="7290816" y="0"/>
                  </a:lnTo>
                  <a:lnTo>
                    <a:pt x="0" y="0"/>
                  </a:lnTo>
                  <a:lnTo>
                    <a:pt x="0" y="810767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468372" y="3064510"/>
            <a:ext cx="7317105" cy="25400"/>
          </a:xfrm>
          <a:custGeom>
            <a:avLst/>
            <a:gdLst/>
            <a:ahLst/>
            <a:cxnLst/>
            <a:rect l="l" t="t" r="r" b="b"/>
            <a:pathLst>
              <a:path w="7317105" h="25400">
                <a:moveTo>
                  <a:pt x="0" y="25400"/>
                </a:moveTo>
                <a:lnTo>
                  <a:pt x="7316724" y="25400"/>
                </a:lnTo>
                <a:lnTo>
                  <a:pt x="7316724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38729" y="2241880"/>
            <a:ext cx="6010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last_name,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salary, NVL(commission_pct,</a:t>
            </a:r>
            <a:r>
              <a:rPr dirty="0" sz="1600" b="1">
                <a:latin typeface="Courier New"/>
                <a:cs typeface="Courier New"/>
              </a:rPr>
              <a:t> 0),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788" y="2555748"/>
            <a:ext cx="6762115" cy="230504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 rtlCol="0" vert="horz">
            <a:spAutoFit/>
          </a:bodyPr>
          <a:lstStyle/>
          <a:p>
            <a:pPr marL="41275">
              <a:lnSpc>
                <a:spcPts val="1470"/>
              </a:lnSpc>
            </a:pPr>
            <a:r>
              <a:rPr dirty="0" sz="1600" spc="-5" b="1">
                <a:latin typeface="Courier New"/>
                <a:cs typeface="Courier New"/>
              </a:rPr>
              <a:t>(salary*12)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+</a:t>
            </a:r>
            <a:r>
              <a:rPr dirty="0" sz="1600" spc="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(salary*12*NVL(commission_pct,</a:t>
            </a:r>
            <a:r>
              <a:rPr dirty="0" sz="1600" spc="1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0))</a:t>
            </a:r>
            <a:r>
              <a:rPr dirty="0" sz="1600" spc="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AN_SAL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8729" y="2730245"/>
            <a:ext cx="1855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FROM</a:t>
            </a:r>
            <a:r>
              <a:rPr dirty="0" sz="1600" spc="-6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employees;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49816" y="1997900"/>
            <a:ext cx="6776084" cy="814069"/>
            <a:chOff x="2849816" y="1997900"/>
            <a:chExt cx="6776084" cy="814069"/>
          </a:xfrm>
        </p:grpSpPr>
        <p:sp>
          <p:nvSpPr>
            <p:cNvPr id="13" name="object 13"/>
            <p:cNvSpPr/>
            <p:nvPr/>
          </p:nvSpPr>
          <p:spPr>
            <a:xfrm>
              <a:off x="2862834" y="2244090"/>
              <a:ext cx="6750050" cy="554990"/>
            </a:xfrm>
            <a:custGeom>
              <a:avLst/>
              <a:gdLst/>
              <a:ahLst/>
              <a:cxnLst/>
              <a:rect l="l" t="t" r="r" b="b"/>
              <a:pathLst>
                <a:path w="6750050" h="554989">
                  <a:moveTo>
                    <a:pt x="2827020" y="266700"/>
                  </a:moveTo>
                  <a:lnTo>
                    <a:pt x="5516880" y="266700"/>
                  </a:lnTo>
                  <a:lnTo>
                    <a:pt x="5516880" y="0"/>
                  </a:lnTo>
                  <a:lnTo>
                    <a:pt x="2827020" y="0"/>
                  </a:lnTo>
                  <a:lnTo>
                    <a:pt x="2827020" y="266700"/>
                  </a:lnTo>
                  <a:close/>
                </a:path>
                <a:path w="6750050" h="554989">
                  <a:moveTo>
                    <a:pt x="0" y="554736"/>
                  </a:moveTo>
                  <a:lnTo>
                    <a:pt x="6749796" y="554736"/>
                  </a:lnTo>
                  <a:lnTo>
                    <a:pt x="6749796" y="288036"/>
                  </a:lnTo>
                  <a:lnTo>
                    <a:pt x="0" y="288036"/>
                  </a:lnTo>
                  <a:lnTo>
                    <a:pt x="0" y="554736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98813" y="201091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6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98813" y="201091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6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393442" y="519874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83644" y="3374072"/>
            <a:ext cx="4257040" cy="3218815"/>
            <a:chOff x="5283644" y="3374072"/>
            <a:chExt cx="4257040" cy="3218815"/>
          </a:xfrm>
        </p:grpSpPr>
        <p:sp>
          <p:nvSpPr>
            <p:cNvPr id="18" name="object 18"/>
            <p:cNvSpPr/>
            <p:nvPr/>
          </p:nvSpPr>
          <p:spPr>
            <a:xfrm>
              <a:off x="5296662" y="3387089"/>
              <a:ext cx="4231005" cy="1943100"/>
            </a:xfrm>
            <a:custGeom>
              <a:avLst/>
              <a:gdLst/>
              <a:ahLst/>
              <a:cxnLst/>
              <a:rect l="l" t="t" r="r" b="b"/>
              <a:pathLst>
                <a:path w="4231005" h="1943100">
                  <a:moveTo>
                    <a:pt x="3169919" y="1941576"/>
                  </a:moveTo>
                  <a:lnTo>
                    <a:pt x="4230623" y="1941576"/>
                  </a:lnTo>
                  <a:lnTo>
                    <a:pt x="4230623" y="0"/>
                  </a:lnTo>
                  <a:lnTo>
                    <a:pt x="3169919" y="0"/>
                  </a:lnTo>
                  <a:lnTo>
                    <a:pt x="3169919" y="1941576"/>
                  </a:lnTo>
                  <a:close/>
                </a:path>
                <a:path w="4231005" h="1943100">
                  <a:moveTo>
                    <a:pt x="0" y="1943100"/>
                  </a:moveTo>
                  <a:lnTo>
                    <a:pt x="3069336" y="1943100"/>
                  </a:lnTo>
                  <a:lnTo>
                    <a:pt x="3069336" y="1524"/>
                  </a:lnTo>
                  <a:lnTo>
                    <a:pt x="0" y="1524"/>
                  </a:lnTo>
                  <a:lnTo>
                    <a:pt x="0" y="1943100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968233" y="608609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8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968233" y="608609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32"/>
                  </a:lnTo>
                  <a:lnTo>
                    <a:pt x="19395" y="150790"/>
                  </a:lnTo>
                  <a:lnTo>
                    <a:pt x="42152" y="108852"/>
                  </a:lnTo>
                  <a:lnTo>
                    <a:pt x="72294" y="72313"/>
                  </a:lnTo>
                  <a:lnTo>
                    <a:pt x="108830" y="42165"/>
                  </a:lnTo>
                  <a:lnTo>
                    <a:pt x="150768" y="19402"/>
                  </a:lnTo>
                  <a:lnTo>
                    <a:pt x="197118" y="5016"/>
                  </a:lnTo>
                  <a:lnTo>
                    <a:pt x="246888" y="0"/>
                  </a:lnTo>
                  <a:lnTo>
                    <a:pt x="296657" y="5016"/>
                  </a:lnTo>
                  <a:lnTo>
                    <a:pt x="343007" y="19402"/>
                  </a:lnTo>
                  <a:lnTo>
                    <a:pt x="384945" y="42165"/>
                  </a:lnTo>
                  <a:lnTo>
                    <a:pt x="421481" y="72313"/>
                  </a:lnTo>
                  <a:lnTo>
                    <a:pt x="451623" y="108852"/>
                  </a:lnTo>
                  <a:lnTo>
                    <a:pt x="474380" y="150790"/>
                  </a:lnTo>
                  <a:lnTo>
                    <a:pt x="488761" y="197132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8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691" y="5661490"/>
            <a:ext cx="952550" cy="9482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118475" y="612993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83560" y="6062408"/>
            <a:ext cx="532130" cy="530860"/>
            <a:chOff x="9183560" y="6062408"/>
            <a:chExt cx="532130" cy="530860"/>
          </a:xfrm>
        </p:grpSpPr>
        <p:sp>
          <p:nvSpPr>
            <p:cNvPr id="24" name="object 24"/>
            <p:cNvSpPr/>
            <p:nvPr/>
          </p:nvSpPr>
          <p:spPr>
            <a:xfrm>
              <a:off x="9196577" y="6075426"/>
              <a:ext cx="506095" cy="504825"/>
            </a:xfrm>
            <a:custGeom>
              <a:avLst/>
              <a:gdLst/>
              <a:ahLst/>
              <a:cxnLst/>
              <a:rect l="l" t="t" r="r" b="b"/>
              <a:pathLst>
                <a:path w="506095" h="504825">
                  <a:moveTo>
                    <a:pt x="252983" y="0"/>
                  </a:moveTo>
                  <a:lnTo>
                    <a:pt x="207514" y="4063"/>
                  </a:lnTo>
                  <a:lnTo>
                    <a:pt x="164717" y="15780"/>
                  </a:lnTo>
                  <a:lnTo>
                    <a:pt x="125306" y="34436"/>
                  </a:lnTo>
                  <a:lnTo>
                    <a:pt x="89997" y="59321"/>
                  </a:lnTo>
                  <a:lnTo>
                    <a:pt x="59504" y="89720"/>
                  </a:lnTo>
                  <a:lnTo>
                    <a:pt x="34544" y="124922"/>
                  </a:lnTo>
                  <a:lnTo>
                    <a:pt x="15829" y="164215"/>
                  </a:lnTo>
                  <a:lnTo>
                    <a:pt x="4076" y="206886"/>
                  </a:lnTo>
                  <a:lnTo>
                    <a:pt x="0" y="252222"/>
                  </a:lnTo>
                  <a:lnTo>
                    <a:pt x="4076" y="297557"/>
                  </a:lnTo>
                  <a:lnTo>
                    <a:pt x="15829" y="340228"/>
                  </a:lnTo>
                  <a:lnTo>
                    <a:pt x="34544" y="379521"/>
                  </a:lnTo>
                  <a:lnTo>
                    <a:pt x="59504" y="414723"/>
                  </a:lnTo>
                  <a:lnTo>
                    <a:pt x="89997" y="445122"/>
                  </a:lnTo>
                  <a:lnTo>
                    <a:pt x="125306" y="470007"/>
                  </a:lnTo>
                  <a:lnTo>
                    <a:pt x="164717" y="488663"/>
                  </a:lnTo>
                  <a:lnTo>
                    <a:pt x="207514" y="500380"/>
                  </a:lnTo>
                  <a:lnTo>
                    <a:pt x="252983" y="504444"/>
                  </a:lnTo>
                  <a:lnTo>
                    <a:pt x="298453" y="500380"/>
                  </a:lnTo>
                  <a:lnTo>
                    <a:pt x="341250" y="488663"/>
                  </a:lnTo>
                  <a:lnTo>
                    <a:pt x="380661" y="470007"/>
                  </a:lnTo>
                  <a:lnTo>
                    <a:pt x="415970" y="445122"/>
                  </a:lnTo>
                  <a:lnTo>
                    <a:pt x="446463" y="414723"/>
                  </a:lnTo>
                  <a:lnTo>
                    <a:pt x="471424" y="379521"/>
                  </a:lnTo>
                  <a:lnTo>
                    <a:pt x="490138" y="340228"/>
                  </a:lnTo>
                  <a:lnTo>
                    <a:pt x="501891" y="297557"/>
                  </a:lnTo>
                  <a:lnTo>
                    <a:pt x="505968" y="252222"/>
                  </a:lnTo>
                  <a:lnTo>
                    <a:pt x="501891" y="206886"/>
                  </a:lnTo>
                  <a:lnTo>
                    <a:pt x="490138" y="164215"/>
                  </a:lnTo>
                  <a:lnTo>
                    <a:pt x="471424" y="124922"/>
                  </a:lnTo>
                  <a:lnTo>
                    <a:pt x="446463" y="89720"/>
                  </a:lnTo>
                  <a:lnTo>
                    <a:pt x="415970" y="59321"/>
                  </a:lnTo>
                  <a:lnTo>
                    <a:pt x="380661" y="34436"/>
                  </a:lnTo>
                  <a:lnTo>
                    <a:pt x="341250" y="15780"/>
                  </a:lnTo>
                  <a:lnTo>
                    <a:pt x="298453" y="4063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96577" y="6075426"/>
              <a:ext cx="506095" cy="504825"/>
            </a:xfrm>
            <a:custGeom>
              <a:avLst/>
              <a:gdLst/>
              <a:ahLst/>
              <a:cxnLst/>
              <a:rect l="l" t="t" r="r" b="b"/>
              <a:pathLst>
                <a:path w="506095" h="504825">
                  <a:moveTo>
                    <a:pt x="0" y="252222"/>
                  </a:moveTo>
                  <a:lnTo>
                    <a:pt x="4076" y="206886"/>
                  </a:lnTo>
                  <a:lnTo>
                    <a:pt x="15829" y="164215"/>
                  </a:lnTo>
                  <a:lnTo>
                    <a:pt x="34544" y="124922"/>
                  </a:lnTo>
                  <a:lnTo>
                    <a:pt x="59504" y="89720"/>
                  </a:lnTo>
                  <a:lnTo>
                    <a:pt x="89997" y="59321"/>
                  </a:lnTo>
                  <a:lnTo>
                    <a:pt x="125306" y="34436"/>
                  </a:lnTo>
                  <a:lnTo>
                    <a:pt x="164717" y="15780"/>
                  </a:lnTo>
                  <a:lnTo>
                    <a:pt x="207514" y="4063"/>
                  </a:lnTo>
                  <a:lnTo>
                    <a:pt x="252983" y="0"/>
                  </a:lnTo>
                  <a:lnTo>
                    <a:pt x="298453" y="4063"/>
                  </a:lnTo>
                  <a:lnTo>
                    <a:pt x="341250" y="15780"/>
                  </a:lnTo>
                  <a:lnTo>
                    <a:pt x="380661" y="34436"/>
                  </a:lnTo>
                  <a:lnTo>
                    <a:pt x="415970" y="59321"/>
                  </a:lnTo>
                  <a:lnTo>
                    <a:pt x="446463" y="89720"/>
                  </a:lnTo>
                  <a:lnTo>
                    <a:pt x="471424" y="124922"/>
                  </a:lnTo>
                  <a:lnTo>
                    <a:pt x="490138" y="164215"/>
                  </a:lnTo>
                  <a:lnTo>
                    <a:pt x="501891" y="206886"/>
                  </a:lnTo>
                  <a:lnTo>
                    <a:pt x="505968" y="252222"/>
                  </a:lnTo>
                  <a:lnTo>
                    <a:pt x="501891" y="297557"/>
                  </a:lnTo>
                  <a:lnTo>
                    <a:pt x="490138" y="340228"/>
                  </a:lnTo>
                  <a:lnTo>
                    <a:pt x="471424" y="379521"/>
                  </a:lnTo>
                  <a:lnTo>
                    <a:pt x="446463" y="414723"/>
                  </a:lnTo>
                  <a:lnTo>
                    <a:pt x="415970" y="445122"/>
                  </a:lnTo>
                  <a:lnTo>
                    <a:pt x="380661" y="470007"/>
                  </a:lnTo>
                  <a:lnTo>
                    <a:pt x="341250" y="488663"/>
                  </a:lnTo>
                  <a:lnTo>
                    <a:pt x="298453" y="500380"/>
                  </a:lnTo>
                  <a:lnTo>
                    <a:pt x="252983" y="504444"/>
                  </a:lnTo>
                  <a:lnTo>
                    <a:pt x="207514" y="500380"/>
                  </a:lnTo>
                  <a:lnTo>
                    <a:pt x="164717" y="488663"/>
                  </a:lnTo>
                  <a:lnTo>
                    <a:pt x="125306" y="470007"/>
                  </a:lnTo>
                  <a:lnTo>
                    <a:pt x="89997" y="445122"/>
                  </a:lnTo>
                  <a:lnTo>
                    <a:pt x="59504" y="414723"/>
                  </a:lnTo>
                  <a:lnTo>
                    <a:pt x="34544" y="379521"/>
                  </a:lnTo>
                  <a:lnTo>
                    <a:pt x="15829" y="340228"/>
                  </a:lnTo>
                  <a:lnTo>
                    <a:pt x="4076" y="297557"/>
                  </a:lnTo>
                  <a:lnTo>
                    <a:pt x="0" y="252222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353550" y="612505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92135" y="5376671"/>
            <a:ext cx="1295400" cy="702945"/>
          </a:xfrm>
          <a:custGeom>
            <a:avLst/>
            <a:gdLst/>
            <a:ahLst/>
            <a:cxnLst/>
            <a:rect l="l" t="t" r="r" b="b"/>
            <a:pathLst>
              <a:path w="1295400" h="702945">
                <a:moveTo>
                  <a:pt x="76200" y="127508"/>
                </a:moveTo>
                <a:lnTo>
                  <a:pt x="61607" y="75946"/>
                </a:lnTo>
                <a:lnTo>
                  <a:pt x="40132" y="0"/>
                </a:lnTo>
                <a:lnTo>
                  <a:pt x="0" y="126365"/>
                </a:lnTo>
                <a:lnTo>
                  <a:pt x="25882" y="92951"/>
                </a:lnTo>
                <a:lnTo>
                  <a:pt x="16256" y="695083"/>
                </a:lnTo>
                <a:lnTo>
                  <a:pt x="41656" y="695490"/>
                </a:lnTo>
                <a:lnTo>
                  <a:pt x="51282" y="93281"/>
                </a:lnTo>
                <a:lnTo>
                  <a:pt x="76200" y="127508"/>
                </a:lnTo>
                <a:close/>
              </a:path>
              <a:path w="1295400" h="702945">
                <a:moveTo>
                  <a:pt x="1295400" y="135001"/>
                </a:moveTo>
                <a:lnTo>
                  <a:pt x="1280858" y="83566"/>
                </a:lnTo>
                <a:lnTo>
                  <a:pt x="1280820" y="83439"/>
                </a:lnTo>
                <a:lnTo>
                  <a:pt x="1259332" y="7366"/>
                </a:lnTo>
                <a:lnTo>
                  <a:pt x="1258100" y="11252"/>
                </a:lnTo>
                <a:lnTo>
                  <a:pt x="1258100" y="83642"/>
                </a:lnTo>
                <a:lnTo>
                  <a:pt x="1258100" y="11252"/>
                </a:lnTo>
                <a:lnTo>
                  <a:pt x="1219200" y="133731"/>
                </a:lnTo>
                <a:lnTo>
                  <a:pt x="1245082" y="100317"/>
                </a:lnTo>
                <a:lnTo>
                  <a:pt x="1235456" y="702513"/>
                </a:lnTo>
                <a:lnTo>
                  <a:pt x="1260856" y="702919"/>
                </a:lnTo>
                <a:lnTo>
                  <a:pt x="1270482" y="100698"/>
                </a:lnTo>
                <a:lnTo>
                  <a:pt x="1295400" y="13500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948673" y="205384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820592" y="2406332"/>
            <a:ext cx="530860" cy="530860"/>
            <a:chOff x="9820592" y="2406332"/>
            <a:chExt cx="530860" cy="530860"/>
          </a:xfrm>
        </p:grpSpPr>
        <p:sp>
          <p:nvSpPr>
            <p:cNvPr id="30" name="object 30"/>
            <p:cNvSpPr/>
            <p:nvPr/>
          </p:nvSpPr>
          <p:spPr>
            <a:xfrm>
              <a:off x="9833610" y="241935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222" y="0"/>
                  </a:moveTo>
                  <a:lnTo>
                    <a:pt x="206879" y="4062"/>
                  </a:lnTo>
                  <a:lnTo>
                    <a:pt x="164205" y="15777"/>
                  </a:lnTo>
                  <a:lnTo>
                    <a:pt x="124911" y="34431"/>
                  </a:lnTo>
                  <a:lnTo>
                    <a:pt x="89710" y="59312"/>
                  </a:lnTo>
                  <a:lnTo>
                    <a:pt x="59312" y="89710"/>
                  </a:lnTo>
                  <a:lnTo>
                    <a:pt x="34431" y="124911"/>
                  </a:lnTo>
                  <a:lnTo>
                    <a:pt x="15777" y="164205"/>
                  </a:lnTo>
                  <a:lnTo>
                    <a:pt x="4062" y="206879"/>
                  </a:lnTo>
                  <a:lnTo>
                    <a:pt x="0" y="252222"/>
                  </a:lnTo>
                  <a:lnTo>
                    <a:pt x="4062" y="297564"/>
                  </a:lnTo>
                  <a:lnTo>
                    <a:pt x="15777" y="340238"/>
                  </a:lnTo>
                  <a:lnTo>
                    <a:pt x="34431" y="379532"/>
                  </a:lnTo>
                  <a:lnTo>
                    <a:pt x="59312" y="414733"/>
                  </a:lnTo>
                  <a:lnTo>
                    <a:pt x="89710" y="445131"/>
                  </a:lnTo>
                  <a:lnTo>
                    <a:pt x="124911" y="470012"/>
                  </a:lnTo>
                  <a:lnTo>
                    <a:pt x="164205" y="488666"/>
                  </a:lnTo>
                  <a:lnTo>
                    <a:pt x="206879" y="500381"/>
                  </a:lnTo>
                  <a:lnTo>
                    <a:pt x="252222" y="504444"/>
                  </a:lnTo>
                  <a:lnTo>
                    <a:pt x="297564" y="500381"/>
                  </a:lnTo>
                  <a:lnTo>
                    <a:pt x="340238" y="488666"/>
                  </a:lnTo>
                  <a:lnTo>
                    <a:pt x="379532" y="470012"/>
                  </a:lnTo>
                  <a:lnTo>
                    <a:pt x="414733" y="445131"/>
                  </a:lnTo>
                  <a:lnTo>
                    <a:pt x="445131" y="414733"/>
                  </a:lnTo>
                  <a:lnTo>
                    <a:pt x="470012" y="379532"/>
                  </a:lnTo>
                  <a:lnTo>
                    <a:pt x="488666" y="340238"/>
                  </a:lnTo>
                  <a:lnTo>
                    <a:pt x="500381" y="297564"/>
                  </a:lnTo>
                  <a:lnTo>
                    <a:pt x="504444" y="252222"/>
                  </a:lnTo>
                  <a:lnTo>
                    <a:pt x="500381" y="206879"/>
                  </a:lnTo>
                  <a:lnTo>
                    <a:pt x="488666" y="164205"/>
                  </a:lnTo>
                  <a:lnTo>
                    <a:pt x="470012" y="124911"/>
                  </a:lnTo>
                  <a:lnTo>
                    <a:pt x="445131" y="89710"/>
                  </a:lnTo>
                  <a:lnTo>
                    <a:pt x="414733" y="59312"/>
                  </a:lnTo>
                  <a:lnTo>
                    <a:pt x="379532" y="34431"/>
                  </a:lnTo>
                  <a:lnTo>
                    <a:pt x="340238" y="15777"/>
                  </a:lnTo>
                  <a:lnTo>
                    <a:pt x="297564" y="4062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833610" y="241935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2"/>
                  </a:moveTo>
                  <a:lnTo>
                    <a:pt x="4062" y="206879"/>
                  </a:lnTo>
                  <a:lnTo>
                    <a:pt x="15777" y="164205"/>
                  </a:lnTo>
                  <a:lnTo>
                    <a:pt x="34431" y="124911"/>
                  </a:lnTo>
                  <a:lnTo>
                    <a:pt x="59312" y="89710"/>
                  </a:lnTo>
                  <a:lnTo>
                    <a:pt x="89710" y="59312"/>
                  </a:lnTo>
                  <a:lnTo>
                    <a:pt x="124911" y="34431"/>
                  </a:lnTo>
                  <a:lnTo>
                    <a:pt x="164205" y="15777"/>
                  </a:lnTo>
                  <a:lnTo>
                    <a:pt x="206879" y="4062"/>
                  </a:lnTo>
                  <a:lnTo>
                    <a:pt x="252222" y="0"/>
                  </a:lnTo>
                  <a:lnTo>
                    <a:pt x="297564" y="4062"/>
                  </a:lnTo>
                  <a:lnTo>
                    <a:pt x="340238" y="15777"/>
                  </a:lnTo>
                  <a:lnTo>
                    <a:pt x="379532" y="34431"/>
                  </a:lnTo>
                  <a:lnTo>
                    <a:pt x="414733" y="59312"/>
                  </a:lnTo>
                  <a:lnTo>
                    <a:pt x="445131" y="89710"/>
                  </a:lnTo>
                  <a:lnTo>
                    <a:pt x="470012" y="124911"/>
                  </a:lnTo>
                  <a:lnTo>
                    <a:pt x="488666" y="164205"/>
                  </a:lnTo>
                  <a:lnTo>
                    <a:pt x="500381" y="206879"/>
                  </a:lnTo>
                  <a:lnTo>
                    <a:pt x="504444" y="252222"/>
                  </a:lnTo>
                  <a:lnTo>
                    <a:pt x="500381" y="297564"/>
                  </a:lnTo>
                  <a:lnTo>
                    <a:pt x="488666" y="340238"/>
                  </a:lnTo>
                  <a:lnTo>
                    <a:pt x="470012" y="379532"/>
                  </a:lnTo>
                  <a:lnTo>
                    <a:pt x="445131" y="414733"/>
                  </a:lnTo>
                  <a:lnTo>
                    <a:pt x="414733" y="445131"/>
                  </a:lnTo>
                  <a:lnTo>
                    <a:pt x="379532" y="470012"/>
                  </a:lnTo>
                  <a:lnTo>
                    <a:pt x="340238" y="488666"/>
                  </a:lnTo>
                  <a:lnTo>
                    <a:pt x="297564" y="500381"/>
                  </a:lnTo>
                  <a:lnTo>
                    <a:pt x="252222" y="504444"/>
                  </a:lnTo>
                  <a:lnTo>
                    <a:pt x="206879" y="500381"/>
                  </a:lnTo>
                  <a:lnTo>
                    <a:pt x="164205" y="488666"/>
                  </a:lnTo>
                  <a:lnTo>
                    <a:pt x="124911" y="470012"/>
                  </a:lnTo>
                  <a:lnTo>
                    <a:pt x="89710" y="445131"/>
                  </a:lnTo>
                  <a:lnTo>
                    <a:pt x="59312" y="414733"/>
                  </a:lnTo>
                  <a:lnTo>
                    <a:pt x="34431" y="379532"/>
                  </a:lnTo>
                  <a:lnTo>
                    <a:pt x="15777" y="340238"/>
                  </a:lnTo>
                  <a:lnTo>
                    <a:pt x="4062" y="297564"/>
                  </a:lnTo>
                  <a:lnTo>
                    <a:pt x="0" y="252222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990201" y="246837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565642" y="2270759"/>
            <a:ext cx="1339850" cy="434340"/>
          </a:xfrm>
          <a:custGeom>
            <a:avLst/>
            <a:gdLst/>
            <a:ahLst/>
            <a:cxnLst/>
            <a:rect l="l" t="t" r="r" b="b"/>
            <a:pathLst>
              <a:path w="1339850" h="434339">
                <a:moveTo>
                  <a:pt x="291084" y="25908"/>
                </a:moveTo>
                <a:lnTo>
                  <a:pt x="94996" y="25908"/>
                </a:lnTo>
                <a:lnTo>
                  <a:pt x="129540" y="0"/>
                </a:lnTo>
                <a:lnTo>
                  <a:pt x="0" y="38862"/>
                </a:lnTo>
                <a:lnTo>
                  <a:pt x="129540" y="77724"/>
                </a:lnTo>
                <a:lnTo>
                  <a:pt x="94983" y="51816"/>
                </a:lnTo>
                <a:lnTo>
                  <a:pt x="291084" y="51816"/>
                </a:lnTo>
                <a:lnTo>
                  <a:pt x="291084" y="25908"/>
                </a:lnTo>
                <a:close/>
              </a:path>
              <a:path w="1339850" h="434339">
                <a:moveTo>
                  <a:pt x="1339596" y="382524"/>
                </a:moveTo>
                <a:lnTo>
                  <a:pt x="1141984" y="382524"/>
                </a:lnTo>
                <a:lnTo>
                  <a:pt x="1176528" y="356616"/>
                </a:lnTo>
                <a:lnTo>
                  <a:pt x="1046988" y="395478"/>
                </a:lnTo>
                <a:lnTo>
                  <a:pt x="1176528" y="434340"/>
                </a:lnTo>
                <a:lnTo>
                  <a:pt x="1141984" y="408432"/>
                </a:lnTo>
                <a:lnTo>
                  <a:pt x="1339596" y="408432"/>
                </a:lnTo>
                <a:lnTo>
                  <a:pt x="1339596" y="38252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NVL2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735" y="3485388"/>
            <a:ext cx="7190231" cy="219913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67292" y="2202116"/>
            <a:ext cx="7319645" cy="1152525"/>
            <a:chOff x="2467292" y="2202116"/>
            <a:chExt cx="7319645" cy="1152525"/>
          </a:xfrm>
        </p:grpSpPr>
        <p:sp>
          <p:nvSpPr>
            <p:cNvPr id="5" name="object 5"/>
            <p:cNvSpPr/>
            <p:nvPr/>
          </p:nvSpPr>
          <p:spPr>
            <a:xfrm>
              <a:off x="2530856" y="2265679"/>
              <a:ext cx="7256145" cy="1088390"/>
            </a:xfrm>
            <a:custGeom>
              <a:avLst/>
              <a:gdLst/>
              <a:ahLst/>
              <a:cxnLst/>
              <a:rect l="l" t="t" r="r" b="b"/>
              <a:pathLst>
                <a:path w="7256145" h="1088389">
                  <a:moveTo>
                    <a:pt x="7255764" y="0"/>
                  </a:moveTo>
                  <a:lnTo>
                    <a:pt x="7179310" y="0"/>
                  </a:lnTo>
                  <a:lnTo>
                    <a:pt x="7179310" y="12700"/>
                  </a:lnTo>
                  <a:lnTo>
                    <a:pt x="7179310" y="25400"/>
                  </a:lnTo>
                  <a:lnTo>
                    <a:pt x="7179310" y="1024890"/>
                  </a:lnTo>
                  <a:lnTo>
                    <a:pt x="12954" y="1024890"/>
                  </a:lnTo>
                  <a:lnTo>
                    <a:pt x="12954" y="1025398"/>
                  </a:lnTo>
                  <a:lnTo>
                    <a:pt x="0" y="1025398"/>
                  </a:lnTo>
                  <a:lnTo>
                    <a:pt x="0" y="1075690"/>
                  </a:lnTo>
                  <a:lnTo>
                    <a:pt x="12954" y="1075690"/>
                  </a:lnTo>
                  <a:lnTo>
                    <a:pt x="12954" y="1088390"/>
                  </a:lnTo>
                  <a:lnTo>
                    <a:pt x="7242797" y="1088390"/>
                  </a:lnTo>
                  <a:lnTo>
                    <a:pt x="7242797" y="1075690"/>
                  </a:lnTo>
                  <a:lnTo>
                    <a:pt x="7255764" y="1075690"/>
                  </a:lnTo>
                  <a:lnTo>
                    <a:pt x="7255764" y="25400"/>
                  </a:lnTo>
                  <a:lnTo>
                    <a:pt x="7255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0309" y="2215134"/>
              <a:ext cx="7230109" cy="1076325"/>
            </a:xfrm>
            <a:custGeom>
              <a:avLst/>
              <a:gdLst/>
              <a:ahLst/>
              <a:cxnLst/>
              <a:rect l="l" t="t" r="r" b="b"/>
              <a:pathLst>
                <a:path w="7230109" h="1076325">
                  <a:moveTo>
                    <a:pt x="7229856" y="0"/>
                  </a:moveTo>
                  <a:lnTo>
                    <a:pt x="0" y="0"/>
                  </a:lnTo>
                  <a:lnTo>
                    <a:pt x="0" y="1075944"/>
                  </a:lnTo>
                  <a:lnTo>
                    <a:pt x="7229856" y="1075944"/>
                  </a:lnTo>
                  <a:lnTo>
                    <a:pt x="72298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80309" y="2215134"/>
              <a:ext cx="7230109" cy="1076325"/>
            </a:xfrm>
            <a:custGeom>
              <a:avLst/>
              <a:gdLst/>
              <a:ahLst/>
              <a:cxnLst/>
              <a:rect l="l" t="t" r="r" b="b"/>
              <a:pathLst>
                <a:path w="7230109" h="1076325">
                  <a:moveTo>
                    <a:pt x="0" y="1075944"/>
                  </a:moveTo>
                  <a:lnTo>
                    <a:pt x="7229856" y="1075944"/>
                  </a:lnTo>
                  <a:lnTo>
                    <a:pt x="7229856" y="0"/>
                  </a:lnTo>
                  <a:lnTo>
                    <a:pt x="0" y="0"/>
                  </a:lnTo>
                  <a:lnTo>
                    <a:pt x="0" y="10759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30855" y="3341370"/>
            <a:ext cx="7256145" cy="26670"/>
          </a:xfrm>
          <a:custGeom>
            <a:avLst/>
            <a:gdLst/>
            <a:ahLst/>
            <a:cxnLst/>
            <a:rect l="l" t="t" r="r" b="b"/>
            <a:pathLst>
              <a:path w="7256145" h="26670">
                <a:moveTo>
                  <a:pt x="0" y="26670"/>
                </a:moveTo>
                <a:lnTo>
                  <a:pt x="7255764" y="26670"/>
                </a:lnTo>
                <a:lnTo>
                  <a:pt x="7255764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38729" y="2208656"/>
            <a:ext cx="3200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33625" algn="l"/>
              </a:tabLst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t</a:t>
            </a:r>
            <a:r>
              <a:rPr dirty="0" sz="1600" spc="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n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m</a:t>
            </a:r>
            <a:r>
              <a:rPr dirty="0" sz="1600" spc="5" b="1">
                <a:latin typeface="Courier New"/>
                <a:cs typeface="Courier New"/>
              </a:rPr>
              <a:t>e</a:t>
            </a:r>
            <a:r>
              <a:rPr dirty="0" sz="1600" spc="-5" b="1">
                <a:latin typeface="Courier New"/>
                <a:cs typeface="Courier New"/>
              </a:rPr>
              <a:t>,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5" b="1">
                <a:latin typeface="Courier New"/>
                <a:cs typeface="Courier New"/>
              </a:rPr>
              <a:t>r</a:t>
            </a:r>
            <a:r>
              <a:rPr dirty="0" sz="1600" spc="-10" b="1">
                <a:latin typeface="Courier New"/>
                <a:cs typeface="Courier New"/>
              </a:rPr>
              <a:t>y,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3767" y="2292095"/>
            <a:ext cx="1809114" cy="208915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360"/>
              </a:lnSpc>
            </a:pPr>
            <a:r>
              <a:rPr dirty="0" sz="1600" spc="-10" b="1">
                <a:latin typeface="Courier New"/>
                <a:cs typeface="Courier New"/>
              </a:rPr>
              <a:t>c</a:t>
            </a:r>
            <a:r>
              <a:rPr dirty="0" sz="1600" spc="-5" b="1">
                <a:latin typeface="Courier New"/>
                <a:cs typeface="Courier New"/>
              </a:rPr>
              <a:t>o</a:t>
            </a:r>
            <a:r>
              <a:rPr dirty="0" sz="1600" spc="-10" b="1">
                <a:latin typeface="Courier New"/>
                <a:cs typeface="Courier New"/>
              </a:rPr>
              <a:t>m</a:t>
            </a:r>
            <a:r>
              <a:rPr dirty="0" sz="1600" spc="10" b="1">
                <a:latin typeface="Courier New"/>
                <a:cs typeface="Courier New"/>
              </a:rPr>
              <a:t>m</a:t>
            </a:r>
            <a:r>
              <a:rPr dirty="0" sz="1600" spc="-10" b="1">
                <a:latin typeface="Courier New"/>
                <a:cs typeface="Courier New"/>
              </a:rPr>
              <a:t>i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i</a:t>
            </a:r>
            <a:r>
              <a:rPr dirty="0" sz="1600" spc="5" b="1">
                <a:latin typeface="Courier New"/>
                <a:cs typeface="Courier New"/>
              </a:rPr>
              <a:t>o</a:t>
            </a:r>
            <a:r>
              <a:rPr dirty="0" sz="1600" spc="-10" b="1">
                <a:latin typeface="Courier New"/>
                <a:cs typeface="Courier New"/>
              </a:rPr>
              <a:t>n</a:t>
            </a:r>
            <a:r>
              <a:rPr dirty="0" sz="1600" spc="-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p</a:t>
            </a:r>
            <a:r>
              <a:rPr dirty="0" sz="1600" spc="-5" b="1">
                <a:latin typeface="Courier New"/>
                <a:cs typeface="Courier New"/>
              </a:rPr>
              <a:t>ct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47229" y="2208656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3694" y="2452497"/>
            <a:ext cx="368807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3570" marR="5080" indent="-611505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NVL2(commission_pct, 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'SAL+COMM',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'SAL')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income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38729" y="2940176"/>
            <a:ext cx="5124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urier New"/>
                <a:cs typeface="Courier New"/>
              </a:rPr>
              <a:t>F</a:t>
            </a:r>
            <a:r>
              <a:rPr dirty="0" sz="1600" spc="-5" b="1">
                <a:latin typeface="Courier New"/>
                <a:cs typeface="Courier New"/>
              </a:rPr>
              <a:t>R</a:t>
            </a:r>
            <a:r>
              <a:rPr dirty="0" sz="1600" spc="-10" b="1">
                <a:latin typeface="Courier New"/>
                <a:cs typeface="Courier New"/>
              </a:rPr>
              <a:t>OM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2874" y="2940176"/>
            <a:ext cx="515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employees WHERE</a:t>
            </a:r>
            <a:r>
              <a:rPr dirty="0" sz="1600" spc="1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department_id</a:t>
            </a:r>
            <a:r>
              <a:rPr dirty="0" sz="1600" spc="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IN </a:t>
            </a:r>
            <a:r>
              <a:rPr dirty="0" sz="1600" b="1">
                <a:latin typeface="Courier New"/>
                <a:cs typeface="Courier New"/>
              </a:rPr>
              <a:t>(50,</a:t>
            </a:r>
            <a:r>
              <a:rPr dirty="0" sz="1600" spc="-5" b="1">
                <a:latin typeface="Courier New"/>
                <a:cs typeface="Courier New"/>
              </a:rPr>
              <a:t> 80);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76536" y="1979612"/>
            <a:ext cx="5374005" cy="991235"/>
            <a:chOff x="3276536" y="1979612"/>
            <a:chExt cx="5374005" cy="991235"/>
          </a:xfrm>
        </p:grpSpPr>
        <p:sp>
          <p:nvSpPr>
            <p:cNvPr id="16" name="object 16"/>
            <p:cNvSpPr/>
            <p:nvPr/>
          </p:nvSpPr>
          <p:spPr>
            <a:xfrm>
              <a:off x="5750813" y="2279141"/>
              <a:ext cx="1797050" cy="205740"/>
            </a:xfrm>
            <a:custGeom>
              <a:avLst/>
              <a:gdLst/>
              <a:ahLst/>
              <a:cxnLst/>
              <a:rect l="l" t="t" r="r" b="b"/>
              <a:pathLst>
                <a:path w="1797050" h="205739">
                  <a:moveTo>
                    <a:pt x="0" y="205739"/>
                  </a:moveTo>
                  <a:lnTo>
                    <a:pt x="1796795" y="205739"/>
                  </a:lnTo>
                  <a:lnTo>
                    <a:pt x="1796795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89553" y="2513837"/>
              <a:ext cx="3900170" cy="443865"/>
            </a:xfrm>
            <a:custGeom>
              <a:avLst/>
              <a:gdLst/>
              <a:ahLst/>
              <a:cxnLst/>
              <a:rect l="l" t="t" r="r" b="b"/>
              <a:pathLst>
                <a:path w="3900170" h="443864">
                  <a:moveTo>
                    <a:pt x="0" y="443484"/>
                  </a:moveTo>
                  <a:lnTo>
                    <a:pt x="3899915" y="443484"/>
                  </a:lnTo>
                  <a:lnTo>
                    <a:pt x="3899915" y="0"/>
                  </a:lnTo>
                  <a:lnTo>
                    <a:pt x="0" y="0"/>
                  </a:lnTo>
                  <a:lnTo>
                    <a:pt x="0" y="443484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143494" y="199262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143494" y="199262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440679" y="3511296"/>
            <a:ext cx="4029710" cy="2075814"/>
            <a:chOff x="5440679" y="3511296"/>
            <a:chExt cx="4029710" cy="2075814"/>
          </a:xfrm>
        </p:grpSpPr>
        <p:sp>
          <p:nvSpPr>
            <p:cNvPr id="21" name="object 21"/>
            <p:cNvSpPr/>
            <p:nvPr/>
          </p:nvSpPr>
          <p:spPr>
            <a:xfrm>
              <a:off x="5453633" y="3524250"/>
              <a:ext cx="2464435" cy="2049780"/>
            </a:xfrm>
            <a:custGeom>
              <a:avLst/>
              <a:gdLst/>
              <a:ahLst/>
              <a:cxnLst/>
              <a:rect l="l" t="t" r="r" b="b"/>
              <a:pathLst>
                <a:path w="2464434" h="2049779">
                  <a:moveTo>
                    <a:pt x="0" y="2049780"/>
                  </a:moveTo>
                  <a:lnTo>
                    <a:pt x="2464308" y="2049780"/>
                  </a:lnTo>
                  <a:lnTo>
                    <a:pt x="2464308" y="0"/>
                  </a:lnTo>
                  <a:lnTo>
                    <a:pt x="0" y="0"/>
                  </a:lnTo>
                  <a:lnTo>
                    <a:pt x="0" y="2049780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946897" y="3524250"/>
              <a:ext cx="1510665" cy="2039620"/>
            </a:xfrm>
            <a:custGeom>
              <a:avLst/>
              <a:gdLst/>
              <a:ahLst/>
              <a:cxnLst/>
              <a:rect l="l" t="t" r="r" b="b"/>
              <a:pathLst>
                <a:path w="1510665" h="2039620">
                  <a:moveTo>
                    <a:pt x="0" y="2039112"/>
                  </a:moveTo>
                  <a:lnTo>
                    <a:pt x="1510283" y="2039112"/>
                  </a:lnTo>
                  <a:lnTo>
                    <a:pt x="1510283" y="0"/>
                  </a:lnTo>
                  <a:lnTo>
                    <a:pt x="0" y="0"/>
                  </a:lnTo>
                  <a:lnTo>
                    <a:pt x="0" y="2039112"/>
                  </a:lnTo>
                  <a:close/>
                </a:path>
              </a:pathLst>
            </a:custGeom>
            <a:ln w="25907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7455344" y="6045644"/>
            <a:ext cx="520065" cy="520065"/>
            <a:chOff x="7455344" y="6045644"/>
            <a:chExt cx="520065" cy="520065"/>
          </a:xfrm>
        </p:grpSpPr>
        <p:sp>
          <p:nvSpPr>
            <p:cNvPr id="24" name="object 24"/>
            <p:cNvSpPr/>
            <p:nvPr/>
          </p:nvSpPr>
          <p:spPr>
            <a:xfrm>
              <a:off x="7468361" y="60586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8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6" y="246887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68361" y="60586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32"/>
                  </a:lnTo>
                  <a:lnTo>
                    <a:pt x="19395" y="150790"/>
                  </a:lnTo>
                  <a:lnTo>
                    <a:pt x="42152" y="108852"/>
                  </a:lnTo>
                  <a:lnTo>
                    <a:pt x="72294" y="72313"/>
                  </a:lnTo>
                  <a:lnTo>
                    <a:pt x="108830" y="42165"/>
                  </a:lnTo>
                  <a:lnTo>
                    <a:pt x="150768" y="19402"/>
                  </a:lnTo>
                  <a:lnTo>
                    <a:pt x="197118" y="5016"/>
                  </a:lnTo>
                  <a:lnTo>
                    <a:pt x="246888" y="0"/>
                  </a:lnTo>
                  <a:lnTo>
                    <a:pt x="296657" y="5016"/>
                  </a:lnTo>
                  <a:lnTo>
                    <a:pt x="343007" y="19402"/>
                  </a:lnTo>
                  <a:lnTo>
                    <a:pt x="384945" y="42165"/>
                  </a:lnTo>
                  <a:lnTo>
                    <a:pt x="421481" y="72313"/>
                  </a:lnTo>
                  <a:lnTo>
                    <a:pt x="451623" y="108852"/>
                  </a:lnTo>
                  <a:lnTo>
                    <a:pt x="474380" y="150790"/>
                  </a:lnTo>
                  <a:lnTo>
                    <a:pt x="488761" y="197132"/>
                  </a:lnTo>
                  <a:lnTo>
                    <a:pt x="493776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8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618221" y="6102502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06320" y="6045644"/>
            <a:ext cx="530860" cy="528955"/>
            <a:chOff x="8406320" y="6045644"/>
            <a:chExt cx="530860" cy="528955"/>
          </a:xfrm>
        </p:grpSpPr>
        <p:sp>
          <p:nvSpPr>
            <p:cNvPr id="28" name="object 28"/>
            <p:cNvSpPr/>
            <p:nvPr/>
          </p:nvSpPr>
          <p:spPr>
            <a:xfrm>
              <a:off x="8419337" y="6058662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1" y="0"/>
                  </a:moveTo>
                  <a:lnTo>
                    <a:pt x="206879" y="4051"/>
                  </a:lnTo>
                  <a:lnTo>
                    <a:pt x="164205" y="15732"/>
                  </a:lnTo>
                  <a:lnTo>
                    <a:pt x="124911" y="34332"/>
                  </a:lnTo>
                  <a:lnTo>
                    <a:pt x="89710" y="59141"/>
                  </a:lnTo>
                  <a:lnTo>
                    <a:pt x="59312" y="89448"/>
                  </a:lnTo>
                  <a:lnTo>
                    <a:pt x="34431" y="124544"/>
                  </a:lnTo>
                  <a:lnTo>
                    <a:pt x="15777" y="163718"/>
                  </a:lnTo>
                  <a:lnTo>
                    <a:pt x="4062" y="206260"/>
                  </a:lnTo>
                  <a:lnTo>
                    <a:pt x="0" y="251459"/>
                  </a:lnTo>
                  <a:lnTo>
                    <a:pt x="4062" y="296659"/>
                  </a:lnTo>
                  <a:lnTo>
                    <a:pt x="15777" y="339201"/>
                  </a:lnTo>
                  <a:lnTo>
                    <a:pt x="34431" y="378375"/>
                  </a:lnTo>
                  <a:lnTo>
                    <a:pt x="59312" y="413471"/>
                  </a:lnTo>
                  <a:lnTo>
                    <a:pt x="89710" y="443778"/>
                  </a:lnTo>
                  <a:lnTo>
                    <a:pt x="124911" y="468587"/>
                  </a:lnTo>
                  <a:lnTo>
                    <a:pt x="164205" y="487187"/>
                  </a:lnTo>
                  <a:lnTo>
                    <a:pt x="206879" y="498868"/>
                  </a:lnTo>
                  <a:lnTo>
                    <a:pt x="252221" y="502919"/>
                  </a:lnTo>
                  <a:lnTo>
                    <a:pt x="297564" y="498868"/>
                  </a:lnTo>
                  <a:lnTo>
                    <a:pt x="340238" y="487187"/>
                  </a:lnTo>
                  <a:lnTo>
                    <a:pt x="379532" y="468587"/>
                  </a:lnTo>
                  <a:lnTo>
                    <a:pt x="414733" y="443778"/>
                  </a:lnTo>
                  <a:lnTo>
                    <a:pt x="445131" y="413471"/>
                  </a:lnTo>
                  <a:lnTo>
                    <a:pt x="470012" y="378375"/>
                  </a:lnTo>
                  <a:lnTo>
                    <a:pt x="488666" y="339201"/>
                  </a:lnTo>
                  <a:lnTo>
                    <a:pt x="500381" y="296659"/>
                  </a:lnTo>
                  <a:lnTo>
                    <a:pt x="504443" y="251459"/>
                  </a:lnTo>
                  <a:lnTo>
                    <a:pt x="500381" y="206260"/>
                  </a:lnTo>
                  <a:lnTo>
                    <a:pt x="488666" y="163718"/>
                  </a:lnTo>
                  <a:lnTo>
                    <a:pt x="470012" y="124544"/>
                  </a:lnTo>
                  <a:lnTo>
                    <a:pt x="445131" y="89448"/>
                  </a:lnTo>
                  <a:lnTo>
                    <a:pt x="414733" y="59141"/>
                  </a:lnTo>
                  <a:lnTo>
                    <a:pt x="379532" y="34332"/>
                  </a:lnTo>
                  <a:lnTo>
                    <a:pt x="340238" y="15732"/>
                  </a:lnTo>
                  <a:lnTo>
                    <a:pt x="297564" y="4051"/>
                  </a:lnTo>
                  <a:lnTo>
                    <a:pt x="252221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419337" y="6058662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59"/>
                  </a:moveTo>
                  <a:lnTo>
                    <a:pt x="4062" y="206260"/>
                  </a:lnTo>
                  <a:lnTo>
                    <a:pt x="15777" y="163718"/>
                  </a:lnTo>
                  <a:lnTo>
                    <a:pt x="34431" y="124544"/>
                  </a:lnTo>
                  <a:lnTo>
                    <a:pt x="59312" y="89448"/>
                  </a:lnTo>
                  <a:lnTo>
                    <a:pt x="89710" y="59141"/>
                  </a:lnTo>
                  <a:lnTo>
                    <a:pt x="124911" y="34332"/>
                  </a:lnTo>
                  <a:lnTo>
                    <a:pt x="164205" y="15732"/>
                  </a:lnTo>
                  <a:lnTo>
                    <a:pt x="206879" y="4051"/>
                  </a:lnTo>
                  <a:lnTo>
                    <a:pt x="252221" y="0"/>
                  </a:lnTo>
                  <a:lnTo>
                    <a:pt x="297564" y="4051"/>
                  </a:lnTo>
                  <a:lnTo>
                    <a:pt x="340238" y="15732"/>
                  </a:lnTo>
                  <a:lnTo>
                    <a:pt x="379532" y="34332"/>
                  </a:lnTo>
                  <a:lnTo>
                    <a:pt x="414733" y="59141"/>
                  </a:lnTo>
                  <a:lnTo>
                    <a:pt x="445131" y="89448"/>
                  </a:lnTo>
                  <a:lnTo>
                    <a:pt x="470012" y="124544"/>
                  </a:lnTo>
                  <a:lnTo>
                    <a:pt x="488666" y="163718"/>
                  </a:lnTo>
                  <a:lnTo>
                    <a:pt x="500381" y="206260"/>
                  </a:lnTo>
                  <a:lnTo>
                    <a:pt x="504443" y="251459"/>
                  </a:lnTo>
                  <a:lnTo>
                    <a:pt x="500381" y="296659"/>
                  </a:lnTo>
                  <a:lnTo>
                    <a:pt x="488666" y="339201"/>
                  </a:lnTo>
                  <a:lnTo>
                    <a:pt x="470012" y="378375"/>
                  </a:lnTo>
                  <a:lnTo>
                    <a:pt x="445131" y="413471"/>
                  </a:lnTo>
                  <a:lnTo>
                    <a:pt x="414733" y="443778"/>
                  </a:lnTo>
                  <a:lnTo>
                    <a:pt x="379532" y="468587"/>
                  </a:lnTo>
                  <a:lnTo>
                    <a:pt x="340238" y="487187"/>
                  </a:lnTo>
                  <a:lnTo>
                    <a:pt x="297564" y="498868"/>
                  </a:lnTo>
                  <a:lnTo>
                    <a:pt x="252221" y="502919"/>
                  </a:lnTo>
                  <a:lnTo>
                    <a:pt x="206879" y="498868"/>
                  </a:lnTo>
                  <a:lnTo>
                    <a:pt x="164205" y="487187"/>
                  </a:lnTo>
                  <a:lnTo>
                    <a:pt x="124911" y="468587"/>
                  </a:lnTo>
                  <a:lnTo>
                    <a:pt x="89710" y="443778"/>
                  </a:lnTo>
                  <a:lnTo>
                    <a:pt x="59312" y="413471"/>
                  </a:lnTo>
                  <a:lnTo>
                    <a:pt x="34431" y="378375"/>
                  </a:lnTo>
                  <a:lnTo>
                    <a:pt x="15777" y="339201"/>
                  </a:lnTo>
                  <a:lnTo>
                    <a:pt x="4062" y="296659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575293" y="61073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87182" y="5697220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39497" y="76161"/>
                </a:moveTo>
                <a:lnTo>
                  <a:pt x="26313" y="92744"/>
                </a:lnTo>
                <a:lnTo>
                  <a:pt x="19558" y="329831"/>
                </a:lnTo>
                <a:lnTo>
                  <a:pt x="44958" y="330568"/>
                </a:lnTo>
                <a:lnTo>
                  <a:pt x="51715" y="93432"/>
                </a:lnTo>
                <a:lnTo>
                  <a:pt x="39497" y="76161"/>
                </a:lnTo>
                <a:close/>
              </a:path>
              <a:path w="76200" h="330835">
                <a:moveTo>
                  <a:pt x="62156" y="75793"/>
                </a:moveTo>
                <a:lnTo>
                  <a:pt x="26797" y="75793"/>
                </a:lnTo>
                <a:lnTo>
                  <a:pt x="52197" y="76530"/>
                </a:lnTo>
                <a:lnTo>
                  <a:pt x="51715" y="93432"/>
                </a:lnTo>
                <a:lnTo>
                  <a:pt x="76200" y="128041"/>
                </a:lnTo>
                <a:lnTo>
                  <a:pt x="62156" y="75793"/>
                </a:lnTo>
                <a:close/>
              </a:path>
              <a:path w="76200" h="330835">
                <a:moveTo>
                  <a:pt x="41783" y="0"/>
                </a:moveTo>
                <a:lnTo>
                  <a:pt x="0" y="125844"/>
                </a:lnTo>
                <a:lnTo>
                  <a:pt x="26313" y="92744"/>
                </a:lnTo>
                <a:lnTo>
                  <a:pt x="26797" y="75793"/>
                </a:lnTo>
                <a:lnTo>
                  <a:pt x="62156" y="75793"/>
                </a:lnTo>
                <a:lnTo>
                  <a:pt x="41783" y="0"/>
                </a:lnTo>
                <a:close/>
              </a:path>
              <a:path w="76200" h="330835">
                <a:moveTo>
                  <a:pt x="39497" y="76161"/>
                </a:moveTo>
                <a:lnTo>
                  <a:pt x="51715" y="93432"/>
                </a:lnTo>
                <a:lnTo>
                  <a:pt x="52197" y="76530"/>
                </a:lnTo>
                <a:lnTo>
                  <a:pt x="39497" y="76161"/>
                </a:lnTo>
                <a:close/>
              </a:path>
              <a:path w="76200" h="330835">
                <a:moveTo>
                  <a:pt x="26797" y="75793"/>
                </a:moveTo>
                <a:lnTo>
                  <a:pt x="26313" y="92744"/>
                </a:lnTo>
                <a:lnTo>
                  <a:pt x="39497" y="76161"/>
                </a:lnTo>
                <a:lnTo>
                  <a:pt x="26797" y="7579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626982" y="5696826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39497" y="76174"/>
                </a:moveTo>
                <a:lnTo>
                  <a:pt x="26313" y="92757"/>
                </a:lnTo>
                <a:lnTo>
                  <a:pt x="19558" y="329844"/>
                </a:lnTo>
                <a:lnTo>
                  <a:pt x="44958" y="330568"/>
                </a:lnTo>
                <a:lnTo>
                  <a:pt x="51715" y="93445"/>
                </a:lnTo>
                <a:lnTo>
                  <a:pt x="39497" y="76174"/>
                </a:lnTo>
                <a:close/>
              </a:path>
              <a:path w="76200" h="330835">
                <a:moveTo>
                  <a:pt x="62157" y="75806"/>
                </a:moveTo>
                <a:lnTo>
                  <a:pt x="26797" y="75806"/>
                </a:lnTo>
                <a:lnTo>
                  <a:pt x="52197" y="76542"/>
                </a:lnTo>
                <a:lnTo>
                  <a:pt x="51715" y="93445"/>
                </a:lnTo>
                <a:lnTo>
                  <a:pt x="76200" y="128054"/>
                </a:lnTo>
                <a:lnTo>
                  <a:pt x="62157" y="75806"/>
                </a:lnTo>
                <a:close/>
              </a:path>
              <a:path w="76200" h="330835">
                <a:moveTo>
                  <a:pt x="41783" y="0"/>
                </a:moveTo>
                <a:lnTo>
                  <a:pt x="0" y="125856"/>
                </a:lnTo>
                <a:lnTo>
                  <a:pt x="26313" y="92757"/>
                </a:lnTo>
                <a:lnTo>
                  <a:pt x="26797" y="75806"/>
                </a:lnTo>
                <a:lnTo>
                  <a:pt x="62157" y="75806"/>
                </a:lnTo>
                <a:lnTo>
                  <a:pt x="41783" y="0"/>
                </a:lnTo>
                <a:close/>
              </a:path>
              <a:path w="76200" h="330835">
                <a:moveTo>
                  <a:pt x="39497" y="76174"/>
                </a:moveTo>
                <a:lnTo>
                  <a:pt x="51715" y="93445"/>
                </a:lnTo>
                <a:lnTo>
                  <a:pt x="52197" y="76542"/>
                </a:lnTo>
                <a:lnTo>
                  <a:pt x="39497" y="76174"/>
                </a:lnTo>
                <a:close/>
              </a:path>
              <a:path w="76200" h="330835">
                <a:moveTo>
                  <a:pt x="26797" y="75806"/>
                </a:moveTo>
                <a:lnTo>
                  <a:pt x="26313" y="92757"/>
                </a:lnTo>
                <a:lnTo>
                  <a:pt x="39497" y="76174"/>
                </a:lnTo>
                <a:lnTo>
                  <a:pt x="26797" y="7580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293100" y="203619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64716" y="2389568"/>
            <a:ext cx="530860" cy="528955"/>
            <a:chOff x="7764716" y="2389568"/>
            <a:chExt cx="530860" cy="528955"/>
          </a:xfrm>
        </p:grpSpPr>
        <p:sp>
          <p:nvSpPr>
            <p:cNvPr id="35" name="object 35"/>
            <p:cNvSpPr/>
            <p:nvPr/>
          </p:nvSpPr>
          <p:spPr>
            <a:xfrm>
              <a:off x="7777734" y="2402585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252222" y="0"/>
                  </a:moveTo>
                  <a:lnTo>
                    <a:pt x="206879" y="4049"/>
                  </a:lnTo>
                  <a:lnTo>
                    <a:pt x="164205" y="15725"/>
                  </a:lnTo>
                  <a:lnTo>
                    <a:pt x="124911" y="34318"/>
                  </a:lnTo>
                  <a:lnTo>
                    <a:pt x="89710" y="59120"/>
                  </a:lnTo>
                  <a:lnTo>
                    <a:pt x="59312" y="89422"/>
                  </a:lnTo>
                  <a:lnTo>
                    <a:pt x="34431" y="124516"/>
                  </a:lnTo>
                  <a:lnTo>
                    <a:pt x="15777" y="163693"/>
                  </a:lnTo>
                  <a:lnTo>
                    <a:pt x="4062" y="206243"/>
                  </a:lnTo>
                  <a:lnTo>
                    <a:pt x="0" y="251460"/>
                  </a:lnTo>
                  <a:lnTo>
                    <a:pt x="4062" y="296676"/>
                  </a:lnTo>
                  <a:lnTo>
                    <a:pt x="15777" y="339226"/>
                  </a:lnTo>
                  <a:lnTo>
                    <a:pt x="34431" y="378403"/>
                  </a:lnTo>
                  <a:lnTo>
                    <a:pt x="59312" y="413497"/>
                  </a:lnTo>
                  <a:lnTo>
                    <a:pt x="89710" y="443799"/>
                  </a:lnTo>
                  <a:lnTo>
                    <a:pt x="124911" y="468601"/>
                  </a:lnTo>
                  <a:lnTo>
                    <a:pt x="164205" y="487194"/>
                  </a:lnTo>
                  <a:lnTo>
                    <a:pt x="206879" y="498870"/>
                  </a:lnTo>
                  <a:lnTo>
                    <a:pt x="252222" y="502919"/>
                  </a:lnTo>
                  <a:lnTo>
                    <a:pt x="297564" y="498870"/>
                  </a:lnTo>
                  <a:lnTo>
                    <a:pt x="340238" y="487194"/>
                  </a:lnTo>
                  <a:lnTo>
                    <a:pt x="379532" y="468601"/>
                  </a:lnTo>
                  <a:lnTo>
                    <a:pt x="414733" y="443799"/>
                  </a:lnTo>
                  <a:lnTo>
                    <a:pt x="445131" y="413497"/>
                  </a:lnTo>
                  <a:lnTo>
                    <a:pt x="470012" y="378403"/>
                  </a:lnTo>
                  <a:lnTo>
                    <a:pt x="488666" y="339226"/>
                  </a:lnTo>
                  <a:lnTo>
                    <a:pt x="500381" y="296676"/>
                  </a:lnTo>
                  <a:lnTo>
                    <a:pt x="504444" y="251460"/>
                  </a:lnTo>
                  <a:lnTo>
                    <a:pt x="500381" y="206243"/>
                  </a:lnTo>
                  <a:lnTo>
                    <a:pt x="488666" y="163693"/>
                  </a:lnTo>
                  <a:lnTo>
                    <a:pt x="470012" y="124516"/>
                  </a:lnTo>
                  <a:lnTo>
                    <a:pt x="445131" y="89422"/>
                  </a:lnTo>
                  <a:lnTo>
                    <a:pt x="414733" y="59120"/>
                  </a:lnTo>
                  <a:lnTo>
                    <a:pt x="379532" y="34318"/>
                  </a:lnTo>
                  <a:lnTo>
                    <a:pt x="340238" y="15725"/>
                  </a:lnTo>
                  <a:lnTo>
                    <a:pt x="297564" y="4049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77734" y="2402585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0" y="251460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2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4" y="251460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2" y="502919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60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934070" y="2450033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093457" y="2600198"/>
            <a:ext cx="756285" cy="78105"/>
          </a:xfrm>
          <a:custGeom>
            <a:avLst/>
            <a:gdLst/>
            <a:ahLst/>
            <a:cxnLst/>
            <a:rect l="l" t="t" r="r" b="b"/>
            <a:pathLst>
              <a:path w="756284" h="78105">
                <a:moveTo>
                  <a:pt x="130048" y="0"/>
                </a:moveTo>
                <a:lnTo>
                  <a:pt x="0" y="37084"/>
                </a:lnTo>
                <a:lnTo>
                  <a:pt x="129032" y="77724"/>
                </a:lnTo>
                <a:lnTo>
                  <a:pt x="94869" y="51425"/>
                </a:lnTo>
                <a:lnTo>
                  <a:pt x="77470" y="51180"/>
                </a:lnTo>
                <a:lnTo>
                  <a:pt x="77850" y="25273"/>
                </a:lnTo>
                <a:lnTo>
                  <a:pt x="95455" y="25273"/>
                </a:lnTo>
                <a:lnTo>
                  <a:pt x="130048" y="0"/>
                </a:lnTo>
                <a:close/>
              </a:path>
              <a:path w="756284" h="78105">
                <a:moveTo>
                  <a:pt x="95123" y="25515"/>
                </a:moveTo>
                <a:lnTo>
                  <a:pt x="77724" y="38226"/>
                </a:lnTo>
                <a:lnTo>
                  <a:pt x="94869" y="51425"/>
                </a:lnTo>
                <a:lnTo>
                  <a:pt x="755776" y="60705"/>
                </a:lnTo>
                <a:lnTo>
                  <a:pt x="756031" y="34798"/>
                </a:lnTo>
                <a:lnTo>
                  <a:pt x="95123" y="25515"/>
                </a:lnTo>
                <a:close/>
              </a:path>
              <a:path w="756284" h="78105">
                <a:moveTo>
                  <a:pt x="77850" y="25273"/>
                </a:moveTo>
                <a:lnTo>
                  <a:pt x="77470" y="51180"/>
                </a:lnTo>
                <a:lnTo>
                  <a:pt x="94869" y="51425"/>
                </a:lnTo>
                <a:lnTo>
                  <a:pt x="77724" y="38226"/>
                </a:lnTo>
                <a:lnTo>
                  <a:pt x="95123" y="25515"/>
                </a:lnTo>
                <a:lnTo>
                  <a:pt x="77850" y="25273"/>
                </a:lnTo>
                <a:close/>
              </a:path>
              <a:path w="756284" h="78105">
                <a:moveTo>
                  <a:pt x="95455" y="25273"/>
                </a:moveTo>
                <a:lnTo>
                  <a:pt x="77850" y="25273"/>
                </a:lnTo>
                <a:lnTo>
                  <a:pt x="95123" y="25515"/>
                </a:lnTo>
                <a:lnTo>
                  <a:pt x="95455" y="2527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10321" y="2252472"/>
            <a:ext cx="291465" cy="78105"/>
          </a:xfrm>
          <a:custGeom>
            <a:avLst/>
            <a:gdLst/>
            <a:ahLst/>
            <a:cxnLst/>
            <a:rect l="l" t="t" r="r" b="b"/>
            <a:pathLst>
              <a:path w="291465" h="78105">
                <a:moveTo>
                  <a:pt x="129539" y="0"/>
                </a:moveTo>
                <a:lnTo>
                  <a:pt x="0" y="38862"/>
                </a:lnTo>
                <a:lnTo>
                  <a:pt x="129539" y="77724"/>
                </a:lnTo>
                <a:lnTo>
                  <a:pt x="94995" y="51815"/>
                </a:lnTo>
                <a:lnTo>
                  <a:pt x="77724" y="51815"/>
                </a:lnTo>
                <a:lnTo>
                  <a:pt x="77724" y="25907"/>
                </a:lnTo>
                <a:lnTo>
                  <a:pt x="94996" y="25907"/>
                </a:lnTo>
                <a:lnTo>
                  <a:pt x="129539" y="0"/>
                </a:lnTo>
                <a:close/>
              </a:path>
              <a:path w="291465" h="78105">
                <a:moveTo>
                  <a:pt x="77724" y="38862"/>
                </a:moveTo>
                <a:lnTo>
                  <a:pt x="77724" y="51815"/>
                </a:lnTo>
                <a:lnTo>
                  <a:pt x="94995" y="51815"/>
                </a:lnTo>
                <a:lnTo>
                  <a:pt x="77724" y="38862"/>
                </a:lnTo>
                <a:close/>
              </a:path>
              <a:path w="291465" h="78105">
                <a:moveTo>
                  <a:pt x="291083" y="25907"/>
                </a:moveTo>
                <a:lnTo>
                  <a:pt x="94996" y="25907"/>
                </a:lnTo>
                <a:lnTo>
                  <a:pt x="77724" y="38862"/>
                </a:lnTo>
                <a:lnTo>
                  <a:pt x="94995" y="51815"/>
                </a:lnTo>
                <a:lnTo>
                  <a:pt x="291083" y="51815"/>
                </a:lnTo>
                <a:lnTo>
                  <a:pt x="291083" y="25907"/>
                </a:lnTo>
                <a:close/>
              </a:path>
              <a:path w="291465" h="78105">
                <a:moveTo>
                  <a:pt x="94996" y="25907"/>
                </a:moveTo>
                <a:lnTo>
                  <a:pt x="77724" y="25907"/>
                </a:lnTo>
                <a:lnTo>
                  <a:pt x="77724" y="38862"/>
                </a:lnTo>
                <a:lnTo>
                  <a:pt x="94996" y="2590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1257" y="3644649"/>
            <a:ext cx="7067172" cy="214350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410904" y="2394140"/>
            <a:ext cx="7379334" cy="1137920"/>
            <a:chOff x="2410904" y="2394140"/>
            <a:chExt cx="7379334" cy="1137920"/>
          </a:xfrm>
        </p:grpSpPr>
        <p:sp>
          <p:nvSpPr>
            <p:cNvPr id="4" name="object 4"/>
            <p:cNvSpPr/>
            <p:nvPr/>
          </p:nvSpPr>
          <p:spPr>
            <a:xfrm>
              <a:off x="2474468" y="2457449"/>
              <a:ext cx="7315200" cy="1074420"/>
            </a:xfrm>
            <a:custGeom>
              <a:avLst/>
              <a:gdLst/>
              <a:ahLst/>
              <a:cxnLst/>
              <a:rect l="l" t="t" r="r" b="b"/>
              <a:pathLst>
                <a:path w="7315200" h="1074420">
                  <a:moveTo>
                    <a:pt x="7315200" y="0"/>
                  </a:moveTo>
                  <a:lnTo>
                    <a:pt x="7238746" y="0"/>
                  </a:lnTo>
                  <a:lnTo>
                    <a:pt x="7238746" y="12700"/>
                  </a:lnTo>
                  <a:lnTo>
                    <a:pt x="7238746" y="26670"/>
                  </a:lnTo>
                  <a:lnTo>
                    <a:pt x="7238746" y="998220"/>
                  </a:lnTo>
                  <a:lnTo>
                    <a:pt x="25908" y="998220"/>
                  </a:lnTo>
                  <a:lnTo>
                    <a:pt x="12954" y="998220"/>
                  </a:lnTo>
                  <a:lnTo>
                    <a:pt x="0" y="998220"/>
                  </a:lnTo>
                  <a:lnTo>
                    <a:pt x="0" y="1049020"/>
                  </a:lnTo>
                  <a:lnTo>
                    <a:pt x="0" y="1074420"/>
                  </a:lnTo>
                  <a:lnTo>
                    <a:pt x="7315200" y="1074420"/>
                  </a:lnTo>
                  <a:lnTo>
                    <a:pt x="7315200" y="1049020"/>
                  </a:lnTo>
                  <a:lnTo>
                    <a:pt x="7315200" y="2667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3922" y="2407157"/>
              <a:ext cx="7289800" cy="1049020"/>
            </a:xfrm>
            <a:custGeom>
              <a:avLst/>
              <a:gdLst/>
              <a:ahLst/>
              <a:cxnLst/>
              <a:rect l="l" t="t" r="r" b="b"/>
              <a:pathLst>
                <a:path w="7289800" h="1049020">
                  <a:moveTo>
                    <a:pt x="7289292" y="0"/>
                  </a:moveTo>
                  <a:lnTo>
                    <a:pt x="0" y="0"/>
                  </a:lnTo>
                  <a:lnTo>
                    <a:pt x="0" y="1048512"/>
                  </a:lnTo>
                  <a:lnTo>
                    <a:pt x="7289292" y="1048512"/>
                  </a:lnTo>
                  <a:lnTo>
                    <a:pt x="72892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23922" y="2407157"/>
              <a:ext cx="7289800" cy="1049020"/>
            </a:xfrm>
            <a:custGeom>
              <a:avLst/>
              <a:gdLst/>
              <a:ahLst/>
              <a:cxnLst/>
              <a:rect l="l" t="t" r="r" b="b"/>
              <a:pathLst>
                <a:path w="7289800" h="1049020">
                  <a:moveTo>
                    <a:pt x="0" y="1048512"/>
                  </a:moveTo>
                  <a:lnTo>
                    <a:pt x="7289292" y="1048512"/>
                  </a:lnTo>
                  <a:lnTo>
                    <a:pt x="7289292" y="0"/>
                  </a:lnTo>
                  <a:lnTo>
                    <a:pt x="0" y="0"/>
                  </a:lnTo>
                  <a:lnTo>
                    <a:pt x="0" y="1048512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46782" y="2426335"/>
            <a:ext cx="56400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7410" marR="5080" indent="-855344">
              <a:lnSpc>
                <a:spcPct val="100000"/>
              </a:lnSpc>
              <a:spcBef>
                <a:spcPts val="95"/>
              </a:spcBef>
              <a:tabLst>
                <a:tab pos="2331720" algn="l"/>
                <a:tab pos="4650740" algn="l"/>
              </a:tabLst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first_name,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LENGTH(first_name)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"expr1", </a:t>
            </a:r>
            <a:r>
              <a:rPr dirty="0" sz="1600" spc="-944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t</a:t>
            </a:r>
            <a:r>
              <a:rPr dirty="0" sz="1600" spc="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n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m</a:t>
            </a:r>
            <a:r>
              <a:rPr dirty="0" sz="1600" spc="-5" b="1">
                <a:latin typeface="Courier New"/>
                <a:cs typeface="Courier New"/>
              </a:rPr>
              <a:t>e,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-10" b="1">
                <a:latin typeface="Courier New"/>
                <a:cs typeface="Courier New"/>
              </a:rPr>
              <a:t>N</a:t>
            </a:r>
            <a:r>
              <a:rPr dirty="0" sz="1600" spc="-5" b="1">
                <a:latin typeface="Courier New"/>
                <a:cs typeface="Courier New"/>
              </a:rPr>
              <a:t>G</a:t>
            </a:r>
            <a:r>
              <a:rPr dirty="0" sz="1600" spc="5" b="1">
                <a:latin typeface="Courier New"/>
                <a:cs typeface="Courier New"/>
              </a:rPr>
              <a:t>T</a:t>
            </a:r>
            <a:r>
              <a:rPr dirty="0" sz="1600" spc="-10" b="1">
                <a:latin typeface="Courier New"/>
                <a:cs typeface="Courier New"/>
              </a:rPr>
              <a:t>H</a:t>
            </a:r>
            <a:r>
              <a:rPr dirty="0" sz="1600" spc="-5" b="1">
                <a:latin typeface="Courier New"/>
                <a:cs typeface="Courier New"/>
              </a:rPr>
              <a:t>(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t</a:t>
            </a:r>
            <a:r>
              <a:rPr dirty="0" sz="1600" spc="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n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m</a:t>
            </a:r>
            <a:r>
              <a:rPr dirty="0" sz="1600" spc="-5" b="1">
                <a:latin typeface="Courier New"/>
                <a:cs typeface="Courier New"/>
              </a:rPr>
              <a:t>e)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10" b="1">
                <a:latin typeface="Courier New"/>
                <a:cs typeface="Courier New"/>
              </a:rPr>
              <a:t>"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-10" b="1">
                <a:latin typeface="Courier New"/>
                <a:cs typeface="Courier New"/>
              </a:rPr>
              <a:t>x</a:t>
            </a:r>
            <a:r>
              <a:rPr dirty="0" sz="1600" spc="-5" b="1">
                <a:latin typeface="Courier New"/>
                <a:cs typeface="Courier New"/>
              </a:rPr>
              <a:t>p</a:t>
            </a:r>
            <a:r>
              <a:rPr dirty="0" sz="1600" spc="5" b="1">
                <a:latin typeface="Courier New"/>
                <a:cs typeface="Courier New"/>
              </a:rPr>
              <a:t>r</a:t>
            </a:r>
            <a:r>
              <a:rPr dirty="0" sz="1600" spc="-10" b="1">
                <a:latin typeface="Courier New"/>
                <a:cs typeface="Courier New"/>
              </a:rPr>
              <a:t>2</a:t>
            </a:r>
            <a:r>
              <a:rPr dirty="0" sz="1600" spc="-5" b="1">
                <a:latin typeface="Courier New"/>
                <a:cs typeface="Courier New"/>
              </a:rPr>
              <a:t>",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1746" y="2914014"/>
            <a:ext cx="63709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NULLIF(LENGTH(first_name),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LENGTH(last_name))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result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6782" y="3157854"/>
            <a:ext cx="20993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6775" algn="l"/>
              </a:tabLst>
            </a:pPr>
            <a:r>
              <a:rPr dirty="0" sz="1600" spc="-5" b="1">
                <a:latin typeface="Courier New"/>
                <a:cs typeface="Courier New"/>
              </a:rPr>
              <a:t>FROM	employees;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53541" y="1249756"/>
            <a:ext cx="50711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</a:rPr>
              <a:t>USING</a:t>
            </a:r>
            <a:r>
              <a:rPr dirty="0" sz="2800" spc="-33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</a:rPr>
              <a:t>THE</a:t>
            </a:r>
            <a:r>
              <a:rPr dirty="0" sz="2800" spc="-5">
                <a:solidFill>
                  <a:srgbClr val="FFFFFF"/>
                </a:solidFill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ourier New"/>
                <a:cs typeface="Courier New"/>
              </a:rPr>
              <a:t>NULLIF</a:t>
            </a:r>
            <a:r>
              <a:rPr dirty="0" sz="2800" spc="-9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FUNCTION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0524" y="1751012"/>
            <a:ext cx="6489700" cy="1450975"/>
            <a:chOff x="3180524" y="1751012"/>
            <a:chExt cx="6489700" cy="1450975"/>
          </a:xfrm>
        </p:grpSpPr>
        <p:sp>
          <p:nvSpPr>
            <p:cNvPr id="12" name="object 12"/>
            <p:cNvSpPr/>
            <p:nvPr/>
          </p:nvSpPr>
          <p:spPr>
            <a:xfrm>
              <a:off x="3193541" y="2477262"/>
              <a:ext cx="6463665" cy="711835"/>
            </a:xfrm>
            <a:custGeom>
              <a:avLst/>
              <a:gdLst/>
              <a:ahLst/>
              <a:cxnLst/>
              <a:rect l="l" t="t" r="r" b="b"/>
              <a:pathLst>
                <a:path w="6463665" h="711835">
                  <a:moveTo>
                    <a:pt x="1522475" y="230124"/>
                  </a:moveTo>
                  <a:lnTo>
                    <a:pt x="4852415" y="230124"/>
                  </a:lnTo>
                  <a:lnTo>
                    <a:pt x="4852415" y="0"/>
                  </a:lnTo>
                  <a:lnTo>
                    <a:pt x="1522475" y="0"/>
                  </a:lnTo>
                  <a:lnTo>
                    <a:pt x="1522475" y="230124"/>
                  </a:lnTo>
                  <a:close/>
                </a:path>
                <a:path w="6463665" h="711835">
                  <a:moveTo>
                    <a:pt x="1530095" y="466343"/>
                  </a:moveTo>
                  <a:lnTo>
                    <a:pt x="4847844" y="466343"/>
                  </a:lnTo>
                  <a:lnTo>
                    <a:pt x="4847844" y="246887"/>
                  </a:lnTo>
                  <a:lnTo>
                    <a:pt x="1530095" y="246887"/>
                  </a:lnTo>
                  <a:lnTo>
                    <a:pt x="1530095" y="466343"/>
                  </a:lnTo>
                  <a:close/>
                </a:path>
                <a:path w="6463665" h="711835">
                  <a:moveTo>
                    <a:pt x="0" y="711708"/>
                  </a:moveTo>
                  <a:lnTo>
                    <a:pt x="6463283" y="711708"/>
                  </a:lnTo>
                  <a:lnTo>
                    <a:pt x="6463283" y="493775"/>
                  </a:lnTo>
                  <a:lnTo>
                    <a:pt x="0" y="493775"/>
                  </a:lnTo>
                  <a:lnTo>
                    <a:pt x="0" y="711708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383017" y="176402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83017" y="176402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415667" y="563646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53890" y="3650741"/>
            <a:ext cx="919480" cy="2083435"/>
          </a:xfrm>
          <a:custGeom>
            <a:avLst/>
            <a:gdLst/>
            <a:ahLst/>
            <a:cxnLst/>
            <a:rect l="l" t="t" r="r" b="b"/>
            <a:pathLst>
              <a:path w="919479" h="2083435">
                <a:moveTo>
                  <a:pt x="0" y="2083307"/>
                </a:moveTo>
                <a:lnTo>
                  <a:pt x="918972" y="2083307"/>
                </a:lnTo>
                <a:lnTo>
                  <a:pt x="918972" y="0"/>
                </a:lnTo>
                <a:lnTo>
                  <a:pt x="0" y="0"/>
                </a:lnTo>
                <a:lnTo>
                  <a:pt x="0" y="2083307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3926" y="6100295"/>
            <a:ext cx="952500" cy="9490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255002" y="3650741"/>
            <a:ext cx="920750" cy="2083435"/>
          </a:xfrm>
          <a:custGeom>
            <a:avLst/>
            <a:gdLst/>
            <a:ahLst/>
            <a:cxnLst/>
            <a:rect l="l" t="t" r="r" b="b"/>
            <a:pathLst>
              <a:path w="920750" h="2083435">
                <a:moveTo>
                  <a:pt x="0" y="2083307"/>
                </a:moveTo>
                <a:lnTo>
                  <a:pt x="920496" y="2083307"/>
                </a:lnTo>
                <a:lnTo>
                  <a:pt x="920496" y="0"/>
                </a:lnTo>
                <a:lnTo>
                  <a:pt x="0" y="0"/>
                </a:lnTo>
                <a:lnTo>
                  <a:pt x="0" y="2083307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21802" y="3650741"/>
            <a:ext cx="1144905" cy="2083435"/>
          </a:xfrm>
          <a:custGeom>
            <a:avLst/>
            <a:gdLst/>
            <a:ahLst/>
            <a:cxnLst/>
            <a:rect l="l" t="t" r="r" b="b"/>
            <a:pathLst>
              <a:path w="1144904" h="2083435">
                <a:moveTo>
                  <a:pt x="0" y="2083307"/>
                </a:moveTo>
                <a:lnTo>
                  <a:pt x="1144524" y="2083307"/>
                </a:lnTo>
                <a:lnTo>
                  <a:pt x="1144524" y="0"/>
                </a:lnTo>
                <a:lnTo>
                  <a:pt x="0" y="0"/>
                </a:lnTo>
                <a:lnTo>
                  <a:pt x="0" y="2083307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532623" y="180720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814752" y="2420048"/>
            <a:ext cx="530860" cy="530860"/>
            <a:chOff x="8814752" y="2420048"/>
            <a:chExt cx="530860" cy="530860"/>
          </a:xfrm>
        </p:grpSpPr>
        <p:sp>
          <p:nvSpPr>
            <p:cNvPr id="22" name="object 22"/>
            <p:cNvSpPr/>
            <p:nvPr/>
          </p:nvSpPr>
          <p:spPr>
            <a:xfrm>
              <a:off x="8827770" y="2433065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222" y="0"/>
                  </a:moveTo>
                  <a:lnTo>
                    <a:pt x="206879" y="4062"/>
                  </a:lnTo>
                  <a:lnTo>
                    <a:pt x="164205" y="15777"/>
                  </a:lnTo>
                  <a:lnTo>
                    <a:pt x="124911" y="34431"/>
                  </a:lnTo>
                  <a:lnTo>
                    <a:pt x="89710" y="59312"/>
                  </a:lnTo>
                  <a:lnTo>
                    <a:pt x="59312" y="89710"/>
                  </a:lnTo>
                  <a:lnTo>
                    <a:pt x="34431" y="124911"/>
                  </a:lnTo>
                  <a:lnTo>
                    <a:pt x="15777" y="164205"/>
                  </a:lnTo>
                  <a:lnTo>
                    <a:pt x="4062" y="206879"/>
                  </a:lnTo>
                  <a:lnTo>
                    <a:pt x="0" y="252222"/>
                  </a:lnTo>
                  <a:lnTo>
                    <a:pt x="4062" y="297564"/>
                  </a:lnTo>
                  <a:lnTo>
                    <a:pt x="15777" y="340238"/>
                  </a:lnTo>
                  <a:lnTo>
                    <a:pt x="34431" y="379532"/>
                  </a:lnTo>
                  <a:lnTo>
                    <a:pt x="59312" y="414733"/>
                  </a:lnTo>
                  <a:lnTo>
                    <a:pt x="89710" y="445131"/>
                  </a:lnTo>
                  <a:lnTo>
                    <a:pt x="124911" y="470012"/>
                  </a:lnTo>
                  <a:lnTo>
                    <a:pt x="164205" y="488666"/>
                  </a:lnTo>
                  <a:lnTo>
                    <a:pt x="206879" y="500381"/>
                  </a:lnTo>
                  <a:lnTo>
                    <a:pt x="252222" y="504444"/>
                  </a:lnTo>
                  <a:lnTo>
                    <a:pt x="297564" y="500381"/>
                  </a:lnTo>
                  <a:lnTo>
                    <a:pt x="340238" y="488666"/>
                  </a:lnTo>
                  <a:lnTo>
                    <a:pt x="379532" y="470012"/>
                  </a:lnTo>
                  <a:lnTo>
                    <a:pt x="414733" y="445131"/>
                  </a:lnTo>
                  <a:lnTo>
                    <a:pt x="445131" y="414733"/>
                  </a:lnTo>
                  <a:lnTo>
                    <a:pt x="470012" y="379532"/>
                  </a:lnTo>
                  <a:lnTo>
                    <a:pt x="488666" y="340238"/>
                  </a:lnTo>
                  <a:lnTo>
                    <a:pt x="500381" y="297564"/>
                  </a:lnTo>
                  <a:lnTo>
                    <a:pt x="504444" y="252222"/>
                  </a:lnTo>
                  <a:lnTo>
                    <a:pt x="500381" y="206879"/>
                  </a:lnTo>
                  <a:lnTo>
                    <a:pt x="488666" y="164205"/>
                  </a:lnTo>
                  <a:lnTo>
                    <a:pt x="470012" y="124911"/>
                  </a:lnTo>
                  <a:lnTo>
                    <a:pt x="445131" y="89710"/>
                  </a:lnTo>
                  <a:lnTo>
                    <a:pt x="414733" y="59312"/>
                  </a:lnTo>
                  <a:lnTo>
                    <a:pt x="379532" y="34431"/>
                  </a:lnTo>
                  <a:lnTo>
                    <a:pt x="340238" y="15777"/>
                  </a:lnTo>
                  <a:lnTo>
                    <a:pt x="297564" y="4062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827770" y="2433065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2"/>
                  </a:moveTo>
                  <a:lnTo>
                    <a:pt x="4062" y="206879"/>
                  </a:lnTo>
                  <a:lnTo>
                    <a:pt x="15777" y="164205"/>
                  </a:lnTo>
                  <a:lnTo>
                    <a:pt x="34431" y="124911"/>
                  </a:lnTo>
                  <a:lnTo>
                    <a:pt x="59312" y="89710"/>
                  </a:lnTo>
                  <a:lnTo>
                    <a:pt x="89710" y="59312"/>
                  </a:lnTo>
                  <a:lnTo>
                    <a:pt x="124911" y="34431"/>
                  </a:lnTo>
                  <a:lnTo>
                    <a:pt x="164205" y="15777"/>
                  </a:lnTo>
                  <a:lnTo>
                    <a:pt x="206879" y="4062"/>
                  </a:lnTo>
                  <a:lnTo>
                    <a:pt x="252222" y="0"/>
                  </a:lnTo>
                  <a:lnTo>
                    <a:pt x="297564" y="4062"/>
                  </a:lnTo>
                  <a:lnTo>
                    <a:pt x="340238" y="15777"/>
                  </a:lnTo>
                  <a:lnTo>
                    <a:pt x="379532" y="34431"/>
                  </a:lnTo>
                  <a:lnTo>
                    <a:pt x="414733" y="59312"/>
                  </a:lnTo>
                  <a:lnTo>
                    <a:pt x="445131" y="89710"/>
                  </a:lnTo>
                  <a:lnTo>
                    <a:pt x="470012" y="124911"/>
                  </a:lnTo>
                  <a:lnTo>
                    <a:pt x="488666" y="164205"/>
                  </a:lnTo>
                  <a:lnTo>
                    <a:pt x="500381" y="206879"/>
                  </a:lnTo>
                  <a:lnTo>
                    <a:pt x="504444" y="252222"/>
                  </a:lnTo>
                  <a:lnTo>
                    <a:pt x="500381" y="297564"/>
                  </a:lnTo>
                  <a:lnTo>
                    <a:pt x="488666" y="340238"/>
                  </a:lnTo>
                  <a:lnTo>
                    <a:pt x="470012" y="379532"/>
                  </a:lnTo>
                  <a:lnTo>
                    <a:pt x="445131" y="414733"/>
                  </a:lnTo>
                  <a:lnTo>
                    <a:pt x="414733" y="445131"/>
                  </a:lnTo>
                  <a:lnTo>
                    <a:pt x="379532" y="470012"/>
                  </a:lnTo>
                  <a:lnTo>
                    <a:pt x="340238" y="488666"/>
                  </a:lnTo>
                  <a:lnTo>
                    <a:pt x="297564" y="500381"/>
                  </a:lnTo>
                  <a:lnTo>
                    <a:pt x="252222" y="504444"/>
                  </a:lnTo>
                  <a:lnTo>
                    <a:pt x="206879" y="500381"/>
                  </a:lnTo>
                  <a:lnTo>
                    <a:pt x="164205" y="488666"/>
                  </a:lnTo>
                  <a:lnTo>
                    <a:pt x="124911" y="470012"/>
                  </a:lnTo>
                  <a:lnTo>
                    <a:pt x="89710" y="445131"/>
                  </a:lnTo>
                  <a:lnTo>
                    <a:pt x="59312" y="414733"/>
                  </a:lnTo>
                  <a:lnTo>
                    <a:pt x="34431" y="379532"/>
                  </a:lnTo>
                  <a:lnTo>
                    <a:pt x="15777" y="340238"/>
                  </a:lnTo>
                  <a:lnTo>
                    <a:pt x="4062" y="297564"/>
                  </a:lnTo>
                  <a:lnTo>
                    <a:pt x="0" y="252222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983471" y="248208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02345" y="2725166"/>
            <a:ext cx="2285365" cy="601980"/>
            <a:chOff x="8102345" y="2725166"/>
            <a:chExt cx="2285365" cy="601980"/>
          </a:xfrm>
        </p:grpSpPr>
        <p:sp>
          <p:nvSpPr>
            <p:cNvPr id="26" name="object 26"/>
            <p:cNvSpPr/>
            <p:nvPr/>
          </p:nvSpPr>
          <p:spPr>
            <a:xfrm>
              <a:off x="8102345" y="2725166"/>
              <a:ext cx="755015" cy="78105"/>
            </a:xfrm>
            <a:custGeom>
              <a:avLst/>
              <a:gdLst/>
              <a:ahLst/>
              <a:cxnLst/>
              <a:rect l="l" t="t" r="r" b="b"/>
              <a:pathLst>
                <a:path w="755015" h="78105">
                  <a:moveTo>
                    <a:pt x="130048" y="0"/>
                  </a:moveTo>
                  <a:lnTo>
                    <a:pt x="0" y="37084"/>
                  </a:lnTo>
                  <a:lnTo>
                    <a:pt x="129031" y="77724"/>
                  </a:lnTo>
                  <a:lnTo>
                    <a:pt x="94869" y="51425"/>
                  </a:lnTo>
                  <a:lnTo>
                    <a:pt x="77470" y="51181"/>
                  </a:lnTo>
                  <a:lnTo>
                    <a:pt x="77850" y="25273"/>
                  </a:lnTo>
                  <a:lnTo>
                    <a:pt x="95455" y="25273"/>
                  </a:lnTo>
                  <a:lnTo>
                    <a:pt x="130048" y="0"/>
                  </a:lnTo>
                  <a:close/>
                </a:path>
                <a:path w="755015" h="78105">
                  <a:moveTo>
                    <a:pt x="95122" y="25516"/>
                  </a:moveTo>
                  <a:lnTo>
                    <a:pt x="77724" y="38226"/>
                  </a:lnTo>
                  <a:lnTo>
                    <a:pt x="94869" y="51425"/>
                  </a:lnTo>
                  <a:lnTo>
                    <a:pt x="754252" y="60706"/>
                  </a:lnTo>
                  <a:lnTo>
                    <a:pt x="754506" y="34798"/>
                  </a:lnTo>
                  <a:lnTo>
                    <a:pt x="95122" y="25516"/>
                  </a:lnTo>
                  <a:close/>
                </a:path>
                <a:path w="755015" h="78105">
                  <a:moveTo>
                    <a:pt x="77850" y="25273"/>
                  </a:moveTo>
                  <a:lnTo>
                    <a:pt x="77470" y="51181"/>
                  </a:lnTo>
                  <a:lnTo>
                    <a:pt x="94869" y="51425"/>
                  </a:lnTo>
                  <a:lnTo>
                    <a:pt x="77724" y="38226"/>
                  </a:lnTo>
                  <a:lnTo>
                    <a:pt x="95122" y="25516"/>
                  </a:lnTo>
                  <a:lnTo>
                    <a:pt x="77850" y="25273"/>
                  </a:lnTo>
                  <a:close/>
                </a:path>
                <a:path w="755015" h="78105">
                  <a:moveTo>
                    <a:pt x="95455" y="25273"/>
                  </a:moveTo>
                  <a:lnTo>
                    <a:pt x="77850" y="25273"/>
                  </a:lnTo>
                  <a:lnTo>
                    <a:pt x="95122" y="25516"/>
                  </a:lnTo>
                  <a:lnTo>
                    <a:pt x="95455" y="2527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880853" y="28201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880853" y="28201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031730" y="286308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00315" y="2118613"/>
            <a:ext cx="2346325" cy="991869"/>
          </a:xfrm>
          <a:custGeom>
            <a:avLst/>
            <a:gdLst/>
            <a:ahLst/>
            <a:cxnLst/>
            <a:rect l="l" t="t" r="r" b="b"/>
            <a:pathLst>
              <a:path w="2346325" h="991869">
                <a:moveTo>
                  <a:pt x="76200" y="164973"/>
                </a:moveTo>
                <a:lnTo>
                  <a:pt x="50952" y="199034"/>
                </a:lnTo>
                <a:lnTo>
                  <a:pt x="49784" y="0"/>
                </a:lnTo>
                <a:lnTo>
                  <a:pt x="38392" y="63"/>
                </a:lnTo>
                <a:lnTo>
                  <a:pt x="38392" y="215963"/>
                </a:lnTo>
                <a:lnTo>
                  <a:pt x="38392" y="63"/>
                </a:lnTo>
                <a:lnTo>
                  <a:pt x="24384" y="127"/>
                </a:lnTo>
                <a:lnTo>
                  <a:pt x="25552" y="199123"/>
                </a:lnTo>
                <a:lnTo>
                  <a:pt x="0" y="165354"/>
                </a:lnTo>
                <a:lnTo>
                  <a:pt x="38735" y="292227"/>
                </a:lnTo>
                <a:lnTo>
                  <a:pt x="61163" y="216027"/>
                </a:lnTo>
                <a:lnTo>
                  <a:pt x="76200" y="164973"/>
                </a:lnTo>
                <a:close/>
              </a:path>
              <a:path w="2346325" h="991869">
                <a:moveTo>
                  <a:pt x="2346071" y="940054"/>
                </a:moveTo>
                <a:lnTo>
                  <a:pt x="2148459" y="940054"/>
                </a:lnTo>
                <a:lnTo>
                  <a:pt x="2183003" y="914146"/>
                </a:lnTo>
                <a:lnTo>
                  <a:pt x="2053463" y="953008"/>
                </a:lnTo>
                <a:lnTo>
                  <a:pt x="2183003" y="991870"/>
                </a:lnTo>
                <a:lnTo>
                  <a:pt x="2148459" y="965962"/>
                </a:lnTo>
                <a:lnTo>
                  <a:pt x="2346071" y="965962"/>
                </a:lnTo>
                <a:lnTo>
                  <a:pt x="2346071" y="94005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4902644" y="6255956"/>
            <a:ext cx="520065" cy="520065"/>
            <a:chOff x="4902644" y="6255956"/>
            <a:chExt cx="520065" cy="520065"/>
          </a:xfrm>
        </p:grpSpPr>
        <p:sp>
          <p:nvSpPr>
            <p:cNvPr id="32" name="object 32"/>
            <p:cNvSpPr/>
            <p:nvPr/>
          </p:nvSpPr>
          <p:spPr>
            <a:xfrm>
              <a:off x="4915662" y="626897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7"/>
                  </a:lnTo>
                  <a:lnTo>
                    <a:pt x="5014" y="296642"/>
                  </a:lnTo>
                  <a:lnTo>
                    <a:pt x="19395" y="342985"/>
                  </a:lnTo>
                  <a:lnTo>
                    <a:pt x="42152" y="384922"/>
                  </a:lnTo>
                  <a:lnTo>
                    <a:pt x="72294" y="421461"/>
                  </a:lnTo>
                  <a:lnTo>
                    <a:pt x="108830" y="451609"/>
                  </a:lnTo>
                  <a:lnTo>
                    <a:pt x="150768" y="474372"/>
                  </a:lnTo>
                  <a:lnTo>
                    <a:pt x="197118" y="488758"/>
                  </a:lnTo>
                  <a:lnTo>
                    <a:pt x="246887" y="493774"/>
                  </a:lnTo>
                  <a:lnTo>
                    <a:pt x="296657" y="488758"/>
                  </a:lnTo>
                  <a:lnTo>
                    <a:pt x="343007" y="474372"/>
                  </a:lnTo>
                  <a:lnTo>
                    <a:pt x="384945" y="451609"/>
                  </a:lnTo>
                  <a:lnTo>
                    <a:pt x="421481" y="421461"/>
                  </a:lnTo>
                  <a:lnTo>
                    <a:pt x="451623" y="384922"/>
                  </a:lnTo>
                  <a:lnTo>
                    <a:pt x="474380" y="342985"/>
                  </a:lnTo>
                  <a:lnTo>
                    <a:pt x="488761" y="296642"/>
                  </a:lnTo>
                  <a:lnTo>
                    <a:pt x="493775" y="246887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915662" y="626897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32"/>
                  </a:lnTo>
                  <a:lnTo>
                    <a:pt x="19395" y="150790"/>
                  </a:lnTo>
                  <a:lnTo>
                    <a:pt x="42152" y="108852"/>
                  </a:lnTo>
                  <a:lnTo>
                    <a:pt x="72294" y="72313"/>
                  </a:lnTo>
                  <a:lnTo>
                    <a:pt x="108830" y="42165"/>
                  </a:lnTo>
                  <a:lnTo>
                    <a:pt x="150768" y="19402"/>
                  </a:lnTo>
                  <a:lnTo>
                    <a:pt x="197118" y="5016"/>
                  </a:lnTo>
                  <a:lnTo>
                    <a:pt x="246887" y="0"/>
                  </a:lnTo>
                  <a:lnTo>
                    <a:pt x="296657" y="5016"/>
                  </a:lnTo>
                  <a:lnTo>
                    <a:pt x="343007" y="19402"/>
                  </a:lnTo>
                  <a:lnTo>
                    <a:pt x="384945" y="42165"/>
                  </a:lnTo>
                  <a:lnTo>
                    <a:pt x="421481" y="72313"/>
                  </a:lnTo>
                  <a:lnTo>
                    <a:pt x="451623" y="108852"/>
                  </a:lnTo>
                  <a:lnTo>
                    <a:pt x="474380" y="150790"/>
                  </a:lnTo>
                  <a:lnTo>
                    <a:pt x="488761" y="197132"/>
                  </a:lnTo>
                  <a:lnTo>
                    <a:pt x="493775" y="246887"/>
                  </a:lnTo>
                  <a:lnTo>
                    <a:pt x="488761" y="296642"/>
                  </a:lnTo>
                  <a:lnTo>
                    <a:pt x="474380" y="342985"/>
                  </a:lnTo>
                  <a:lnTo>
                    <a:pt x="451623" y="384922"/>
                  </a:lnTo>
                  <a:lnTo>
                    <a:pt x="421481" y="421461"/>
                  </a:lnTo>
                  <a:lnTo>
                    <a:pt x="384945" y="451609"/>
                  </a:lnTo>
                  <a:lnTo>
                    <a:pt x="343007" y="474372"/>
                  </a:lnTo>
                  <a:lnTo>
                    <a:pt x="296657" y="488758"/>
                  </a:lnTo>
                  <a:lnTo>
                    <a:pt x="246887" y="493774"/>
                  </a:lnTo>
                  <a:lnTo>
                    <a:pt x="197118" y="488758"/>
                  </a:lnTo>
                  <a:lnTo>
                    <a:pt x="150768" y="474372"/>
                  </a:lnTo>
                  <a:lnTo>
                    <a:pt x="108830" y="451609"/>
                  </a:lnTo>
                  <a:lnTo>
                    <a:pt x="72294" y="421461"/>
                  </a:lnTo>
                  <a:lnTo>
                    <a:pt x="42152" y="384922"/>
                  </a:lnTo>
                  <a:lnTo>
                    <a:pt x="19395" y="342985"/>
                  </a:lnTo>
                  <a:lnTo>
                    <a:pt x="5014" y="296642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065267" y="6313423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824152" y="6255956"/>
            <a:ext cx="530860" cy="528955"/>
            <a:chOff x="7824152" y="6255956"/>
            <a:chExt cx="530860" cy="528955"/>
          </a:xfrm>
        </p:grpSpPr>
        <p:sp>
          <p:nvSpPr>
            <p:cNvPr id="36" name="object 36"/>
            <p:cNvSpPr/>
            <p:nvPr/>
          </p:nvSpPr>
          <p:spPr>
            <a:xfrm>
              <a:off x="7837170" y="626897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252222" y="0"/>
                  </a:moveTo>
                  <a:lnTo>
                    <a:pt x="206879" y="4051"/>
                  </a:lnTo>
                  <a:lnTo>
                    <a:pt x="164205" y="15732"/>
                  </a:lnTo>
                  <a:lnTo>
                    <a:pt x="124911" y="34332"/>
                  </a:lnTo>
                  <a:lnTo>
                    <a:pt x="89710" y="59141"/>
                  </a:lnTo>
                  <a:lnTo>
                    <a:pt x="59312" y="89448"/>
                  </a:lnTo>
                  <a:lnTo>
                    <a:pt x="34431" y="124544"/>
                  </a:lnTo>
                  <a:lnTo>
                    <a:pt x="15777" y="163718"/>
                  </a:lnTo>
                  <a:lnTo>
                    <a:pt x="4062" y="206260"/>
                  </a:lnTo>
                  <a:lnTo>
                    <a:pt x="0" y="251459"/>
                  </a:lnTo>
                  <a:lnTo>
                    <a:pt x="4062" y="296659"/>
                  </a:lnTo>
                  <a:lnTo>
                    <a:pt x="15777" y="339201"/>
                  </a:lnTo>
                  <a:lnTo>
                    <a:pt x="34431" y="378375"/>
                  </a:lnTo>
                  <a:lnTo>
                    <a:pt x="59312" y="413471"/>
                  </a:lnTo>
                  <a:lnTo>
                    <a:pt x="89710" y="443778"/>
                  </a:lnTo>
                  <a:lnTo>
                    <a:pt x="124911" y="468587"/>
                  </a:lnTo>
                  <a:lnTo>
                    <a:pt x="164205" y="487187"/>
                  </a:lnTo>
                  <a:lnTo>
                    <a:pt x="206879" y="498868"/>
                  </a:lnTo>
                  <a:lnTo>
                    <a:pt x="252222" y="502919"/>
                  </a:lnTo>
                  <a:lnTo>
                    <a:pt x="297564" y="498868"/>
                  </a:lnTo>
                  <a:lnTo>
                    <a:pt x="340238" y="487187"/>
                  </a:lnTo>
                  <a:lnTo>
                    <a:pt x="379532" y="468587"/>
                  </a:lnTo>
                  <a:lnTo>
                    <a:pt x="414733" y="443778"/>
                  </a:lnTo>
                  <a:lnTo>
                    <a:pt x="445131" y="413471"/>
                  </a:lnTo>
                  <a:lnTo>
                    <a:pt x="470012" y="378375"/>
                  </a:lnTo>
                  <a:lnTo>
                    <a:pt x="488666" y="339201"/>
                  </a:lnTo>
                  <a:lnTo>
                    <a:pt x="500381" y="296659"/>
                  </a:lnTo>
                  <a:lnTo>
                    <a:pt x="504444" y="251459"/>
                  </a:lnTo>
                  <a:lnTo>
                    <a:pt x="500381" y="206260"/>
                  </a:lnTo>
                  <a:lnTo>
                    <a:pt x="488666" y="163718"/>
                  </a:lnTo>
                  <a:lnTo>
                    <a:pt x="470012" y="124544"/>
                  </a:lnTo>
                  <a:lnTo>
                    <a:pt x="445131" y="89448"/>
                  </a:lnTo>
                  <a:lnTo>
                    <a:pt x="414733" y="59141"/>
                  </a:lnTo>
                  <a:lnTo>
                    <a:pt x="379532" y="34332"/>
                  </a:lnTo>
                  <a:lnTo>
                    <a:pt x="340238" y="15732"/>
                  </a:lnTo>
                  <a:lnTo>
                    <a:pt x="297564" y="4051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837170" y="6268974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59"/>
                  </a:moveTo>
                  <a:lnTo>
                    <a:pt x="4062" y="206260"/>
                  </a:lnTo>
                  <a:lnTo>
                    <a:pt x="15777" y="163718"/>
                  </a:lnTo>
                  <a:lnTo>
                    <a:pt x="34431" y="124544"/>
                  </a:lnTo>
                  <a:lnTo>
                    <a:pt x="59312" y="89448"/>
                  </a:lnTo>
                  <a:lnTo>
                    <a:pt x="89710" y="59141"/>
                  </a:lnTo>
                  <a:lnTo>
                    <a:pt x="124911" y="34332"/>
                  </a:lnTo>
                  <a:lnTo>
                    <a:pt x="164205" y="15732"/>
                  </a:lnTo>
                  <a:lnTo>
                    <a:pt x="206879" y="4051"/>
                  </a:lnTo>
                  <a:lnTo>
                    <a:pt x="252222" y="0"/>
                  </a:lnTo>
                  <a:lnTo>
                    <a:pt x="297564" y="4051"/>
                  </a:lnTo>
                  <a:lnTo>
                    <a:pt x="340238" y="15732"/>
                  </a:lnTo>
                  <a:lnTo>
                    <a:pt x="379532" y="34332"/>
                  </a:lnTo>
                  <a:lnTo>
                    <a:pt x="414733" y="59141"/>
                  </a:lnTo>
                  <a:lnTo>
                    <a:pt x="445131" y="89448"/>
                  </a:lnTo>
                  <a:lnTo>
                    <a:pt x="470012" y="124544"/>
                  </a:lnTo>
                  <a:lnTo>
                    <a:pt x="488666" y="163718"/>
                  </a:lnTo>
                  <a:lnTo>
                    <a:pt x="500381" y="206260"/>
                  </a:lnTo>
                  <a:lnTo>
                    <a:pt x="504444" y="251459"/>
                  </a:lnTo>
                  <a:lnTo>
                    <a:pt x="500381" y="296659"/>
                  </a:lnTo>
                  <a:lnTo>
                    <a:pt x="488666" y="339201"/>
                  </a:lnTo>
                  <a:lnTo>
                    <a:pt x="470012" y="378375"/>
                  </a:lnTo>
                  <a:lnTo>
                    <a:pt x="445131" y="413471"/>
                  </a:lnTo>
                  <a:lnTo>
                    <a:pt x="414733" y="443778"/>
                  </a:lnTo>
                  <a:lnTo>
                    <a:pt x="379532" y="468587"/>
                  </a:lnTo>
                  <a:lnTo>
                    <a:pt x="340238" y="487187"/>
                  </a:lnTo>
                  <a:lnTo>
                    <a:pt x="297564" y="498868"/>
                  </a:lnTo>
                  <a:lnTo>
                    <a:pt x="252222" y="502919"/>
                  </a:lnTo>
                  <a:lnTo>
                    <a:pt x="206879" y="498868"/>
                  </a:lnTo>
                  <a:lnTo>
                    <a:pt x="164205" y="487187"/>
                  </a:lnTo>
                  <a:lnTo>
                    <a:pt x="124911" y="468587"/>
                  </a:lnTo>
                  <a:lnTo>
                    <a:pt x="89710" y="443778"/>
                  </a:lnTo>
                  <a:lnTo>
                    <a:pt x="59312" y="413471"/>
                  </a:lnTo>
                  <a:lnTo>
                    <a:pt x="34431" y="378375"/>
                  </a:lnTo>
                  <a:lnTo>
                    <a:pt x="15777" y="339201"/>
                  </a:lnTo>
                  <a:lnTo>
                    <a:pt x="4062" y="296659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992871" y="6317691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34609" y="5909106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39497" y="76161"/>
                </a:moveTo>
                <a:lnTo>
                  <a:pt x="26305" y="92755"/>
                </a:lnTo>
                <a:lnTo>
                  <a:pt x="19430" y="329831"/>
                </a:lnTo>
                <a:lnTo>
                  <a:pt x="44830" y="330555"/>
                </a:lnTo>
                <a:lnTo>
                  <a:pt x="51705" y="93478"/>
                </a:lnTo>
                <a:lnTo>
                  <a:pt x="39497" y="76161"/>
                </a:lnTo>
                <a:close/>
              </a:path>
              <a:path w="76200" h="330835">
                <a:moveTo>
                  <a:pt x="62029" y="75793"/>
                </a:moveTo>
                <a:lnTo>
                  <a:pt x="26797" y="75793"/>
                </a:lnTo>
                <a:lnTo>
                  <a:pt x="52197" y="76530"/>
                </a:lnTo>
                <a:lnTo>
                  <a:pt x="51705" y="93478"/>
                </a:lnTo>
                <a:lnTo>
                  <a:pt x="76073" y="128041"/>
                </a:lnTo>
                <a:lnTo>
                  <a:pt x="62029" y="75793"/>
                </a:lnTo>
                <a:close/>
              </a:path>
              <a:path w="76200" h="330835">
                <a:moveTo>
                  <a:pt x="41655" y="0"/>
                </a:moveTo>
                <a:lnTo>
                  <a:pt x="0" y="125844"/>
                </a:lnTo>
                <a:lnTo>
                  <a:pt x="26305" y="92755"/>
                </a:lnTo>
                <a:lnTo>
                  <a:pt x="26797" y="75793"/>
                </a:lnTo>
                <a:lnTo>
                  <a:pt x="62029" y="75793"/>
                </a:lnTo>
                <a:lnTo>
                  <a:pt x="41655" y="0"/>
                </a:lnTo>
                <a:close/>
              </a:path>
              <a:path w="76200" h="330835">
                <a:moveTo>
                  <a:pt x="39497" y="76161"/>
                </a:moveTo>
                <a:lnTo>
                  <a:pt x="51705" y="93478"/>
                </a:lnTo>
                <a:lnTo>
                  <a:pt x="52197" y="76530"/>
                </a:lnTo>
                <a:lnTo>
                  <a:pt x="39497" y="76161"/>
                </a:lnTo>
                <a:close/>
              </a:path>
              <a:path w="76200" h="330835">
                <a:moveTo>
                  <a:pt x="26797" y="75793"/>
                </a:moveTo>
                <a:lnTo>
                  <a:pt x="26305" y="92755"/>
                </a:lnTo>
                <a:lnTo>
                  <a:pt x="39497" y="76161"/>
                </a:lnTo>
                <a:lnTo>
                  <a:pt x="26797" y="7579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44433" y="5907900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39497" y="76174"/>
                </a:moveTo>
                <a:lnTo>
                  <a:pt x="26313" y="92757"/>
                </a:lnTo>
                <a:lnTo>
                  <a:pt x="19558" y="329831"/>
                </a:lnTo>
                <a:lnTo>
                  <a:pt x="44958" y="330568"/>
                </a:lnTo>
                <a:lnTo>
                  <a:pt x="51715" y="93445"/>
                </a:lnTo>
                <a:lnTo>
                  <a:pt x="39497" y="76174"/>
                </a:lnTo>
                <a:close/>
              </a:path>
              <a:path w="76200" h="330835">
                <a:moveTo>
                  <a:pt x="62157" y="75806"/>
                </a:moveTo>
                <a:lnTo>
                  <a:pt x="26797" y="75806"/>
                </a:lnTo>
                <a:lnTo>
                  <a:pt x="52197" y="76542"/>
                </a:lnTo>
                <a:lnTo>
                  <a:pt x="51715" y="93445"/>
                </a:lnTo>
                <a:lnTo>
                  <a:pt x="76200" y="128054"/>
                </a:lnTo>
                <a:lnTo>
                  <a:pt x="62157" y="75806"/>
                </a:lnTo>
                <a:close/>
              </a:path>
              <a:path w="76200" h="330835">
                <a:moveTo>
                  <a:pt x="41783" y="0"/>
                </a:moveTo>
                <a:lnTo>
                  <a:pt x="0" y="125857"/>
                </a:lnTo>
                <a:lnTo>
                  <a:pt x="26313" y="92757"/>
                </a:lnTo>
                <a:lnTo>
                  <a:pt x="26797" y="75806"/>
                </a:lnTo>
                <a:lnTo>
                  <a:pt x="62157" y="75806"/>
                </a:lnTo>
                <a:lnTo>
                  <a:pt x="41783" y="0"/>
                </a:lnTo>
                <a:close/>
              </a:path>
              <a:path w="76200" h="330835">
                <a:moveTo>
                  <a:pt x="39497" y="76174"/>
                </a:moveTo>
                <a:lnTo>
                  <a:pt x="51715" y="93445"/>
                </a:lnTo>
                <a:lnTo>
                  <a:pt x="52197" y="76542"/>
                </a:lnTo>
                <a:lnTo>
                  <a:pt x="39497" y="76174"/>
                </a:lnTo>
                <a:close/>
              </a:path>
              <a:path w="76200" h="330835">
                <a:moveTo>
                  <a:pt x="26797" y="75806"/>
                </a:moveTo>
                <a:lnTo>
                  <a:pt x="26313" y="92757"/>
                </a:lnTo>
                <a:lnTo>
                  <a:pt x="39497" y="76174"/>
                </a:lnTo>
                <a:lnTo>
                  <a:pt x="26797" y="7580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9026588" y="6255956"/>
            <a:ext cx="532130" cy="528955"/>
            <a:chOff x="9026588" y="6255956"/>
            <a:chExt cx="532130" cy="528955"/>
          </a:xfrm>
        </p:grpSpPr>
        <p:sp>
          <p:nvSpPr>
            <p:cNvPr id="42" name="object 42"/>
            <p:cNvSpPr/>
            <p:nvPr/>
          </p:nvSpPr>
          <p:spPr>
            <a:xfrm>
              <a:off x="9039606" y="626897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20">
                  <a:moveTo>
                    <a:pt x="252984" y="0"/>
                  </a:moveTo>
                  <a:lnTo>
                    <a:pt x="207514" y="4051"/>
                  </a:lnTo>
                  <a:lnTo>
                    <a:pt x="164717" y="15732"/>
                  </a:lnTo>
                  <a:lnTo>
                    <a:pt x="125306" y="34332"/>
                  </a:lnTo>
                  <a:lnTo>
                    <a:pt x="89997" y="59141"/>
                  </a:lnTo>
                  <a:lnTo>
                    <a:pt x="59504" y="89448"/>
                  </a:lnTo>
                  <a:lnTo>
                    <a:pt x="34544" y="124544"/>
                  </a:lnTo>
                  <a:lnTo>
                    <a:pt x="15829" y="163718"/>
                  </a:lnTo>
                  <a:lnTo>
                    <a:pt x="4076" y="206260"/>
                  </a:lnTo>
                  <a:lnTo>
                    <a:pt x="0" y="251459"/>
                  </a:lnTo>
                  <a:lnTo>
                    <a:pt x="4076" y="296659"/>
                  </a:lnTo>
                  <a:lnTo>
                    <a:pt x="15829" y="339201"/>
                  </a:lnTo>
                  <a:lnTo>
                    <a:pt x="34544" y="378375"/>
                  </a:lnTo>
                  <a:lnTo>
                    <a:pt x="59504" y="413471"/>
                  </a:lnTo>
                  <a:lnTo>
                    <a:pt x="89997" y="443778"/>
                  </a:lnTo>
                  <a:lnTo>
                    <a:pt x="125306" y="468587"/>
                  </a:lnTo>
                  <a:lnTo>
                    <a:pt x="164717" y="487187"/>
                  </a:lnTo>
                  <a:lnTo>
                    <a:pt x="207514" y="498868"/>
                  </a:lnTo>
                  <a:lnTo>
                    <a:pt x="252984" y="502919"/>
                  </a:lnTo>
                  <a:lnTo>
                    <a:pt x="298453" y="498868"/>
                  </a:lnTo>
                  <a:lnTo>
                    <a:pt x="341250" y="487187"/>
                  </a:lnTo>
                  <a:lnTo>
                    <a:pt x="380661" y="468587"/>
                  </a:lnTo>
                  <a:lnTo>
                    <a:pt x="415970" y="443778"/>
                  </a:lnTo>
                  <a:lnTo>
                    <a:pt x="446463" y="413471"/>
                  </a:lnTo>
                  <a:lnTo>
                    <a:pt x="471424" y="378375"/>
                  </a:lnTo>
                  <a:lnTo>
                    <a:pt x="490138" y="339201"/>
                  </a:lnTo>
                  <a:lnTo>
                    <a:pt x="501891" y="296659"/>
                  </a:lnTo>
                  <a:lnTo>
                    <a:pt x="505968" y="251459"/>
                  </a:lnTo>
                  <a:lnTo>
                    <a:pt x="501891" y="206260"/>
                  </a:lnTo>
                  <a:lnTo>
                    <a:pt x="490138" y="163718"/>
                  </a:lnTo>
                  <a:lnTo>
                    <a:pt x="471424" y="124544"/>
                  </a:lnTo>
                  <a:lnTo>
                    <a:pt x="446463" y="89448"/>
                  </a:lnTo>
                  <a:lnTo>
                    <a:pt x="415970" y="59141"/>
                  </a:lnTo>
                  <a:lnTo>
                    <a:pt x="380661" y="34332"/>
                  </a:lnTo>
                  <a:lnTo>
                    <a:pt x="341250" y="15732"/>
                  </a:lnTo>
                  <a:lnTo>
                    <a:pt x="298453" y="4051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039606" y="626897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20">
                  <a:moveTo>
                    <a:pt x="0" y="251459"/>
                  </a:moveTo>
                  <a:lnTo>
                    <a:pt x="4076" y="206260"/>
                  </a:lnTo>
                  <a:lnTo>
                    <a:pt x="15829" y="163718"/>
                  </a:lnTo>
                  <a:lnTo>
                    <a:pt x="34544" y="124544"/>
                  </a:lnTo>
                  <a:lnTo>
                    <a:pt x="59504" y="89448"/>
                  </a:lnTo>
                  <a:lnTo>
                    <a:pt x="89997" y="59141"/>
                  </a:lnTo>
                  <a:lnTo>
                    <a:pt x="125306" y="34332"/>
                  </a:lnTo>
                  <a:lnTo>
                    <a:pt x="164717" y="15732"/>
                  </a:lnTo>
                  <a:lnTo>
                    <a:pt x="207514" y="4051"/>
                  </a:lnTo>
                  <a:lnTo>
                    <a:pt x="252984" y="0"/>
                  </a:lnTo>
                  <a:lnTo>
                    <a:pt x="298453" y="4051"/>
                  </a:lnTo>
                  <a:lnTo>
                    <a:pt x="341250" y="15732"/>
                  </a:lnTo>
                  <a:lnTo>
                    <a:pt x="380661" y="34332"/>
                  </a:lnTo>
                  <a:lnTo>
                    <a:pt x="415970" y="59141"/>
                  </a:lnTo>
                  <a:lnTo>
                    <a:pt x="446463" y="89448"/>
                  </a:lnTo>
                  <a:lnTo>
                    <a:pt x="471424" y="124544"/>
                  </a:lnTo>
                  <a:lnTo>
                    <a:pt x="490138" y="163718"/>
                  </a:lnTo>
                  <a:lnTo>
                    <a:pt x="501891" y="206260"/>
                  </a:lnTo>
                  <a:lnTo>
                    <a:pt x="505968" y="251459"/>
                  </a:lnTo>
                  <a:lnTo>
                    <a:pt x="501891" y="296659"/>
                  </a:lnTo>
                  <a:lnTo>
                    <a:pt x="490138" y="339201"/>
                  </a:lnTo>
                  <a:lnTo>
                    <a:pt x="471424" y="378375"/>
                  </a:lnTo>
                  <a:lnTo>
                    <a:pt x="446463" y="413471"/>
                  </a:lnTo>
                  <a:lnTo>
                    <a:pt x="415970" y="443778"/>
                  </a:lnTo>
                  <a:lnTo>
                    <a:pt x="380661" y="468587"/>
                  </a:lnTo>
                  <a:lnTo>
                    <a:pt x="341250" y="487187"/>
                  </a:lnTo>
                  <a:lnTo>
                    <a:pt x="298453" y="498868"/>
                  </a:lnTo>
                  <a:lnTo>
                    <a:pt x="252984" y="502919"/>
                  </a:lnTo>
                  <a:lnTo>
                    <a:pt x="207514" y="498868"/>
                  </a:lnTo>
                  <a:lnTo>
                    <a:pt x="164717" y="487187"/>
                  </a:lnTo>
                  <a:lnTo>
                    <a:pt x="125306" y="468587"/>
                  </a:lnTo>
                  <a:lnTo>
                    <a:pt x="89997" y="443778"/>
                  </a:lnTo>
                  <a:lnTo>
                    <a:pt x="59504" y="413471"/>
                  </a:lnTo>
                  <a:lnTo>
                    <a:pt x="34544" y="378375"/>
                  </a:lnTo>
                  <a:lnTo>
                    <a:pt x="15829" y="339201"/>
                  </a:lnTo>
                  <a:lnTo>
                    <a:pt x="4076" y="296659"/>
                  </a:lnTo>
                  <a:lnTo>
                    <a:pt x="0" y="251459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196196" y="6317691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247758" y="5907404"/>
            <a:ext cx="76200" cy="330835"/>
          </a:xfrm>
          <a:custGeom>
            <a:avLst/>
            <a:gdLst/>
            <a:ahLst/>
            <a:cxnLst/>
            <a:rect l="l" t="t" r="r" b="b"/>
            <a:pathLst>
              <a:path w="76200" h="330835">
                <a:moveTo>
                  <a:pt x="39497" y="76174"/>
                </a:moveTo>
                <a:lnTo>
                  <a:pt x="26313" y="92757"/>
                </a:lnTo>
                <a:lnTo>
                  <a:pt x="19558" y="329831"/>
                </a:lnTo>
                <a:lnTo>
                  <a:pt x="44958" y="330568"/>
                </a:lnTo>
                <a:lnTo>
                  <a:pt x="51715" y="93445"/>
                </a:lnTo>
                <a:lnTo>
                  <a:pt x="39497" y="76174"/>
                </a:lnTo>
                <a:close/>
              </a:path>
              <a:path w="76200" h="330835">
                <a:moveTo>
                  <a:pt x="62157" y="75806"/>
                </a:moveTo>
                <a:lnTo>
                  <a:pt x="26797" y="75806"/>
                </a:lnTo>
                <a:lnTo>
                  <a:pt x="52197" y="76542"/>
                </a:lnTo>
                <a:lnTo>
                  <a:pt x="51715" y="93445"/>
                </a:lnTo>
                <a:lnTo>
                  <a:pt x="76200" y="128054"/>
                </a:lnTo>
                <a:lnTo>
                  <a:pt x="62157" y="75806"/>
                </a:lnTo>
                <a:close/>
              </a:path>
              <a:path w="76200" h="330835">
                <a:moveTo>
                  <a:pt x="41783" y="0"/>
                </a:moveTo>
                <a:lnTo>
                  <a:pt x="0" y="125857"/>
                </a:lnTo>
                <a:lnTo>
                  <a:pt x="26313" y="92757"/>
                </a:lnTo>
                <a:lnTo>
                  <a:pt x="26797" y="75806"/>
                </a:lnTo>
                <a:lnTo>
                  <a:pt x="62157" y="75806"/>
                </a:lnTo>
                <a:lnTo>
                  <a:pt x="41783" y="0"/>
                </a:lnTo>
                <a:close/>
              </a:path>
              <a:path w="76200" h="330835">
                <a:moveTo>
                  <a:pt x="39497" y="76174"/>
                </a:moveTo>
                <a:lnTo>
                  <a:pt x="51715" y="93445"/>
                </a:lnTo>
                <a:lnTo>
                  <a:pt x="52197" y="76542"/>
                </a:lnTo>
                <a:lnTo>
                  <a:pt x="39497" y="76174"/>
                </a:lnTo>
                <a:close/>
              </a:path>
              <a:path w="76200" h="330835">
                <a:moveTo>
                  <a:pt x="26797" y="75806"/>
                </a:moveTo>
                <a:lnTo>
                  <a:pt x="26313" y="92757"/>
                </a:lnTo>
                <a:lnTo>
                  <a:pt x="39497" y="76174"/>
                </a:lnTo>
                <a:lnTo>
                  <a:pt x="26797" y="7580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COALESCE</a:t>
                      </a:r>
                      <a:r>
                        <a:rPr dirty="0" sz="2800" spc="-944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84377" y="2586609"/>
            <a:ext cx="9715500" cy="126809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17500" marR="5080" indent="-304800">
              <a:lnSpc>
                <a:spcPts val="2270"/>
              </a:lnSpc>
              <a:spcBef>
                <a:spcPts val="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vantage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COALESC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NV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L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 the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COALESC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 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take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multiple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alternate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1800">
              <a:latin typeface="Gill Sans MT"/>
              <a:cs typeface="Gill Sans MT"/>
            </a:endParaRPr>
          </a:p>
          <a:p>
            <a:pPr marL="317500" marR="328930" indent="-304800">
              <a:lnSpc>
                <a:spcPct val="105100"/>
              </a:lnSpc>
              <a:spcBef>
                <a:spcPts val="72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first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null,</a:t>
            </a:r>
            <a:r>
              <a:rPr dirty="0" sz="1800" spc="-17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returns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expression;</a:t>
            </a:r>
            <a:r>
              <a:rPr dirty="0" sz="1800" spc="-19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otherwise,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does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COALESCE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remaining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expressions.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COALESCE</a:t>
                      </a:r>
                      <a:r>
                        <a:rPr dirty="0" sz="2800" spc="-944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7355" y="2424683"/>
            <a:ext cx="7200900" cy="1219200"/>
            <a:chOff x="2467355" y="2424683"/>
            <a:chExt cx="7200900" cy="1219200"/>
          </a:xfrm>
        </p:grpSpPr>
        <p:sp>
          <p:nvSpPr>
            <p:cNvPr id="4" name="object 4"/>
            <p:cNvSpPr/>
            <p:nvPr/>
          </p:nvSpPr>
          <p:spPr>
            <a:xfrm>
              <a:off x="2530856" y="2487929"/>
              <a:ext cx="7137400" cy="1155700"/>
            </a:xfrm>
            <a:custGeom>
              <a:avLst/>
              <a:gdLst/>
              <a:ahLst/>
              <a:cxnLst/>
              <a:rect l="l" t="t" r="r" b="b"/>
              <a:pathLst>
                <a:path w="7137400" h="1155700">
                  <a:moveTo>
                    <a:pt x="7136892" y="0"/>
                  </a:moveTo>
                  <a:lnTo>
                    <a:pt x="7060438" y="0"/>
                  </a:lnTo>
                  <a:lnTo>
                    <a:pt x="7060438" y="12700"/>
                  </a:lnTo>
                  <a:lnTo>
                    <a:pt x="7060438" y="26670"/>
                  </a:lnTo>
                  <a:lnTo>
                    <a:pt x="7060438" y="1079500"/>
                  </a:lnTo>
                  <a:lnTo>
                    <a:pt x="12954" y="1079500"/>
                  </a:lnTo>
                  <a:lnTo>
                    <a:pt x="12954" y="1129030"/>
                  </a:lnTo>
                  <a:lnTo>
                    <a:pt x="0" y="1129030"/>
                  </a:lnTo>
                  <a:lnTo>
                    <a:pt x="0" y="1155700"/>
                  </a:lnTo>
                  <a:lnTo>
                    <a:pt x="7136892" y="1155700"/>
                  </a:lnTo>
                  <a:lnTo>
                    <a:pt x="7136892" y="1129030"/>
                  </a:lnTo>
                  <a:lnTo>
                    <a:pt x="7136892" y="26670"/>
                  </a:lnTo>
                  <a:lnTo>
                    <a:pt x="7136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0309" y="2437637"/>
              <a:ext cx="7111365" cy="1129665"/>
            </a:xfrm>
            <a:custGeom>
              <a:avLst/>
              <a:gdLst/>
              <a:ahLst/>
              <a:cxnLst/>
              <a:rect l="l" t="t" r="r" b="b"/>
              <a:pathLst>
                <a:path w="7111365" h="1129664">
                  <a:moveTo>
                    <a:pt x="7110984" y="0"/>
                  </a:moveTo>
                  <a:lnTo>
                    <a:pt x="0" y="0"/>
                  </a:lnTo>
                  <a:lnTo>
                    <a:pt x="0" y="1129284"/>
                  </a:lnTo>
                  <a:lnTo>
                    <a:pt x="7110984" y="1129284"/>
                  </a:lnTo>
                  <a:lnTo>
                    <a:pt x="711098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0309" y="2437637"/>
              <a:ext cx="7111365" cy="1129665"/>
            </a:xfrm>
            <a:custGeom>
              <a:avLst/>
              <a:gdLst/>
              <a:ahLst/>
              <a:cxnLst/>
              <a:rect l="l" t="t" r="r" b="b"/>
              <a:pathLst>
                <a:path w="7111365" h="1129664">
                  <a:moveTo>
                    <a:pt x="0" y="1129284"/>
                  </a:moveTo>
                  <a:lnTo>
                    <a:pt x="7110984" y="1129284"/>
                  </a:lnTo>
                  <a:lnTo>
                    <a:pt x="7110984" y="0"/>
                  </a:lnTo>
                  <a:lnTo>
                    <a:pt x="0" y="0"/>
                  </a:lnTo>
                  <a:lnTo>
                    <a:pt x="0" y="112928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30855" y="3567429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30"/>
                </a:moveTo>
                <a:lnTo>
                  <a:pt x="25907" y="49530"/>
                </a:lnTo>
                <a:lnTo>
                  <a:pt x="25907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38729" y="2392426"/>
            <a:ext cx="84518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000000"/>
                </a:solidFill>
                <a:latin typeface="Courier New"/>
                <a:cs typeface="Courier New"/>
              </a:rPr>
              <a:t>SE</a:t>
            </a:r>
            <a:r>
              <a:rPr dirty="0" spc="-15" b="1">
                <a:solidFill>
                  <a:srgbClr val="000000"/>
                </a:solidFill>
                <a:latin typeface="Courier New"/>
                <a:cs typeface="Courier New"/>
              </a:rPr>
              <a:t>L</a:t>
            </a:r>
            <a:r>
              <a:rPr dirty="0" spc="-5" b="1">
                <a:solidFill>
                  <a:srgbClr val="000000"/>
                </a:solidFill>
                <a:latin typeface="Courier New"/>
                <a:cs typeface="Courier New"/>
              </a:rPr>
              <a:t>E</a:t>
            </a:r>
            <a:r>
              <a:rPr dirty="0" spc="-15" b="1">
                <a:solidFill>
                  <a:srgbClr val="000000"/>
                </a:solidFill>
                <a:latin typeface="Courier New"/>
                <a:cs typeface="Courier New"/>
              </a:rPr>
              <a:t>C</a:t>
            </a:r>
            <a:r>
              <a:rPr dirty="0" b="1">
                <a:solidFill>
                  <a:srgbClr val="000000"/>
                </a:solidFill>
                <a:latin typeface="Courier New"/>
                <a:cs typeface="Courier New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68347" y="2392426"/>
            <a:ext cx="1390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last_name,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7421" y="2731770"/>
            <a:ext cx="5716905" cy="26670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1750"/>
              </a:lnSpc>
            </a:pPr>
            <a:r>
              <a:rPr dirty="0" sz="1800" spc="-10" b="1">
                <a:latin typeface="Courier New"/>
                <a:cs typeface="Courier New"/>
              </a:rPr>
              <a:t>COALESCE(commission_pct,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salary,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10)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comm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8729" y="2941065"/>
            <a:ext cx="33013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42060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employees </a:t>
            </a:r>
            <a:r>
              <a:rPr dirty="0" sz="1800" spc="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ORDER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commission_pct;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0530" y="5472176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9548" y="5815584"/>
            <a:ext cx="7086600" cy="20878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479548" y="3697223"/>
            <a:ext cx="7124700" cy="1984375"/>
            <a:chOff x="2479548" y="3697223"/>
            <a:chExt cx="7124700" cy="19843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9548" y="3697223"/>
              <a:ext cx="7124700" cy="1981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69074" y="3726941"/>
              <a:ext cx="2486025" cy="1941830"/>
            </a:xfrm>
            <a:custGeom>
              <a:avLst/>
              <a:gdLst/>
              <a:ahLst/>
              <a:cxnLst/>
              <a:rect l="l" t="t" r="r" b="b"/>
              <a:pathLst>
                <a:path w="2486025" h="1941829">
                  <a:moveTo>
                    <a:pt x="0" y="1941575"/>
                  </a:moveTo>
                  <a:lnTo>
                    <a:pt x="2485644" y="1941575"/>
                  </a:lnTo>
                  <a:lnTo>
                    <a:pt x="2485644" y="0"/>
                  </a:lnTo>
                  <a:lnTo>
                    <a:pt x="0" y="0"/>
                  </a:lnTo>
                  <a:lnTo>
                    <a:pt x="0" y="1941575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CONDITIONAL EXPRESSIONS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29764"/>
            <a:ext cx="6174740" cy="156273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Provide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IF-THEN-ELSE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logic within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 statement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methods:</a:t>
            </a:r>
            <a:endParaRPr sz="18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894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CASE</a:t>
            </a:r>
            <a:r>
              <a:rPr dirty="0" sz="1600" spc="-5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x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16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essi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DECODE</a:t>
            </a:r>
            <a:r>
              <a:rPr dirty="0" sz="1600" spc="-49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fu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CASE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EXPR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SSION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1260" y="2735579"/>
            <a:ext cx="7357745" cy="1678939"/>
            <a:chOff x="2461260" y="2735579"/>
            <a:chExt cx="7357745" cy="1678939"/>
          </a:xfrm>
        </p:grpSpPr>
        <p:sp>
          <p:nvSpPr>
            <p:cNvPr id="4" name="object 4"/>
            <p:cNvSpPr/>
            <p:nvPr/>
          </p:nvSpPr>
          <p:spPr>
            <a:xfrm>
              <a:off x="2524760" y="2799079"/>
              <a:ext cx="7294245" cy="1615440"/>
            </a:xfrm>
            <a:custGeom>
              <a:avLst/>
              <a:gdLst/>
              <a:ahLst/>
              <a:cxnLst/>
              <a:rect l="l" t="t" r="r" b="b"/>
              <a:pathLst>
                <a:path w="7294245" h="1615439">
                  <a:moveTo>
                    <a:pt x="7293864" y="0"/>
                  </a:moveTo>
                  <a:lnTo>
                    <a:pt x="7217397" y="0"/>
                  </a:lnTo>
                  <a:lnTo>
                    <a:pt x="7217397" y="25400"/>
                  </a:lnTo>
                  <a:lnTo>
                    <a:pt x="7217410" y="1539240"/>
                  </a:lnTo>
                  <a:lnTo>
                    <a:pt x="12954" y="1539240"/>
                  </a:lnTo>
                  <a:lnTo>
                    <a:pt x="12954" y="1590040"/>
                  </a:lnTo>
                  <a:lnTo>
                    <a:pt x="0" y="1590040"/>
                  </a:lnTo>
                  <a:lnTo>
                    <a:pt x="0" y="1615440"/>
                  </a:lnTo>
                  <a:lnTo>
                    <a:pt x="7293851" y="1615440"/>
                  </a:lnTo>
                  <a:lnTo>
                    <a:pt x="7293851" y="1590040"/>
                  </a:lnTo>
                  <a:lnTo>
                    <a:pt x="7293864" y="25400"/>
                  </a:lnTo>
                  <a:lnTo>
                    <a:pt x="7293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4214" y="2748533"/>
              <a:ext cx="7268209" cy="1590040"/>
            </a:xfrm>
            <a:custGeom>
              <a:avLst/>
              <a:gdLst/>
              <a:ahLst/>
              <a:cxnLst/>
              <a:rect l="l" t="t" r="r" b="b"/>
              <a:pathLst>
                <a:path w="7268209" h="1590039">
                  <a:moveTo>
                    <a:pt x="7267956" y="0"/>
                  </a:moveTo>
                  <a:lnTo>
                    <a:pt x="0" y="0"/>
                  </a:lnTo>
                  <a:lnTo>
                    <a:pt x="0" y="1589532"/>
                  </a:lnTo>
                  <a:lnTo>
                    <a:pt x="7267956" y="1589532"/>
                  </a:lnTo>
                  <a:lnTo>
                    <a:pt x="72679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4" y="2748533"/>
              <a:ext cx="7268209" cy="1590040"/>
            </a:xfrm>
            <a:custGeom>
              <a:avLst/>
              <a:gdLst/>
              <a:ahLst/>
              <a:cxnLst/>
              <a:rect l="l" t="t" r="r" b="b"/>
              <a:pathLst>
                <a:path w="7268209" h="1590039">
                  <a:moveTo>
                    <a:pt x="0" y="1589532"/>
                  </a:moveTo>
                  <a:lnTo>
                    <a:pt x="7267956" y="1589532"/>
                  </a:lnTo>
                  <a:lnTo>
                    <a:pt x="7267956" y="0"/>
                  </a:lnTo>
                  <a:lnTo>
                    <a:pt x="0" y="0"/>
                  </a:lnTo>
                  <a:lnTo>
                    <a:pt x="0" y="158953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4760" y="43383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55319" y="2104771"/>
            <a:ext cx="8212455" cy="2144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Facilitates conditional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inquiries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doing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work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IF-THEN-ELSE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statement: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Gill Sans MT"/>
              <a:cs typeface="Gill Sans MT"/>
            </a:endParaRPr>
          </a:p>
          <a:p>
            <a:pPr algn="just" marL="2740025" marR="5080" indent="-1229995">
              <a:lnSpc>
                <a:spcPct val="105000"/>
              </a:lnSpc>
            </a:pPr>
            <a:r>
              <a:rPr dirty="0" sz="1800" spc="-10" b="1">
                <a:latin typeface="Courier New"/>
                <a:cs typeface="Courier New"/>
              </a:rPr>
              <a:t>CASE </a:t>
            </a:r>
            <a:r>
              <a:rPr dirty="0" sz="1800" spc="-10" b="1" i="1">
                <a:latin typeface="Courier New"/>
                <a:cs typeface="Courier New"/>
              </a:rPr>
              <a:t>expr </a:t>
            </a:r>
            <a:r>
              <a:rPr dirty="0" sz="1800" spc="-10" b="1">
                <a:latin typeface="Courier New"/>
                <a:cs typeface="Courier New"/>
              </a:rPr>
              <a:t>WHEN </a:t>
            </a:r>
            <a:r>
              <a:rPr dirty="0" sz="1800" spc="-10" b="1" i="1">
                <a:latin typeface="Courier New"/>
                <a:cs typeface="Courier New"/>
              </a:rPr>
              <a:t>comparison_expr1 </a:t>
            </a:r>
            <a:r>
              <a:rPr dirty="0" sz="1800" spc="-10" b="1">
                <a:latin typeface="Courier New"/>
                <a:cs typeface="Courier New"/>
              </a:rPr>
              <a:t>THEN </a:t>
            </a:r>
            <a:r>
              <a:rPr dirty="0" sz="1800" spc="-10" b="1" i="1">
                <a:latin typeface="Courier New"/>
                <a:cs typeface="Courier New"/>
              </a:rPr>
              <a:t>return_expr1 </a:t>
            </a:r>
            <a:r>
              <a:rPr dirty="0" sz="1800" spc="-107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[WHEN </a:t>
            </a:r>
            <a:r>
              <a:rPr dirty="0" sz="1800" spc="-10" b="1" i="1">
                <a:latin typeface="Courier New"/>
                <a:cs typeface="Courier New"/>
              </a:rPr>
              <a:t>comparison_expr2 </a:t>
            </a:r>
            <a:r>
              <a:rPr dirty="0" sz="1800" spc="-10" b="1">
                <a:latin typeface="Courier New"/>
                <a:cs typeface="Courier New"/>
              </a:rPr>
              <a:t>THEN </a:t>
            </a:r>
            <a:r>
              <a:rPr dirty="0" sz="1800" spc="-10" b="1" i="1">
                <a:latin typeface="Courier New"/>
                <a:cs typeface="Courier New"/>
              </a:rPr>
              <a:t>return_expr2 </a:t>
            </a:r>
            <a:r>
              <a:rPr dirty="0" sz="1800" spc="-107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WHEN </a:t>
            </a:r>
            <a:r>
              <a:rPr dirty="0" sz="1800" spc="-10" b="1" i="1">
                <a:latin typeface="Courier New"/>
                <a:cs typeface="Courier New"/>
              </a:rPr>
              <a:t>comparison_exprn </a:t>
            </a:r>
            <a:r>
              <a:rPr dirty="0" sz="1800" spc="-10" b="1">
                <a:latin typeface="Courier New"/>
                <a:cs typeface="Courier New"/>
              </a:rPr>
              <a:t>THEN </a:t>
            </a:r>
            <a:r>
              <a:rPr dirty="0" sz="1800" spc="-10" b="1" i="1">
                <a:latin typeface="Courier New"/>
                <a:cs typeface="Courier New"/>
              </a:rPr>
              <a:t>return_exprn </a:t>
            </a:r>
            <a:r>
              <a:rPr dirty="0" sz="1800" spc="-5" b="1" i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ELSE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else_expr</a:t>
            </a:r>
            <a:r>
              <a:rPr dirty="0" sz="1800" spc="-10" b="1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510030">
              <a:lnSpc>
                <a:spcPct val="100000"/>
              </a:lnSpc>
              <a:spcBef>
                <a:spcPts val="110"/>
              </a:spcBef>
            </a:pPr>
            <a:r>
              <a:rPr dirty="0" sz="1800" spc="-5" b="1">
                <a:latin typeface="Courier New"/>
                <a:cs typeface="Courier New"/>
              </a:rPr>
              <a:t>END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CASE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EXPR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SSION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1196" y="2447480"/>
            <a:ext cx="7143115" cy="1670050"/>
            <a:chOff x="2461196" y="2447480"/>
            <a:chExt cx="7143115" cy="1670050"/>
          </a:xfrm>
        </p:grpSpPr>
        <p:sp>
          <p:nvSpPr>
            <p:cNvPr id="4" name="object 4"/>
            <p:cNvSpPr/>
            <p:nvPr/>
          </p:nvSpPr>
          <p:spPr>
            <a:xfrm>
              <a:off x="2524760" y="2510789"/>
              <a:ext cx="7078980" cy="1606550"/>
            </a:xfrm>
            <a:custGeom>
              <a:avLst/>
              <a:gdLst/>
              <a:ahLst/>
              <a:cxnLst/>
              <a:rect l="l" t="t" r="r" b="b"/>
              <a:pathLst>
                <a:path w="7078980" h="1606550">
                  <a:moveTo>
                    <a:pt x="7078980" y="0"/>
                  </a:moveTo>
                  <a:lnTo>
                    <a:pt x="7002513" y="0"/>
                  </a:lnTo>
                  <a:lnTo>
                    <a:pt x="7002513" y="26670"/>
                  </a:lnTo>
                  <a:lnTo>
                    <a:pt x="7002526" y="1530350"/>
                  </a:lnTo>
                  <a:lnTo>
                    <a:pt x="12954" y="1530350"/>
                  </a:lnTo>
                  <a:lnTo>
                    <a:pt x="12954" y="1581150"/>
                  </a:lnTo>
                  <a:lnTo>
                    <a:pt x="0" y="1581150"/>
                  </a:lnTo>
                  <a:lnTo>
                    <a:pt x="0" y="1606550"/>
                  </a:lnTo>
                  <a:lnTo>
                    <a:pt x="7078980" y="1606550"/>
                  </a:lnTo>
                  <a:lnTo>
                    <a:pt x="7078980" y="1581150"/>
                  </a:lnTo>
                  <a:lnTo>
                    <a:pt x="7078980" y="26670"/>
                  </a:lnTo>
                  <a:lnTo>
                    <a:pt x="7078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4213" y="2460497"/>
              <a:ext cx="7053580" cy="1580515"/>
            </a:xfrm>
            <a:custGeom>
              <a:avLst/>
              <a:gdLst/>
              <a:ahLst/>
              <a:cxnLst/>
              <a:rect l="l" t="t" r="r" b="b"/>
              <a:pathLst>
                <a:path w="7053580" h="1580514">
                  <a:moveTo>
                    <a:pt x="7053072" y="0"/>
                  </a:moveTo>
                  <a:lnTo>
                    <a:pt x="0" y="0"/>
                  </a:lnTo>
                  <a:lnTo>
                    <a:pt x="0" y="1580388"/>
                  </a:lnTo>
                  <a:lnTo>
                    <a:pt x="7053072" y="1580388"/>
                  </a:lnTo>
                  <a:lnTo>
                    <a:pt x="705307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3" y="2460497"/>
              <a:ext cx="7053580" cy="1580515"/>
            </a:xfrm>
            <a:custGeom>
              <a:avLst/>
              <a:gdLst/>
              <a:ahLst/>
              <a:cxnLst/>
              <a:rect l="l" t="t" r="r" b="b"/>
              <a:pathLst>
                <a:path w="7053580" h="1580514">
                  <a:moveTo>
                    <a:pt x="0" y="1580388"/>
                  </a:moveTo>
                  <a:lnTo>
                    <a:pt x="7053072" y="1580388"/>
                  </a:lnTo>
                  <a:lnTo>
                    <a:pt x="7053072" y="0"/>
                  </a:lnTo>
                  <a:lnTo>
                    <a:pt x="0" y="0"/>
                  </a:lnTo>
                  <a:lnTo>
                    <a:pt x="0" y="15803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4760" y="404114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33571" y="2727477"/>
            <a:ext cx="3919220" cy="53784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95"/>
              </a:spcBef>
              <a:tabLst>
                <a:tab pos="3416300" algn="l"/>
              </a:tabLst>
            </a:pPr>
            <a:r>
              <a:rPr dirty="0" sz="1600" spc="-10" b="1">
                <a:latin typeface="Courier New"/>
                <a:cs typeface="Courier New"/>
              </a:rPr>
              <a:t>C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j</a:t>
            </a:r>
            <a:r>
              <a:rPr dirty="0" sz="1600" spc="-5" b="1">
                <a:latin typeface="Courier New"/>
                <a:cs typeface="Courier New"/>
              </a:rPr>
              <a:t>o</a:t>
            </a:r>
            <a:r>
              <a:rPr dirty="0" sz="1600" spc="-10" b="1">
                <a:latin typeface="Courier New"/>
                <a:cs typeface="Courier New"/>
              </a:rPr>
              <a:t>b</a:t>
            </a:r>
            <a:r>
              <a:rPr dirty="0" sz="1600" spc="-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i</a:t>
            </a:r>
            <a:r>
              <a:rPr dirty="0" sz="1600" spc="-5" b="1">
                <a:latin typeface="Courier New"/>
                <a:cs typeface="Courier New"/>
              </a:rPr>
              <a:t>d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W</a:t>
            </a:r>
            <a:r>
              <a:rPr dirty="0" sz="1600" spc="-5" b="1">
                <a:latin typeface="Courier New"/>
                <a:cs typeface="Courier New"/>
              </a:rPr>
              <a:t>H</a:t>
            </a:r>
            <a:r>
              <a:rPr dirty="0" sz="1600" spc="-10" b="1">
                <a:latin typeface="Courier New"/>
                <a:cs typeface="Courier New"/>
              </a:rPr>
              <a:t>E</a:t>
            </a:r>
            <a:r>
              <a:rPr dirty="0" sz="1600" spc="-5" b="1">
                <a:latin typeface="Courier New"/>
                <a:cs typeface="Courier New"/>
              </a:rPr>
              <a:t>N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'</a:t>
            </a:r>
            <a:r>
              <a:rPr dirty="0" sz="1600" spc="-5" b="1">
                <a:latin typeface="Courier New"/>
                <a:cs typeface="Courier New"/>
              </a:rPr>
              <a:t>I</a:t>
            </a:r>
            <a:r>
              <a:rPr dirty="0" sz="1600" spc="-10" b="1">
                <a:latin typeface="Courier New"/>
                <a:cs typeface="Courier New"/>
              </a:rPr>
              <a:t>T</a:t>
            </a:r>
            <a:r>
              <a:rPr dirty="0" sz="1600" spc="-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P</a:t>
            </a:r>
            <a:r>
              <a:rPr dirty="0" sz="1600" spc="-5" b="1">
                <a:latin typeface="Courier New"/>
                <a:cs typeface="Courier New"/>
              </a:rPr>
              <a:t>R</a:t>
            </a:r>
            <a:r>
              <a:rPr dirty="0" sz="1600" spc="5" b="1">
                <a:latin typeface="Courier New"/>
                <a:cs typeface="Courier New"/>
              </a:rPr>
              <a:t>O</a:t>
            </a:r>
            <a:r>
              <a:rPr dirty="0" sz="1600" spc="-10" b="1">
                <a:latin typeface="Courier New"/>
                <a:cs typeface="Courier New"/>
              </a:rPr>
              <a:t>G</a:t>
            </a:r>
            <a:r>
              <a:rPr dirty="0" sz="1600" spc="-5" b="1">
                <a:latin typeface="Courier New"/>
                <a:cs typeface="Courier New"/>
              </a:rPr>
              <a:t>'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5" b="1">
                <a:latin typeface="Courier New"/>
                <a:cs typeface="Courier New"/>
              </a:rPr>
              <a:t>T</a:t>
            </a:r>
            <a:r>
              <a:rPr dirty="0" sz="1600" spc="-10" b="1">
                <a:latin typeface="Courier New"/>
                <a:cs typeface="Courier New"/>
              </a:rPr>
              <a:t>H</a:t>
            </a:r>
            <a:r>
              <a:rPr dirty="0" sz="1600" spc="-5" b="1">
                <a:latin typeface="Courier New"/>
                <a:cs typeface="Courier New"/>
              </a:rPr>
              <a:t>EN</a:t>
            </a:r>
            <a:endParaRPr sz="16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WHEN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'ST_CLERK'</a:t>
            </a:r>
            <a:r>
              <a:rPr dirty="0" sz="1600" spc="-3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THEN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9659" y="3252342"/>
            <a:ext cx="2453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951355" algn="l"/>
              </a:tabLst>
            </a:pPr>
            <a:r>
              <a:rPr dirty="0" sz="1600" spc="-10" b="1">
                <a:latin typeface="Courier New"/>
                <a:cs typeface="Courier New"/>
              </a:rPr>
              <a:t>W</a:t>
            </a:r>
            <a:r>
              <a:rPr dirty="0" sz="1600" spc="-5" b="1">
                <a:latin typeface="Courier New"/>
                <a:cs typeface="Courier New"/>
              </a:rPr>
              <a:t>H</a:t>
            </a:r>
            <a:r>
              <a:rPr dirty="0" sz="1600" spc="-10" b="1">
                <a:latin typeface="Courier New"/>
                <a:cs typeface="Courier New"/>
              </a:rPr>
              <a:t>E</a:t>
            </a:r>
            <a:r>
              <a:rPr dirty="0" sz="1600" spc="-5" b="1">
                <a:latin typeface="Courier New"/>
                <a:cs typeface="Courier New"/>
              </a:rPr>
              <a:t>N</a:t>
            </a:r>
            <a:r>
              <a:rPr dirty="0" sz="1600" spc="1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'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A</a:t>
            </a:r>
            <a:r>
              <a:rPr dirty="0" sz="1600" spc="-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R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5" b="1">
                <a:latin typeface="Courier New"/>
                <a:cs typeface="Courier New"/>
              </a:rPr>
              <a:t>P</a:t>
            </a:r>
            <a:r>
              <a:rPr dirty="0" sz="1600" spc="-5" b="1">
                <a:latin typeface="Courier New"/>
                <a:cs typeface="Courier New"/>
              </a:rPr>
              <a:t>'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5" b="1">
                <a:latin typeface="Courier New"/>
                <a:cs typeface="Courier New"/>
              </a:rPr>
              <a:t>T</a:t>
            </a:r>
            <a:r>
              <a:rPr dirty="0" sz="1600" spc="-10" b="1">
                <a:latin typeface="Courier New"/>
                <a:cs typeface="Courier New"/>
              </a:rPr>
              <a:t>H</a:t>
            </a:r>
            <a:r>
              <a:rPr dirty="0" sz="1600" spc="-5" b="1">
                <a:latin typeface="Courier New"/>
                <a:cs typeface="Courier New"/>
              </a:rPr>
              <a:t>EN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2251" y="2727477"/>
            <a:ext cx="1356995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" marR="5080" indent="-1905">
              <a:lnSpc>
                <a:spcPct val="105000"/>
              </a:lnSpc>
              <a:spcBef>
                <a:spcPts val="100"/>
              </a:spcBef>
            </a:pPr>
            <a:r>
              <a:rPr dirty="0" sz="1600" spc="-5" b="1">
                <a:latin typeface="Courier New"/>
                <a:cs typeface="Courier New"/>
              </a:rPr>
              <a:t>1</a:t>
            </a:r>
            <a:r>
              <a:rPr dirty="0" sz="1600" spc="5" b="1">
                <a:latin typeface="Courier New"/>
                <a:cs typeface="Courier New"/>
              </a:rPr>
              <a:t>.</a:t>
            </a:r>
            <a:r>
              <a:rPr dirty="0" sz="1600" spc="-10" b="1">
                <a:latin typeface="Courier New"/>
                <a:cs typeface="Courier New"/>
              </a:rPr>
              <a:t>1</a:t>
            </a:r>
            <a:r>
              <a:rPr dirty="0" sz="1600" spc="-5" b="1">
                <a:latin typeface="Courier New"/>
                <a:cs typeface="Courier New"/>
              </a:rPr>
              <a:t>0</a:t>
            </a:r>
            <a:r>
              <a:rPr dirty="0" sz="1600" spc="-10" b="1">
                <a:latin typeface="Courier New"/>
                <a:cs typeface="Courier New"/>
              </a:rPr>
              <a:t>*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ry  </a:t>
            </a:r>
            <a:r>
              <a:rPr dirty="0" sz="1600" spc="-5" b="1">
                <a:latin typeface="Courier New"/>
                <a:cs typeface="Courier New"/>
              </a:rPr>
              <a:t>1</a:t>
            </a:r>
            <a:r>
              <a:rPr dirty="0" sz="1600" spc="5" b="1">
                <a:latin typeface="Courier New"/>
                <a:cs typeface="Courier New"/>
              </a:rPr>
              <a:t>.</a:t>
            </a:r>
            <a:r>
              <a:rPr dirty="0" sz="1600" spc="-10" b="1">
                <a:latin typeface="Courier New"/>
                <a:cs typeface="Courier New"/>
              </a:rPr>
              <a:t>1</a:t>
            </a:r>
            <a:r>
              <a:rPr dirty="0" sz="1600" spc="-5" b="1">
                <a:latin typeface="Courier New"/>
                <a:cs typeface="Courier New"/>
              </a:rPr>
              <a:t>5</a:t>
            </a:r>
            <a:r>
              <a:rPr dirty="0" sz="1600" spc="-10" b="1">
                <a:latin typeface="Courier New"/>
                <a:cs typeface="Courier New"/>
              </a:rPr>
              <a:t>*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ry  </a:t>
            </a:r>
            <a:r>
              <a:rPr dirty="0" sz="1600" spc="-5" b="1">
                <a:latin typeface="Courier New"/>
                <a:cs typeface="Courier New"/>
              </a:rPr>
              <a:t>1</a:t>
            </a:r>
            <a:r>
              <a:rPr dirty="0" sz="1600" spc="5" b="1">
                <a:latin typeface="Courier New"/>
                <a:cs typeface="Courier New"/>
              </a:rPr>
              <a:t>.</a:t>
            </a:r>
            <a:r>
              <a:rPr dirty="0" sz="1600" spc="-10" b="1">
                <a:latin typeface="Courier New"/>
                <a:cs typeface="Courier New"/>
              </a:rPr>
              <a:t>2</a:t>
            </a:r>
            <a:r>
              <a:rPr dirty="0" sz="1600" spc="-5" b="1">
                <a:latin typeface="Courier New"/>
                <a:cs typeface="Courier New"/>
              </a:rPr>
              <a:t>0</a:t>
            </a:r>
            <a:r>
              <a:rPr dirty="0" sz="1600" spc="-10" b="1">
                <a:latin typeface="Courier New"/>
                <a:cs typeface="Courier New"/>
              </a:rPr>
              <a:t>*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ry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4472" y="3508375"/>
            <a:ext cx="19646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"REVISED_SALARY"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5654" y="3764102"/>
            <a:ext cx="513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urier New"/>
                <a:cs typeface="Courier New"/>
              </a:rPr>
              <a:t>F</a:t>
            </a:r>
            <a:r>
              <a:rPr dirty="0" sz="1600" spc="-5" b="1">
                <a:latin typeface="Courier New"/>
                <a:cs typeface="Courier New"/>
              </a:rPr>
              <a:t>R</a:t>
            </a:r>
            <a:r>
              <a:rPr dirty="0" sz="1600" spc="-10" b="1">
                <a:latin typeface="Courier New"/>
                <a:cs typeface="Courier New"/>
              </a:rPr>
              <a:t>OM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1894" y="3495897"/>
            <a:ext cx="2465070" cy="53721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95"/>
              </a:spcBef>
              <a:tabLst>
                <a:tab pos="1230630" algn="l"/>
              </a:tabLst>
            </a:pPr>
            <a:r>
              <a:rPr dirty="0" sz="1600" spc="-5" b="1">
                <a:latin typeface="Courier New"/>
                <a:cs typeface="Courier New"/>
              </a:rPr>
              <a:t>ELSE	salary</a:t>
            </a:r>
            <a:r>
              <a:rPr dirty="0" sz="1600" spc="-6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END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employees;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1245" y="2015744"/>
            <a:ext cx="7595234" cy="73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Facilitates conditional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inquiries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doing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work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IF-THEN-ELSE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statement:</a:t>
            </a:r>
            <a:endParaRPr sz="1800">
              <a:latin typeface="Gill Sans MT"/>
              <a:cs typeface="Gill Sans MT"/>
            </a:endParaRPr>
          </a:p>
          <a:p>
            <a:pPr algn="ctr" marL="53340">
              <a:lnSpc>
                <a:spcPct val="100000"/>
              </a:lnSpc>
              <a:spcBef>
                <a:spcPts val="1525"/>
              </a:spcBef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spc="1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last_name,</a:t>
            </a:r>
            <a:r>
              <a:rPr dirty="0" sz="1600" b="1">
                <a:latin typeface="Courier New"/>
                <a:cs typeface="Courier New"/>
              </a:rPr>
              <a:t> job_id, </a:t>
            </a:r>
            <a:r>
              <a:rPr dirty="0" sz="1600" spc="-5" b="1">
                <a:latin typeface="Courier New"/>
                <a:cs typeface="Courier New"/>
              </a:rPr>
              <a:t>salary,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99282" y="2771394"/>
            <a:ext cx="5669280" cy="1038225"/>
          </a:xfrm>
          <a:custGeom>
            <a:avLst/>
            <a:gdLst/>
            <a:ahLst/>
            <a:cxnLst/>
            <a:rect l="l" t="t" r="r" b="b"/>
            <a:pathLst>
              <a:path w="5669280" h="1038225">
                <a:moveTo>
                  <a:pt x="0" y="1037843"/>
                </a:moveTo>
                <a:lnTo>
                  <a:pt x="5669279" y="1037843"/>
                </a:lnTo>
                <a:lnTo>
                  <a:pt x="5669279" y="0"/>
                </a:lnTo>
                <a:lnTo>
                  <a:pt x="0" y="0"/>
                </a:lnTo>
                <a:lnTo>
                  <a:pt x="0" y="103784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69895" y="4308094"/>
            <a:ext cx="337820" cy="1282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73451" y="4221479"/>
            <a:ext cx="7105015" cy="1837055"/>
            <a:chOff x="2473451" y="4221479"/>
            <a:chExt cx="7105015" cy="183705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3451" y="4732019"/>
              <a:ext cx="7066788" cy="6477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2975" y="5640323"/>
              <a:ext cx="7066792" cy="22893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3451" y="4224527"/>
              <a:ext cx="7104888" cy="28498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152893" y="4234433"/>
              <a:ext cx="2379345" cy="1762125"/>
            </a:xfrm>
            <a:custGeom>
              <a:avLst/>
              <a:gdLst/>
              <a:ahLst/>
              <a:cxnLst/>
              <a:rect l="l" t="t" r="r" b="b"/>
              <a:pathLst>
                <a:path w="2379345" h="1762125">
                  <a:moveTo>
                    <a:pt x="0" y="1761743"/>
                  </a:moveTo>
                  <a:lnTo>
                    <a:pt x="2378963" y="1761743"/>
                  </a:lnTo>
                  <a:lnTo>
                    <a:pt x="2378963" y="0"/>
                  </a:lnTo>
                  <a:lnTo>
                    <a:pt x="0" y="0"/>
                  </a:lnTo>
                  <a:lnTo>
                    <a:pt x="0" y="1761743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2026" y="5963134"/>
              <a:ext cx="952500" cy="949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DECODE</a:t>
                      </a:r>
                      <a:r>
                        <a:rPr dirty="0" sz="2800" spc="-9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1260" y="2756916"/>
            <a:ext cx="7357745" cy="1149985"/>
            <a:chOff x="2461260" y="2756916"/>
            <a:chExt cx="7357745" cy="1149985"/>
          </a:xfrm>
        </p:grpSpPr>
        <p:sp>
          <p:nvSpPr>
            <p:cNvPr id="4" name="object 4"/>
            <p:cNvSpPr/>
            <p:nvPr/>
          </p:nvSpPr>
          <p:spPr>
            <a:xfrm>
              <a:off x="2524760" y="2820669"/>
              <a:ext cx="7294245" cy="1085850"/>
            </a:xfrm>
            <a:custGeom>
              <a:avLst/>
              <a:gdLst/>
              <a:ahLst/>
              <a:cxnLst/>
              <a:rect l="l" t="t" r="r" b="b"/>
              <a:pathLst>
                <a:path w="7294245" h="1085850">
                  <a:moveTo>
                    <a:pt x="7293864" y="0"/>
                  </a:moveTo>
                  <a:lnTo>
                    <a:pt x="7217397" y="0"/>
                  </a:lnTo>
                  <a:lnTo>
                    <a:pt x="7217397" y="25400"/>
                  </a:lnTo>
                  <a:lnTo>
                    <a:pt x="7217410" y="1009650"/>
                  </a:lnTo>
                  <a:lnTo>
                    <a:pt x="12954" y="1009650"/>
                  </a:lnTo>
                  <a:lnTo>
                    <a:pt x="12954" y="1060450"/>
                  </a:lnTo>
                  <a:lnTo>
                    <a:pt x="0" y="1060450"/>
                  </a:lnTo>
                  <a:lnTo>
                    <a:pt x="0" y="1085850"/>
                  </a:lnTo>
                  <a:lnTo>
                    <a:pt x="7293851" y="1085850"/>
                  </a:lnTo>
                  <a:lnTo>
                    <a:pt x="7293851" y="1060450"/>
                  </a:lnTo>
                  <a:lnTo>
                    <a:pt x="7293864" y="25400"/>
                  </a:lnTo>
                  <a:lnTo>
                    <a:pt x="7293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4214" y="2769870"/>
              <a:ext cx="7268209" cy="1061085"/>
            </a:xfrm>
            <a:custGeom>
              <a:avLst/>
              <a:gdLst/>
              <a:ahLst/>
              <a:cxnLst/>
              <a:rect l="l" t="t" r="r" b="b"/>
              <a:pathLst>
                <a:path w="7268209" h="1061085">
                  <a:moveTo>
                    <a:pt x="7267956" y="0"/>
                  </a:moveTo>
                  <a:lnTo>
                    <a:pt x="0" y="0"/>
                  </a:lnTo>
                  <a:lnTo>
                    <a:pt x="0" y="1060703"/>
                  </a:lnTo>
                  <a:lnTo>
                    <a:pt x="7267956" y="1060703"/>
                  </a:lnTo>
                  <a:lnTo>
                    <a:pt x="72679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4" y="2769870"/>
              <a:ext cx="7268209" cy="1061085"/>
            </a:xfrm>
            <a:custGeom>
              <a:avLst/>
              <a:gdLst/>
              <a:ahLst/>
              <a:cxnLst/>
              <a:rect l="l" t="t" r="r" b="b"/>
              <a:pathLst>
                <a:path w="7268209" h="1061085">
                  <a:moveTo>
                    <a:pt x="0" y="1060703"/>
                  </a:moveTo>
                  <a:lnTo>
                    <a:pt x="7267956" y="1060703"/>
                  </a:lnTo>
                  <a:lnTo>
                    <a:pt x="7267956" y="0"/>
                  </a:lnTo>
                  <a:lnTo>
                    <a:pt x="0" y="0"/>
                  </a:lnTo>
                  <a:lnTo>
                    <a:pt x="0" y="10607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4760" y="38303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3541" y="2245614"/>
            <a:ext cx="8369300" cy="147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Facilitat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nal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inquirie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oing 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ork 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CAS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F-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ELSE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statement: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Gill Sans MT"/>
              <a:cs typeface="Gill Sans MT"/>
            </a:endParaRPr>
          </a:p>
          <a:p>
            <a:pPr marL="171196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DECODE(</a:t>
            </a:r>
            <a:r>
              <a:rPr dirty="0" sz="1800" spc="-10" b="1" i="1">
                <a:latin typeface="Courier New"/>
                <a:cs typeface="Courier New"/>
              </a:rPr>
              <a:t>col|expression,</a:t>
            </a:r>
            <a:r>
              <a:rPr dirty="0" sz="1800" spc="-30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search1,</a:t>
            </a:r>
            <a:r>
              <a:rPr dirty="0" sz="1800" spc="-25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result1</a:t>
            </a:r>
            <a:endParaRPr sz="1800">
              <a:latin typeface="Courier New"/>
              <a:cs typeface="Courier New"/>
            </a:endParaRPr>
          </a:p>
          <a:p>
            <a:pPr marL="4865370" marR="83185">
              <a:lnSpc>
                <a:spcPct val="105000"/>
              </a:lnSpc>
              <a:spcBef>
                <a:spcPts val="5"/>
              </a:spcBef>
            </a:pPr>
            <a:r>
              <a:rPr dirty="0" sz="1800" spc="-5" b="1">
                <a:latin typeface="Courier New"/>
                <a:cs typeface="Courier New"/>
              </a:rPr>
              <a:t>[</a:t>
            </a:r>
            <a:r>
              <a:rPr dirty="0" sz="1800" spc="-5" b="1" i="1">
                <a:latin typeface="Courier New"/>
                <a:cs typeface="Courier New"/>
              </a:rPr>
              <a:t>, </a:t>
            </a:r>
            <a:r>
              <a:rPr dirty="0" sz="1800" spc="-10" b="1" i="1">
                <a:latin typeface="Courier New"/>
                <a:cs typeface="Courier New"/>
              </a:rPr>
              <a:t>search2, result2,...,</a:t>
            </a:r>
            <a:r>
              <a:rPr dirty="0" sz="1800" spc="-10" b="1">
                <a:latin typeface="Courier New"/>
                <a:cs typeface="Courier New"/>
              </a:rPr>
              <a:t>]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[</a:t>
            </a:r>
            <a:r>
              <a:rPr dirty="0" sz="1800" spc="-5" b="1" i="1">
                <a:latin typeface="Courier New"/>
                <a:cs typeface="Courier New"/>
              </a:rPr>
              <a:t>,</a:t>
            </a:r>
            <a:r>
              <a:rPr dirty="0" sz="1800" spc="-25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default</a:t>
            </a:r>
            <a:r>
              <a:rPr dirty="0" sz="1800" spc="-10" b="1">
                <a:latin typeface="Courier New"/>
                <a:cs typeface="Courier New"/>
              </a:rPr>
              <a:t>])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DECODE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59735" y="2125979"/>
            <a:ext cx="7191375" cy="2084070"/>
            <a:chOff x="2459735" y="2125979"/>
            <a:chExt cx="7191375" cy="2084070"/>
          </a:xfrm>
        </p:grpSpPr>
        <p:sp>
          <p:nvSpPr>
            <p:cNvPr id="4" name="object 4"/>
            <p:cNvSpPr/>
            <p:nvPr/>
          </p:nvSpPr>
          <p:spPr>
            <a:xfrm>
              <a:off x="2523236" y="2189479"/>
              <a:ext cx="7127875" cy="2020570"/>
            </a:xfrm>
            <a:custGeom>
              <a:avLst/>
              <a:gdLst/>
              <a:ahLst/>
              <a:cxnLst/>
              <a:rect l="l" t="t" r="r" b="b"/>
              <a:pathLst>
                <a:path w="7127875" h="2020570">
                  <a:moveTo>
                    <a:pt x="7127748" y="0"/>
                  </a:moveTo>
                  <a:lnTo>
                    <a:pt x="7051294" y="0"/>
                  </a:lnTo>
                  <a:lnTo>
                    <a:pt x="7051294" y="12700"/>
                  </a:lnTo>
                  <a:lnTo>
                    <a:pt x="7051294" y="25400"/>
                  </a:lnTo>
                  <a:lnTo>
                    <a:pt x="7051294" y="1944370"/>
                  </a:lnTo>
                  <a:lnTo>
                    <a:pt x="12954" y="1944370"/>
                  </a:lnTo>
                  <a:lnTo>
                    <a:pt x="12954" y="1995170"/>
                  </a:lnTo>
                  <a:lnTo>
                    <a:pt x="0" y="1995170"/>
                  </a:lnTo>
                  <a:lnTo>
                    <a:pt x="0" y="2020570"/>
                  </a:lnTo>
                  <a:lnTo>
                    <a:pt x="7127748" y="2020570"/>
                  </a:lnTo>
                  <a:lnTo>
                    <a:pt x="7127748" y="1995170"/>
                  </a:lnTo>
                  <a:lnTo>
                    <a:pt x="7127748" y="25400"/>
                  </a:lnTo>
                  <a:lnTo>
                    <a:pt x="7127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2689" y="2138933"/>
              <a:ext cx="7101840" cy="1995170"/>
            </a:xfrm>
            <a:custGeom>
              <a:avLst/>
              <a:gdLst/>
              <a:ahLst/>
              <a:cxnLst/>
              <a:rect l="l" t="t" r="r" b="b"/>
              <a:pathLst>
                <a:path w="7101840" h="1995170">
                  <a:moveTo>
                    <a:pt x="7101840" y="0"/>
                  </a:moveTo>
                  <a:lnTo>
                    <a:pt x="0" y="0"/>
                  </a:lnTo>
                  <a:lnTo>
                    <a:pt x="0" y="1994916"/>
                  </a:lnTo>
                  <a:lnTo>
                    <a:pt x="7101840" y="1994916"/>
                  </a:lnTo>
                  <a:lnTo>
                    <a:pt x="71018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2689" y="2138933"/>
              <a:ext cx="7101840" cy="1995170"/>
            </a:xfrm>
            <a:custGeom>
              <a:avLst/>
              <a:gdLst/>
              <a:ahLst/>
              <a:cxnLst/>
              <a:rect l="l" t="t" r="r" b="b"/>
              <a:pathLst>
                <a:path w="7101840" h="1995170">
                  <a:moveTo>
                    <a:pt x="0" y="1994916"/>
                  </a:moveTo>
                  <a:lnTo>
                    <a:pt x="7101840" y="1994916"/>
                  </a:lnTo>
                  <a:lnTo>
                    <a:pt x="7101840" y="0"/>
                  </a:lnTo>
                  <a:lnTo>
                    <a:pt x="0" y="0"/>
                  </a:lnTo>
                  <a:lnTo>
                    <a:pt x="0" y="199491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3235" y="413385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65654" y="2245232"/>
            <a:ext cx="40601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spc="1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last_name,</a:t>
            </a:r>
            <a:r>
              <a:rPr dirty="0" sz="1600" b="1">
                <a:latin typeface="Courier New"/>
                <a:cs typeface="Courier New"/>
              </a:rPr>
              <a:t> job_id, </a:t>
            </a:r>
            <a:r>
              <a:rPr dirty="0" sz="1600" spc="-5" b="1">
                <a:latin typeface="Courier New"/>
                <a:cs typeface="Courier New"/>
              </a:rPr>
              <a:t>salary,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2038" y="2509266"/>
            <a:ext cx="4895215" cy="126492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855"/>
              </a:lnSpc>
              <a:tabLst>
                <a:tab pos="3375660" algn="l"/>
              </a:tabLst>
            </a:pPr>
            <a:r>
              <a:rPr dirty="0" sz="1600" spc="-5" b="1">
                <a:latin typeface="Courier New"/>
                <a:cs typeface="Courier New"/>
              </a:rPr>
              <a:t>DECODE(job_id,</a:t>
            </a:r>
            <a:r>
              <a:rPr dirty="0" sz="1600" spc="2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'IT_PROG',	1.10*salary,</a:t>
            </a:r>
            <a:endParaRPr sz="1600">
              <a:latin typeface="Courier New"/>
              <a:cs typeface="Courier New"/>
            </a:endParaRPr>
          </a:p>
          <a:p>
            <a:pPr marL="1913255" marR="44450">
              <a:lnSpc>
                <a:spcPct val="100000"/>
              </a:lnSpc>
              <a:tabLst>
                <a:tab pos="3378200" algn="l"/>
              </a:tabLst>
            </a:pPr>
            <a:r>
              <a:rPr dirty="0" sz="1600" spc="-5" b="1">
                <a:latin typeface="Courier New"/>
                <a:cs typeface="Courier New"/>
              </a:rPr>
              <a:t>'ST_CLERK', 1.15*salary, </a:t>
            </a:r>
            <a:r>
              <a:rPr dirty="0" sz="1600" spc="-95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'</a:t>
            </a:r>
            <a:r>
              <a:rPr dirty="0" sz="1600" spc="10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A</a:t>
            </a:r>
            <a:r>
              <a:rPr dirty="0" sz="1600" spc="-5" b="1">
                <a:latin typeface="Courier New"/>
                <a:cs typeface="Courier New"/>
              </a:rPr>
              <a:t>_</a:t>
            </a:r>
            <a:r>
              <a:rPr dirty="0" sz="1600" spc="-10" b="1">
                <a:latin typeface="Courier New"/>
                <a:cs typeface="Courier New"/>
              </a:rPr>
              <a:t>R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-10" b="1">
                <a:latin typeface="Courier New"/>
                <a:cs typeface="Courier New"/>
              </a:rPr>
              <a:t>P</a:t>
            </a:r>
            <a:r>
              <a:rPr dirty="0" sz="1600" spc="-5" b="1">
                <a:latin typeface="Courier New"/>
                <a:cs typeface="Courier New"/>
              </a:rPr>
              <a:t>',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5" b="1">
                <a:latin typeface="Courier New"/>
                <a:cs typeface="Courier New"/>
              </a:rPr>
              <a:t>1</a:t>
            </a:r>
            <a:r>
              <a:rPr dirty="0" sz="1600" spc="5" b="1">
                <a:latin typeface="Courier New"/>
                <a:cs typeface="Courier New"/>
              </a:rPr>
              <a:t>.</a:t>
            </a:r>
            <a:r>
              <a:rPr dirty="0" sz="1600" spc="-10" b="1">
                <a:latin typeface="Courier New"/>
                <a:cs typeface="Courier New"/>
              </a:rPr>
              <a:t>2</a:t>
            </a:r>
            <a:r>
              <a:rPr dirty="0" sz="1600" spc="-5" b="1">
                <a:latin typeface="Courier New"/>
                <a:cs typeface="Courier New"/>
              </a:rPr>
              <a:t>0</a:t>
            </a:r>
            <a:r>
              <a:rPr dirty="0" sz="1600" spc="-10" b="1">
                <a:latin typeface="Courier New"/>
                <a:cs typeface="Courier New"/>
              </a:rPr>
              <a:t>*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a</a:t>
            </a:r>
            <a:r>
              <a:rPr dirty="0" sz="1600" spc="-5" b="1">
                <a:latin typeface="Courier New"/>
                <a:cs typeface="Courier New"/>
              </a:rPr>
              <a:t>l</a:t>
            </a:r>
            <a:r>
              <a:rPr dirty="0" sz="1600" spc="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r</a:t>
            </a:r>
            <a:r>
              <a:rPr dirty="0" sz="1600" spc="-5" b="1">
                <a:latin typeface="Courier New"/>
                <a:cs typeface="Courier New"/>
              </a:rPr>
              <a:t>y,</a:t>
            </a:r>
            <a:endParaRPr sz="1600">
              <a:latin typeface="Courier New"/>
              <a:cs typeface="Courier New"/>
            </a:endParaRPr>
          </a:p>
          <a:p>
            <a:pPr marL="81280" marR="3096895" indent="854710">
              <a:lnSpc>
                <a:spcPct val="100000"/>
              </a:lnSpc>
            </a:pPr>
            <a:r>
              <a:rPr dirty="0" sz="1600" spc="-10" b="1">
                <a:latin typeface="Courier New"/>
                <a:cs typeface="Courier New"/>
              </a:rPr>
              <a:t>s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l</a:t>
            </a:r>
            <a:r>
              <a:rPr dirty="0" sz="1600" spc="-5" b="1">
                <a:latin typeface="Courier New"/>
                <a:cs typeface="Courier New"/>
              </a:rPr>
              <a:t>a</a:t>
            </a:r>
            <a:r>
              <a:rPr dirty="0" sz="1600" spc="5" b="1">
                <a:latin typeface="Courier New"/>
                <a:cs typeface="Courier New"/>
              </a:rPr>
              <a:t>r</a:t>
            </a:r>
            <a:r>
              <a:rPr dirty="0" sz="1600" spc="-10" b="1">
                <a:latin typeface="Courier New"/>
                <a:cs typeface="Courier New"/>
              </a:rPr>
              <a:t>y)  R</a:t>
            </a:r>
            <a:r>
              <a:rPr dirty="0" sz="1600" spc="-5" b="1">
                <a:latin typeface="Courier New"/>
                <a:cs typeface="Courier New"/>
              </a:rPr>
              <a:t>E</a:t>
            </a:r>
            <a:r>
              <a:rPr dirty="0" sz="1600" spc="-10" b="1">
                <a:latin typeface="Courier New"/>
                <a:cs typeface="Courier New"/>
              </a:rPr>
              <a:t>V</a:t>
            </a:r>
            <a:r>
              <a:rPr dirty="0" sz="1600" spc="-5" b="1">
                <a:latin typeface="Courier New"/>
                <a:cs typeface="Courier New"/>
              </a:rPr>
              <a:t>I</a:t>
            </a:r>
            <a:r>
              <a:rPr dirty="0" sz="1600" spc="5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E</a:t>
            </a:r>
            <a:r>
              <a:rPr dirty="0" sz="1600" spc="-5" b="1">
                <a:latin typeface="Courier New"/>
                <a:cs typeface="Courier New"/>
              </a:rPr>
              <a:t>D</a:t>
            </a:r>
            <a:r>
              <a:rPr dirty="0" sz="1600" spc="-10" b="1">
                <a:latin typeface="Courier New"/>
                <a:cs typeface="Courier New"/>
              </a:rPr>
              <a:t>_</a:t>
            </a:r>
            <a:r>
              <a:rPr dirty="0" sz="1600" spc="-5" b="1">
                <a:latin typeface="Courier New"/>
                <a:cs typeface="Courier New"/>
              </a:rPr>
              <a:t>S</a:t>
            </a:r>
            <a:r>
              <a:rPr dirty="0" sz="1600" spc="-10" b="1">
                <a:latin typeface="Courier New"/>
                <a:cs typeface="Courier New"/>
              </a:rPr>
              <a:t>A</a:t>
            </a:r>
            <a:r>
              <a:rPr dirty="0" sz="1600" spc="-5" b="1">
                <a:latin typeface="Courier New"/>
                <a:cs typeface="Courier New"/>
              </a:rPr>
              <a:t>L</a:t>
            </a:r>
            <a:r>
              <a:rPr dirty="0" sz="1600" spc="5" b="1">
                <a:latin typeface="Courier New"/>
                <a:cs typeface="Courier New"/>
              </a:rPr>
              <a:t>A</a:t>
            </a:r>
            <a:r>
              <a:rPr dirty="0" sz="1600" spc="-10" b="1">
                <a:latin typeface="Courier New"/>
                <a:cs typeface="Courier New"/>
              </a:rPr>
              <a:t>RY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5654" y="3708653"/>
            <a:ext cx="513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FROM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1419" y="3708653"/>
            <a:ext cx="12471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employees;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6405" y="4510532"/>
            <a:ext cx="33274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1927" y="4407408"/>
            <a:ext cx="7124700" cy="1832610"/>
            <a:chOff x="2471927" y="4407408"/>
            <a:chExt cx="7124700" cy="18326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1927" y="4939284"/>
              <a:ext cx="7115556" cy="6385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0502" y="5818632"/>
              <a:ext cx="7067550" cy="219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1927" y="4407408"/>
              <a:ext cx="7124700" cy="2865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233666" y="4435602"/>
              <a:ext cx="2306320" cy="1678305"/>
            </a:xfrm>
            <a:custGeom>
              <a:avLst/>
              <a:gdLst/>
              <a:ahLst/>
              <a:cxnLst/>
              <a:rect l="l" t="t" r="r" b="b"/>
              <a:pathLst>
                <a:path w="2306320" h="1678304">
                  <a:moveTo>
                    <a:pt x="0" y="1677924"/>
                  </a:moveTo>
                  <a:lnTo>
                    <a:pt x="2305812" y="1677924"/>
                  </a:lnTo>
                  <a:lnTo>
                    <a:pt x="2305812" y="0"/>
                  </a:lnTo>
                  <a:lnTo>
                    <a:pt x="0" y="0"/>
                  </a:lnTo>
                  <a:lnTo>
                    <a:pt x="0" y="1677924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2026" y="6144491"/>
              <a:ext cx="952500" cy="949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DECODE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FUNCTION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61260" y="2590800"/>
            <a:ext cx="7381875" cy="3491229"/>
            <a:chOff x="2461260" y="2590800"/>
            <a:chExt cx="7381875" cy="3491229"/>
          </a:xfrm>
        </p:grpSpPr>
        <p:sp>
          <p:nvSpPr>
            <p:cNvPr id="4" name="object 4"/>
            <p:cNvSpPr/>
            <p:nvPr/>
          </p:nvSpPr>
          <p:spPr>
            <a:xfrm>
              <a:off x="2524760" y="2654299"/>
              <a:ext cx="7318375" cy="3427729"/>
            </a:xfrm>
            <a:custGeom>
              <a:avLst/>
              <a:gdLst/>
              <a:ahLst/>
              <a:cxnLst/>
              <a:rect l="l" t="t" r="r" b="b"/>
              <a:pathLst>
                <a:path w="7318375" h="3427729">
                  <a:moveTo>
                    <a:pt x="7318248" y="0"/>
                  </a:moveTo>
                  <a:lnTo>
                    <a:pt x="7241794" y="0"/>
                  </a:lnTo>
                  <a:lnTo>
                    <a:pt x="7241794" y="12966"/>
                  </a:lnTo>
                  <a:lnTo>
                    <a:pt x="7241794" y="25400"/>
                  </a:lnTo>
                  <a:lnTo>
                    <a:pt x="7241794" y="3351034"/>
                  </a:lnTo>
                  <a:lnTo>
                    <a:pt x="12954" y="3351034"/>
                  </a:lnTo>
                  <a:lnTo>
                    <a:pt x="12954" y="3401060"/>
                  </a:lnTo>
                  <a:lnTo>
                    <a:pt x="0" y="3401060"/>
                  </a:lnTo>
                  <a:lnTo>
                    <a:pt x="0" y="3427730"/>
                  </a:lnTo>
                  <a:lnTo>
                    <a:pt x="7318248" y="3427730"/>
                  </a:lnTo>
                  <a:lnTo>
                    <a:pt x="7318248" y="3401060"/>
                  </a:lnTo>
                  <a:lnTo>
                    <a:pt x="7318248" y="25400"/>
                  </a:lnTo>
                  <a:lnTo>
                    <a:pt x="73182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4214" y="2603753"/>
              <a:ext cx="7292340" cy="3401695"/>
            </a:xfrm>
            <a:custGeom>
              <a:avLst/>
              <a:gdLst/>
              <a:ahLst/>
              <a:cxnLst/>
              <a:rect l="l" t="t" r="r" b="b"/>
              <a:pathLst>
                <a:path w="7292340" h="3401695">
                  <a:moveTo>
                    <a:pt x="7292340" y="0"/>
                  </a:moveTo>
                  <a:lnTo>
                    <a:pt x="0" y="0"/>
                  </a:lnTo>
                  <a:lnTo>
                    <a:pt x="0" y="3401567"/>
                  </a:lnTo>
                  <a:lnTo>
                    <a:pt x="7292340" y="3401567"/>
                  </a:lnTo>
                  <a:lnTo>
                    <a:pt x="72923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4214" y="2603753"/>
              <a:ext cx="7292340" cy="3401695"/>
            </a:xfrm>
            <a:custGeom>
              <a:avLst/>
              <a:gdLst/>
              <a:ahLst/>
              <a:cxnLst/>
              <a:rect l="l" t="t" r="r" b="b"/>
              <a:pathLst>
                <a:path w="7292340" h="3401695">
                  <a:moveTo>
                    <a:pt x="0" y="3401567"/>
                  </a:moveTo>
                  <a:lnTo>
                    <a:pt x="7292340" y="3401567"/>
                  </a:lnTo>
                  <a:lnTo>
                    <a:pt x="7292340" y="0"/>
                  </a:lnTo>
                  <a:lnTo>
                    <a:pt x="0" y="0"/>
                  </a:lnTo>
                  <a:lnTo>
                    <a:pt x="0" y="340156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24760" y="6005829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30"/>
                </a:moveTo>
                <a:lnTo>
                  <a:pt x="25907" y="49530"/>
                </a:lnTo>
                <a:lnTo>
                  <a:pt x="25907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16377" y="2908554"/>
          <a:ext cx="5957570" cy="30289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2175"/>
                <a:gridCol w="2894965"/>
                <a:gridCol w="818514"/>
                <a:gridCol w="1339214"/>
              </a:tblGrid>
              <a:tr h="57023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ts val="209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DECODE</a:t>
                      </a:r>
                      <a:r>
                        <a:rPr dirty="0" sz="1800" spc="-9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(TRUNC(salary/2000,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60325">
                        <a:lnSpc>
                          <a:spcPct val="10000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0,</a:t>
                      </a:r>
                      <a:r>
                        <a:rPr dirty="0" sz="1800" spc="-10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0.00,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lnT w="28575">
                      <a:solidFill>
                        <a:srgbClr val="828282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209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0),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lnT w="28575">
                      <a:solidFill>
                        <a:srgbClr val="828282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0.09,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0.20,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3,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0.30,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0.40,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5,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0.42,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6,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0.44,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2819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28282"/>
                      </a:solidFill>
                      <a:prstDash val="solid"/>
                    </a:lnL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0.45)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TAX_RATE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28575">
                      <a:solidFill>
                        <a:srgbClr val="828282"/>
                      </a:solidFill>
                      <a:prstDash val="solid"/>
                    </a:lnR>
                    <a:lnB w="28575">
                      <a:solidFill>
                        <a:srgbClr val="82828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FROM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76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employees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28575">
                      <a:solidFill>
                        <a:srgbClr val="828282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828282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828282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WHERE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920"/>
                        </a:lnSpc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department_id</a:t>
                      </a:r>
                      <a:r>
                        <a:rPr dirty="0" sz="18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80;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477770" y="2019427"/>
            <a:ext cx="6284595" cy="8934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Display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applicable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tax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department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80.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Gill Sans MT"/>
              <a:cs typeface="Gill Sans MT"/>
            </a:endParaRPr>
          </a:p>
          <a:p>
            <a:pPr marL="6985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SELECT last_name, salary,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SUMMARY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92474"/>
            <a:ext cx="5241925" cy="3268979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son,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6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learne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Perform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calculations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Modify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individual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items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Manipulate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output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groups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rows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Alter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formats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display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Convert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types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NVL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functions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IF-THEN-ELSE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logic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2026-02-17T08:07:16Z</dcterms:created>
  <dcterms:modified xsi:type="dcterms:W3CDTF">2026-02-17T08:07:16Z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