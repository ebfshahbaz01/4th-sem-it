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700" y="4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960625" y="514553"/>
            <a:ext cx="8270748" cy="7581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655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chemeClr val="bg1"/>
                </a:solidFill>
                <a:latin typeface="Constantia"/>
                <a:cs typeface="Constant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3C3C3C"/>
                </a:solidFill>
                <a:latin typeface="Gill Sans MT"/>
                <a:cs typeface="Gill Sans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655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chemeClr val="bg1"/>
                </a:solidFill>
                <a:latin typeface="Constantia"/>
                <a:cs typeface="Constant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9/14/2026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655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chemeClr val="bg1"/>
                </a:solidFill>
                <a:latin typeface="Constantia"/>
                <a:cs typeface="Constant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9/14/2026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655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9/14/2026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655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597408" y="441959"/>
            <a:ext cx="3627120" cy="106680"/>
          </a:xfrm>
          <a:custGeom>
            <a:avLst/>
            <a:gdLst/>
            <a:ahLst/>
            <a:cxnLst/>
            <a:rect l="l" t="t" r="r" b="b"/>
            <a:pathLst>
              <a:path w="3627120" h="106679">
                <a:moveTo>
                  <a:pt x="3627120" y="0"/>
                </a:moveTo>
                <a:lnTo>
                  <a:pt x="0" y="0"/>
                </a:lnTo>
                <a:lnTo>
                  <a:pt x="0" y="106679"/>
                </a:lnTo>
                <a:lnTo>
                  <a:pt x="3627120" y="106679"/>
                </a:lnTo>
                <a:lnTo>
                  <a:pt x="3627120" y="0"/>
                </a:lnTo>
                <a:close/>
              </a:path>
            </a:pathLst>
          </a:custGeom>
          <a:solidFill>
            <a:srgbClr val="1A31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7967471" y="441959"/>
            <a:ext cx="3615054" cy="106680"/>
          </a:xfrm>
          <a:custGeom>
            <a:avLst/>
            <a:gdLst/>
            <a:ahLst/>
            <a:cxnLst/>
            <a:rect l="l" t="t" r="r" b="b"/>
            <a:pathLst>
              <a:path w="3615054" h="106679">
                <a:moveTo>
                  <a:pt x="3614928" y="0"/>
                </a:moveTo>
                <a:lnTo>
                  <a:pt x="0" y="0"/>
                </a:lnTo>
                <a:lnTo>
                  <a:pt x="0" y="106679"/>
                </a:lnTo>
                <a:lnTo>
                  <a:pt x="3614928" y="106679"/>
                </a:lnTo>
                <a:lnTo>
                  <a:pt x="3614928" y="0"/>
                </a:lnTo>
                <a:close/>
              </a:path>
            </a:pathLst>
          </a:custGeom>
          <a:solidFill>
            <a:srgbClr val="959FA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4288535" y="441959"/>
            <a:ext cx="3615054" cy="106680"/>
          </a:xfrm>
          <a:custGeom>
            <a:avLst/>
            <a:gdLst/>
            <a:ahLst/>
            <a:cxnLst/>
            <a:rect l="l" t="t" r="r" b="b"/>
            <a:pathLst>
              <a:path w="3615054" h="106679">
                <a:moveTo>
                  <a:pt x="3614927" y="0"/>
                </a:moveTo>
                <a:lnTo>
                  <a:pt x="0" y="0"/>
                </a:lnTo>
                <a:lnTo>
                  <a:pt x="0" y="106679"/>
                </a:lnTo>
                <a:lnTo>
                  <a:pt x="3614927" y="106679"/>
                </a:lnTo>
                <a:lnTo>
                  <a:pt x="3614927" y="0"/>
                </a:lnTo>
                <a:close/>
              </a:path>
            </a:pathLst>
          </a:custGeom>
          <a:solidFill>
            <a:srgbClr val="4590B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97408" y="600455"/>
            <a:ext cx="10985500" cy="12592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1" i="0">
                <a:solidFill>
                  <a:schemeClr val="bg1"/>
                </a:solidFill>
                <a:latin typeface="Constantia"/>
                <a:cs typeface="Constant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46887" y="2141956"/>
            <a:ext cx="10859135" cy="34550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3C3C3C"/>
                </a:solidFill>
                <a:latin typeface="Gill Sans MT"/>
                <a:cs typeface="Gill Sans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358885" y="6461407"/>
            <a:ext cx="287020" cy="2254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655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4.png"/><Relationship Id="rId18" Type="http://schemas.openxmlformats.org/officeDocument/2006/relationships/image" Target="../media/image2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12" Type="http://schemas.openxmlformats.org/officeDocument/2006/relationships/image" Target="../media/image23.png"/><Relationship Id="rId17" Type="http://schemas.openxmlformats.org/officeDocument/2006/relationships/image" Target="../media/image28.png"/><Relationship Id="rId2" Type="http://schemas.openxmlformats.org/officeDocument/2006/relationships/image" Target="../media/image13.png"/><Relationship Id="rId16" Type="http://schemas.openxmlformats.org/officeDocument/2006/relationships/image" Target="../media/image27.png"/><Relationship Id="rId20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5" Type="http://schemas.openxmlformats.org/officeDocument/2006/relationships/image" Target="../media/image26.png"/><Relationship Id="rId10" Type="http://schemas.openxmlformats.org/officeDocument/2006/relationships/image" Target="../media/image21.png"/><Relationship Id="rId19" Type="http://schemas.openxmlformats.org/officeDocument/2006/relationships/image" Target="../media/image30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Relationship Id="rId14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13" Type="http://schemas.openxmlformats.org/officeDocument/2006/relationships/image" Target="../media/image46.png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12" Type="http://schemas.openxmlformats.org/officeDocument/2006/relationships/image" Target="../media/image45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11" Type="http://schemas.openxmlformats.org/officeDocument/2006/relationships/image" Target="../media/image44.png"/><Relationship Id="rId5" Type="http://schemas.openxmlformats.org/officeDocument/2006/relationships/image" Target="../media/image38.png"/><Relationship Id="rId10" Type="http://schemas.openxmlformats.org/officeDocument/2006/relationships/image" Target="../media/image43.png"/><Relationship Id="rId4" Type="http://schemas.openxmlformats.org/officeDocument/2006/relationships/image" Target="../media/image37.png"/><Relationship Id="rId9" Type="http://schemas.openxmlformats.org/officeDocument/2006/relationships/image" Target="../media/image42.png"/><Relationship Id="rId14" Type="http://schemas.openxmlformats.org/officeDocument/2006/relationships/image" Target="../media/image47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13" Type="http://schemas.openxmlformats.org/officeDocument/2006/relationships/image" Target="../media/image59.png"/><Relationship Id="rId3" Type="http://schemas.openxmlformats.org/officeDocument/2006/relationships/image" Target="../media/image49.png"/><Relationship Id="rId7" Type="http://schemas.openxmlformats.org/officeDocument/2006/relationships/image" Target="../media/image53.png"/><Relationship Id="rId12" Type="http://schemas.openxmlformats.org/officeDocument/2006/relationships/image" Target="../media/image58.png"/><Relationship Id="rId17" Type="http://schemas.openxmlformats.org/officeDocument/2006/relationships/image" Target="../media/image63.png"/><Relationship Id="rId2" Type="http://schemas.openxmlformats.org/officeDocument/2006/relationships/image" Target="../media/image48.png"/><Relationship Id="rId16" Type="http://schemas.openxmlformats.org/officeDocument/2006/relationships/image" Target="../media/image6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.png"/><Relationship Id="rId11" Type="http://schemas.openxmlformats.org/officeDocument/2006/relationships/image" Target="../media/image57.png"/><Relationship Id="rId5" Type="http://schemas.openxmlformats.org/officeDocument/2006/relationships/image" Target="../media/image51.png"/><Relationship Id="rId15" Type="http://schemas.openxmlformats.org/officeDocument/2006/relationships/image" Target="../media/image61.png"/><Relationship Id="rId10" Type="http://schemas.openxmlformats.org/officeDocument/2006/relationships/image" Target="../media/image56.png"/><Relationship Id="rId4" Type="http://schemas.openxmlformats.org/officeDocument/2006/relationships/image" Target="../media/image50.png"/><Relationship Id="rId9" Type="http://schemas.openxmlformats.org/officeDocument/2006/relationships/image" Target="../media/image55.png"/><Relationship Id="rId14" Type="http://schemas.openxmlformats.org/officeDocument/2006/relationships/image" Target="../media/image60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png"/><Relationship Id="rId13" Type="http://schemas.openxmlformats.org/officeDocument/2006/relationships/image" Target="../media/image76.png"/><Relationship Id="rId18" Type="http://schemas.openxmlformats.org/officeDocument/2006/relationships/image" Target="../media/image81.png"/><Relationship Id="rId3" Type="http://schemas.openxmlformats.org/officeDocument/2006/relationships/image" Target="../media/image66.png"/><Relationship Id="rId7" Type="http://schemas.openxmlformats.org/officeDocument/2006/relationships/image" Target="../media/image70.png"/><Relationship Id="rId12" Type="http://schemas.openxmlformats.org/officeDocument/2006/relationships/image" Target="../media/image75.png"/><Relationship Id="rId17" Type="http://schemas.openxmlformats.org/officeDocument/2006/relationships/image" Target="../media/image80.png"/><Relationship Id="rId2" Type="http://schemas.openxmlformats.org/officeDocument/2006/relationships/image" Target="../media/image65.png"/><Relationship Id="rId16" Type="http://schemas.openxmlformats.org/officeDocument/2006/relationships/image" Target="../media/image7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9.png"/><Relationship Id="rId11" Type="http://schemas.openxmlformats.org/officeDocument/2006/relationships/image" Target="../media/image74.png"/><Relationship Id="rId5" Type="http://schemas.openxmlformats.org/officeDocument/2006/relationships/image" Target="../media/image68.png"/><Relationship Id="rId15" Type="http://schemas.openxmlformats.org/officeDocument/2006/relationships/image" Target="../media/image78.png"/><Relationship Id="rId10" Type="http://schemas.openxmlformats.org/officeDocument/2006/relationships/image" Target="../media/image73.png"/><Relationship Id="rId19" Type="http://schemas.openxmlformats.org/officeDocument/2006/relationships/image" Target="../media/image82.png"/><Relationship Id="rId4" Type="http://schemas.openxmlformats.org/officeDocument/2006/relationships/image" Target="../media/image67.png"/><Relationship Id="rId9" Type="http://schemas.openxmlformats.org/officeDocument/2006/relationships/image" Target="../media/image72.png"/><Relationship Id="rId14" Type="http://schemas.openxmlformats.org/officeDocument/2006/relationships/image" Target="../media/image77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jp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png"/><Relationship Id="rId13" Type="http://schemas.openxmlformats.org/officeDocument/2006/relationships/image" Target="../media/image96.png"/><Relationship Id="rId3" Type="http://schemas.openxmlformats.org/officeDocument/2006/relationships/image" Target="../media/image86.png"/><Relationship Id="rId7" Type="http://schemas.openxmlformats.org/officeDocument/2006/relationships/image" Target="../media/image90.png"/><Relationship Id="rId12" Type="http://schemas.openxmlformats.org/officeDocument/2006/relationships/image" Target="../media/image95.png"/><Relationship Id="rId2" Type="http://schemas.openxmlformats.org/officeDocument/2006/relationships/image" Target="../media/image85.png"/><Relationship Id="rId16" Type="http://schemas.openxmlformats.org/officeDocument/2006/relationships/image" Target="../media/image9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9.png"/><Relationship Id="rId11" Type="http://schemas.openxmlformats.org/officeDocument/2006/relationships/image" Target="../media/image94.png"/><Relationship Id="rId5" Type="http://schemas.openxmlformats.org/officeDocument/2006/relationships/image" Target="../media/image88.png"/><Relationship Id="rId15" Type="http://schemas.openxmlformats.org/officeDocument/2006/relationships/image" Target="../media/image98.png"/><Relationship Id="rId10" Type="http://schemas.openxmlformats.org/officeDocument/2006/relationships/image" Target="../media/image93.png"/><Relationship Id="rId4" Type="http://schemas.openxmlformats.org/officeDocument/2006/relationships/image" Target="../media/image87.png"/><Relationship Id="rId9" Type="http://schemas.openxmlformats.org/officeDocument/2006/relationships/image" Target="../media/image92.png"/><Relationship Id="rId14" Type="http://schemas.openxmlformats.org/officeDocument/2006/relationships/image" Target="../media/image97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6.png"/><Relationship Id="rId13" Type="http://schemas.openxmlformats.org/officeDocument/2006/relationships/image" Target="../media/image110.png"/><Relationship Id="rId3" Type="http://schemas.openxmlformats.org/officeDocument/2006/relationships/image" Target="../media/image101.png"/><Relationship Id="rId7" Type="http://schemas.openxmlformats.org/officeDocument/2006/relationships/image" Target="../media/image105.png"/><Relationship Id="rId12" Type="http://schemas.openxmlformats.org/officeDocument/2006/relationships/image" Target="../media/image92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4.png"/><Relationship Id="rId11" Type="http://schemas.openxmlformats.org/officeDocument/2006/relationships/image" Target="../media/image109.png"/><Relationship Id="rId5" Type="http://schemas.openxmlformats.org/officeDocument/2006/relationships/image" Target="../media/image103.png"/><Relationship Id="rId15" Type="http://schemas.openxmlformats.org/officeDocument/2006/relationships/image" Target="../media/image112.png"/><Relationship Id="rId10" Type="http://schemas.openxmlformats.org/officeDocument/2006/relationships/image" Target="../media/image108.png"/><Relationship Id="rId4" Type="http://schemas.openxmlformats.org/officeDocument/2006/relationships/image" Target="../media/image102.png"/><Relationship Id="rId9" Type="http://schemas.openxmlformats.org/officeDocument/2006/relationships/image" Target="../media/image107.png"/><Relationship Id="rId14" Type="http://schemas.openxmlformats.org/officeDocument/2006/relationships/image" Target="../media/image11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png"/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png"/><Relationship Id="rId2" Type="http://schemas.openxmlformats.org/officeDocument/2006/relationships/image" Target="../media/image1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9.png"/><Relationship Id="rId5" Type="http://schemas.openxmlformats.org/officeDocument/2006/relationships/image" Target="../media/image118.png"/><Relationship Id="rId4" Type="http://schemas.openxmlformats.org/officeDocument/2006/relationships/image" Target="../media/image117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5.png"/><Relationship Id="rId13" Type="http://schemas.openxmlformats.org/officeDocument/2006/relationships/image" Target="../media/image129.png"/><Relationship Id="rId18" Type="http://schemas.openxmlformats.org/officeDocument/2006/relationships/image" Target="../media/image134.png"/><Relationship Id="rId3" Type="http://schemas.openxmlformats.org/officeDocument/2006/relationships/image" Target="../media/image121.png"/><Relationship Id="rId7" Type="http://schemas.openxmlformats.org/officeDocument/2006/relationships/image" Target="../media/image124.png"/><Relationship Id="rId12" Type="http://schemas.openxmlformats.org/officeDocument/2006/relationships/image" Target="../media/image7.png"/><Relationship Id="rId17" Type="http://schemas.openxmlformats.org/officeDocument/2006/relationships/image" Target="../media/image133.png"/><Relationship Id="rId2" Type="http://schemas.openxmlformats.org/officeDocument/2006/relationships/image" Target="../media/image120.png"/><Relationship Id="rId16" Type="http://schemas.openxmlformats.org/officeDocument/2006/relationships/image" Target="../media/image1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3.png"/><Relationship Id="rId11" Type="http://schemas.openxmlformats.org/officeDocument/2006/relationships/image" Target="../media/image128.png"/><Relationship Id="rId5" Type="http://schemas.openxmlformats.org/officeDocument/2006/relationships/image" Target="../media/image122.png"/><Relationship Id="rId15" Type="http://schemas.openxmlformats.org/officeDocument/2006/relationships/image" Target="../media/image131.png"/><Relationship Id="rId10" Type="http://schemas.openxmlformats.org/officeDocument/2006/relationships/image" Target="../media/image127.png"/><Relationship Id="rId19" Type="http://schemas.openxmlformats.org/officeDocument/2006/relationships/image" Target="../media/image135.png"/><Relationship Id="rId4" Type="http://schemas.openxmlformats.org/officeDocument/2006/relationships/image" Target="../media/image3.png"/><Relationship Id="rId9" Type="http://schemas.openxmlformats.org/officeDocument/2006/relationships/image" Target="../media/image126.png"/><Relationship Id="rId14" Type="http://schemas.openxmlformats.org/officeDocument/2006/relationships/image" Target="../media/image13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7.png"/><Relationship Id="rId2" Type="http://schemas.openxmlformats.org/officeDocument/2006/relationships/image" Target="../media/image1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0.png"/><Relationship Id="rId5" Type="http://schemas.openxmlformats.org/officeDocument/2006/relationships/image" Target="../media/image139.png"/><Relationship Id="rId4" Type="http://schemas.openxmlformats.org/officeDocument/2006/relationships/image" Target="../media/image13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2.jpg"/><Relationship Id="rId2" Type="http://schemas.openxmlformats.org/officeDocument/2006/relationships/image" Target="../media/image141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3.jpg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4.jp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5.jpg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6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84019" y="1875282"/>
            <a:ext cx="724915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90" dirty="0">
                <a:solidFill>
                  <a:srgbClr val="1A315F"/>
                </a:solidFill>
                <a:latin typeface="Trebuchet MS"/>
                <a:cs typeface="Trebuchet MS"/>
              </a:rPr>
              <a:t>DATABASE</a:t>
            </a:r>
            <a:r>
              <a:rPr sz="3600" spc="-60" dirty="0">
                <a:solidFill>
                  <a:srgbClr val="1A315F"/>
                </a:solidFill>
                <a:latin typeface="Trebuchet MS"/>
                <a:cs typeface="Trebuchet MS"/>
              </a:rPr>
              <a:t> </a:t>
            </a:r>
            <a:r>
              <a:rPr sz="3600" spc="-5" dirty="0">
                <a:solidFill>
                  <a:srgbClr val="1A315F"/>
                </a:solidFill>
                <a:latin typeface="Trebuchet MS"/>
                <a:cs typeface="Trebuchet MS"/>
              </a:rPr>
              <a:t>MANAGEMENT</a:t>
            </a:r>
            <a:r>
              <a:rPr sz="3600" spc="-105" dirty="0">
                <a:solidFill>
                  <a:srgbClr val="1A315F"/>
                </a:solidFill>
                <a:latin typeface="Trebuchet MS"/>
                <a:cs typeface="Trebuchet MS"/>
              </a:rPr>
              <a:t> </a:t>
            </a:r>
            <a:r>
              <a:rPr sz="3600" spc="-5" dirty="0">
                <a:solidFill>
                  <a:srgbClr val="1A315F"/>
                </a:solidFill>
                <a:latin typeface="Trebuchet MS"/>
                <a:cs typeface="Trebuchet MS"/>
              </a:rPr>
              <a:t>SYSTEMS</a:t>
            </a:r>
            <a:endParaRPr sz="36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97408" y="3086100"/>
            <a:ext cx="10986770" cy="3305810"/>
          </a:xfrm>
          <a:prstGeom prst="rect">
            <a:avLst/>
          </a:prstGeom>
          <a:solidFill>
            <a:srgbClr val="1A315F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900">
              <a:latin typeface="Times New Roman"/>
              <a:cs typeface="Times New Roman"/>
            </a:endParaRPr>
          </a:p>
          <a:p>
            <a:pPr marR="447040" algn="ctr">
              <a:lnSpc>
                <a:spcPct val="100000"/>
              </a:lnSpc>
            </a:pP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Subject</a:t>
            </a:r>
            <a:r>
              <a:rPr sz="18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15" dirty="0">
                <a:solidFill>
                  <a:srgbClr val="FFFFFF"/>
                </a:solidFill>
                <a:latin typeface="Times New Roman"/>
                <a:cs typeface="Times New Roman"/>
              </a:rPr>
              <a:t>Teacher:</a:t>
            </a:r>
            <a:r>
              <a:rPr sz="18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Times New Roman"/>
                <a:cs typeface="Times New Roman"/>
              </a:rPr>
              <a:t>Junaid</a:t>
            </a:r>
            <a:r>
              <a:rPr sz="18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Times New Roman"/>
                <a:cs typeface="Times New Roman"/>
              </a:rPr>
              <a:t>Javed</a:t>
            </a:r>
            <a:r>
              <a:rPr sz="18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Times New Roman"/>
                <a:cs typeface="Times New Roman"/>
              </a:rPr>
              <a:t>Korai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45355" y="1870709"/>
            <a:ext cx="371411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0" dirty="0">
                <a:solidFill>
                  <a:srgbClr val="1A315F"/>
                </a:solidFill>
                <a:latin typeface="Gill Sans MT"/>
                <a:cs typeface="Gill Sans MT"/>
              </a:rPr>
              <a:t>NORMALIZ</a:t>
            </a:r>
            <a:r>
              <a:rPr sz="3600" b="0" spc="-370" dirty="0">
                <a:solidFill>
                  <a:srgbClr val="1A315F"/>
                </a:solidFill>
                <a:latin typeface="Gill Sans MT"/>
                <a:cs typeface="Gill Sans MT"/>
              </a:rPr>
              <a:t>A</a:t>
            </a:r>
            <a:r>
              <a:rPr sz="3600" b="0" dirty="0">
                <a:solidFill>
                  <a:srgbClr val="1A315F"/>
                </a:solidFill>
                <a:latin typeface="Gill Sans MT"/>
                <a:cs typeface="Gill Sans MT"/>
              </a:rPr>
              <a:t>TION</a:t>
            </a:r>
            <a:endParaRPr sz="3600">
              <a:latin typeface="Gill Sans MT"/>
              <a:cs typeface="Gill Sans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266423" y="6062436"/>
            <a:ext cx="82550" cy="15811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900" dirty="0">
                <a:solidFill>
                  <a:srgbClr val="2E5AAC"/>
                </a:solidFill>
                <a:latin typeface="Gill Sans MT"/>
                <a:cs typeface="Gill Sans MT"/>
              </a:rPr>
              <a:t>2</a:t>
            </a:r>
            <a:endParaRPr sz="900">
              <a:latin typeface="Gill Sans MT"/>
              <a:cs typeface="Gill Sans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97408" y="3086100"/>
            <a:ext cx="10986770" cy="3305810"/>
          </a:xfrm>
          <a:prstGeom prst="rect">
            <a:avLst/>
          </a:prstGeom>
          <a:solidFill>
            <a:srgbClr val="1A315F"/>
          </a:solidFill>
        </p:spPr>
        <p:txBody>
          <a:bodyPr vert="horz" wrap="square" lIns="0" tIns="157480" rIns="0" bIns="0" rtlCol="0">
            <a:spAutoFit/>
          </a:bodyPr>
          <a:lstStyle/>
          <a:p>
            <a:pPr marR="84455" algn="ctr">
              <a:lnSpc>
                <a:spcPct val="100000"/>
              </a:lnSpc>
              <a:spcBef>
                <a:spcPts val="1240"/>
              </a:spcBef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Lecture</a:t>
            </a:r>
            <a:r>
              <a:rPr sz="20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#7</a:t>
            </a:r>
            <a:r>
              <a:rPr sz="20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5" dirty="0">
                <a:solidFill>
                  <a:srgbClr val="FFFFFF"/>
                </a:solidFill>
                <a:latin typeface="Times New Roman"/>
                <a:cs typeface="Times New Roman"/>
              </a:rPr>
              <a:t>&amp;</a:t>
            </a:r>
            <a:r>
              <a:rPr sz="20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8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2050">
              <a:latin typeface="Times New Roman"/>
              <a:cs typeface="Times New Roman"/>
            </a:endParaRPr>
          </a:p>
          <a:p>
            <a:pPr marL="303530" marR="562610" algn="just">
              <a:lnSpc>
                <a:spcPct val="100000"/>
              </a:lnSpc>
            </a:pPr>
            <a:r>
              <a:rPr sz="1600" b="1" spc="5" dirty="0">
                <a:solidFill>
                  <a:srgbClr val="FFFFCC"/>
                </a:solidFill>
                <a:latin typeface="Gill Sans MT"/>
                <a:cs typeface="Gill Sans MT"/>
              </a:rPr>
              <a:t>Disclaimer: </a:t>
            </a:r>
            <a:r>
              <a:rPr sz="1600" spc="-5" dirty="0">
                <a:solidFill>
                  <a:srgbClr val="FFFFCC"/>
                </a:solidFill>
                <a:latin typeface="Gill Sans MT"/>
                <a:cs typeface="Gill Sans MT"/>
              </a:rPr>
              <a:t>The material used in this presentation </a:t>
            </a:r>
            <a:r>
              <a:rPr sz="1600" dirty="0">
                <a:solidFill>
                  <a:srgbClr val="FFFFCC"/>
                </a:solidFill>
                <a:latin typeface="Gill Sans MT"/>
                <a:cs typeface="Gill Sans MT"/>
              </a:rPr>
              <a:t>to </a:t>
            </a:r>
            <a:r>
              <a:rPr sz="1600" spc="-10" dirty="0">
                <a:solidFill>
                  <a:srgbClr val="FFFFCC"/>
                </a:solidFill>
                <a:latin typeface="Gill Sans MT"/>
                <a:cs typeface="Gill Sans MT"/>
              </a:rPr>
              <a:t>deliver </a:t>
            </a:r>
            <a:r>
              <a:rPr sz="1600" spc="-5" dirty="0">
                <a:solidFill>
                  <a:srgbClr val="FFFFCC"/>
                </a:solidFill>
                <a:latin typeface="Gill Sans MT"/>
                <a:cs typeface="Gill Sans MT"/>
              </a:rPr>
              <a:t>the </a:t>
            </a:r>
            <a:r>
              <a:rPr sz="1600" spc="-10" dirty="0">
                <a:solidFill>
                  <a:srgbClr val="FFFFCC"/>
                </a:solidFill>
                <a:latin typeface="Gill Sans MT"/>
                <a:cs typeface="Gill Sans MT"/>
              </a:rPr>
              <a:t>lecture </a:t>
            </a:r>
            <a:r>
              <a:rPr sz="1600" dirty="0">
                <a:solidFill>
                  <a:srgbClr val="FFFFCC"/>
                </a:solidFill>
                <a:latin typeface="Gill Sans MT"/>
                <a:cs typeface="Gill Sans MT"/>
              </a:rPr>
              <a:t>i.e., </a:t>
            </a:r>
            <a:r>
              <a:rPr sz="1600" spc="-5" dirty="0">
                <a:solidFill>
                  <a:srgbClr val="FFFFCC"/>
                </a:solidFill>
                <a:latin typeface="Gill Sans MT"/>
                <a:cs typeface="Gill Sans MT"/>
              </a:rPr>
              <a:t>definitions/text and pictures/graphs etc. </a:t>
            </a:r>
            <a:r>
              <a:rPr sz="1600" spc="-10" dirty="0">
                <a:solidFill>
                  <a:srgbClr val="FFFFCC"/>
                </a:solidFill>
                <a:latin typeface="Gill Sans MT"/>
                <a:cs typeface="Gill Sans MT"/>
              </a:rPr>
              <a:t>does </a:t>
            </a:r>
            <a:r>
              <a:rPr sz="1600" spc="-430" dirty="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sz="1600" spc="-5" dirty="0">
                <a:solidFill>
                  <a:srgbClr val="FFFFCC"/>
                </a:solidFill>
                <a:latin typeface="Gill Sans MT"/>
                <a:cs typeface="Gill Sans MT"/>
              </a:rPr>
              <a:t>not solely belong </a:t>
            </a:r>
            <a:r>
              <a:rPr sz="1600" dirty="0">
                <a:solidFill>
                  <a:srgbClr val="FFFFCC"/>
                </a:solidFill>
                <a:latin typeface="Gill Sans MT"/>
                <a:cs typeface="Gill Sans MT"/>
              </a:rPr>
              <a:t>to </a:t>
            </a:r>
            <a:r>
              <a:rPr sz="1600" spc="-5" dirty="0">
                <a:solidFill>
                  <a:srgbClr val="FFFFCC"/>
                </a:solidFill>
                <a:latin typeface="Gill Sans MT"/>
                <a:cs typeface="Gill Sans MT"/>
              </a:rPr>
              <a:t>the </a:t>
            </a:r>
            <a:r>
              <a:rPr sz="1600" spc="-15" dirty="0">
                <a:solidFill>
                  <a:srgbClr val="FFFFCC"/>
                </a:solidFill>
                <a:latin typeface="Gill Sans MT"/>
                <a:cs typeface="Gill Sans MT"/>
              </a:rPr>
              <a:t>author/presenter. </a:t>
            </a:r>
            <a:r>
              <a:rPr sz="1600" spc="-10" dirty="0">
                <a:solidFill>
                  <a:srgbClr val="FFFFCC"/>
                </a:solidFill>
                <a:latin typeface="Gill Sans MT"/>
                <a:cs typeface="Gill Sans MT"/>
              </a:rPr>
              <a:t>The presenter </a:t>
            </a:r>
            <a:r>
              <a:rPr sz="1600" spc="-5" dirty="0">
                <a:solidFill>
                  <a:srgbClr val="FFFFCC"/>
                </a:solidFill>
                <a:latin typeface="Gill Sans MT"/>
                <a:cs typeface="Gill Sans MT"/>
              </a:rPr>
              <a:t>has </a:t>
            </a:r>
            <a:r>
              <a:rPr sz="1600" spc="-10" dirty="0">
                <a:solidFill>
                  <a:srgbClr val="FFFFCC"/>
                </a:solidFill>
                <a:latin typeface="Gill Sans MT"/>
                <a:cs typeface="Gill Sans MT"/>
              </a:rPr>
              <a:t>gathered </a:t>
            </a:r>
            <a:r>
              <a:rPr sz="1600" spc="-5" dirty="0">
                <a:solidFill>
                  <a:srgbClr val="FFFFCC"/>
                </a:solidFill>
                <a:latin typeface="Gill Sans MT"/>
                <a:cs typeface="Gill Sans MT"/>
              </a:rPr>
              <a:t>this </a:t>
            </a:r>
            <a:r>
              <a:rPr sz="1600" spc="-15" dirty="0">
                <a:solidFill>
                  <a:srgbClr val="FFFFCC"/>
                </a:solidFill>
                <a:latin typeface="Gill Sans MT"/>
                <a:cs typeface="Gill Sans MT"/>
              </a:rPr>
              <a:t>lecture </a:t>
            </a:r>
            <a:r>
              <a:rPr sz="1600" dirty="0">
                <a:solidFill>
                  <a:srgbClr val="FFFFCC"/>
                </a:solidFill>
                <a:latin typeface="Gill Sans MT"/>
                <a:cs typeface="Gill Sans MT"/>
              </a:rPr>
              <a:t>material </a:t>
            </a:r>
            <a:r>
              <a:rPr sz="1600" spc="-10" dirty="0">
                <a:solidFill>
                  <a:srgbClr val="FFFFCC"/>
                </a:solidFill>
                <a:latin typeface="Gill Sans MT"/>
                <a:cs typeface="Gill Sans MT"/>
              </a:rPr>
              <a:t>from </a:t>
            </a:r>
            <a:r>
              <a:rPr sz="1600" dirty="0">
                <a:solidFill>
                  <a:srgbClr val="FFFFCC"/>
                </a:solidFill>
                <a:latin typeface="Gill Sans MT"/>
                <a:cs typeface="Gill Sans MT"/>
              </a:rPr>
              <a:t>various </a:t>
            </a:r>
            <a:r>
              <a:rPr sz="1600" spc="-10" dirty="0">
                <a:solidFill>
                  <a:srgbClr val="FFFFCC"/>
                </a:solidFill>
                <a:latin typeface="Gill Sans MT"/>
                <a:cs typeface="Gill Sans MT"/>
              </a:rPr>
              <a:t>sources on </a:t>
            </a:r>
            <a:r>
              <a:rPr sz="1600" spc="-5" dirty="0">
                <a:solidFill>
                  <a:srgbClr val="FFFFCC"/>
                </a:solidFill>
                <a:latin typeface="Gill Sans MT"/>
                <a:cs typeface="Gill Sans MT"/>
              </a:rPr>
              <a:t> web/textbooks.</a:t>
            </a:r>
            <a:r>
              <a:rPr sz="1600" spc="-135" dirty="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sz="1600" spc="-15" dirty="0">
                <a:solidFill>
                  <a:srgbClr val="FFFFCC"/>
                </a:solidFill>
                <a:latin typeface="Gill Sans MT"/>
                <a:cs typeface="Gill Sans MT"/>
              </a:rPr>
              <a:t>Following</a:t>
            </a:r>
            <a:r>
              <a:rPr sz="1600" spc="40" dirty="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sz="1600" spc="-10" dirty="0">
                <a:solidFill>
                  <a:srgbClr val="FFFFCC"/>
                </a:solidFill>
                <a:latin typeface="Gill Sans MT"/>
                <a:cs typeface="Gill Sans MT"/>
              </a:rPr>
              <a:t>sources</a:t>
            </a:r>
            <a:r>
              <a:rPr sz="1600" spc="10" dirty="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sz="1600" spc="-15" dirty="0">
                <a:solidFill>
                  <a:srgbClr val="FFFFCC"/>
                </a:solidFill>
                <a:latin typeface="Gill Sans MT"/>
                <a:cs typeface="Gill Sans MT"/>
              </a:rPr>
              <a:t>are</a:t>
            </a:r>
            <a:r>
              <a:rPr sz="1600" spc="10" dirty="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sz="1600" spc="-5" dirty="0">
                <a:solidFill>
                  <a:srgbClr val="FFFFCC"/>
                </a:solidFill>
                <a:latin typeface="Gill Sans MT"/>
                <a:cs typeface="Gill Sans MT"/>
              </a:rPr>
              <a:t>especially acknowledged:</a:t>
            </a:r>
            <a:endParaRPr sz="1600">
              <a:latin typeface="Gill Sans MT"/>
              <a:cs typeface="Gill Sans MT"/>
            </a:endParaRPr>
          </a:p>
          <a:p>
            <a:pPr marL="647065" marR="563880" indent="-343535">
              <a:lnSpc>
                <a:spcPct val="100000"/>
              </a:lnSpc>
              <a:spcBef>
                <a:spcPts val="1210"/>
              </a:spcBef>
              <a:buAutoNum type="arabicPeriod"/>
              <a:tabLst>
                <a:tab pos="646430" algn="l"/>
                <a:tab pos="647700" algn="l"/>
              </a:tabLst>
            </a:pPr>
            <a:r>
              <a:rPr sz="1400" spc="-15" dirty="0">
                <a:solidFill>
                  <a:srgbClr val="FFFFCC"/>
                </a:solidFill>
                <a:latin typeface="Gill Sans MT"/>
                <a:cs typeface="Gill Sans MT"/>
              </a:rPr>
              <a:t>Connolly, </a:t>
            </a:r>
            <a:r>
              <a:rPr sz="1400" spc="-5" dirty="0">
                <a:solidFill>
                  <a:srgbClr val="FFFFCC"/>
                </a:solidFill>
                <a:latin typeface="Gill Sans MT"/>
                <a:cs typeface="Gill Sans MT"/>
              </a:rPr>
              <a:t>Thomas M., </a:t>
            </a:r>
            <a:r>
              <a:rPr sz="1400" dirty="0">
                <a:solidFill>
                  <a:srgbClr val="FFFFCC"/>
                </a:solidFill>
                <a:latin typeface="Gill Sans MT"/>
                <a:cs typeface="Gill Sans MT"/>
              </a:rPr>
              <a:t>and </a:t>
            </a:r>
            <a:r>
              <a:rPr sz="1400" spc="-10" dirty="0">
                <a:solidFill>
                  <a:srgbClr val="FFFFCC"/>
                </a:solidFill>
                <a:latin typeface="Gill Sans MT"/>
                <a:cs typeface="Gill Sans MT"/>
              </a:rPr>
              <a:t>Carolyn</a:t>
            </a:r>
            <a:r>
              <a:rPr sz="1400" spc="-5" dirty="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sz="1400" dirty="0">
                <a:solidFill>
                  <a:srgbClr val="FFFFCC"/>
                </a:solidFill>
                <a:latin typeface="Gill Sans MT"/>
                <a:cs typeface="Gill Sans MT"/>
              </a:rPr>
              <a:t>E. </a:t>
            </a:r>
            <a:r>
              <a:rPr sz="1400" spc="-5" dirty="0">
                <a:solidFill>
                  <a:srgbClr val="FFFFCC"/>
                </a:solidFill>
                <a:latin typeface="Gill Sans MT"/>
                <a:cs typeface="Gill Sans MT"/>
              </a:rPr>
              <a:t>Begg. </a:t>
            </a:r>
            <a:r>
              <a:rPr sz="1400" i="1" dirty="0">
                <a:solidFill>
                  <a:srgbClr val="FFFFCC"/>
                </a:solidFill>
                <a:latin typeface="Gill Sans MT"/>
                <a:cs typeface="Gill Sans MT"/>
              </a:rPr>
              <a:t>Database </a:t>
            </a:r>
            <a:r>
              <a:rPr sz="1400" i="1" spc="-5" dirty="0">
                <a:solidFill>
                  <a:srgbClr val="FFFFCC"/>
                </a:solidFill>
                <a:latin typeface="Gill Sans MT"/>
                <a:cs typeface="Gill Sans MT"/>
              </a:rPr>
              <a:t>systems: </a:t>
            </a:r>
            <a:r>
              <a:rPr sz="1400" i="1" dirty="0">
                <a:solidFill>
                  <a:srgbClr val="FFFFCC"/>
                </a:solidFill>
                <a:latin typeface="Gill Sans MT"/>
                <a:cs typeface="Gill Sans MT"/>
              </a:rPr>
              <a:t>a</a:t>
            </a:r>
            <a:r>
              <a:rPr sz="1400" i="1" spc="5" dirty="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sz="1400" i="1" spc="-5" dirty="0">
                <a:solidFill>
                  <a:srgbClr val="FFFFCC"/>
                </a:solidFill>
                <a:latin typeface="Gill Sans MT"/>
                <a:cs typeface="Gill Sans MT"/>
              </a:rPr>
              <a:t>practical</a:t>
            </a:r>
            <a:r>
              <a:rPr sz="1400" i="1" dirty="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sz="1400" i="1" spc="-5" dirty="0">
                <a:solidFill>
                  <a:srgbClr val="FFFFCC"/>
                </a:solidFill>
                <a:latin typeface="Gill Sans MT"/>
                <a:cs typeface="Gill Sans MT"/>
              </a:rPr>
              <a:t>approach</a:t>
            </a:r>
            <a:r>
              <a:rPr sz="1400" i="1" dirty="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sz="1400" i="1" spc="-10" dirty="0">
                <a:solidFill>
                  <a:srgbClr val="FFFFCC"/>
                </a:solidFill>
                <a:latin typeface="Gill Sans MT"/>
                <a:cs typeface="Gill Sans MT"/>
              </a:rPr>
              <a:t>to</a:t>
            </a:r>
            <a:r>
              <a:rPr sz="1400" i="1" spc="-5" dirty="0">
                <a:solidFill>
                  <a:srgbClr val="FFFFCC"/>
                </a:solidFill>
                <a:latin typeface="Gill Sans MT"/>
                <a:cs typeface="Gill Sans MT"/>
              </a:rPr>
              <a:t> design, implementation, </a:t>
            </a:r>
            <a:r>
              <a:rPr sz="1400" i="1" dirty="0">
                <a:solidFill>
                  <a:srgbClr val="FFFFCC"/>
                </a:solidFill>
                <a:latin typeface="Gill Sans MT"/>
                <a:cs typeface="Gill Sans MT"/>
              </a:rPr>
              <a:t>and</a:t>
            </a:r>
            <a:r>
              <a:rPr sz="1400" i="1" spc="5" dirty="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sz="1400" i="1" spc="-5" dirty="0">
                <a:solidFill>
                  <a:srgbClr val="FFFFCC"/>
                </a:solidFill>
                <a:latin typeface="Gill Sans MT"/>
                <a:cs typeface="Gill Sans MT"/>
              </a:rPr>
              <a:t>management</a:t>
            </a:r>
            <a:r>
              <a:rPr sz="1400" spc="-5" dirty="0">
                <a:solidFill>
                  <a:srgbClr val="FFFFCC"/>
                </a:solidFill>
                <a:latin typeface="Gill Sans MT"/>
                <a:cs typeface="Gill Sans MT"/>
              </a:rPr>
              <a:t>. </a:t>
            </a:r>
            <a:r>
              <a:rPr sz="1400" spc="-10" dirty="0">
                <a:solidFill>
                  <a:srgbClr val="FFFFCC"/>
                </a:solidFill>
                <a:latin typeface="Gill Sans MT"/>
                <a:cs typeface="Gill Sans MT"/>
              </a:rPr>
              <a:t>Pearson </a:t>
            </a:r>
            <a:r>
              <a:rPr sz="1400" spc="-375" dirty="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sz="1400" dirty="0">
                <a:solidFill>
                  <a:srgbClr val="FFFFCC"/>
                </a:solidFill>
                <a:latin typeface="Gill Sans MT"/>
                <a:cs typeface="Gill Sans MT"/>
              </a:rPr>
              <a:t>Education,</a:t>
            </a:r>
            <a:r>
              <a:rPr sz="1400" spc="-180" dirty="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sz="1400" spc="5" dirty="0">
                <a:solidFill>
                  <a:srgbClr val="FFFFCC"/>
                </a:solidFill>
                <a:latin typeface="Gill Sans MT"/>
                <a:cs typeface="Gill Sans MT"/>
              </a:rPr>
              <a:t>2005.</a:t>
            </a:r>
            <a:endParaRPr sz="1400">
              <a:latin typeface="Gill Sans MT"/>
              <a:cs typeface="Gill Sans MT"/>
            </a:endParaRPr>
          </a:p>
          <a:p>
            <a:pPr marL="647065" indent="-344170">
              <a:lnSpc>
                <a:spcPct val="100000"/>
              </a:lnSpc>
              <a:spcBef>
                <a:spcPts val="1200"/>
              </a:spcBef>
              <a:buAutoNum type="arabicPeriod"/>
              <a:tabLst>
                <a:tab pos="646430" algn="l"/>
                <a:tab pos="647700" algn="l"/>
              </a:tabLst>
            </a:pPr>
            <a:r>
              <a:rPr sz="1400" dirty="0">
                <a:solidFill>
                  <a:srgbClr val="FFFFCC"/>
                </a:solidFill>
                <a:latin typeface="Gill Sans MT"/>
                <a:cs typeface="Gill Sans MT"/>
              </a:rPr>
              <a:t>2.</a:t>
            </a:r>
            <a:r>
              <a:rPr sz="1400" spc="-135" dirty="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sz="1400" spc="-25" dirty="0">
                <a:solidFill>
                  <a:srgbClr val="FFFFCC"/>
                </a:solidFill>
                <a:latin typeface="Gill Sans MT"/>
                <a:cs typeface="Gill Sans MT"/>
              </a:rPr>
              <a:t>Hoffer,</a:t>
            </a:r>
            <a:r>
              <a:rPr sz="1400" spc="-125" dirty="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sz="1400" spc="-15" dirty="0">
                <a:solidFill>
                  <a:srgbClr val="FFFFCC"/>
                </a:solidFill>
                <a:latin typeface="Gill Sans MT"/>
                <a:cs typeface="Gill Sans MT"/>
              </a:rPr>
              <a:t>Jeffrey</a:t>
            </a:r>
            <a:r>
              <a:rPr sz="1400" spc="-135" dirty="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sz="1400" spc="-10" dirty="0">
                <a:solidFill>
                  <a:srgbClr val="FFFFCC"/>
                </a:solidFill>
                <a:latin typeface="Gill Sans MT"/>
                <a:cs typeface="Gill Sans MT"/>
              </a:rPr>
              <a:t>A.,Venkataraman</a:t>
            </a:r>
            <a:r>
              <a:rPr sz="1400" spc="-5" dirty="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sz="1400" dirty="0">
                <a:solidFill>
                  <a:srgbClr val="FFFFCC"/>
                </a:solidFill>
                <a:latin typeface="Gill Sans MT"/>
                <a:cs typeface="Gill Sans MT"/>
              </a:rPr>
              <a:t>Ramesh,</a:t>
            </a:r>
            <a:r>
              <a:rPr sz="1400" spc="-130" dirty="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sz="1400" dirty="0">
                <a:solidFill>
                  <a:srgbClr val="FFFFCC"/>
                </a:solidFill>
                <a:latin typeface="Gill Sans MT"/>
                <a:cs typeface="Gill Sans MT"/>
              </a:rPr>
              <a:t>and</a:t>
            </a:r>
            <a:r>
              <a:rPr sz="1400" spc="5" dirty="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sz="1400" dirty="0">
                <a:solidFill>
                  <a:srgbClr val="FFFFCC"/>
                </a:solidFill>
                <a:latin typeface="Gill Sans MT"/>
                <a:cs typeface="Gill Sans MT"/>
              </a:rPr>
              <a:t>Heikki</a:t>
            </a:r>
            <a:r>
              <a:rPr sz="1400" spc="-150" dirty="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sz="1400" spc="-40" dirty="0">
                <a:solidFill>
                  <a:srgbClr val="FFFFCC"/>
                </a:solidFill>
                <a:latin typeface="Gill Sans MT"/>
                <a:cs typeface="Gill Sans MT"/>
              </a:rPr>
              <a:t>Topi.</a:t>
            </a:r>
            <a:r>
              <a:rPr sz="1400" spc="-150" dirty="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sz="1400" i="1" spc="-5" dirty="0">
                <a:solidFill>
                  <a:srgbClr val="FFFFCC"/>
                </a:solidFill>
                <a:latin typeface="Gill Sans MT"/>
                <a:cs typeface="Gill Sans MT"/>
              </a:rPr>
              <a:t>Modern</a:t>
            </a:r>
            <a:r>
              <a:rPr sz="1400" i="1" spc="15" dirty="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sz="1400" i="1" spc="-5" dirty="0">
                <a:solidFill>
                  <a:srgbClr val="FFFFCC"/>
                </a:solidFill>
                <a:latin typeface="Gill Sans MT"/>
                <a:cs typeface="Gill Sans MT"/>
              </a:rPr>
              <a:t>database</a:t>
            </a:r>
            <a:r>
              <a:rPr sz="1400" i="1" spc="25" dirty="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sz="1400" i="1" spc="-5" dirty="0">
                <a:solidFill>
                  <a:srgbClr val="FFFFCC"/>
                </a:solidFill>
                <a:latin typeface="Gill Sans MT"/>
                <a:cs typeface="Gill Sans MT"/>
              </a:rPr>
              <a:t>management</a:t>
            </a:r>
            <a:r>
              <a:rPr sz="1400" spc="-5" dirty="0">
                <a:solidFill>
                  <a:srgbClr val="FFFFCC"/>
                </a:solidFill>
                <a:latin typeface="Gill Sans MT"/>
                <a:cs typeface="Gill Sans MT"/>
              </a:rPr>
              <a:t>.</a:t>
            </a:r>
            <a:r>
              <a:rPr sz="1400" spc="-135" dirty="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sz="1400" dirty="0">
                <a:solidFill>
                  <a:srgbClr val="FFFFCC"/>
                </a:solidFill>
                <a:latin typeface="Gill Sans MT"/>
                <a:cs typeface="Gill Sans MT"/>
              </a:rPr>
              <a:t>Upper</a:t>
            </a:r>
            <a:r>
              <a:rPr sz="1400" spc="-20" dirty="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sz="1400" dirty="0">
                <a:solidFill>
                  <a:srgbClr val="FFFFCC"/>
                </a:solidFill>
                <a:latin typeface="Gill Sans MT"/>
                <a:cs typeface="Gill Sans MT"/>
              </a:rPr>
              <a:t>Saddle</a:t>
            </a:r>
            <a:r>
              <a:rPr sz="1400" spc="-10" dirty="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sz="1400" spc="-30" dirty="0">
                <a:solidFill>
                  <a:srgbClr val="FFFFCC"/>
                </a:solidFill>
                <a:latin typeface="Gill Sans MT"/>
                <a:cs typeface="Gill Sans MT"/>
              </a:rPr>
              <a:t>River,</a:t>
            </a:r>
            <a:r>
              <a:rPr sz="1400" spc="-135" dirty="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sz="1400" spc="-5" dirty="0">
                <a:solidFill>
                  <a:srgbClr val="FFFFCC"/>
                </a:solidFill>
                <a:latin typeface="Gill Sans MT"/>
                <a:cs typeface="Gill Sans MT"/>
              </a:rPr>
              <a:t>NJ:</a:t>
            </a:r>
            <a:r>
              <a:rPr sz="1400" spc="-125" dirty="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sz="1400" spc="-5" dirty="0">
                <a:solidFill>
                  <a:srgbClr val="FFFFCC"/>
                </a:solidFill>
                <a:latin typeface="Gill Sans MT"/>
                <a:cs typeface="Gill Sans MT"/>
              </a:rPr>
              <a:t>Prentice</a:t>
            </a:r>
            <a:r>
              <a:rPr sz="1400" dirty="0">
                <a:solidFill>
                  <a:srgbClr val="FFFFCC"/>
                </a:solidFill>
                <a:latin typeface="Gill Sans MT"/>
                <a:cs typeface="Gill Sans MT"/>
              </a:rPr>
              <a:t> Hall,,</a:t>
            </a:r>
            <a:r>
              <a:rPr sz="1400" spc="-120" dirty="0">
                <a:solidFill>
                  <a:srgbClr val="FFFFCC"/>
                </a:solidFill>
                <a:latin typeface="Gill Sans MT"/>
                <a:cs typeface="Gill Sans MT"/>
              </a:rPr>
              <a:t> </a:t>
            </a:r>
            <a:r>
              <a:rPr sz="1400" spc="5" dirty="0">
                <a:solidFill>
                  <a:srgbClr val="FFFFCC"/>
                </a:solidFill>
                <a:latin typeface="Gill Sans MT"/>
                <a:cs typeface="Gill Sans MT"/>
              </a:rPr>
              <a:t>2011.</a:t>
            </a:r>
            <a:endParaRPr sz="1400">
              <a:latin typeface="Gill Sans MT"/>
              <a:cs typeface="Gill Sans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97408" y="600455"/>
            <a:ext cx="10985500" cy="1259205"/>
          </a:xfrm>
          <a:prstGeom prst="rect">
            <a:avLst/>
          </a:prstGeom>
          <a:solidFill>
            <a:srgbClr val="1A315F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300">
              <a:latin typeface="Times New Roman"/>
              <a:cs typeface="Times New Roman"/>
            </a:endParaRPr>
          </a:p>
          <a:p>
            <a:pPr marL="268605">
              <a:lnSpc>
                <a:spcPct val="100000"/>
              </a:lnSpc>
            </a:pPr>
            <a:r>
              <a:rPr sz="2400" dirty="0">
                <a:latin typeface="Gill Sans MT"/>
                <a:cs typeface="Gill Sans MT"/>
              </a:rPr>
              <a:t>IN</a:t>
            </a:r>
            <a:r>
              <a:rPr sz="2400" spc="-365" dirty="0">
                <a:latin typeface="Gill Sans MT"/>
                <a:cs typeface="Gill Sans MT"/>
              </a:rPr>
              <a:t> </a:t>
            </a:r>
            <a:r>
              <a:rPr sz="2400" spc="-5" dirty="0">
                <a:latin typeface="Gill Sans MT"/>
                <a:cs typeface="Gill Sans MT"/>
              </a:rPr>
              <a:t>TH</a:t>
            </a:r>
            <a:r>
              <a:rPr sz="2400" dirty="0">
                <a:latin typeface="Gill Sans MT"/>
                <a:cs typeface="Gill Sans MT"/>
              </a:rPr>
              <a:t>IS</a:t>
            </a:r>
            <a:r>
              <a:rPr sz="2400" spc="-20" dirty="0">
                <a:latin typeface="Gill Sans MT"/>
                <a:cs typeface="Gill Sans MT"/>
              </a:rPr>
              <a:t> </a:t>
            </a:r>
            <a:r>
              <a:rPr sz="2400" spc="-5" dirty="0">
                <a:latin typeface="Gill Sans MT"/>
                <a:cs typeface="Gill Sans MT"/>
              </a:rPr>
              <a:t>LE</a:t>
            </a:r>
            <a:r>
              <a:rPr sz="2400" spc="-10" dirty="0">
                <a:latin typeface="Gill Sans MT"/>
                <a:cs typeface="Gill Sans MT"/>
              </a:rPr>
              <a:t>C</a:t>
            </a:r>
            <a:r>
              <a:rPr sz="2400" spc="-5" dirty="0">
                <a:latin typeface="Gill Sans MT"/>
                <a:cs typeface="Gill Sans MT"/>
              </a:rPr>
              <a:t>TUR</a:t>
            </a:r>
            <a:r>
              <a:rPr sz="2400" dirty="0">
                <a:latin typeface="Gill Sans MT"/>
                <a:cs typeface="Gill Sans MT"/>
              </a:rPr>
              <a:t>E</a:t>
            </a:r>
            <a:r>
              <a:rPr sz="2400" spc="-434" dirty="0">
                <a:latin typeface="Gill Sans MT"/>
                <a:cs typeface="Gill Sans MT"/>
              </a:rPr>
              <a:t> </a:t>
            </a:r>
            <a:r>
              <a:rPr sz="2400" spc="-190" dirty="0">
                <a:latin typeface="Gill Sans MT"/>
                <a:cs typeface="Gill Sans MT"/>
              </a:rPr>
              <a:t>Y</a:t>
            </a:r>
            <a:r>
              <a:rPr sz="2400" dirty="0">
                <a:latin typeface="Gill Sans MT"/>
                <a:cs typeface="Gill Sans MT"/>
              </a:rPr>
              <a:t>OU</a:t>
            </a:r>
            <a:r>
              <a:rPr sz="2400" spc="-320" dirty="0">
                <a:latin typeface="Gill Sans MT"/>
                <a:cs typeface="Gill Sans MT"/>
              </a:rPr>
              <a:t> </a:t>
            </a:r>
            <a:r>
              <a:rPr sz="2400" spc="-10" dirty="0">
                <a:latin typeface="Gill Sans MT"/>
                <a:cs typeface="Gill Sans MT"/>
              </a:rPr>
              <a:t>W</a:t>
            </a:r>
            <a:r>
              <a:rPr sz="2400" dirty="0">
                <a:latin typeface="Gill Sans MT"/>
                <a:cs typeface="Gill Sans MT"/>
              </a:rPr>
              <a:t>ILL </a:t>
            </a:r>
            <a:r>
              <a:rPr sz="2400" spc="-5" dirty="0">
                <a:latin typeface="Gill Sans MT"/>
                <a:cs typeface="Gill Sans MT"/>
              </a:rPr>
              <a:t>LEA</a:t>
            </a:r>
            <a:r>
              <a:rPr sz="2400" spc="-15" dirty="0">
                <a:latin typeface="Gill Sans MT"/>
                <a:cs typeface="Gill Sans MT"/>
              </a:rPr>
              <a:t>R</a:t>
            </a:r>
            <a:r>
              <a:rPr sz="2400" dirty="0">
                <a:latin typeface="Gill Sans MT"/>
                <a:cs typeface="Gill Sans MT"/>
              </a:rPr>
              <a:t>N</a:t>
            </a:r>
            <a:r>
              <a:rPr sz="2400" spc="-250" dirty="0">
                <a:latin typeface="Gill Sans MT"/>
                <a:cs typeface="Gill Sans MT"/>
              </a:rPr>
              <a:t> </a:t>
            </a:r>
            <a:r>
              <a:rPr sz="2400" dirty="0">
                <a:latin typeface="Gill Sans MT"/>
                <a:cs typeface="Gill Sans MT"/>
              </a:rPr>
              <a:t>ABOU</a:t>
            </a:r>
            <a:r>
              <a:rPr sz="2400" spc="-75" dirty="0">
                <a:latin typeface="Gill Sans MT"/>
                <a:cs typeface="Gill Sans MT"/>
              </a:rPr>
              <a:t>T</a:t>
            </a:r>
            <a:r>
              <a:rPr sz="2400" dirty="0">
                <a:latin typeface="Gill Sans MT"/>
                <a:cs typeface="Gill Sans MT"/>
              </a:rPr>
              <a:t>:</a:t>
            </a:r>
            <a:endParaRPr sz="2400">
              <a:latin typeface="Gill Sans MT"/>
              <a:cs typeface="Gill Sans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19962" y="3300476"/>
            <a:ext cx="3314065" cy="13677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16865" indent="-304800">
              <a:lnSpc>
                <a:spcPct val="100000"/>
              </a:lnSpc>
              <a:spcBef>
                <a:spcPts val="105"/>
              </a:spcBef>
              <a:buClr>
                <a:srgbClr val="45CAE8"/>
              </a:buClr>
              <a:buSzPct val="90000"/>
              <a:buFont typeface="Wingdings 2"/>
              <a:buChar char=""/>
              <a:tabLst>
                <a:tab pos="316865" algn="l"/>
                <a:tab pos="317500" algn="l"/>
              </a:tabLst>
            </a:pPr>
            <a:r>
              <a:rPr sz="2000" b="1" dirty="0">
                <a:solidFill>
                  <a:srgbClr val="0D0D0D"/>
                </a:solidFill>
                <a:latin typeface="Gill Sans MT"/>
                <a:cs typeface="Gill Sans MT"/>
              </a:rPr>
              <a:t>What</a:t>
            </a:r>
            <a:r>
              <a:rPr sz="2000" b="1" spc="-25" dirty="0">
                <a:solidFill>
                  <a:srgbClr val="0D0D0D"/>
                </a:solidFill>
                <a:latin typeface="Gill Sans MT"/>
                <a:cs typeface="Gill Sans MT"/>
              </a:rPr>
              <a:t> </a:t>
            </a:r>
            <a:r>
              <a:rPr sz="2000" b="1" spc="-5" dirty="0">
                <a:solidFill>
                  <a:srgbClr val="0D0D0D"/>
                </a:solidFill>
                <a:latin typeface="Gill Sans MT"/>
                <a:cs typeface="Gill Sans MT"/>
              </a:rPr>
              <a:t>is</a:t>
            </a:r>
            <a:r>
              <a:rPr sz="2000" b="1" spc="-25" dirty="0">
                <a:solidFill>
                  <a:srgbClr val="0D0D0D"/>
                </a:solidFill>
                <a:latin typeface="Gill Sans MT"/>
                <a:cs typeface="Gill Sans MT"/>
              </a:rPr>
              <a:t> </a:t>
            </a:r>
            <a:r>
              <a:rPr sz="2000" b="1" spc="-5" dirty="0">
                <a:solidFill>
                  <a:srgbClr val="0D0D0D"/>
                </a:solidFill>
                <a:latin typeface="Gill Sans MT"/>
                <a:cs typeface="Gill Sans MT"/>
              </a:rPr>
              <a:t>Normalization</a:t>
            </a:r>
            <a:endParaRPr sz="2000">
              <a:latin typeface="Gill Sans MT"/>
              <a:cs typeface="Gill Sans MT"/>
            </a:endParaRPr>
          </a:p>
          <a:p>
            <a:pPr marL="316865" indent="-304800">
              <a:lnSpc>
                <a:spcPct val="100000"/>
              </a:lnSpc>
              <a:spcBef>
                <a:spcPts val="1675"/>
              </a:spcBef>
              <a:buClr>
                <a:srgbClr val="45CAE8"/>
              </a:buClr>
              <a:buSzPct val="90000"/>
              <a:buFont typeface="Wingdings 2"/>
              <a:buChar char=""/>
              <a:tabLst>
                <a:tab pos="316865" algn="l"/>
                <a:tab pos="317500" algn="l"/>
              </a:tabLst>
            </a:pPr>
            <a:r>
              <a:rPr sz="2000" b="1" spc="5" dirty="0">
                <a:solidFill>
                  <a:srgbClr val="0D0D0D"/>
                </a:solidFill>
                <a:latin typeface="Gill Sans MT"/>
                <a:cs typeface="Gill Sans MT"/>
              </a:rPr>
              <a:t>W</a:t>
            </a:r>
            <a:r>
              <a:rPr sz="2000" b="1" spc="-80" dirty="0">
                <a:solidFill>
                  <a:srgbClr val="0D0D0D"/>
                </a:solidFill>
                <a:latin typeface="Gill Sans MT"/>
                <a:cs typeface="Gill Sans MT"/>
              </a:rPr>
              <a:t>h</a:t>
            </a:r>
            <a:r>
              <a:rPr sz="2000" b="1" dirty="0">
                <a:solidFill>
                  <a:srgbClr val="0D0D0D"/>
                </a:solidFill>
                <a:latin typeface="Gill Sans MT"/>
                <a:cs typeface="Gill Sans MT"/>
              </a:rPr>
              <a:t>y</a:t>
            </a:r>
            <a:r>
              <a:rPr sz="2000" b="1" spc="-10" dirty="0">
                <a:solidFill>
                  <a:srgbClr val="0D0D0D"/>
                </a:solidFill>
                <a:latin typeface="Gill Sans MT"/>
                <a:cs typeface="Gill Sans MT"/>
              </a:rPr>
              <a:t> </a:t>
            </a:r>
            <a:r>
              <a:rPr sz="2000" b="1" dirty="0">
                <a:solidFill>
                  <a:srgbClr val="0D0D0D"/>
                </a:solidFill>
                <a:latin typeface="Gill Sans MT"/>
                <a:cs typeface="Gill Sans MT"/>
              </a:rPr>
              <a:t>to</a:t>
            </a:r>
            <a:r>
              <a:rPr sz="2000" b="1" spc="-10" dirty="0">
                <a:solidFill>
                  <a:srgbClr val="0D0D0D"/>
                </a:solidFill>
                <a:latin typeface="Gill Sans MT"/>
                <a:cs typeface="Gill Sans MT"/>
              </a:rPr>
              <a:t> </a:t>
            </a:r>
            <a:r>
              <a:rPr sz="2000" b="1" spc="-5" dirty="0">
                <a:solidFill>
                  <a:srgbClr val="0D0D0D"/>
                </a:solidFill>
                <a:latin typeface="Gill Sans MT"/>
                <a:cs typeface="Gill Sans MT"/>
              </a:rPr>
              <a:t>Normal</a:t>
            </a:r>
            <a:r>
              <a:rPr sz="2000" b="1" spc="-10" dirty="0">
                <a:solidFill>
                  <a:srgbClr val="0D0D0D"/>
                </a:solidFill>
                <a:latin typeface="Gill Sans MT"/>
                <a:cs typeface="Gill Sans MT"/>
              </a:rPr>
              <a:t>i</a:t>
            </a:r>
            <a:r>
              <a:rPr sz="2000" b="1" spc="-40" dirty="0">
                <a:solidFill>
                  <a:srgbClr val="0D0D0D"/>
                </a:solidFill>
                <a:latin typeface="Gill Sans MT"/>
                <a:cs typeface="Gill Sans MT"/>
              </a:rPr>
              <a:t>z</a:t>
            </a:r>
            <a:r>
              <a:rPr sz="2000" b="1" dirty="0">
                <a:solidFill>
                  <a:srgbClr val="0D0D0D"/>
                </a:solidFill>
                <a:latin typeface="Gill Sans MT"/>
                <a:cs typeface="Gill Sans MT"/>
              </a:rPr>
              <a:t>e</a:t>
            </a:r>
            <a:r>
              <a:rPr sz="2000" b="1" spc="-355" dirty="0">
                <a:solidFill>
                  <a:srgbClr val="0D0D0D"/>
                </a:solidFill>
                <a:latin typeface="Gill Sans MT"/>
                <a:cs typeface="Gill Sans MT"/>
              </a:rPr>
              <a:t> </a:t>
            </a:r>
            <a:r>
              <a:rPr sz="2000" b="1" spc="-280" dirty="0">
                <a:solidFill>
                  <a:srgbClr val="0D0D0D"/>
                </a:solidFill>
                <a:latin typeface="Gill Sans MT"/>
                <a:cs typeface="Gill Sans MT"/>
              </a:rPr>
              <a:t>T</a:t>
            </a:r>
            <a:r>
              <a:rPr sz="2000" b="1" dirty="0">
                <a:solidFill>
                  <a:srgbClr val="0D0D0D"/>
                </a:solidFill>
                <a:latin typeface="Gill Sans MT"/>
                <a:cs typeface="Gill Sans MT"/>
              </a:rPr>
              <a:t>a</a:t>
            </a:r>
            <a:r>
              <a:rPr sz="2000" b="1" spc="-30" dirty="0">
                <a:solidFill>
                  <a:srgbClr val="0D0D0D"/>
                </a:solidFill>
                <a:latin typeface="Gill Sans MT"/>
                <a:cs typeface="Gill Sans MT"/>
              </a:rPr>
              <a:t>b</a:t>
            </a:r>
            <a:r>
              <a:rPr sz="2000" b="1" dirty="0">
                <a:solidFill>
                  <a:srgbClr val="0D0D0D"/>
                </a:solidFill>
                <a:latin typeface="Gill Sans MT"/>
                <a:cs typeface="Gill Sans MT"/>
              </a:rPr>
              <a:t>l</a:t>
            </a:r>
            <a:r>
              <a:rPr sz="2000" b="1" spc="-10" dirty="0">
                <a:solidFill>
                  <a:srgbClr val="0D0D0D"/>
                </a:solidFill>
                <a:latin typeface="Gill Sans MT"/>
                <a:cs typeface="Gill Sans MT"/>
              </a:rPr>
              <a:t>e</a:t>
            </a:r>
            <a:r>
              <a:rPr sz="2000" b="1" dirty="0">
                <a:solidFill>
                  <a:srgbClr val="0D0D0D"/>
                </a:solidFill>
                <a:latin typeface="Gill Sans MT"/>
                <a:cs typeface="Gill Sans MT"/>
              </a:rPr>
              <a:t>?</a:t>
            </a:r>
            <a:endParaRPr sz="2000">
              <a:latin typeface="Gill Sans MT"/>
              <a:cs typeface="Gill Sans MT"/>
            </a:endParaRPr>
          </a:p>
          <a:p>
            <a:pPr marL="316865" indent="-304800">
              <a:lnSpc>
                <a:spcPct val="100000"/>
              </a:lnSpc>
              <a:spcBef>
                <a:spcPts val="1685"/>
              </a:spcBef>
              <a:buClr>
                <a:srgbClr val="45CAE8"/>
              </a:buClr>
              <a:buSzPct val="90000"/>
              <a:buFont typeface="Wingdings 2"/>
              <a:buChar char=""/>
              <a:tabLst>
                <a:tab pos="316865" algn="l"/>
                <a:tab pos="317500" algn="l"/>
              </a:tabLst>
            </a:pPr>
            <a:r>
              <a:rPr sz="2000" b="1" spc="-15" dirty="0">
                <a:solidFill>
                  <a:srgbClr val="0D0D0D"/>
                </a:solidFill>
                <a:latin typeface="Gill Sans MT"/>
                <a:cs typeface="Gill Sans MT"/>
              </a:rPr>
              <a:t>Forms</a:t>
            </a:r>
            <a:r>
              <a:rPr sz="2000" b="1" spc="-45" dirty="0">
                <a:solidFill>
                  <a:srgbClr val="0D0D0D"/>
                </a:solidFill>
                <a:latin typeface="Gill Sans MT"/>
                <a:cs typeface="Gill Sans MT"/>
              </a:rPr>
              <a:t> </a:t>
            </a:r>
            <a:r>
              <a:rPr sz="2000" b="1" spc="-5" dirty="0">
                <a:solidFill>
                  <a:srgbClr val="0D0D0D"/>
                </a:solidFill>
                <a:latin typeface="Gill Sans MT"/>
                <a:cs typeface="Gill Sans MT"/>
              </a:rPr>
              <a:t>of</a:t>
            </a:r>
            <a:r>
              <a:rPr sz="2000" b="1" spc="-35" dirty="0">
                <a:solidFill>
                  <a:srgbClr val="0D0D0D"/>
                </a:solidFill>
                <a:latin typeface="Gill Sans MT"/>
                <a:cs typeface="Gill Sans MT"/>
              </a:rPr>
              <a:t> </a:t>
            </a:r>
            <a:r>
              <a:rPr sz="2000" b="1" dirty="0">
                <a:solidFill>
                  <a:srgbClr val="0D0D0D"/>
                </a:solidFill>
                <a:latin typeface="Gill Sans MT"/>
                <a:cs typeface="Gill Sans MT"/>
              </a:rPr>
              <a:t>Normalization</a:t>
            </a:r>
            <a:endParaRPr sz="2000">
              <a:latin typeface="Gill Sans MT"/>
              <a:cs typeface="Gill Sans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97408" y="600455"/>
            <a:ext cx="10985500" cy="1259205"/>
          </a:xfrm>
          <a:custGeom>
            <a:avLst/>
            <a:gdLst/>
            <a:ahLst/>
            <a:cxnLst/>
            <a:rect l="l" t="t" r="r" b="b"/>
            <a:pathLst>
              <a:path w="10985500" h="1259205">
                <a:moveTo>
                  <a:pt x="10984992" y="0"/>
                </a:moveTo>
                <a:lnTo>
                  <a:pt x="0" y="0"/>
                </a:lnTo>
                <a:lnTo>
                  <a:pt x="0" y="1258824"/>
                </a:lnTo>
                <a:lnTo>
                  <a:pt x="10984992" y="1258824"/>
                </a:lnTo>
                <a:lnTo>
                  <a:pt x="10984992" y="0"/>
                </a:lnTo>
                <a:close/>
              </a:path>
            </a:pathLst>
          </a:custGeom>
          <a:solidFill>
            <a:srgbClr val="1A315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95538" y="6507281"/>
            <a:ext cx="104454" cy="14145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8483345" y="6444488"/>
            <a:ext cx="12509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latin typeface="Arial"/>
                <a:cs typeface="Arial"/>
              </a:rPr>
              <a:t>4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44651" y="1182624"/>
            <a:ext cx="4293870" cy="787146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597408" y="1271092"/>
            <a:ext cx="109855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68605">
              <a:lnSpc>
                <a:spcPct val="100000"/>
              </a:lnSpc>
              <a:spcBef>
                <a:spcPts val="95"/>
              </a:spcBef>
            </a:pPr>
            <a:r>
              <a:rPr sz="2800" b="0" spc="-160" dirty="0">
                <a:latin typeface="Gill Sans MT"/>
                <a:cs typeface="Gill Sans MT"/>
              </a:rPr>
              <a:t>D</a:t>
            </a:r>
            <a:r>
              <a:rPr sz="2800" b="0" spc="-290" dirty="0">
                <a:latin typeface="Gill Sans MT"/>
                <a:cs typeface="Gill Sans MT"/>
              </a:rPr>
              <a:t>A</a:t>
            </a:r>
            <a:r>
              <a:rPr sz="2800" b="0" spc="-280" dirty="0">
                <a:latin typeface="Gill Sans MT"/>
                <a:cs typeface="Gill Sans MT"/>
              </a:rPr>
              <a:t>T</a:t>
            </a:r>
            <a:r>
              <a:rPr sz="2800" b="0" spc="-5" dirty="0">
                <a:latin typeface="Gill Sans MT"/>
                <a:cs typeface="Gill Sans MT"/>
              </a:rPr>
              <a:t>A</a:t>
            </a:r>
            <a:r>
              <a:rPr sz="2800" b="0" spc="-20" dirty="0">
                <a:latin typeface="Gill Sans MT"/>
                <a:cs typeface="Gill Sans MT"/>
              </a:rPr>
              <a:t> </a:t>
            </a:r>
            <a:r>
              <a:rPr sz="2800" b="0" spc="-5" dirty="0">
                <a:latin typeface="Gill Sans MT"/>
                <a:cs typeface="Gill Sans MT"/>
              </a:rPr>
              <a:t>NORMA</a:t>
            </a:r>
            <a:r>
              <a:rPr sz="2800" b="0" spc="-20" dirty="0">
                <a:latin typeface="Gill Sans MT"/>
                <a:cs typeface="Gill Sans MT"/>
              </a:rPr>
              <a:t>L</a:t>
            </a:r>
            <a:r>
              <a:rPr sz="2800" b="0" spc="-5" dirty="0">
                <a:latin typeface="Gill Sans MT"/>
                <a:cs typeface="Gill Sans MT"/>
              </a:rPr>
              <a:t>IZ</a:t>
            </a:r>
            <a:r>
              <a:rPr sz="2800" b="0" spc="-290" dirty="0">
                <a:latin typeface="Gill Sans MT"/>
                <a:cs typeface="Gill Sans MT"/>
              </a:rPr>
              <a:t>A</a:t>
            </a:r>
            <a:r>
              <a:rPr sz="2800" b="0" spc="-5" dirty="0">
                <a:latin typeface="Gill Sans MT"/>
                <a:cs typeface="Gill Sans MT"/>
              </a:rPr>
              <a:t>TION</a:t>
            </a:r>
            <a:endParaRPr sz="2800">
              <a:latin typeface="Gill Sans MT"/>
              <a:cs typeface="Gill Sans MT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592836" y="3057144"/>
            <a:ext cx="9810750" cy="1924050"/>
            <a:chOff x="592836" y="3057144"/>
            <a:chExt cx="9810750" cy="1924050"/>
          </a:xfrm>
        </p:grpSpPr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0861" y="3295287"/>
              <a:ext cx="132378" cy="127141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62584" y="3057144"/>
              <a:ext cx="9330690" cy="677417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62584" y="3422904"/>
              <a:ext cx="2419350" cy="677418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78836" y="3422904"/>
              <a:ext cx="5484114" cy="677418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92836" y="4012691"/>
              <a:ext cx="488429" cy="55397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62584" y="3938016"/>
              <a:ext cx="9541002" cy="677418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62584" y="4303776"/>
              <a:ext cx="939546" cy="677418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399031" y="4303776"/>
              <a:ext cx="508266" cy="677418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504188" y="4303776"/>
              <a:ext cx="1757934" cy="67741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944368" y="4303776"/>
              <a:ext cx="1466850" cy="677418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735888" y="3131946"/>
            <a:ext cx="9415145" cy="163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7500" marR="246379" indent="-304800">
              <a:lnSpc>
                <a:spcPct val="100000"/>
              </a:lnSpc>
              <a:spcBef>
                <a:spcPts val="100"/>
              </a:spcBef>
              <a:buClr>
                <a:srgbClr val="4590B8"/>
              </a:buClr>
              <a:buSzPct val="91666"/>
              <a:buFont typeface="Wingdings 2"/>
              <a:buChar char=""/>
              <a:tabLst>
                <a:tab pos="316865" algn="l"/>
                <a:tab pos="317500" algn="l"/>
              </a:tabLst>
            </a:pPr>
            <a:r>
              <a:rPr sz="2400" dirty="0">
                <a:latin typeface="Gill Sans MT"/>
                <a:cs typeface="Gill Sans MT"/>
              </a:rPr>
              <a:t>A</a:t>
            </a:r>
            <a:r>
              <a:rPr sz="2400" spc="-5" dirty="0">
                <a:latin typeface="Gill Sans MT"/>
                <a:cs typeface="Gill Sans MT"/>
              </a:rPr>
              <a:t> </a:t>
            </a:r>
            <a:r>
              <a:rPr sz="2400" dirty="0">
                <a:latin typeface="Gill Sans MT"/>
                <a:cs typeface="Gill Sans MT"/>
              </a:rPr>
              <a:t>tool</a:t>
            </a:r>
            <a:r>
              <a:rPr sz="2400" spc="-15" dirty="0">
                <a:latin typeface="Gill Sans MT"/>
                <a:cs typeface="Gill Sans MT"/>
              </a:rPr>
              <a:t> </a:t>
            </a:r>
            <a:r>
              <a:rPr sz="2400" dirty="0">
                <a:latin typeface="Gill Sans MT"/>
                <a:cs typeface="Gill Sans MT"/>
              </a:rPr>
              <a:t>to</a:t>
            </a:r>
            <a:r>
              <a:rPr sz="2400" spc="-15" dirty="0">
                <a:latin typeface="Gill Sans MT"/>
                <a:cs typeface="Gill Sans MT"/>
              </a:rPr>
              <a:t> </a:t>
            </a:r>
            <a:r>
              <a:rPr sz="2400" dirty="0">
                <a:latin typeface="Gill Sans MT"/>
                <a:cs typeface="Gill Sans MT"/>
              </a:rPr>
              <a:t>validate </a:t>
            </a:r>
            <a:r>
              <a:rPr sz="2400" spc="-5" dirty="0">
                <a:latin typeface="Gill Sans MT"/>
                <a:cs typeface="Gill Sans MT"/>
              </a:rPr>
              <a:t>and </a:t>
            </a:r>
            <a:r>
              <a:rPr sz="2400" spc="-20" dirty="0">
                <a:latin typeface="Gill Sans MT"/>
                <a:cs typeface="Gill Sans MT"/>
              </a:rPr>
              <a:t>improve</a:t>
            </a:r>
            <a:r>
              <a:rPr sz="2400" spc="-5" dirty="0">
                <a:latin typeface="Gill Sans MT"/>
                <a:cs typeface="Gill Sans MT"/>
              </a:rPr>
              <a:t> </a:t>
            </a:r>
            <a:r>
              <a:rPr sz="2400" dirty="0">
                <a:latin typeface="Gill Sans MT"/>
                <a:cs typeface="Gill Sans MT"/>
              </a:rPr>
              <a:t>a</a:t>
            </a:r>
            <a:r>
              <a:rPr sz="2400" spc="-10" dirty="0">
                <a:latin typeface="Gill Sans MT"/>
                <a:cs typeface="Gill Sans MT"/>
              </a:rPr>
              <a:t> </a:t>
            </a:r>
            <a:r>
              <a:rPr sz="2400" spc="-5" dirty="0">
                <a:latin typeface="Gill Sans MT"/>
                <a:cs typeface="Gill Sans MT"/>
              </a:rPr>
              <a:t>logical </a:t>
            </a:r>
            <a:r>
              <a:rPr sz="2400" dirty="0">
                <a:latin typeface="Gill Sans MT"/>
                <a:cs typeface="Gill Sans MT"/>
              </a:rPr>
              <a:t>design</a:t>
            </a:r>
            <a:r>
              <a:rPr sz="2400" spc="-15" dirty="0">
                <a:latin typeface="Gill Sans MT"/>
                <a:cs typeface="Gill Sans MT"/>
              </a:rPr>
              <a:t> </a:t>
            </a:r>
            <a:r>
              <a:rPr sz="2400" dirty="0">
                <a:latin typeface="Gill Sans MT"/>
                <a:cs typeface="Gill Sans MT"/>
              </a:rPr>
              <a:t>so</a:t>
            </a:r>
            <a:r>
              <a:rPr sz="2400" spc="-5" dirty="0">
                <a:latin typeface="Gill Sans MT"/>
                <a:cs typeface="Gill Sans MT"/>
              </a:rPr>
              <a:t> </a:t>
            </a:r>
            <a:r>
              <a:rPr sz="2400" dirty="0">
                <a:latin typeface="Gill Sans MT"/>
                <a:cs typeface="Gill Sans MT"/>
              </a:rPr>
              <a:t>that</a:t>
            </a:r>
            <a:r>
              <a:rPr sz="2400" spc="-5" dirty="0">
                <a:latin typeface="Gill Sans MT"/>
                <a:cs typeface="Gill Sans MT"/>
              </a:rPr>
              <a:t> it</a:t>
            </a:r>
            <a:r>
              <a:rPr sz="2400" spc="-25" dirty="0">
                <a:latin typeface="Gill Sans MT"/>
                <a:cs typeface="Gill Sans MT"/>
              </a:rPr>
              <a:t> </a:t>
            </a:r>
            <a:r>
              <a:rPr sz="2400" dirty="0">
                <a:latin typeface="Gill Sans MT"/>
                <a:cs typeface="Gill Sans MT"/>
              </a:rPr>
              <a:t>satisfies</a:t>
            </a:r>
            <a:r>
              <a:rPr sz="2400" spc="-10" dirty="0">
                <a:latin typeface="Gill Sans MT"/>
                <a:cs typeface="Gill Sans MT"/>
              </a:rPr>
              <a:t> </a:t>
            </a:r>
            <a:r>
              <a:rPr sz="2400" spc="5" dirty="0">
                <a:latin typeface="Gill Sans MT"/>
                <a:cs typeface="Gill Sans MT"/>
              </a:rPr>
              <a:t>certain </a:t>
            </a:r>
            <a:r>
              <a:rPr sz="2400" spc="-655" dirty="0">
                <a:latin typeface="Gill Sans MT"/>
                <a:cs typeface="Gill Sans MT"/>
              </a:rPr>
              <a:t> </a:t>
            </a:r>
            <a:r>
              <a:rPr sz="2400" spc="-5" dirty="0">
                <a:latin typeface="Gill Sans MT"/>
                <a:cs typeface="Gill Sans MT"/>
              </a:rPr>
              <a:t>constraints </a:t>
            </a:r>
            <a:r>
              <a:rPr sz="2400" dirty="0">
                <a:latin typeface="Gill Sans MT"/>
                <a:cs typeface="Gill Sans MT"/>
              </a:rPr>
              <a:t>that</a:t>
            </a:r>
            <a:r>
              <a:rPr sz="2400" spc="-5" dirty="0">
                <a:latin typeface="Gill Sans MT"/>
                <a:cs typeface="Gill Sans MT"/>
              </a:rPr>
              <a:t> </a:t>
            </a:r>
            <a:r>
              <a:rPr sz="2400" b="1" i="1" spc="-5" dirty="0">
                <a:latin typeface="Gill Sans MT"/>
                <a:cs typeface="Gill Sans MT"/>
              </a:rPr>
              <a:t>avoid</a:t>
            </a:r>
            <a:r>
              <a:rPr sz="2400" b="1" i="1" spc="-10" dirty="0">
                <a:latin typeface="Gill Sans MT"/>
                <a:cs typeface="Gill Sans MT"/>
              </a:rPr>
              <a:t> </a:t>
            </a:r>
            <a:r>
              <a:rPr sz="2400" b="1" i="1" dirty="0">
                <a:latin typeface="Gill Sans MT"/>
                <a:cs typeface="Gill Sans MT"/>
              </a:rPr>
              <a:t>unnecessary</a:t>
            </a:r>
            <a:r>
              <a:rPr sz="2400" b="1" i="1" spc="10" dirty="0">
                <a:latin typeface="Gill Sans MT"/>
                <a:cs typeface="Gill Sans MT"/>
              </a:rPr>
              <a:t> </a:t>
            </a:r>
            <a:r>
              <a:rPr sz="2400" b="1" i="1" spc="-5" dirty="0">
                <a:latin typeface="Gill Sans MT"/>
                <a:cs typeface="Gill Sans MT"/>
              </a:rPr>
              <a:t>duplication</a:t>
            </a:r>
            <a:r>
              <a:rPr sz="2400" b="1" i="1" dirty="0">
                <a:latin typeface="Gill Sans MT"/>
                <a:cs typeface="Gill Sans MT"/>
              </a:rPr>
              <a:t> of</a:t>
            </a:r>
            <a:r>
              <a:rPr sz="2400" b="1" i="1" spc="-10" dirty="0">
                <a:latin typeface="Gill Sans MT"/>
                <a:cs typeface="Gill Sans MT"/>
              </a:rPr>
              <a:t> </a:t>
            </a:r>
            <a:r>
              <a:rPr sz="2400" b="1" i="1" spc="-5" dirty="0">
                <a:latin typeface="Gill Sans MT"/>
                <a:cs typeface="Gill Sans MT"/>
              </a:rPr>
              <a:t>data</a:t>
            </a:r>
            <a:endParaRPr sz="2400">
              <a:latin typeface="Gill Sans MT"/>
              <a:cs typeface="Gill Sans MT"/>
            </a:endParaRPr>
          </a:p>
          <a:p>
            <a:pPr marL="317500" indent="-304800">
              <a:lnSpc>
                <a:spcPct val="100000"/>
              </a:lnSpc>
              <a:spcBef>
                <a:spcPts val="1175"/>
              </a:spcBef>
              <a:buClr>
                <a:srgbClr val="4590B8"/>
              </a:buClr>
              <a:buSzPct val="91666"/>
              <a:buFont typeface="Wingdings 2"/>
              <a:buChar char=""/>
              <a:tabLst>
                <a:tab pos="316865" algn="l"/>
                <a:tab pos="317500" algn="l"/>
              </a:tabLst>
            </a:pPr>
            <a:r>
              <a:rPr sz="2400" dirty="0">
                <a:latin typeface="Gill Sans MT"/>
                <a:cs typeface="Gill Sans MT"/>
              </a:rPr>
              <a:t>The</a:t>
            </a:r>
            <a:r>
              <a:rPr sz="2400" spc="5" dirty="0">
                <a:latin typeface="Gill Sans MT"/>
                <a:cs typeface="Gill Sans MT"/>
              </a:rPr>
              <a:t> </a:t>
            </a:r>
            <a:r>
              <a:rPr sz="2400" spc="-10" dirty="0">
                <a:latin typeface="Gill Sans MT"/>
                <a:cs typeface="Gill Sans MT"/>
              </a:rPr>
              <a:t>process</a:t>
            </a:r>
            <a:r>
              <a:rPr sz="2400" spc="5" dirty="0">
                <a:latin typeface="Gill Sans MT"/>
                <a:cs typeface="Gill Sans MT"/>
              </a:rPr>
              <a:t> </a:t>
            </a:r>
            <a:r>
              <a:rPr sz="2400" spc="-5" dirty="0">
                <a:latin typeface="Gill Sans MT"/>
                <a:cs typeface="Gill Sans MT"/>
              </a:rPr>
              <a:t>of</a:t>
            </a:r>
            <a:r>
              <a:rPr sz="2400" spc="5" dirty="0">
                <a:latin typeface="Gill Sans MT"/>
                <a:cs typeface="Gill Sans MT"/>
              </a:rPr>
              <a:t> </a:t>
            </a:r>
            <a:r>
              <a:rPr sz="2400" spc="-5" dirty="0">
                <a:latin typeface="Gill Sans MT"/>
                <a:cs typeface="Gill Sans MT"/>
              </a:rPr>
              <a:t>decomposing</a:t>
            </a:r>
            <a:r>
              <a:rPr sz="2400" spc="10" dirty="0">
                <a:latin typeface="Gill Sans MT"/>
                <a:cs typeface="Gill Sans MT"/>
              </a:rPr>
              <a:t> </a:t>
            </a:r>
            <a:r>
              <a:rPr sz="2400" spc="-10" dirty="0">
                <a:latin typeface="Gill Sans MT"/>
                <a:cs typeface="Gill Sans MT"/>
              </a:rPr>
              <a:t>relations </a:t>
            </a:r>
            <a:r>
              <a:rPr sz="2400" spc="-5" dirty="0">
                <a:latin typeface="Gill Sans MT"/>
                <a:cs typeface="Gill Sans MT"/>
              </a:rPr>
              <a:t>with</a:t>
            </a:r>
            <a:r>
              <a:rPr sz="2400" spc="-15" dirty="0">
                <a:latin typeface="Gill Sans MT"/>
                <a:cs typeface="Gill Sans MT"/>
              </a:rPr>
              <a:t> </a:t>
            </a:r>
            <a:r>
              <a:rPr sz="2400" spc="-5" dirty="0">
                <a:latin typeface="Gill Sans MT"/>
                <a:cs typeface="Gill Sans MT"/>
              </a:rPr>
              <a:t>anomalies</a:t>
            </a:r>
            <a:r>
              <a:rPr sz="2400" spc="15" dirty="0">
                <a:latin typeface="Gill Sans MT"/>
                <a:cs typeface="Gill Sans MT"/>
              </a:rPr>
              <a:t> </a:t>
            </a:r>
            <a:r>
              <a:rPr sz="2400" dirty="0">
                <a:latin typeface="Gill Sans MT"/>
                <a:cs typeface="Gill Sans MT"/>
              </a:rPr>
              <a:t>to</a:t>
            </a:r>
            <a:r>
              <a:rPr sz="2400" spc="5" dirty="0">
                <a:latin typeface="Gill Sans MT"/>
                <a:cs typeface="Gill Sans MT"/>
              </a:rPr>
              <a:t> </a:t>
            </a:r>
            <a:r>
              <a:rPr sz="2400" spc="-10" dirty="0">
                <a:latin typeface="Gill Sans MT"/>
                <a:cs typeface="Gill Sans MT"/>
              </a:rPr>
              <a:t>produce</a:t>
            </a:r>
            <a:r>
              <a:rPr sz="2400" spc="5" dirty="0">
                <a:latin typeface="Gill Sans MT"/>
                <a:cs typeface="Gill Sans MT"/>
              </a:rPr>
              <a:t> </a:t>
            </a:r>
            <a:r>
              <a:rPr sz="2400" spc="-35" dirty="0">
                <a:latin typeface="Gill Sans MT"/>
                <a:cs typeface="Gill Sans MT"/>
              </a:rPr>
              <a:t>smaller,</a:t>
            </a:r>
            <a:endParaRPr sz="2400">
              <a:latin typeface="Gill Sans MT"/>
              <a:cs typeface="Gill Sans MT"/>
            </a:endParaRPr>
          </a:p>
          <a:p>
            <a:pPr marL="317500">
              <a:lnSpc>
                <a:spcPct val="100000"/>
              </a:lnSpc>
            </a:pPr>
            <a:r>
              <a:rPr sz="2400" b="1" i="1" spc="-5" dirty="0">
                <a:latin typeface="Gill Sans MT"/>
                <a:cs typeface="Gill Sans MT"/>
              </a:rPr>
              <a:t>well-structured</a:t>
            </a:r>
            <a:r>
              <a:rPr sz="2400" b="1" i="1" spc="-15" dirty="0">
                <a:latin typeface="Gill Sans MT"/>
                <a:cs typeface="Gill Sans MT"/>
              </a:rPr>
              <a:t> </a:t>
            </a:r>
            <a:r>
              <a:rPr sz="2400" spc="-10" dirty="0">
                <a:latin typeface="Gill Sans MT"/>
                <a:cs typeface="Gill Sans MT"/>
              </a:rPr>
              <a:t>relations</a:t>
            </a:r>
            <a:endParaRPr sz="2400">
              <a:latin typeface="Gill Sans MT"/>
              <a:cs typeface="Gill Sans M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97408" y="600455"/>
            <a:ext cx="10985500" cy="1259205"/>
          </a:xfrm>
          <a:prstGeom prst="rect">
            <a:avLst/>
          </a:prstGeom>
          <a:solidFill>
            <a:srgbClr val="1A315F"/>
          </a:solidFill>
        </p:spPr>
        <p:txBody>
          <a:bodyPr vert="horz" wrap="square" lIns="0" tIns="12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"/>
              </a:spcBef>
            </a:pPr>
            <a:endParaRPr sz="2850">
              <a:latin typeface="Times New Roman"/>
              <a:cs typeface="Times New Roman"/>
            </a:endParaRPr>
          </a:p>
          <a:p>
            <a:pPr marL="926465">
              <a:lnSpc>
                <a:spcPct val="100000"/>
              </a:lnSpc>
            </a:pPr>
            <a:r>
              <a:rPr spc="-20" dirty="0"/>
              <a:t>NORMALIZATION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241023" y="6062436"/>
            <a:ext cx="146050" cy="15811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z="900" dirty="0">
                <a:solidFill>
                  <a:srgbClr val="4590B8"/>
                </a:solidFill>
                <a:latin typeface="Gill Sans MT"/>
                <a:cs typeface="Gill Sans MT"/>
              </a:rPr>
              <a:t>5</a:t>
            </a:fld>
            <a:endParaRPr sz="900">
              <a:latin typeface="Gill Sans MT"/>
              <a:cs typeface="Gill Sans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44500" y="6531499"/>
            <a:ext cx="644525" cy="202565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200" spc="-5" dirty="0">
                <a:solidFill>
                  <a:srgbClr val="393939"/>
                </a:solidFill>
                <a:latin typeface="Gill Sans MT"/>
                <a:cs typeface="Gill Sans MT"/>
              </a:rPr>
              <a:t>6/10/2020</a:t>
            </a:r>
            <a:endParaRPr sz="1200">
              <a:latin typeface="Gill Sans MT"/>
              <a:cs typeface="Gill Sans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2421762"/>
            <a:ext cx="10705465" cy="31375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17500" marR="5080" indent="-304800">
              <a:lnSpc>
                <a:spcPct val="100000"/>
              </a:lnSpc>
              <a:spcBef>
                <a:spcPts val="95"/>
              </a:spcBef>
              <a:buClr>
                <a:srgbClr val="4590B8"/>
              </a:buClr>
              <a:buSzPct val="90909"/>
              <a:buFont typeface="Wingdings 2"/>
              <a:buChar char=""/>
              <a:tabLst>
                <a:tab pos="316865" algn="l"/>
                <a:tab pos="317500" algn="l"/>
              </a:tabLst>
            </a:pPr>
            <a:r>
              <a:rPr sz="2200" spc="-5" dirty="0">
                <a:solidFill>
                  <a:srgbClr val="3C3C3C"/>
                </a:solidFill>
                <a:latin typeface="Gill Sans MT"/>
                <a:cs typeface="Gill Sans MT"/>
              </a:rPr>
              <a:t>Normalization</a:t>
            </a:r>
            <a:r>
              <a:rPr sz="2200" spc="3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200" spc="-5" dirty="0">
                <a:solidFill>
                  <a:srgbClr val="3C3C3C"/>
                </a:solidFill>
                <a:latin typeface="Gill Sans MT"/>
                <a:cs typeface="Gill Sans MT"/>
              </a:rPr>
              <a:t>is</a:t>
            </a:r>
            <a:r>
              <a:rPr sz="2200" spc="1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200" spc="-5" dirty="0">
                <a:solidFill>
                  <a:srgbClr val="3C3C3C"/>
                </a:solidFill>
                <a:latin typeface="Gill Sans MT"/>
                <a:cs typeface="Gill Sans MT"/>
              </a:rPr>
              <a:t>the</a:t>
            </a:r>
            <a:r>
              <a:rPr sz="2200" spc="2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200" spc="-10" dirty="0">
                <a:solidFill>
                  <a:srgbClr val="3C3C3C"/>
                </a:solidFill>
                <a:latin typeface="Gill Sans MT"/>
                <a:cs typeface="Gill Sans MT"/>
              </a:rPr>
              <a:t>process</a:t>
            </a:r>
            <a:r>
              <a:rPr sz="2200" spc="2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200" spc="-5" dirty="0">
                <a:solidFill>
                  <a:srgbClr val="3C3C3C"/>
                </a:solidFill>
                <a:latin typeface="Gill Sans MT"/>
                <a:cs typeface="Gill Sans MT"/>
              </a:rPr>
              <a:t>of</a:t>
            </a:r>
            <a:r>
              <a:rPr sz="2200" spc="2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200" spc="-5" dirty="0">
                <a:solidFill>
                  <a:srgbClr val="3C3C3C"/>
                </a:solidFill>
                <a:latin typeface="Gill Sans MT"/>
                <a:cs typeface="Gill Sans MT"/>
              </a:rPr>
              <a:t>organizing</a:t>
            </a:r>
            <a:r>
              <a:rPr sz="2200" spc="2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200" spc="-5" dirty="0">
                <a:solidFill>
                  <a:srgbClr val="3C3C3C"/>
                </a:solidFill>
                <a:latin typeface="Gill Sans MT"/>
                <a:cs typeface="Gill Sans MT"/>
              </a:rPr>
              <a:t>data</a:t>
            </a:r>
            <a:r>
              <a:rPr sz="2200" spc="3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200" spc="-10" dirty="0">
                <a:solidFill>
                  <a:srgbClr val="3C3C3C"/>
                </a:solidFill>
                <a:latin typeface="Gill Sans MT"/>
                <a:cs typeface="Gill Sans MT"/>
              </a:rPr>
              <a:t>into</a:t>
            </a:r>
            <a:r>
              <a:rPr sz="2200" spc="4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200" spc="-5" dirty="0">
                <a:solidFill>
                  <a:srgbClr val="3C3C3C"/>
                </a:solidFill>
                <a:latin typeface="Gill Sans MT"/>
                <a:cs typeface="Gill Sans MT"/>
              </a:rPr>
              <a:t>a</a:t>
            </a:r>
            <a:r>
              <a:rPr sz="2200" spc="1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200" spc="-5" dirty="0">
                <a:solidFill>
                  <a:srgbClr val="3C3C3C"/>
                </a:solidFill>
                <a:latin typeface="Gill Sans MT"/>
                <a:cs typeface="Gill Sans MT"/>
              </a:rPr>
              <a:t>set</a:t>
            </a:r>
            <a:r>
              <a:rPr sz="2200" spc="2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200" spc="-5" dirty="0">
                <a:solidFill>
                  <a:srgbClr val="3C3C3C"/>
                </a:solidFill>
                <a:latin typeface="Gill Sans MT"/>
                <a:cs typeface="Gill Sans MT"/>
              </a:rPr>
              <a:t>of</a:t>
            </a:r>
            <a:r>
              <a:rPr sz="2200" spc="2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200" spc="-10" dirty="0">
                <a:solidFill>
                  <a:srgbClr val="3C3C3C"/>
                </a:solidFill>
                <a:latin typeface="Gill Sans MT"/>
                <a:cs typeface="Gill Sans MT"/>
              </a:rPr>
              <a:t>related</a:t>
            </a:r>
            <a:r>
              <a:rPr sz="2200" spc="2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200" spc="-5" dirty="0">
                <a:solidFill>
                  <a:srgbClr val="3C3C3C"/>
                </a:solidFill>
                <a:latin typeface="Gill Sans MT"/>
                <a:cs typeface="Gill Sans MT"/>
              </a:rPr>
              <a:t>tables;</a:t>
            </a:r>
            <a:r>
              <a:rPr sz="2200" spc="-20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200" spc="-5" dirty="0">
                <a:solidFill>
                  <a:srgbClr val="3C3C3C"/>
                </a:solidFill>
                <a:latin typeface="Gill Sans MT"/>
                <a:cs typeface="Gill Sans MT"/>
              </a:rPr>
              <a:t>it</a:t>
            </a:r>
            <a:r>
              <a:rPr sz="2200" spc="2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200" dirty="0">
                <a:solidFill>
                  <a:srgbClr val="3C3C3C"/>
                </a:solidFill>
                <a:latin typeface="Gill Sans MT"/>
                <a:cs typeface="Gill Sans MT"/>
              </a:rPr>
              <a:t>also</a:t>
            </a:r>
            <a:r>
              <a:rPr sz="2200" spc="2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200" spc="-5" dirty="0">
                <a:solidFill>
                  <a:srgbClr val="3C3C3C"/>
                </a:solidFill>
                <a:latin typeface="Gill Sans MT"/>
                <a:cs typeface="Gill Sans MT"/>
              </a:rPr>
              <a:t>minimizes </a:t>
            </a:r>
            <a:r>
              <a:rPr sz="2200" spc="-60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200" spc="-10" dirty="0">
                <a:solidFill>
                  <a:srgbClr val="3C3C3C"/>
                </a:solidFill>
                <a:latin typeface="Gill Sans MT"/>
                <a:cs typeface="Gill Sans MT"/>
              </a:rPr>
              <a:t>redundancy</a:t>
            </a:r>
            <a:r>
              <a:rPr sz="2200" spc="2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200" spc="-5" dirty="0">
                <a:solidFill>
                  <a:srgbClr val="3C3C3C"/>
                </a:solidFill>
                <a:latin typeface="Gill Sans MT"/>
                <a:cs typeface="Gill Sans MT"/>
              </a:rPr>
              <a:t>and</a:t>
            </a:r>
            <a:r>
              <a:rPr sz="2200" spc="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200" spc="-10" dirty="0">
                <a:solidFill>
                  <a:srgbClr val="3C3C3C"/>
                </a:solidFill>
                <a:latin typeface="Gill Sans MT"/>
                <a:cs typeface="Gill Sans MT"/>
              </a:rPr>
              <a:t>increases</a:t>
            </a:r>
            <a:r>
              <a:rPr sz="2200" spc="4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200" spc="-5" dirty="0">
                <a:solidFill>
                  <a:srgbClr val="3C3C3C"/>
                </a:solidFill>
                <a:latin typeface="Gill Sans MT"/>
                <a:cs typeface="Gill Sans MT"/>
              </a:rPr>
              <a:t>the</a:t>
            </a:r>
            <a:r>
              <a:rPr sz="2200" spc="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200" spc="-5" dirty="0">
                <a:solidFill>
                  <a:srgbClr val="3C3C3C"/>
                </a:solidFill>
                <a:latin typeface="Gill Sans MT"/>
                <a:cs typeface="Gill Sans MT"/>
              </a:rPr>
              <a:t>integrity</a:t>
            </a:r>
            <a:r>
              <a:rPr sz="2200" spc="2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200" spc="-5" dirty="0">
                <a:solidFill>
                  <a:srgbClr val="3C3C3C"/>
                </a:solidFill>
                <a:latin typeface="Gill Sans MT"/>
                <a:cs typeface="Gill Sans MT"/>
              </a:rPr>
              <a:t>which</a:t>
            </a:r>
            <a:r>
              <a:rPr sz="2200" spc="2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200" spc="-25" dirty="0">
                <a:solidFill>
                  <a:srgbClr val="3C3C3C"/>
                </a:solidFill>
                <a:latin typeface="Gill Sans MT"/>
                <a:cs typeface="Gill Sans MT"/>
              </a:rPr>
              <a:t>improves</a:t>
            </a:r>
            <a:r>
              <a:rPr sz="2200" spc="3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200" spc="-10" dirty="0">
                <a:solidFill>
                  <a:srgbClr val="3C3C3C"/>
                </a:solidFill>
                <a:latin typeface="Gill Sans MT"/>
                <a:cs typeface="Gill Sans MT"/>
              </a:rPr>
              <a:t>performance</a:t>
            </a:r>
            <a:r>
              <a:rPr sz="2200" spc="3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200" spc="-5" dirty="0">
                <a:solidFill>
                  <a:srgbClr val="3C3C3C"/>
                </a:solidFill>
                <a:latin typeface="Gill Sans MT"/>
                <a:cs typeface="Gill Sans MT"/>
              </a:rPr>
              <a:t>of the</a:t>
            </a:r>
            <a:r>
              <a:rPr sz="2200" spc="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200" spc="-25" dirty="0">
                <a:solidFill>
                  <a:srgbClr val="3C3C3C"/>
                </a:solidFill>
                <a:latin typeface="Gill Sans MT"/>
                <a:cs typeface="Gill Sans MT"/>
              </a:rPr>
              <a:t>query.</a:t>
            </a:r>
            <a:endParaRPr sz="2200">
              <a:latin typeface="Gill Sans MT"/>
              <a:cs typeface="Gill Sans MT"/>
            </a:endParaRPr>
          </a:p>
          <a:p>
            <a:pPr marL="317500" marR="7620" indent="-304800">
              <a:lnSpc>
                <a:spcPct val="100000"/>
              </a:lnSpc>
              <a:spcBef>
                <a:spcPts val="1130"/>
              </a:spcBef>
              <a:buClr>
                <a:srgbClr val="4590B8"/>
              </a:buClr>
              <a:buSzPct val="90909"/>
              <a:buFont typeface="Wingdings 2"/>
              <a:buChar char=""/>
              <a:tabLst>
                <a:tab pos="316865" algn="l"/>
                <a:tab pos="317500" algn="l"/>
              </a:tabLst>
            </a:pPr>
            <a:r>
              <a:rPr sz="2200" spc="-5" dirty="0">
                <a:solidFill>
                  <a:srgbClr val="3C3C3C"/>
                </a:solidFill>
                <a:latin typeface="Gill Sans MT"/>
                <a:cs typeface="Gill Sans MT"/>
              </a:rPr>
              <a:t>Data</a:t>
            </a:r>
            <a:r>
              <a:rPr sz="2200" spc="8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200" spc="-5" dirty="0">
                <a:solidFill>
                  <a:srgbClr val="3C3C3C"/>
                </a:solidFill>
                <a:latin typeface="Gill Sans MT"/>
                <a:cs typeface="Gill Sans MT"/>
              </a:rPr>
              <a:t>normalization</a:t>
            </a:r>
            <a:r>
              <a:rPr sz="2200" spc="10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200" dirty="0">
                <a:solidFill>
                  <a:srgbClr val="3C3C3C"/>
                </a:solidFill>
                <a:latin typeface="Gill Sans MT"/>
                <a:cs typeface="Gill Sans MT"/>
              </a:rPr>
              <a:t>is</a:t>
            </a:r>
            <a:r>
              <a:rPr sz="2200" spc="8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200" spc="-5" dirty="0">
                <a:solidFill>
                  <a:srgbClr val="3C3C3C"/>
                </a:solidFill>
                <a:latin typeface="Gill Sans MT"/>
                <a:cs typeface="Gill Sans MT"/>
              </a:rPr>
              <a:t>a</a:t>
            </a:r>
            <a:r>
              <a:rPr sz="2200" spc="9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200" spc="-10" dirty="0">
                <a:solidFill>
                  <a:srgbClr val="3C3C3C"/>
                </a:solidFill>
                <a:latin typeface="Gill Sans MT"/>
                <a:cs typeface="Gill Sans MT"/>
              </a:rPr>
              <a:t>process</a:t>
            </a:r>
            <a:r>
              <a:rPr sz="2200" spc="9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200" spc="-5" dirty="0">
                <a:solidFill>
                  <a:srgbClr val="3C3C3C"/>
                </a:solidFill>
                <a:latin typeface="Gill Sans MT"/>
                <a:cs typeface="Gill Sans MT"/>
              </a:rPr>
              <a:t>in</a:t>
            </a:r>
            <a:r>
              <a:rPr sz="2200" spc="10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200" spc="-5" dirty="0">
                <a:solidFill>
                  <a:srgbClr val="3C3C3C"/>
                </a:solidFill>
                <a:latin typeface="Gill Sans MT"/>
                <a:cs typeface="Gill Sans MT"/>
              </a:rPr>
              <a:t>which</a:t>
            </a:r>
            <a:r>
              <a:rPr sz="2200" spc="10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200" spc="-5" dirty="0">
                <a:solidFill>
                  <a:srgbClr val="3C3C3C"/>
                </a:solidFill>
                <a:latin typeface="Gill Sans MT"/>
                <a:cs typeface="Gill Sans MT"/>
              </a:rPr>
              <a:t>data</a:t>
            </a:r>
            <a:r>
              <a:rPr sz="2200" spc="8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200" dirty="0">
                <a:solidFill>
                  <a:srgbClr val="3C3C3C"/>
                </a:solidFill>
                <a:latin typeface="Gill Sans MT"/>
                <a:cs typeface="Gill Sans MT"/>
              </a:rPr>
              <a:t>attributes</a:t>
            </a:r>
            <a:r>
              <a:rPr sz="2200" spc="9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200" spc="-5" dirty="0">
                <a:solidFill>
                  <a:srgbClr val="3C3C3C"/>
                </a:solidFill>
                <a:latin typeface="Gill Sans MT"/>
                <a:cs typeface="Gill Sans MT"/>
              </a:rPr>
              <a:t>within</a:t>
            </a:r>
            <a:r>
              <a:rPr sz="2200" spc="10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200" spc="-5" dirty="0">
                <a:solidFill>
                  <a:srgbClr val="3C3C3C"/>
                </a:solidFill>
                <a:latin typeface="Gill Sans MT"/>
                <a:cs typeface="Gill Sans MT"/>
              </a:rPr>
              <a:t>a</a:t>
            </a:r>
            <a:r>
              <a:rPr sz="2200" spc="10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200" spc="-5" dirty="0">
                <a:solidFill>
                  <a:srgbClr val="3C3C3C"/>
                </a:solidFill>
                <a:latin typeface="Gill Sans MT"/>
                <a:cs typeface="Gill Sans MT"/>
              </a:rPr>
              <a:t>data</a:t>
            </a:r>
            <a:r>
              <a:rPr sz="2200" spc="9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200" spc="-5" dirty="0">
                <a:solidFill>
                  <a:srgbClr val="3C3C3C"/>
                </a:solidFill>
                <a:latin typeface="Gill Sans MT"/>
                <a:cs typeface="Gill Sans MT"/>
              </a:rPr>
              <a:t>model</a:t>
            </a:r>
            <a:r>
              <a:rPr sz="2200" spc="9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200" spc="-20" dirty="0">
                <a:solidFill>
                  <a:srgbClr val="3C3C3C"/>
                </a:solidFill>
                <a:latin typeface="Gill Sans MT"/>
                <a:cs typeface="Gill Sans MT"/>
              </a:rPr>
              <a:t>are</a:t>
            </a:r>
            <a:r>
              <a:rPr sz="2200" spc="9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200" spc="-5" dirty="0">
                <a:solidFill>
                  <a:srgbClr val="3C3C3C"/>
                </a:solidFill>
                <a:latin typeface="Gill Sans MT"/>
                <a:cs typeface="Gill Sans MT"/>
              </a:rPr>
              <a:t>organized </a:t>
            </a:r>
            <a:r>
              <a:rPr sz="2200" spc="-59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200" spc="-5" dirty="0">
                <a:solidFill>
                  <a:srgbClr val="3C3C3C"/>
                </a:solidFill>
                <a:latin typeface="Gill Sans MT"/>
                <a:cs typeface="Gill Sans MT"/>
              </a:rPr>
              <a:t>to</a:t>
            </a:r>
            <a:r>
              <a:rPr sz="2200" spc="1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200" spc="-15" dirty="0">
                <a:solidFill>
                  <a:srgbClr val="3C3C3C"/>
                </a:solidFill>
                <a:latin typeface="Gill Sans MT"/>
                <a:cs typeface="Gill Sans MT"/>
              </a:rPr>
              <a:t>increase</a:t>
            </a:r>
            <a:r>
              <a:rPr sz="2200" spc="1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200" spc="-5" dirty="0">
                <a:solidFill>
                  <a:srgbClr val="3C3C3C"/>
                </a:solidFill>
                <a:latin typeface="Gill Sans MT"/>
                <a:cs typeface="Gill Sans MT"/>
              </a:rPr>
              <a:t>the</a:t>
            </a:r>
            <a:r>
              <a:rPr sz="2200" spc="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200" spc="-5" dirty="0">
                <a:solidFill>
                  <a:srgbClr val="3C3C3C"/>
                </a:solidFill>
                <a:latin typeface="Gill Sans MT"/>
                <a:cs typeface="Gill Sans MT"/>
              </a:rPr>
              <a:t>organization</a:t>
            </a:r>
            <a:r>
              <a:rPr sz="2200" spc="2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200" spc="-5" dirty="0">
                <a:solidFill>
                  <a:srgbClr val="3C3C3C"/>
                </a:solidFill>
                <a:latin typeface="Gill Sans MT"/>
                <a:cs typeface="Gill Sans MT"/>
              </a:rPr>
              <a:t>of</a:t>
            </a:r>
            <a:r>
              <a:rPr sz="220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200" spc="-5" dirty="0">
                <a:solidFill>
                  <a:srgbClr val="3C3C3C"/>
                </a:solidFill>
                <a:latin typeface="Gill Sans MT"/>
                <a:cs typeface="Gill Sans MT"/>
              </a:rPr>
              <a:t>entity</a:t>
            </a:r>
            <a:r>
              <a:rPr sz="2200" spc="1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200" spc="-5" dirty="0">
                <a:solidFill>
                  <a:srgbClr val="3C3C3C"/>
                </a:solidFill>
                <a:latin typeface="Gill Sans MT"/>
                <a:cs typeface="Gill Sans MT"/>
              </a:rPr>
              <a:t>types.</a:t>
            </a:r>
            <a:endParaRPr sz="2200">
              <a:latin typeface="Gill Sans MT"/>
              <a:cs typeface="Gill Sans MT"/>
            </a:endParaRPr>
          </a:p>
          <a:p>
            <a:pPr marL="317500" marR="8255" indent="-304800">
              <a:lnSpc>
                <a:spcPct val="100000"/>
              </a:lnSpc>
              <a:spcBef>
                <a:spcPts val="1130"/>
              </a:spcBef>
              <a:buClr>
                <a:srgbClr val="4590B8"/>
              </a:buClr>
              <a:buSzPct val="90909"/>
              <a:buFont typeface="Wingdings 2"/>
              <a:buChar char=""/>
              <a:tabLst>
                <a:tab pos="316865" algn="l"/>
                <a:tab pos="317500" algn="l"/>
                <a:tab pos="733425" algn="l"/>
                <a:tab pos="1978660" algn="l"/>
                <a:tab pos="2231390" algn="l"/>
                <a:tab pos="3844290" algn="l"/>
                <a:tab pos="4643120" algn="l"/>
                <a:tab pos="5146040" algn="l"/>
                <a:tab pos="6254115" algn="l"/>
                <a:tab pos="6837680" algn="l"/>
                <a:tab pos="7626984" algn="l"/>
                <a:tab pos="8164195" algn="l"/>
                <a:tab pos="9264015" algn="l"/>
              </a:tabLst>
            </a:pPr>
            <a:r>
              <a:rPr sz="2200" spc="-325" dirty="0">
                <a:solidFill>
                  <a:srgbClr val="3C3C3C"/>
                </a:solidFill>
                <a:latin typeface="Gill Sans MT"/>
                <a:cs typeface="Gill Sans MT"/>
              </a:rPr>
              <a:t>T</a:t>
            </a:r>
            <a:r>
              <a:rPr sz="2200" spc="-5" dirty="0">
                <a:solidFill>
                  <a:srgbClr val="3C3C3C"/>
                </a:solidFill>
                <a:latin typeface="Gill Sans MT"/>
                <a:cs typeface="Gill Sans MT"/>
              </a:rPr>
              <a:t>o</a:t>
            </a:r>
            <a:r>
              <a:rPr sz="2200" dirty="0">
                <a:solidFill>
                  <a:srgbClr val="3C3C3C"/>
                </a:solidFill>
                <a:latin typeface="Gill Sans MT"/>
                <a:cs typeface="Gill Sans MT"/>
              </a:rPr>
              <a:t>	</a:t>
            </a:r>
            <a:r>
              <a:rPr sz="2200" spc="-5" dirty="0">
                <a:solidFill>
                  <a:srgbClr val="3C3C3C"/>
                </a:solidFill>
                <a:latin typeface="Gill Sans MT"/>
                <a:cs typeface="Gill Sans MT"/>
              </a:rPr>
              <a:t>norma</a:t>
            </a:r>
            <a:r>
              <a:rPr sz="2200" dirty="0">
                <a:solidFill>
                  <a:srgbClr val="3C3C3C"/>
                </a:solidFill>
                <a:latin typeface="Gill Sans MT"/>
                <a:cs typeface="Gill Sans MT"/>
              </a:rPr>
              <a:t>l</a:t>
            </a:r>
            <a:r>
              <a:rPr sz="2200" spc="-10" dirty="0">
                <a:solidFill>
                  <a:srgbClr val="3C3C3C"/>
                </a:solidFill>
                <a:latin typeface="Gill Sans MT"/>
                <a:cs typeface="Gill Sans MT"/>
              </a:rPr>
              <a:t>iz</a:t>
            </a:r>
            <a:r>
              <a:rPr sz="2200" spc="-5" dirty="0">
                <a:solidFill>
                  <a:srgbClr val="3C3C3C"/>
                </a:solidFill>
                <a:latin typeface="Gill Sans MT"/>
                <a:cs typeface="Gill Sans MT"/>
              </a:rPr>
              <a:t>e</a:t>
            </a:r>
            <a:r>
              <a:rPr sz="2200" dirty="0">
                <a:solidFill>
                  <a:srgbClr val="3C3C3C"/>
                </a:solidFill>
                <a:latin typeface="Gill Sans MT"/>
                <a:cs typeface="Gill Sans MT"/>
              </a:rPr>
              <a:t>	</a:t>
            </a:r>
            <a:r>
              <a:rPr sz="2200" spc="-5" dirty="0">
                <a:solidFill>
                  <a:srgbClr val="3C3C3C"/>
                </a:solidFill>
                <a:latin typeface="Gill Sans MT"/>
                <a:cs typeface="Gill Sans MT"/>
              </a:rPr>
              <a:t>a</a:t>
            </a:r>
            <a:r>
              <a:rPr sz="2200" dirty="0">
                <a:solidFill>
                  <a:srgbClr val="3C3C3C"/>
                </a:solidFill>
                <a:latin typeface="Gill Sans MT"/>
                <a:cs typeface="Gill Sans MT"/>
              </a:rPr>
              <a:t>	</a:t>
            </a:r>
            <a:r>
              <a:rPr sz="2200" spc="-5" dirty="0">
                <a:solidFill>
                  <a:srgbClr val="3C3C3C"/>
                </a:solidFill>
                <a:latin typeface="Gill Sans MT"/>
                <a:cs typeface="Gill Sans MT"/>
              </a:rPr>
              <a:t>databas</a:t>
            </a:r>
            <a:r>
              <a:rPr sz="2200" spc="40" dirty="0">
                <a:solidFill>
                  <a:srgbClr val="3C3C3C"/>
                </a:solidFill>
                <a:latin typeface="Gill Sans MT"/>
                <a:cs typeface="Gill Sans MT"/>
              </a:rPr>
              <a:t>e</a:t>
            </a:r>
            <a:r>
              <a:rPr sz="2200" spc="-5" dirty="0">
                <a:solidFill>
                  <a:srgbClr val="3C3C3C"/>
                </a:solidFill>
                <a:latin typeface="Gill Sans MT"/>
                <a:cs typeface="Gill Sans MT"/>
              </a:rPr>
              <a:t>,</a:t>
            </a:r>
            <a:r>
              <a:rPr sz="2200" spc="24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200" spc="-50" dirty="0">
                <a:solidFill>
                  <a:srgbClr val="3C3C3C"/>
                </a:solidFill>
                <a:latin typeface="Gill Sans MT"/>
                <a:cs typeface="Gill Sans MT"/>
              </a:rPr>
              <a:t>w</a:t>
            </a:r>
            <a:r>
              <a:rPr sz="2200" spc="-5" dirty="0">
                <a:solidFill>
                  <a:srgbClr val="3C3C3C"/>
                </a:solidFill>
                <a:latin typeface="Gill Sans MT"/>
                <a:cs typeface="Gill Sans MT"/>
              </a:rPr>
              <a:t>e</a:t>
            </a:r>
            <a:r>
              <a:rPr sz="2200" dirty="0">
                <a:solidFill>
                  <a:srgbClr val="3C3C3C"/>
                </a:solidFill>
                <a:latin typeface="Gill Sans MT"/>
                <a:cs typeface="Gill Sans MT"/>
              </a:rPr>
              <a:t>	d</a:t>
            </a:r>
            <a:r>
              <a:rPr sz="2200" spc="-10" dirty="0">
                <a:solidFill>
                  <a:srgbClr val="3C3C3C"/>
                </a:solidFill>
                <a:latin typeface="Gill Sans MT"/>
                <a:cs typeface="Gill Sans MT"/>
              </a:rPr>
              <a:t>iv</a:t>
            </a:r>
            <a:r>
              <a:rPr sz="2200" dirty="0">
                <a:solidFill>
                  <a:srgbClr val="3C3C3C"/>
                </a:solidFill>
                <a:latin typeface="Gill Sans MT"/>
                <a:cs typeface="Gill Sans MT"/>
              </a:rPr>
              <a:t>i</a:t>
            </a:r>
            <a:r>
              <a:rPr sz="2200" spc="-5" dirty="0">
                <a:solidFill>
                  <a:srgbClr val="3C3C3C"/>
                </a:solidFill>
                <a:latin typeface="Gill Sans MT"/>
                <a:cs typeface="Gill Sans MT"/>
              </a:rPr>
              <a:t>de</a:t>
            </a:r>
            <a:r>
              <a:rPr sz="2200" dirty="0">
                <a:solidFill>
                  <a:srgbClr val="3C3C3C"/>
                </a:solidFill>
                <a:latin typeface="Gill Sans MT"/>
                <a:cs typeface="Gill Sans MT"/>
              </a:rPr>
              <a:t>	</a:t>
            </a:r>
            <a:r>
              <a:rPr sz="2200" spc="-5" dirty="0">
                <a:solidFill>
                  <a:srgbClr val="3C3C3C"/>
                </a:solidFill>
                <a:latin typeface="Gill Sans MT"/>
                <a:cs typeface="Gill Sans MT"/>
              </a:rPr>
              <a:t>t</a:t>
            </a:r>
            <a:r>
              <a:rPr sz="2200" spc="10" dirty="0">
                <a:solidFill>
                  <a:srgbClr val="3C3C3C"/>
                </a:solidFill>
                <a:latin typeface="Gill Sans MT"/>
                <a:cs typeface="Gill Sans MT"/>
              </a:rPr>
              <a:t>h</a:t>
            </a:r>
            <a:r>
              <a:rPr sz="2200" spc="-5" dirty="0">
                <a:solidFill>
                  <a:srgbClr val="3C3C3C"/>
                </a:solidFill>
                <a:latin typeface="Gill Sans MT"/>
                <a:cs typeface="Gill Sans MT"/>
              </a:rPr>
              <a:t>e</a:t>
            </a:r>
            <a:r>
              <a:rPr sz="2200" dirty="0">
                <a:solidFill>
                  <a:srgbClr val="3C3C3C"/>
                </a:solidFill>
                <a:latin typeface="Gill Sans MT"/>
                <a:cs typeface="Gill Sans MT"/>
              </a:rPr>
              <a:t>	</a:t>
            </a:r>
            <a:r>
              <a:rPr sz="2200" spc="-5" dirty="0">
                <a:solidFill>
                  <a:srgbClr val="3C3C3C"/>
                </a:solidFill>
                <a:latin typeface="Gill Sans MT"/>
                <a:cs typeface="Gill Sans MT"/>
              </a:rPr>
              <a:t>dat</a:t>
            </a:r>
            <a:r>
              <a:rPr sz="2200" spc="-15" dirty="0">
                <a:solidFill>
                  <a:srgbClr val="3C3C3C"/>
                </a:solidFill>
                <a:latin typeface="Gill Sans MT"/>
                <a:cs typeface="Gill Sans MT"/>
              </a:rPr>
              <a:t>a</a:t>
            </a:r>
            <a:r>
              <a:rPr sz="2200" spc="-5" dirty="0">
                <a:solidFill>
                  <a:srgbClr val="3C3C3C"/>
                </a:solidFill>
                <a:latin typeface="Gill Sans MT"/>
                <a:cs typeface="Gill Sans MT"/>
              </a:rPr>
              <a:t>b</a:t>
            </a:r>
            <a:r>
              <a:rPr sz="2200" spc="5" dirty="0">
                <a:solidFill>
                  <a:srgbClr val="3C3C3C"/>
                </a:solidFill>
                <a:latin typeface="Gill Sans MT"/>
                <a:cs typeface="Gill Sans MT"/>
              </a:rPr>
              <a:t>a</a:t>
            </a:r>
            <a:r>
              <a:rPr sz="2200" spc="-5" dirty="0">
                <a:solidFill>
                  <a:srgbClr val="3C3C3C"/>
                </a:solidFill>
                <a:latin typeface="Gill Sans MT"/>
                <a:cs typeface="Gill Sans MT"/>
              </a:rPr>
              <a:t>se</a:t>
            </a:r>
            <a:r>
              <a:rPr sz="2200" dirty="0">
                <a:solidFill>
                  <a:srgbClr val="3C3C3C"/>
                </a:solidFill>
                <a:latin typeface="Gill Sans MT"/>
                <a:cs typeface="Gill Sans MT"/>
              </a:rPr>
              <a:t>	i</a:t>
            </a:r>
            <a:r>
              <a:rPr sz="2200" spc="-5" dirty="0">
                <a:solidFill>
                  <a:srgbClr val="3C3C3C"/>
                </a:solidFill>
                <a:latin typeface="Gill Sans MT"/>
                <a:cs typeface="Gill Sans MT"/>
              </a:rPr>
              <a:t>nto</a:t>
            </a:r>
            <a:r>
              <a:rPr sz="2200" dirty="0">
                <a:solidFill>
                  <a:srgbClr val="3C3C3C"/>
                </a:solidFill>
                <a:latin typeface="Gill Sans MT"/>
                <a:cs typeface="Gill Sans MT"/>
              </a:rPr>
              <a:t>	</a:t>
            </a:r>
            <a:r>
              <a:rPr sz="2200" spc="-5" dirty="0">
                <a:solidFill>
                  <a:srgbClr val="3C3C3C"/>
                </a:solidFill>
                <a:latin typeface="Gill Sans MT"/>
                <a:cs typeface="Gill Sans MT"/>
              </a:rPr>
              <a:t>tabl</a:t>
            </a:r>
            <a:r>
              <a:rPr sz="2200" spc="10" dirty="0">
                <a:solidFill>
                  <a:srgbClr val="3C3C3C"/>
                </a:solidFill>
                <a:latin typeface="Gill Sans MT"/>
                <a:cs typeface="Gill Sans MT"/>
              </a:rPr>
              <a:t>e</a:t>
            </a:r>
            <a:r>
              <a:rPr sz="2200" spc="-5" dirty="0">
                <a:solidFill>
                  <a:srgbClr val="3C3C3C"/>
                </a:solidFill>
                <a:latin typeface="Gill Sans MT"/>
                <a:cs typeface="Gill Sans MT"/>
              </a:rPr>
              <a:t>s</a:t>
            </a:r>
            <a:r>
              <a:rPr sz="2200" dirty="0">
                <a:solidFill>
                  <a:srgbClr val="3C3C3C"/>
                </a:solidFill>
                <a:latin typeface="Gill Sans MT"/>
                <a:cs typeface="Gill Sans MT"/>
              </a:rPr>
              <a:t>	</a:t>
            </a:r>
            <a:r>
              <a:rPr sz="2200" spc="5" dirty="0">
                <a:solidFill>
                  <a:srgbClr val="3C3C3C"/>
                </a:solidFill>
                <a:latin typeface="Gill Sans MT"/>
                <a:cs typeface="Gill Sans MT"/>
              </a:rPr>
              <a:t>a</a:t>
            </a:r>
            <a:r>
              <a:rPr sz="2200" dirty="0">
                <a:solidFill>
                  <a:srgbClr val="3C3C3C"/>
                </a:solidFill>
                <a:latin typeface="Gill Sans MT"/>
                <a:cs typeface="Gill Sans MT"/>
              </a:rPr>
              <a:t>n</a:t>
            </a:r>
            <a:r>
              <a:rPr sz="2200" spc="-5" dirty="0">
                <a:solidFill>
                  <a:srgbClr val="3C3C3C"/>
                </a:solidFill>
                <a:latin typeface="Gill Sans MT"/>
                <a:cs typeface="Gill Sans MT"/>
              </a:rPr>
              <a:t>d</a:t>
            </a:r>
            <a:r>
              <a:rPr sz="2200" dirty="0">
                <a:solidFill>
                  <a:srgbClr val="3C3C3C"/>
                </a:solidFill>
                <a:latin typeface="Gill Sans MT"/>
                <a:cs typeface="Gill Sans MT"/>
              </a:rPr>
              <a:t>	</a:t>
            </a:r>
            <a:r>
              <a:rPr sz="2200" spc="-5" dirty="0">
                <a:solidFill>
                  <a:srgbClr val="3C3C3C"/>
                </a:solidFill>
                <a:latin typeface="Gill Sans MT"/>
                <a:cs typeface="Gill Sans MT"/>
              </a:rPr>
              <a:t>esta</a:t>
            </a:r>
            <a:r>
              <a:rPr sz="2200" spc="5" dirty="0">
                <a:solidFill>
                  <a:srgbClr val="3C3C3C"/>
                </a:solidFill>
                <a:latin typeface="Gill Sans MT"/>
                <a:cs typeface="Gill Sans MT"/>
              </a:rPr>
              <a:t>b</a:t>
            </a:r>
            <a:r>
              <a:rPr sz="2200" spc="-10" dirty="0">
                <a:solidFill>
                  <a:srgbClr val="3C3C3C"/>
                </a:solidFill>
                <a:latin typeface="Gill Sans MT"/>
                <a:cs typeface="Gill Sans MT"/>
              </a:rPr>
              <a:t>l</a:t>
            </a:r>
            <a:r>
              <a:rPr sz="2200" dirty="0">
                <a:solidFill>
                  <a:srgbClr val="3C3C3C"/>
                </a:solidFill>
                <a:latin typeface="Gill Sans MT"/>
                <a:cs typeface="Gill Sans MT"/>
              </a:rPr>
              <a:t>i</a:t>
            </a:r>
            <a:r>
              <a:rPr sz="2200" spc="-5" dirty="0">
                <a:solidFill>
                  <a:srgbClr val="3C3C3C"/>
                </a:solidFill>
                <a:latin typeface="Gill Sans MT"/>
                <a:cs typeface="Gill Sans MT"/>
              </a:rPr>
              <a:t>sh</a:t>
            </a:r>
            <a:r>
              <a:rPr sz="2200" dirty="0">
                <a:solidFill>
                  <a:srgbClr val="3C3C3C"/>
                </a:solidFill>
                <a:latin typeface="Gill Sans MT"/>
                <a:cs typeface="Gill Sans MT"/>
              </a:rPr>
              <a:t>	</a:t>
            </a:r>
            <a:r>
              <a:rPr sz="2200" spc="-60" dirty="0">
                <a:solidFill>
                  <a:srgbClr val="3C3C3C"/>
                </a:solidFill>
                <a:latin typeface="Gill Sans MT"/>
                <a:cs typeface="Gill Sans MT"/>
              </a:rPr>
              <a:t>r</a:t>
            </a:r>
            <a:r>
              <a:rPr sz="2200" spc="-5" dirty="0">
                <a:solidFill>
                  <a:srgbClr val="3C3C3C"/>
                </a:solidFill>
                <a:latin typeface="Gill Sans MT"/>
                <a:cs typeface="Gill Sans MT"/>
              </a:rPr>
              <a:t>el</a:t>
            </a:r>
            <a:r>
              <a:rPr sz="2200" spc="5" dirty="0">
                <a:solidFill>
                  <a:srgbClr val="3C3C3C"/>
                </a:solidFill>
                <a:latin typeface="Gill Sans MT"/>
                <a:cs typeface="Gill Sans MT"/>
              </a:rPr>
              <a:t>at</a:t>
            </a:r>
            <a:r>
              <a:rPr sz="2200" spc="-10" dirty="0">
                <a:solidFill>
                  <a:srgbClr val="3C3C3C"/>
                </a:solidFill>
                <a:latin typeface="Gill Sans MT"/>
                <a:cs typeface="Gill Sans MT"/>
              </a:rPr>
              <a:t>ionshi</a:t>
            </a:r>
            <a:r>
              <a:rPr sz="2200" spc="10" dirty="0">
                <a:solidFill>
                  <a:srgbClr val="3C3C3C"/>
                </a:solidFill>
                <a:latin typeface="Gill Sans MT"/>
                <a:cs typeface="Gill Sans MT"/>
              </a:rPr>
              <a:t>p</a:t>
            </a:r>
            <a:r>
              <a:rPr sz="2200" spc="-5" dirty="0">
                <a:solidFill>
                  <a:srgbClr val="3C3C3C"/>
                </a:solidFill>
                <a:latin typeface="Gill Sans MT"/>
                <a:cs typeface="Gill Sans MT"/>
              </a:rPr>
              <a:t>s  </a:t>
            </a:r>
            <a:r>
              <a:rPr sz="2200" spc="-10" dirty="0">
                <a:solidFill>
                  <a:srgbClr val="3C3C3C"/>
                </a:solidFill>
                <a:latin typeface="Gill Sans MT"/>
                <a:cs typeface="Gill Sans MT"/>
              </a:rPr>
              <a:t>between </a:t>
            </a:r>
            <a:r>
              <a:rPr sz="2200" spc="-5" dirty="0">
                <a:solidFill>
                  <a:srgbClr val="3C3C3C"/>
                </a:solidFill>
                <a:latin typeface="Gill Sans MT"/>
                <a:cs typeface="Gill Sans MT"/>
              </a:rPr>
              <a:t>the</a:t>
            </a:r>
            <a:r>
              <a:rPr sz="2200" spc="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200" spc="-5" dirty="0">
                <a:solidFill>
                  <a:srgbClr val="3C3C3C"/>
                </a:solidFill>
                <a:latin typeface="Gill Sans MT"/>
                <a:cs typeface="Gill Sans MT"/>
              </a:rPr>
              <a:t>tables.</a:t>
            </a:r>
            <a:endParaRPr sz="2200">
              <a:latin typeface="Gill Sans MT"/>
              <a:cs typeface="Gill Sans MT"/>
            </a:endParaRPr>
          </a:p>
          <a:p>
            <a:pPr marL="317500" indent="-304800">
              <a:lnSpc>
                <a:spcPct val="100000"/>
              </a:lnSpc>
              <a:spcBef>
                <a:spcPts val="1125"/>
              </a:spcBef>
              <a:buClr>
                <a:srgbClr val="4590B8"/>
              </a:buClr>
              <a:buSzPct val="90909"/>
              <a:buFont typeface="Wingdings 2"/>
              <a:buChar char=""/>
              <a:tabLst>
                <a:tab pos="316865" algn="l"/>
                <a:tab pos="317500" algn="l"/>
              </a:tabLst>
            </a:pPr>
            <a:r>
              <a:rPr sz="2200" spc="-5" dirty="0">
                <a:solidFill>
                  <a:srgbClr val="3C3C3C"/>
                </a:solidFill>
                <a:latin typeface="Gill Sans MT"/>
                <a:cs typeface="Gill Sans MT"/>
              </a:rPr>
              <a:t>The</a:t>
            </a:r>
            <a:r>
              <a:rPr sz="2200" spc="7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200" spc="-5" dirty="0">
                <a:solidFill>
                  <a:srgbClr val="3C3C3C"/>
                </a:solidFill>
                <a:latin typeface="Gill Sans MT"/>
                <a:cs typeface="Gill Sans MT"/>
              </a:rPr>
              <a:t>purpose</a:t>
            </a:r>
            <a:r>
              <a:rPr sz="2200" spc="8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200" spc="-5" dirty="0">
                <a:solidFill>
                  <a:srgbClr val="3C3C3C"/>
                </a:solidFill>
                <a:latin typeface="Gill Sans MT"/>
                <a:cs typeface="Gill Sans MT"/>
              </a:rPr>
              <a:t>of</a:t>
            </a:r>
            <a:r>
              <a:rPr sz="2200" spc="8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200" spc="-5" dirty="0">
                <a:solidFill>
                  <a:srgbClr val="3C3C3C"/>
                </a:solidFill>
                <a:latin typeface="Gill Sans MT"/>
                <a:cs typeface="Gill Sans MT"/>
              </a:rPr>
              <a:t>normalization</a:t>
            </a:r>
            <a:r>
              <a:rPr sz="2200" spc="8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200" dirty="0">
                <a:solidFill>
                  <a:srgbClr val="3C3C3C"/>
                </a:solidFill>
                <a:latin typeface="Gill Sans MT"/>
                <a:cs typeface="Gill Sans MT"/>
              </a:rPr>
              <a:t>is</a:t>
            </a:r>
            <a:r>
              <a:rPr sz="2200" spc="7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200" spc="-5" dirty="0">
                <a:solidFill>
                  <a:srgbClr val="3C3C3C"/>
                </a:solidFill>
                <a:latin typeface="Gill Sans MT"/>
                <a:cs typeface="Gill Sans MT"/>
              </a:rPr>
              <a:t>to</a:t>
            </a:r>
            <a:r>
              <a:rPr sz="2200" spc="9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200" spc="-5" dirty="0">
                <a:solidFill>
                  <a:srgbClr val="3C3C3C"/>
                </a:solidFill>
                <a:latin typeface="Gill Sans MT"/>
                <a:cs typeface="Gill Sans MT"/>
              </a:rPr>
              <a:t>identify</a:t>
            </a:r>
            <a:r>
              <a:rPr sz="2200" spc="8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200" spc="-5" dirty="0">
                <a:solidFill>
                  <a:srgbClr val="3C3C3C"/>
                </a:solidFill>
                <a:latin typeface="Gill Sans MT"/>
                <a:cs typeface="Gill Sans MT"/>
              </a:rPr>
              <a:t>a</a:t>
            </a:r>
            <a:r>
              <a:rPr sz="2200" spc="8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200" dirty="0">
                <a:solidFill>
                  <a:srgbClr val="3C3C3C"/>
                </a:solidFill>
                <a:latin typeface="Gill Sans MT"/>
                <a:cs typeface="Gill Sans MT"/>
              </a:rPr>
              <a:t>suitable</a:t>
            </a:r>
            <a:r>
              <a:rPr sz="2200" spc="8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200" spc="-5" dirty="0">
                <a:solidFill>
                  <a:srgbClr val="3C3C3C"/>
                </a:solidFill>
                <a:latin typeface="Gill Sans MT"/>
                <a:cs typeface="Gill Sans MT"/>
              </a:rPr>
              <a:t>set</a:t>
            </a:r>
            <a:r>
              <a:rPr sz="2200" spc="7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200" spc="-5" dirty="0">
                <a:solidFill>
                  <a:srgbClr val="3C3C3C"/>
                </a:solidFill>
                <a:latin typeface="Gill Sans MT"/>
                <a:cs typeface="Gill Sans MT"/>
              </a:rPr>
              <a:t>of</a:t>
            </a:r>
            <a:r>
              <a:rPr sz="2200" spc="9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200" spc="-10" dirty="0">
                <a:solidFill>
                  <a:srgbClr val="3C3C3C"/>
                </a:solidFill>
                <a:latin typeface="Gill Sans MT"/>
                <a:cs typeface="Gill Sans MT"/>
              </a:rPr>
              <a:t>relations</a:t>
            </a:r>
            <a:r>
              <a:rPr sz="2200" spc="8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200" spc="-5" dirty="0">
                <a:solidFill>
                  <a:srgbClr val="3C3C3C"/>
                </a:solidFill>
                <a:latin typeface="Gill Sans MT"/>
                <a:cs typeface="Gill Sans MT"/>
              </a:rPr>
              <a:t>that</a:t>
            </a:r>
            <a:r>
              <a:rPr sz="2200" spc="9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200" spc="5" dirty="0">
                <a:solidFill>
                  <a:srgbClr val="3C3C3C"/>
                </a:solidFill>
                <a:latin typeface="Gill Sans MT"/>
                <a:cs typeface="Gill Sans MT"/>
              </a:rPr>
              <a:t>support</a:t>
            </a:r>
            <a:r>
              <a:rPr sz="2200" spc="8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200" spc="-5" dirty="0">
                <a:solidFill>
                  <a:srgbClr val="3C3C3C"/>
                </a:solidFill>
                <a:latin typeface="Gill Sans MT"/>
                <a:cs typeface="Gill Sans MT"/>
              </a:rPr>
              <a:t>the</a:t>
            </a:r>
            <a:r>
              <a:rPr sz="2200" spc="8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200" spc="-5" dirty="0">
                <a:solidFill>
                  <a:srgbClr val="3C3C3C"/>
                </a:solidFill>
                <a:latin typeface="Gill Sans MT"/>
                <a:cs typeface="Gill Sans MT"/>
              </a:rPr>
              <a:t>data</a:t>
            </a:r>
            <a:endParaRPr sz="2200">
              <a:latin typeface="Gill Sans MT"/>
              <a:cs typeface="Gill Sans MT"/>
            </a:endParaRPr>
          </a:p>
          <a:p>
            <a:pPr marL="317500">
              <a:lnSpc>
                <a:spcPct val="100000"/>
              </a:lnSpc>
              <a:spcBef>
                <a:spcPts val="5"/>
              </a:spcBef>
            </a:pPr>
            <a:r>
              <a:rPr sz="2200" spc="-15" dirty="0">
                <a:solidFill>
                  <a:srgbClr val="3C3C3C"/>
                </a:solidFill>
                <a:latin typeface="Gill Sans MT"/>
                <a:cs typeface="Gill Sans MT"/>
              </a:rPr>
              <a:t>requirements</a:t>
            </a:r>
            <a:r>
              <a:rPr sz="2200" spc="3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200" spc="-5" dirty="0">
                <a:solidFill>
                  <a:srgbClr val="3C3C3C"/>
                </a:solidFill>
                <a:latin typeface="Gill Sans MT"/>
                <a:cs typeface="Gill Sans MT"/>
              </a:rPr>
              <a:t>of</a:t>
            </a:r>
            <a:r>
              <a:rPr sz="220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200" spc="-5" dirty="0">
                <a:solidFill>
                  <a:srgbClr val="3C3C3C"/>
                </a:solidFill>
                <a:latin typeface="Gill Sans MT"/>
                <a:cs typeface="Gill Sans MT"/>
              </a:rPr>
              <a:t>an</a:t>
            </a:r>
            <a:r>
              <a:rPr sz="2200" spc="-1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200" dirty="0">
                <a:solidFill>
                  <a:srgbClr val="3C3C3C"/>
                </a:solidFill>
                <a:latin typeface="Gill Sans MT"/>
                <a:cs typeface="Gill Sans MT"/>
              </a:rPr>
              <a:t>enterprise.</a:t>
            </a:r>
            <a:endParaRPr sz="2200">
              <a:latin typeface="Gill Sans MT"/>
              <a:cs typeface="Gill Sans M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97408" y="600455"/>
            <a:ext cx="10985500" cy="1259205"/>
          </a:xfrm>
          <a:prstGeom prst="rect">
            <a:avLst/>
          </a:prstGeom>
          <a:solidFill>
            <a:srgbClr val="1A315F"/>
          </a:solidFill>
        </p:spPr>
        <p:txBody>
          <a:bodyPr vert="horz" wrap="square" lIns="0" tIns="16891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330"/>
              </a:spcBef>
            </a:pPr>
            <a:r>
              <a:rPr spc="-15" dirty="0"/>
              <a:t>NORMALIZATION</a:t>
            </a:r>
            <a:r>
              <a:rPr spc="-40" dirty="0"/>
              <a:t> </a:t>
            </a:r>
            <a:r>
              <a:rPr spc="-10" dirty="0"/>
              <a:t>(CONT’D)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241023" y="6062436"/>
            <a:ext cx="146050" cy="15811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z="900" dirty="0">
                <a:solidFill>
                  <a:srgbClr val="4590B8"/>
                </a:solidFill>
                <a:latin typeface="Gill Sans MT"/>
                <a:cs typeface="Gill Sans MT"/>
              </a:rPr>
              <a:t>6</a:t>
            </a:fld>
            <a:endParaRPr sz="900">
              <a:latin typeface="Gill Sans MT"/>
              <a:cs typeface="Gill Sans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44500" y="6531499"/>
            <a:ext cx="644525" cy="202565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200" spc="-5" dirty="0">
                <a:solidFill>
                  <a:srgbClr val="393939"/>
                </a:solidFill>
                <a:latin typeface="Gill Sans MT"/>
                <a:cs typeface="Gill Sans MT"/>
              </a:rPr>
              <a:t>6/10/2020</a:t>
            </a:r>
            <a:endParaRPr sz="1200">
              <a:latin typeface="Gill Sans MT"/>
              <a:cs typeface="Gill Sans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731504"/>
            <a:ext cx="11212195" cy="4441825"/>
          </a:xfrm>
          <a:prstGeom prst="rect">
            <a:avLst/>
          </a:prstGeom>
        </p:spPr>
        <p:txBody>
          <a:bodyPr vert="horz" wrap="square" lIns="0" tIns="163830" rIns="0" bIns="0" rtlCol="0">
            <a:spAutoFit/>
          </a:bodyPr>
          <a:lstStyle/>
          <a:p>
            <a:pPr marL="317500" indent="-304800" algn="just">
              <a:lnSpc>
                <a:spcPct val="100000"/>
              </a:lnSpc>
              <a:spcBef>
                <a:spcPts val="1290"/>
              </a:spcBef>
              <a:buClr>
                <a:srgbClr val="4590B8"/>
              </a:buClr>
              <a:buSzPct val="90909"/>
              <a:buFont typeface="Wingdings 2"/>
              <a:buChar char=""/>
              <a:tabLst>
                <a:tab pos="317500" algn="l"/>
              </a:tabLst>
            </a:pPr>
            <a:r>
              <a:rPr sz="2200" spc="-5" dirty="0">
                <a:solidFill>
                  <a:srgbClr val="3C3C3C"/>
                </a:solidFill>
                <a:latin typeface="Gill Sans MT"/>
                <a:cs typeface="Gill Sans MT"/>
              </a:rPr>
              <a:t>The characteristics</a:t>
            </a:r>
            <a:r>
              <a:rPr sz="2200" spc="5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200" spc="-5" dirty="0">
                <a:solidFill>
                  <a:srgbClr val="3C3C3C"/>
                </a:solidFill>
                <a:latin typeface="Gill Sans MT"/>
                <a:cs typeface="Gill Sans MT"/>
              </a:rPr>
              <a:t>of</a:t>
            </a:r>
            <a:r>
              <a:rPr sz="2200" spc="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200" spc="-5" dirty="0">
                <a:solidFill>
                  <a:srgbClr val="3C3C3C"/>
                </a:solidFill>
                <a:latin typeface="Gill Sans MT"/>
                <a:cs typeface="Gill Sans MT"/>
              </a:rPr>
              <a:t>a</a:t>
            </a:r>
            <a:r>
              <a:rPr sz="2200" spc="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200" spc="-5" dirty="0">
                <a:solidFill>
                  <a:srgbClr val="3C3C3C"/>
                </a:solidFill>
                <a:latin typeface="Gill Sans MT"/>
                <a:cs typeface="Gill Sans MT"/>
              </a:rPr>
              <a:t>suitable</a:t>
            </a:r>
            <a:r>
              <a:rPr sz="2200" spc="3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200" spc="-5" dirty="0">
                <a:solidFill>
                  <a:srgbClr val="3C3C3C"/>
                </a:solidFill>
                <a:latin typeface="Gill Sans MT"/>
                <a:cs typeface="Gill Sans MT"/>
              </a:rPr>
              <a:t>set</a:t>
            </a:r>
            <a:r>
              <a:rPr sz="2200" spc="1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200" spc="-5" dirty="0">
                <a:solidFill>
                  <a:srgbClr val="3C3C3C"/>
                </a:solidFill>
                <a:latin typeface="Gill Sans MT"/>
                <a:cs typeface="Gill Sans MT"/>
              </a:rPr>
              <a:t>of</a:t>
            </a:r>
            <a:r>
              <a:rPr sz="2200" spc="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200" spc="-10" dirty="0">
                <a:solidFill>
                  <a:srgbClr val="3C3C3C"/>
                </a:solidFill>
                <a:latin typeface="Gill Sans MT"/>
                <a:cs typeface="Gill Sans MT"/>
              </a:rPr>
              <a:t>relations</a:t>
            </a:r>
            <a:r>
              <a:rPr sz="2200" spc="3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200" spc="-5" dirty="0">
                <a:solidFill>
                  <a:srgbClr val="3C3C3C"/>
                </a:solidFill>
                <a:latin typeface="Gill Sans MT"/>
                <a:cs typeface="Gill Sans MT"/>
              </a:rPr>
              <a:t>include</a:t>
            </a:r>
            <a:r>
              <a:rPr sz="2200" spc="2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200" spc="-5" dirty="0">
                <a:solidFill>
                  <a:srgbClr val="3C3C3C"/>
                </a:solidFill>
                <a:latin typeface="Gill Sans MT"/>
                <a:cs typeface="Gill Sans MT"/>
              </a:rPr>
              <a:t>the</a:t>
            </a:r>
            <a:r>
              <a:rPr sz="2200" spc="1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200" spc="-10" dirty="0">
                <a:solidFill>
                  <a:srgbClr val="3C3C3C"/>
                </a:solidFill>
                <a:latin typeface="Gill Sans MT"/>
                <a:cs typeface="Gill Sans MT"/>
              </a:rPr>
              <a:t>following:</a:t>
            </a:r>
            <a:endParaRPr sz="2200">
              <a:latin typeface="Gill Sans MT"/>
              <a:cs typeface="Gill Sans MT"/>
            </a:endParaRPr>
          </a:p>
          <a:p>
            <a:pPr marL="641985" lvl="1" indent="-305435" algn="just">
              <a:lnSpc>
                <a:spcPct val="100000"/>
              </a:lnSpc>
              <a:spcBef>
                <a:spcPts val="1090"/>
              </a:spcBef>
              <a:buClr>
                <a:srgbClr val="4590B8"/>
              </a:buClr>
              <a:buSzPct val="90000"/>
              <a:buFont typeface="Wingdings 2"/>
              <a:buChar char=""/>
              <a:tabLst>
                <a:tab pos="642620" algn="l"/>
              </a:tabLst>
            </a:pP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The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minimal</a:t>
            </a:r>
            <a:r>
              <a:rPr sz="2000" spc="-4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number</a:t>
            </a:r>
            <a:r>
              <a:rPr sz="2000" spc="-3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of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attributes</a:t>
            </a:r>
            <a:r>
              <a:rPr sz="2000" spc="-3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spc="5" dirty="0">
                <a:solidFill>
                  <a:srgbClr val="3C3C3C"/>
                </a:solidFill>
                <a:latin typeface="Gill Sans MT"/>
                <a:cs typeface="Gill Sans MT"/>
              </a:rPr>
              <a:t>necessary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to</a:t>
            </a:r>
            <a:r>
              <a:rPr sz="2000" spc="-1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spc="5" dirty="0">
                <a:solidFill>
                  <a:srgbClr val="3C3C3C"/>
                </a:solidFill>
                <a:latin typeface="Gill Sans MT"/>
                <a:cs typeface="Gill Sans MT"/>
              </a:rPr>
              <a:t>support</a:t>
            </a:r>
            <a:r>
              <a:rPr sz="2000" spc="-2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the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data</a:t>
            </a:r>
            <a:r>
              <a:rPr sz="2000" spc="-1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spc="-10" dirty="0">
                <a:solidFill>
                  <a:srgbClr val="3C3C3C"/>
                </a:solidFill>
                <a:latin typeface="Gill Sans MT"/>
                <a:cs typeface="Gill Sans MT"/>
              </a:rPr>
              <a:t>requirements</a:t>
            </a:r>
            <a:r>
              <a:rPr sz="2000" spc="-2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of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the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enterprise;</a:t>
            </a:r>
            <a:endParaRPr sz="2000">
              <a:latin typeface="Gill Sans MT"/>
              <a:cs typeface="Gill Sans MT"/>
            </a:endParaRPr>
          </a:p>
          <a:p>
            <a:pPr marL="641985" marR="6985" lvl="1" indent="-305435" algn="just">
              <a:lnSpc>
                <a:spcPct val="108000"/>
              </a:lnSpc>
              <a:spcBef>
                <a:spcPts val="885"/>
              </a:spcBef>
              <a:buClr>
                <a:srgbClr val="4590B8"/>
              </a:buClr>
              <a:buSzPct val="90000"/>
              <a:buFont typeface="Wingdings 2"/>
              <a:buChar char=""/>
              <a:tabLst>
                <a:tab pos="642620" algn="l"/>
              </a:tabLst>
            </a:pP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Attributes with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a 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close logical relationship (described as functional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dependency) </a:t>
            </a:r>
            <a:r>
              <a:rPr sz="2000" spc="-20" dirty="0">
                <a:solidFill>
                  <a:srgbClr val="3C3C3C"/>
                </a:solidFill>
                <a:latin typeface="Gill Sans MT"/>
                <a:cs typeface="Gill Sans MT"/>
              </a:rPr>
              <a:t>are 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found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in 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the same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relation;</a:t>
            </a:r>
            <a:endParaRPr sz="2000">
              <a:latin typeface="Gill Sans MT"/>
              <a:cs typeface="Gill Sans MT"/>
            </a:endParaRPr>
          </a:p>
          <a:p>
            <a:pPr marL="641985" marR="5715" lvl="1" indent="-305435" algn="just">
              <a:lnSpc>
                <a:spcPct val="100000"/>
              </a:lnSpc>
              <a:spcBef>
                <a:spcPts val="1135"/>
              </a:spcBef>
              <a:buClr>
                <a:srgbClr val="4590B8"/>
              </a:buClr>
              <a:buSzPct val="90000"/>
              <a:buFont typeface="Wingdings 2"/>
              <a:buChar char=""/>
              <a:tabLst>
                <a:tab pos="642620" algn="l"/>
              </a:tabLst>
            </a:pP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Minimal 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redundancy with each attribute </a:t>
            </a:r>
            <a:r>
              <a:rPr sz="2000" spc="-10" dirty="0">
                <a:solidFill>
                  <a:srgbClr val="3C3C3C"/>
                </a:solidFill>
                <a:latin typeface="Gill Sans MT"/>
                <a:cs typeface="Gill Sans MT"/>
              </a:rPr>
              <a:t>represented only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once 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with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the important exception 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of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 attributes</a:t>
            </a:r>
            <a:r>
              <a:rPr sz="2000" spc="-3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that</a:t>
            </a:r>
            <a:r>
              <a:rPr sz="2000" spc="-3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form</a:t>
            </a:r>
            <a:r>
              <a:rPr sz="2000" spc="-1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all</a:t>
            </a:r>
            <a:r>
              <a:rPr sz="2000" spc="-1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or</a:t>
            </a:r>
            <a:r>
              <a:rPr sz="2000" spc="-2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spc="5" dirty="0">
                <a:solidFill>
                  <a:srgbClr val="3C3C3C"/>
                </a:solidFill>
                <a:latin typeface="Gill Sans MT"/>
                <a:cs typeface="Gill Sans MT"/>
              </a:rPr>
              <a:t>part</a:t>
            </a:r>
            <a:r>
              <a:rPr sz="2000" spc="-1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of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spc="-10" dirty="0">
                <a:solidFill>
                  <a:srgbClr val="3C3C3C"/>
                </a:solidFill>
                <a:latin typeface="Gill Sans MT"/>
                <a:cs typeface="Gill Sans MT"/>
              </a:rPr>
              <a:t>foreign</a:t>
            </a:r>
            <a:r>
              <a:rPr sz="2000" spc="-3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spc="-20" dirty="0">
                <a:solidFill>
                  <a:srgbClr val="3C3C3C"/>
                </a:solidFill>
                <a:latin typeface="Gill Sans MT"/>
                <a:cs typeface="Gill Sans MT"/>
              </a:rPr>
              <a:t>keys,</a:t>
            </a:r>
            <a:r>
              <a:rPr sz="2000" spc="-19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which</a:t>
            </a:r>
            <a:r>
              <a:rPr sz="2000" spc="-2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spc="-15" dirty="0">
                <a:solidFill>
                  <a:srgbClr val="3C3C3C"/>
                </a:solidFill>
                <a:latin typeface="Gill Sans MT"/>
                <a:cs typeface="Gill Sans MT"/>
              </a:rPr>
              <a:t>are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essential</a:t>
            </a:r>
            <a:r>
              <a:rPr sz="2000" spc="-10" dirty="0">
                <a:solidFill>
                  <a:srgbClr val="3C3C3C"/>
                </a:solidFill>
                <a:latin typeface="Gill Sans MT"/>
                <a:cs typeface="Gill Sans MT"/>
              </a:rPr>
              <a:t> for</a:t>
            </a:r>
            <a:r>
              <a:rPr sz="2000" spc="-2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the</a:t>
            </a:r>
            <a:r>
              <a:rPr sz="2000" spc="-1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joining</a:t>
            </a:r>
            <a:r>
              <a:rPr sz="2000" spc="-4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of</a:t>
            </a:r>
            <a:r>
              <a:rPr sz="2000" spc="-1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related</a:t>
            </a:r>
            <a:r>
              <a:rPr sz="2000" spc="-1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relations.</a:t>
            </a:r>
            <a:endParaRPr sz="2000">
              <a:latin typeface="Gill Sans MT"/>
              <a:cs typeface="Gill Sans MT"/>
            </a:endParaRPr>
          </a:p>
          <a:p>
            <a:pPr marL="317500" marR="5080" indent="-304800" algn="just">
              <a:lnSpc>
                <a:spcPct val="100000"/>
              </a:lnSpc>
              <a:spcBef>
                <a:spcPts val="1120"/>
              </a:spcBef>
              <a:buClr>
                <a:srgbClr val="4590B8"/>
              </a:buClr>
              <a:buSzPct val="90909"/>
              <a:buFont typeface="Wingdings 2"/>
              <a:buChar char=""/>
              <a:tabLst>
                <a:tab pos="317500" algn="l"/>
              </a:tabLst>
            </a:pPr>
            <a:r>
              <a:rPr sz="2200" dirty="0">
                <a:solidFill>
                  <a:srgbClr val="3C3C3C"/>
                </a:solidFill>
                <a:latin typeface="Gill Sans MT"/>
                <a:cs typeface="Gill Sans MT"/>
              </a:rPr>
              <a:t>The </a:t>
            </a:r>
            <a:r>
              <a:rPr sz="2200" spc="-5" dirty="0">
                <a:solidFill>
                  <a:srgbClr val="3C3C3C"/>
                </a:solidFill>
                <a:latin typeface="Gill Sans MT"/>
                <a:cs typeface="Gill Sans MT"/>
              </a:rPr>
              <a:t>benefits of using a database that </a:t>
            </a:r>
            <a:r>
              <a:rPr sz="2200" dirty="0">
                <a:solidFill>
                  <a:srgbClr val="3C3C3C"/>
                </a:solidFill>
                <a:latin typeface="Gill Sans MT"/>
                <a:cs typeface="Gill Sans MT"/>
              </a:rPr>
              <a:t>has </a:t>
            </a:r>
            <a:r>
              <a:rPr sz="2200" spc="-5" dirty="0">
                <a:solidFill>
                  <a:srgbClr val="3C3C3C"/>
                </a:solidFill>
                <a:latin typeface="Gill Sans MT"/>
                <a:cs typeface="Gill Sans MT"/>
              </a:rPr>
              <a:t>a </a:t>
            </a:r>
            <a:r>
              <a:rPr sz="2200" dirty="0">
                <a:solidFill>
                  <a:srgbClr val="3C3C3C"/>
                </a:solidFill>
                <a:latin typeface="Gill Sans MT"/>
                <a:cs typeface="Gill Sans MT"/>
              </a:rPr>
              <a:t>suitable set </a:t>
            </a:r>
            <a:r>
              <a:rPr sz="2200" spc="-5" dirty="0">
                <a:solidFill>
                  <a:srgbClr val="3C3C3C"/>
                </a:solidFill>
                <a:latin typeface="Gill Sans MT"/>
                <a:cs typeface="Gill Sans MT"/>
              </a:rPr>
              <a:t>of relations </a:t>
            </a:r>
            <a:r>
              <a:rPr sz="2200" dirty="0">
                <a:solidFill>
                  <a:srgbClr val="3C3C3C"/>
                </a:solidFill>
                <a:latin typeface="Gill Sans MT"/>
                <a:cs typeface="Gill Sans MT"/>
              </a:rPr>
              <a:t>is </a:t>
            </a:r>
            <a:r>
              <a:rPr sz="2200" spc="-5" dirty="0">
                <a:solidFill>
                  <a:srgbClr val="3C3C3C"/>
                </a:solidFill>
                <a:latin typeface="Gill Sans MT"/>
                <a:cs typeface="Gill Sans MT"/>
              </a:rPr>
              <a:t>that the database </a:t>
            </a:r>
            <a:r>
              <a:rPr sz="2200" dirty="0">
                <a:solidFill>
                  <a:srgbClr val="3C3C3C"/>
                </a:solidFill>
                <a:latin typeface="Gill Sans MT"/>
                <a:cs typeface="Gill Sans MT"/>
              </a:rPr>
              <a:t>will be </a:t>
            </a:r>
            <a:r>
              <a:rPr sz="2200" spc="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200" spc="-5" dirty="0">
                <a:solidFill>
                  <a:srgbClr val="3C3C3C"/>
                </a:solidFill>
                <a:latin typeface="Gill Sans MT"/>
                <a:cs typeface="Gill Sans MT"/>
              </a:rPr>
              <a:t>easier </a:t>
            </a:r>
            <a:r>
              <a:rPr sz="2200" spc="-10" dirty="0">
                <a:solidFill>
                  <a:srgbClr val="3C3C3C"/>
                </a:solidFill>
                <a:latin typeface="Gill Sans MT"/>
                <a:cs typeface="Gill Sans MT"/>
              </a:rPr>
              <a:t>for </a:t>
            </a:r>
            <a:r>
              <a:rPr sz="2200" spc="-5" dirty="0">
                <a:solidFill>
                  <a:srgbClr val="3C3C3C"/>
                </a:solidFill>
                <a:latin typeface="Gill Sans MT"/>
                <a:cs typeface="Gill Sans MT"/>
              </a:rPr>
              <a:t>the user to </a:t>
            </a:r>
            <a:r>
              <a:rPr sz="2200" dirty="0">
                <a:solidFill>
                  <a:srgbClr val="3C3C3C"/>
                </a:solidFill>
                <a:latin typeface="Gill Sans MT"/>
                <a:cs typeface="Gill Sans MT"/>
              </a:rPr>
              <a:t>access and </a:t>
            </a:r>
            <a:r>
              <a:rPr sz="2200" spc="-5" dirty="0">
                <a:solidFill>
                  <a:srgbClr val="3C3C3C"/>
                </a:solidFill>
                <a:latin typeface="Gill Sans MT"/>
                <a:cs typeface="Gill Sans MT"/>
              </a:rPr>
              <a:t>maintain the data, and </a:t>
            </a:r>
            <a:r>
              <a:rPr sz="2200" spc="-20" dirty="0">
                <a:solidFill>
                  <a:srgbClr val="3C3C3C"/>
                </a:solidFill>
                <a:latin typeface="Gill Sans MT"/>
                <a:cs typeface="Gill Sans MT"/>
              </a:rPr>
              <a:t>take </a:t>
            </a:r>
            <a:r>
              <a:rPr sz="2200" dirty="0">
                <a:solidFill>
                  <a:srgbClr val="3C3C3C"/>
                </a:solidFill>
                <a:latin typeface="Gill Sans MT"/>
                <a:cs typeface="Gill Sans MT"/>
              </a:rPr>
              <a:t>up </a:t>
            </a:r>
            <a:r>
              <a:rPr sz="2200" spc="-5" dirty="0">
                <a:solidFill>
                  <a:srgbClr val="3C3C3C"/>
                </a:solidFill>
                <a:latin typeface="Gill Sans MT"/>
                <a:cs typeface="Gill Sans MT"/>
              </a:rPr>
              <a:t>minimal storage space on the </a:t>
            </a:r>
            <a:r>
              <a:rPr sz="220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200" spc="-5" dirty="0">
                <a:solidFill>
                  <a:srgbClr val="3C3C3C"/>
                </a:solidFill>
                <a:latin typeface="Gill Sans MT"/>
                <a:cs typeface="Gill Sans MT"/>
              </a:rPr>
              <a:t>storage</a:t>
            </a:r>
            <a:r>
              <a:rPr sz="2200" spc="2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200" spc="-5" dirty="0">
                <a:solidFill>
                  <a:srgbClr val="3C3C3C"/>
                </a:solidFill>
                <a:latin typeface="Gill Sans MT"/>
                <a:cs typeface="Gill Sans MT"/>
              </a:rPr>
              <a:t>device.</a:t>
            </a:r>
            <a:endParaRPr sz="2200">
              <a:latin typeface="Gill Sans MT"/>
              <a:cs typeface="Gill Sans MT"/>
            </a:endParaRPr>
          </a:p>
          <a:p>
            <a:pPr marL="317500" marR="6350" indent="-304800" algn="just">
              <a:lnSpc>
                <a:spcPct val="100000"/>
              </a:lnSpc>
              <a:spcBef>
                <a:spcPts val="1130"/>
              </a:spcBef>
              <a:buClr>
                <a:srgbClr val="4590B8"/>
              </a:buClr>
              <a:buSzPct val="90909"/>
              <a:buFont typeface="Wingdings 2"/>
              <a:buChar char=""/>
              <a:tabLst>
                <a:tab pos="317500" algn="l"/>
              </a:tabLst>
            </a:pPr>
            <a:r>
              <a:rPr sz="2200" spc="-5" dirty="0">
                <a:solidFill>
                  <a:srgbClr val="3C3C3C"/>
                </a:solidFill>
                <a:latin typeface="Gill Sans MT"/>
                <a:cs typeface="Gill Sans MT"/>
              </a:rPr>
              <a:t>When the database </a:t>
            </a:r>
            <a:r>
              <a:rPr sz="2200" dirty="0">
                <a:solidFill>
                  <a:srgbClr val="3C3C3C"/>
                </a:solidFill>
                <a:latin typeface="Gill Sans MT"/>
                <a:cs typeface="Gill Sans MT"/>
              </a:rPr>
              <a:t>is not </a:t>
            </a:r>
            <a:r>
              <a:rPr sz="2200" spc="-5" dirty="0">
                <a:solidFill>
                  <a:srgbClr val="3C3C3C"/>
                </a:solidFill>
                <a:latin typeface="Gill Sans MT"/>
                <a:cs typeface="Gill Sans MT"/>
              </a:rPr>
              <a:t>normalized </a:t>
            </a:r>
            <a:r>
              <a:rPr sz="2200" spc="-15" dirty="0">
                <a:solidFill>
                  <a:srgbClr val="3C3C3C"/>
                </a:solidFill>
                <a:latin typeface="Gill Sans MT"/>
                <a:cs typeface="Gill Sans MT"/>
              </a:rPr>
              <a:t>there </a:t>
            </a:r>
            <a:r>
              <a:rPr sz="2200" spc="-25" dirty="0">
                <a:solidFill>
                  <a:srgbClr val="3C3C3C"/>
                </a:solidFill>
                <a:latin typeface="Gill Sans MT"/>
                <a:cs typeface="Gill Sans MT"/>
              </a:rPr>
              <a:t>are </a:t>
            </a:r>
            <a:r>
              <a:rPr sz="2200" spc="-15" dirty="0">
                <a:solidFill>
                  <a:srgbClr val="3C3C3C"/>
                </a:solidFill>
                <a:latin typeface="Gill Sans MT"/>
                <a:cs typeface="Gill Sans MT"/>
              </a:rPr>
              <a:t>three </a:t>
            </a:r>
            <a:r>
              <a:rPr sz="2200" spc="-5" dirty="0">
                <a:solidFill>
                  <a:srgbClr val="3C3C3C"/>
                </a:solidFill>
                <a:latin typeface="Gill Sans MT"/>
                <a:cs typeface="Gill Sans MT"/>
              </a:rPr>
              <a:t>types of anomalies that </a:t>
            </a:r>
            <a:r>
              <a:rPr sz="2200" dirty="0">
                <a:solidFill>
                  <a:srgbClr val="3C3C3C"/>
                </a:solidFill>
                <a:latin typeface="Gill Sans MT"/>
                <a:cs typeface="Gill Sans MT"/>
              </a:rPr>
              <a:t>occur </a:t>
            </a:r>
            <a:r>
              <a:rPr sz="2200" spc="-5" dirty="0">
                <a:solidFill>
                  <a:srgbClr val="3C3C3C"/>
                </a:solidFill>
                <a:latin typeface="Gill Sans MT"/>
                <a:cs typeface="Gill Sans MT"/>
              </a:rPr>
              <a:t>in a </a:t>
            </a:r>
            <a:r>
              <a:rPr sz="2200" dirty="0">
                <a:solidFill>
                  <a:srgbClr val="3C3C3C"/>
                </a:solidFill>
                <a:latin typeface="Gill Sans MT"/>
                <a:cs typeface="Gill Sans MT"/>
              </a:rPr>
              <a:t> Database.</a:t>
            </a:r>
            <a:endParaRPr sz="2200">
              <a:latin typeface="Gill Sans MT"/>
              <a:cs typeface="Gill Sans M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97408" y="600455"/>
            <a:ext cx="10985500" cy="1259205"/>
          </a:xfrm>
          <a:custGeom>
            <a:avLst/>
            <a:gdLst/>
            <a:ahLst/>
            <a:cxnLst/>
            <a:rect l="l" t="t" r="r" b="b"/>
            <a:pathLst>
              <a:path w="10985500" h="1259205">
                <a:moveTo>
                  <a:pt x="10984992" y="0"/>
                </a:moveTo>
                <a:lnTo>
                  <a:pt x="0" y="0"/>
                </a:lnTo>
                <a:lnTo>
                  <a:pt x="0" y="1258824"/>
                </a:lnTo>
                <a:lnTo>
                  <a:pt x="10984992" y="1258824"/>
                </a:lnTo>
                <a:lnTo>
                  <a:pt x="10984992" y="0"/>
                </a:lnTo>
                <a:close/>
              </a:path>
            </a:pathLst>
          </a:custGeom>
          <a:solidFill>
            <a:srgbClr val="1A315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04621" y="6507281"/>
            <a:ext cx="95371" cy="146022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8483345" y="6444488"/>
            <a:ext cx="12509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latin typeface="Arial"/>
                <a:cs typeface="Arial"/>
              </a:rPr>
              <a:t>7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004060" y="861060"/>
            <a:ext cx="5594350" cy="787400"/>
            <a:chOff x="2004060" y="861060"/>
            <a:chExt cx="5594350" cy="787400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004060" y="861060"/>
              <a:ext cx="1363217" cy="787146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900172" y="861060"/>
              <a:ext cx="581405" cy="787146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014472" y="861060"/>
              <a:ext cx="4583430" cy="787146"/>
            </a:xfrm>
            <a:prstGeom prst="rect">
              <a:avLst/>
            </a:prstGeom>
          </p:spPr>
        </p:pic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597408" y="949198"/>
            <a:ext cx="109855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627505">
              <a:lnSpc>
                <a:spcPct val="100000"/>
              </a:lnSpc>
              <a:spcBef>
                <a:spcPts val="95"/>
              </a:spcBef>
            </a:pPr>
            <a:r>
              <a:rPr sz="2800" b="0" spc="-10" dirty="0">
                <a:latin typeface="Gill Sans MT"/>
                <a:cs typeface="Gill Sans MT"/>
              </a:rPr>
              <a:t>WELL-STRUCTURED</a:t>
            </a:r>
            <a:r>
              <a:rPr sz="2800" b="0" spc="-15" dirty="0">
                <a:latin typeface="Gill Sans MT"/>
                <a:cs typeface="Gill Sans MT"/>
              </a:rPr>
              <a:t> </a:t>
            </a:r>
            <a:r>
              <a:rPr sz="2800" b="0" spc="-35" dirty="0">
                <a:latin typeface="Gill Sans MT"/>
                <a:cs typeface="Gill Sans MT"/>
              </a:rPr>
              <a:t>RELATIONS</a:t>
            </a:r>
            <a:endParaRPr sz="2800">
              <a:latin typeface="Gill Sans MT"/>
              <a:cs typeface="Gill Sans MT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530351" y="1914144"/>
            <a:ext cx="10999470" cy="3233420"/>
            <a:chOff x="530351" y="1914144"/>
            <a:chExt cx="10999470" cy="3233420"/>
          </a:xfrm>
        </p:grpSpPr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08377" y="2152287"/>
              <a:ext cx="132378" cy="127141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00099" y="1914144"/>
              <a:ext cx="10729722" cy="677417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00099" y="2243328"/>
              <a:ext cx="7002018" cy="677418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30351" y="2796540"/>
              <a:ext cx="488429" cy="553974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00099" y="2721863"/>
              <a:ext cx="3632454" cy="677417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80871" y="3272027"/>
              <a:ext cx="409194" cy="46405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155191" y="3208019"/>
              <a:ext cx="2522982" cy="567689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339084" y="3208019"/>
              <a:ext cx="467118" cy="567689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467100" y="3208019"/>
              <a:ext cx="5785865" cy="567689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80871" y="3683508"/>
              <a:ext cx="409194" cy="464057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155191" y="3619500"/>
              <a:ext cx="2475738" cy="567689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291840" y="3619500"/>
              <a:ext cx="467118" cy="567689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419856" y="3619500"/>
              <a:ext cx="7646670" cy="567689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155191" y="3893820"/>
              <a:ext cx="1540002" cy="567689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80871" y="4369308"/>
              <a:ext cx="409194" cy="464057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155191" y="4305300"/>
              <a:ext cx="2923794" cy="567689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739895" y="4305300"/>
              <a:ext cx="467118" cy="567689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3867911" y="4305300"/>
              <a:ext cx="6936486" cy="567689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155191" y="4579620"/>
              <a:ext cx="1463802" cy="567689"/>
            </a:xfrm>
            <a:prstGeom prst="rect">
              <a:avLst/>
            </a:prstGeom>
          </p:spPr>
        </p:pic>
      </p:grpSp>
      <p:sp>
        <p:nvSpPr>
          <p:cNvPr id="30" name="object 30"/>
          <p:cNvSpPr txBox="1"/>
          <p:nvPr/>
        </p:nvSpPr>
        <p:spPr>
          <a:xfrm>
            <a:off x="673709" y="1988946"/>
            <a:ext cx="10602595" cy="410972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317500" marR="5080" indent="-304800">
              <a:lnSpc>
                <a:spcPts val="2590"/>
              </a:lnSpc>
              <a:spcBef>
                <a:spcPts val="425"/>
              </a:spcBef>
              <a:buClr>
                <a:srgbClr val="4590B8"/>
              </a:buClr>
              <a:buSzPct val="91666"/>
              <a:buFont typeface="Wingdings 2"/>
              <a:buChar char=""/>
              <a:tabLst>
                <a:tab pos="316865" algn="l"/>
                <a:tab pos="317500" algn="l"/>
              </a:tabLst>
            </a:pPr>
            <a:r>
              <a:rPr sz="2400" dirty="0">
                <a:latin typeface="Gill Sans MT"/>
                <a:cs typeface="Gill Sans MT"/>
              </a:rPr>
              <a:t>A </a:t>
            </a:r>
            <a:r>
              <a:rPr sz="2400" spc="-55" dirty="0">
                <a:latin typeface="Gill Sans MT"/>
                <a:cs typeface="Gill Sans MT"/>
              </a:rPr>
              <a:t>r</a:t>
            </a:r>
            <a:r>
              <a:rPr sz="2400" dirty="0">
                <a:latin typeface="Gill Sans MT"/>
                <a:cs typeface="Gill Sans MT"/>
              </a:rPr>
              <a:t>elation</a:t>
            </a:r>
            <a:r>
              <a:rPr sz="2400" spc="-15" dirty="0">
                <a:latin typeface="Gill Sans MT"/>
                <a:cs typeface="Gill Sans MT"/>
              </a:rPr>
              <a:t> </a:t>
            </a:r>
            <a:r>
              <a:rPr sz="2400" dirty="0">
                <a:latin typeface="Gill Sans MT"/>
                <a:cs typeface="Gill Sans MT"/>
              </a:rPr>
              <a:t>that contains </a:t>
            </a:r>
            <a:r>
              <a:rPr sz="2400" spc="-10" dirty="0">
                <a:latin typeface="Gill Sans MT"/>
                <a:cs typeface="Gill Sans MT"/>
              </a:rPr>
              <a:t>m</a:t>
            </a:r>
            <a:r>
              <a:rPr sz="2400" spc="-5" dirty="0">
                <a:latin typeface="Gill Sans MT"/>
                <a:cs typeface="Gill Sans MT"/>
              </a:rPr>
              <a:t>inima</a:t>
            </a:r>
            <a:r>
              <a:rPr sz="2400" dirty="0">
                <a:latin typeface="Gill Sans MT"/>
                <a:cs typeface="Gill Sans MT"/>
              </a:rPr>
              <a:t>l</a:t>
            </a:r>
            <a:r>
              <a:rPr sz="2400" spc="-5" dirty="0">
                <a:latin typeface="Gill Sans MT"/>
                <a:cs typeface="Gill Sans MT"/>
              </a:rPr>
              <a:t> </a:t>
            </a:r>
            <a:r>
              <a:rPr sz="2400" dirty="0">
                <a:latin typeface="Gill Sans MT"/>
                <a:cs typeface="Gill Sans MT"/>
              </a:rPr>
              <a:t>d</a:t>
            </a:r>
            <a:r>
              <a:rPr sz="2400" spc="-15" dirty="0">
                <a:latin typeface="Gill Sans MT"/>
                <a:cs typeface="Gill Sans MT"/>
              </a:rPr>
              <a:t>a</a:t>
            </a:r>
            <a:r>
              <a:rPr sz="2400" dirty="0">
                <a:latin typeface="Gill Sans MT"/>
                <a:cs typeface="Gill Sans MT"/>
              </a:rPr>
              <a:t>ta </a:t>
            </a:r>
            <a:r>
              <a:rPr sz="2400" spc="-50" dirty="0">
                <a:latin typeface="Gill Sans MT"/>
                <a:cs typeface="Gill Sans MT"/>
              </a:rPr>
              <a:t>r</a:t>
            </a:r>
            <a:r>
              <a:rPr sz="2400" dirty="0">
                <a:latin typeface="Gill Sans MT"/>
                <a:cs typeface="Gill Sans MT"/>
              </a:rPr>
              <a:t>edundancy and</a:t>
            </a:r>
            <a:r>
              <a:rPr sz="2400" spc="-15" dirty="0">
                <a:latin typeface="Gill Sans MT"/>
                <a:cs typeface="Gill Sans MT"/>
              </a:rPr>
              <a:t> </a:t>
            </a:r>
            <a:r>
              <a:rPr sz="2400" dirty="0">
                <a:latin typeface="Gill Sans MT"/>
                <a:cs typeface="Gill Sans MT"/>
              </a:rPr>
              <a:t>all</a:t>
            </a:r>
            <a:r>
              <a:rPr sz="2400" spc="-30" dirty="0">
                <a:latin typeface="Gill Sans MT"/>
                <a:cs typeface="Gill Sans MT"/>
              </a:rPr>
              <a:t>o</a:t>
            </a:r>
            <a:r>
              <a:rPr sz="2400" spc="-5" dirty="0">
                <a:latin typeface="Gill Sans MT"/>
                <a:cs typeface="Gill Sans MT"/>
              </a:rPr>
              <a:t>w</a:t>
            </a:r>
            <a:r>
              <a:rPr sz="2400" dirty="0">
                <a:latin typeface="Gill Sans MT"/>
                <a:cs typeface="Gill Sans MT"/>
              </a:rPr>
              <a:t>s users to</a:t>
            </a:r>
            <a:r>
              <a:rPr sz="2400" spc="-15" dirty="0">
                <a:latin typeface="Gill Sans MT"/>
                <a:cs typeface="Gill Sans MT"/>
              </a:rPr>
              <a:t> </a:t>
            </a:r>
            <a:r>
              <a:rPr sz="2400" spc="-5" dirty="0">
                <a:latin typeface="Gill Sans MT"/>
                <a:cs typeface="Gill Sans MT"/>
              </a:rPr>
              <a:t>inse</a:t>
            </a:r>
            <a:r>
              <a:rPr sz="2400" spc="45" dirty="0">
                <a:latin typeface="Gill Sans MT"/>
                <a:cs typeface="Gill Sans MT"/>
              </a:rPr>
              <a:t>r</a:t>
            </a:r>
            <a:r>
              <a:rPr sz="2400" dirty="0">
                <a:latin typeface="Gill Sans MT"/>
                <a:cs typeface="Gill Sans MT"/>
              </a:rPr>
              <a:t>t,</a:t>
            </a:r>
            <a:r>
              <a:rPr sz="2400" spc="-235" dirty="0">
                <a:latin typeface="Gill Sans MT"/>
                <a:cs typeface="Gill Sans MT"/>
              </a:rPr>
              <a:t> </a:t>
            </a:r>
            <a:r>
              <a:rPr sz="2400" spc="-10" dirty="0">
                <a:latin typeface="Gill Sans MT"/>
                <a:cs typeface="Gill Sans MT"/>
              </a:rPr>
              <a:t>d</a:t>
            </a:r>
            <a:r>
              <a:rPr sz="2400" dirty="0">
                <a:latin typeface="Gill Sans MT"/>
                <a:cs typeface="Gill Sans MT"/>
              </a:rPr>
              <a:t>ele</a:t>
            </a:r>
            <a:r>
              <a:rPr sz="2400" spc="5" dirty="0">
                <a:latin typeface="Gill Sans MT"/>
                <a:cs typeface="Gill Sans MT"/>
              </a:rPr>
              <a:t>t</a:t>
            </a:r>
            <a:r>
              <a:rPr sz="2400" spc="45" dirty="0">
                <a:latin typeface="Gill Sans MT"/>
                <a:cs typeface="Gill Sans MT"/>
              </a:rPr>
              <a:t>e</a:t>
            </a:r>
            <a:r>
              <a:rPr sz="2400" dirty="0">
                <a:latin typeface="Gill Sans MT"/>
                <a:cs typeface="Gill Sans MT"/>
              </a:rPr>
              <a:t>,  and update </a:t>
            </a:r>
            <a:r>
              <a:rPr sz="2400" spc="-30" dirty="0">
                <a:latin typeface="Gill Sans MT"/>
                <a:cs typeface="Gill Sans MT"/>
              </a:rPr>
              <a:t>rows</a:t>
            </a:r>
            <a:r>
              <a:rPr sz="2400" dirty="0">
                <a:latin typeface="Gill Sans MT"/>
                <a:cs typeface="Gill Sans MT"/>
              </a:rPr>
              <a:t> </a:t>
            </a:r>
            <a:r>
              <a:rPr sz="2400" spc="-5" dirty="0">
                <a:latin typeface="Gill Sans MT"/>
                <a:cs typeface="Gill Sans MT"/>
              </a:rPr>
              <a:t>without</a:t>
            </a:r>
            <a:r>
              <a:rPr sz="2400" spc="-20" dirty="0">
                <a:latin typeface="Gill Sans MT"/>
                <a:cs typeface="Gill Sans MT"/>
              </a:rPr>
              <a:t> </a:t>
            </a:r>
            <a:r>
              <a:rPr sz="2400" dirty="0">
                <a:latin typeface="Gill Sans MT"/>
                <a:cs typeface="Gill Sans MT"/>
              </a:rPr>
              <a:t>causing</a:t>
            </a:r>
            <a:r>
              <a:rPr sz="2400" spc="-10" dirty="0">
                <a:latin typeface="Gill Sans MT"/>
                <a:cs typeface="Gill Sans MT"/>
              </a:rPr>
              <a:t> </a:t>
            </a:r>
            <a:r>
              <a:rPr sz="2400" dirty="0">
                <a:latin typeface="Gill Sans MT"/>
                <a:cs typeface="Gill Sans MT"/>
              </a:rPr>
              <a:t>data </a:t>
            </a:r>
            <a:r>
              <a:rPr sz="2400" spc="-5" dirty="0">
                <a:latin typeface="Gill Sans MT"/>
                <a:cs typeface="Gill Sans MT"/>
              </a:rPr>
              <a:t>inconsistencies</a:t>
            </a:r>
            <a:endParaRPr sz="2400">
              <a:latin typeface="Gill Sans MT"/>
              <a:cs typeface="Gill Sans MT"/>
            </a:endParaRPr>
          </a:p>
          <a:p>
            <a:pPr marL="317500" indent="-304800">
              <a:lnSpc>
                <a:spcPct val="100000"/>
              </a:lnSpc>
              <a:spcBef>
                <a:spcPts val="855"/>
              </a:spcBef>
              <a:buClr>
                <a:srgbClr val="4590B8"/>
              </a:buClr>
              <a:buSzPct val="91666"/>
              <a:buFont typeface="Wingdings 2"/>
              <a:buChar char=""/>
              <a:tabLst>
                <a:tab pos="316865" algn="l"/>
                <a:tab pos="317500" algn="l"/>
              </a:tabLst>
            </a:pPr>
            <a:r>
              <a:rPr sz="2400" spc="-10" dirty="0">
                <a:latin typeface="Gill Sans MT"/>
                <a:cs typeface="Gill Sans MT"/>
              </a:rPr>
              <a:t>Goal</a:t>
            </a:r>
            <a:r>
              <a:rPr sz="2400" spc="-15" dirty="0">
                <a:latin typeface="Gill Sans MT"/>
                <a:cs typeface="Gill Sans MT"/>
              </a:rPr>
              <a:t> </a:t>
            </a:r>
            <a:r>
              <a:rPr sz="2400" spc="-5" dirty="0">
                <a:latin typeface="Gill Sans MT"/>
                <a:cs typeface="Gill Sans MT"/>
              </a:rPr>
              <a:t>is</a:t>
            </a:r>
            <a:r>
              <a:rPr sz="2400" spc="-15" dirty="0">
                <a:latin typeface="Gill Sans MT"/>
                <a:cs typeface="Gill Sans MT"/>
              </a:rPr>
              <a:t> </a:t>
            </a:r>
            <a:r>
              <a:rPr sz="2400" dirty="0">
                <a:latin typeface="Gill Sans MT"/>
                <a:cs typeface="Gill Sans MT"/>
              </a:rPr>
              <a:t>to</a:t>
            </a:r>
            <a:r>
              <a:rPr sz="2400" spc="-25" dirty="0">
                <a:latin typeface="Gill Sans MT"/>
                <a:cs typeface="Gill Sans MT"/>
              </a:rPr>
              <a:t> </a:t>
            </a:r>
            <a:r>
              <a:rPr sz="2400" spc="-30" dirty="0">
                <a:latin typeface="Gill Sans MT"/>
                <a:cs typeface="Gill Sans MT"/>
              </a:rPr>
              <a:t>avoid</a:t>
            </a:r>
            <a:r>
              <a:rPr sz="2400" spc="-25" dirty="0">
                <a:latin typeface="Gill Sans MT"/>
                <a:cs typeface="Gill Sans MT"/>
              </a:rPr>
              <a:t> </a:t>
            </a:r>
            <a:r>
              <a:rPr sz="2400" spc="-5" dirty="0">
                <a:latin typeface="Gill Sans MT"/>
                <a:cs typeface="Gill Sans MT"/>
              </a:rPr>
              <a:t>anomalies</a:t>
            </a:r>
            <a:endParaRPr sz="2400">
              <a:latin typeface="Gill Sans MT"/>
              <a:cs typeface="Gill Sans MT"/>
            </a:endParaRPr>
          </a:p>
          <a:p>
            <a:pPr marL="641985" lvl="1" indent="-305435">
              <a:lnSpc>
                <a:spcPct val="100000"/>
              </a:lnSpc>
              <a:spcBef>
                <a:spcPts val="855"/>
              </a:spcBef>
              <a:buClr>
                <a:srgbClr val="4590B8"/>
              </a:buClr>
              <a:buSzPct val="90000"/>
              <a:buFont typeface="Wingdings 2"/>
              <a:buChar char=""/>
              <a:tabLst>
                <a:tab pos="641985" algn="l"/>
                <a:tab pos="642620" algn="l"/>
              </a:tabLst>
            </a:pPr>
            <a:r>
              <a:rPr sz="2000" b="1" spc="5" dirty="0">
                <a:latin typeface="Gill Sans MT"/>
                <a:cs typeface="Gill Sans MT"/>
              </a:rPr>
              <a:t>Insertion</a:t>
            </a:r>
            <a:r>
              <a:rPr sz="2000" b="1" spc="-240" dirty="0">
                <a:latin typeface="Gill Sans MT"/>
                <a:cs typeface="Gill Sans MT"/>
              </a:rPr>
              <a:t> </a:t>
            </a:r>
            <a:r>
              <a:rPr sz="2000" b="1" spc="-5" dirty="0">
                <a:latin typeface="Gill Sans MT"/>
                <a:cs typeface="Gill Sans MT"/>
              </a:rPr>
              <a:t>Anomaly</a:t>
            </a:r>
            <a:r>
              <a:rPr sz="2000" spc="-5" dirty="0">
                <a:latin typeface="Gill Sans MT"/>
                <a:cs typeface="Gill Sans MT"/>
              </a:rPr>
              <a:t>–adding</a:t>
            </a:r>
            <a:r>
              <a:rPr sz="2000" spc="-15" dirty="0">
                <a:latin typeface="Gill Sans MT"/>
                <a:cs typeface="Gill Sans MT"/>
              </a:rPr>
              <a:t> </a:t>
            </a:r>
            <a:r>
              <a:rPr sz="2000" spc="-10" dirty="0">
                <a:latin typeface="Gill Sans MT"/>
                <a:cs typeface="Gill Sans MT"/>
              </a:rPr>
              <a:t>new</a:t>
            </a:r>
            <a:r>
              <a:rPr sz="2000" spc="-20" dirty="0">
                <a:latin typeface="Gill Sans MT"/>
                <a:cs typeface="Gill Sans MT"/>
              </a:rPr>
              <a:t> </a:t>
            </a:r>
            <a:r>
              <a:rPr sz="2000" spc="-25" dirty="0">
                <a:latin typeface="Gill Sans MT"/>
                <a:cs typeface="Gill Sans MT"/>
              </a:rPr>
              <a:t>rows</a:t>
            </a:r>
            <a:r>
              <a:rPr sz="2000" spc="-5" dirty="0">
                <a:latin typeface="Gill Sans MT"/>
                <a:cs typeface="Gill Sans MT"/>
              </a:rPr>
              <a:t> </a:t>
            </a:r>
            <a:r>
              <a:rPr sz="2000" spc="-15" dirty="0">
                <a:latin typeface="Gill Sans MT"/>
                <a:cs typeface="Gill Sans MT"/>
              </a:rPr>
              <a:t>forces</a:t>
            </a:r>
            <a:r>
              <a:rPr sz="2000" spc="-5" dirty="0">
                <a:latin typeface="Gill Sans MT"/>
                <a:cs typeface="Gill Sans MT"/>
              </a:rPr>
              <a:t> </a:t>
            </a:r>
            <a:r>
              <a:rPr sz="2000" dirty="0">
                <a:latin typeface="Gill Sans MT"/>
                <a:cs typeface="Gill Sans MT"/>
              </a:rPr>
              <a:t>user</a:t>
            </a:r>
            <a:r>
              <a:rPr sz="2000" spc="-15" dirty="0">
                <a:latin typeface="Gill Sans MT"/>
                <a:cs typeface="Gill Sans MT"/>
              </a:rPr>
              <a:t> </a:t>
            </a:r>
            <a:r>
              <a:rPr sz="2000" dirty="0">
                <a:latin typeface="Gill Sans MT"/>
                <a:cs typeface="Gill Sans MT"/>
              </a:rPr>
              <a:t>to</a:t>
            </a:r>
            <a:r>
              <a:rPr sz="2000" spc="-10" dirty="0">
                <a:latin typeface="Gill Sans MT"/>
                <a:cs typeface="Gill Sans MT"/>
              </a:rPr>
              <a:t> create </a:t>
            </a:r>
            <a:r>
              <a:rPr sz="2000" dirty="0">
                <a:latin typeface="Gill Sans MT"/>
                <a:cs typeface="Gill Sans MT"/>
              </a:rPr>
              <a:t>duplicate</a:t>
            </a:r>
            <a:r>
              <a:rPr sz="2000" spc="-45" dirty="0">
                <a:latin typeface="Gill Sans MT"/>
                <a:cs typeface="Gill Sans MT"/>
              </a:rPr>
              <a:t> </a:t>
            </a:r>
            <a:r>
              <a:rPr sz="2000" dirty="0">
                <a:latin typeface="Gill Sans MT"/>
                <a:cs typeface="Gill Sans MT"/>
              </a:rPr>
              <a:t>data</a:t>
            </a:r>
            <a:endParaRPr sz="2000">
              <a:latin typeface="Gill Sans MT"/>
              <a:cs typeface="Gill Sans MT"/>
            </a:endParaRPr>
          </a:p>
          <a:p>
            <a:pPr marL="641985" lvl="1" indent="-305435">
              <a:lnSpc>
                <a:spcPts val="2280"/>
              </a:lnSpc>
              <a:spcBef>
                <a:spcPts val="840"/>
              </a:spcBef>
              <a:buClr>
                <a:srgbClr val="4590B8"/>
              </a:buClr>
              <a:buSzPct val="90000"/>
              <a:buFont typeface="Wingdings 2"/>
              <a:buChar char=""/>
              <a:tabLst>
                <a:tab pos="641985" algn="l"/>
                <a:tab pos="642620" algn="l"/>
              </a:tabLst>
            </a:pPr>
            <a:r>
              <a:rPr sz="2000" b="1" dirty="0">
                <a:latin typeface="Gill Sans MT"/>
                <a:cs typeface="Gill Sans MT"/>
              </a:rPr>
              <a:t>Deletion</a:t>
            </a:r>
            <a:r>
              <a:rPr sz="2000" b="1" spc="-240" dirty="0">
                <a:latin typeface="Gill Sans MT"/>
                <a:cs typeface="Gill Sans MT"/>
              </a:rPr>
              <a:t> </a:t>
            </a:r>
            <a:r>
              <a:rPr sz="2000" b="1" dirty="0">
                <a:latin typeface="Gill Sans MT"/>
                <a:cs typeface="Gill Sans MT"/>
              </a:rPr>
              <a:t>Anomaly</a:t>
            </a:r>
            <a:r>
              <a:rPr sz="2000" dirty="0">
                <a:latin typeface="Gill Sans MT"/>
                <a:cs typeface="Gill Sans MT"/>
              </a:rPr>
              <a:t>–deleting</a:t>
            </a:r>
            <a:r>
              <a:rPr sz="2000" spc="-40" dirty="0">
                <a:latin typeface="Gill Sans MT"/>
                <a:cs typeface="Gill Sans MT"/>
              </a:rPr>
              <a:t> </a:t>
            </a:r>
            <a:r>
              <a:rPr sz="2000" spc="-20" dirty="0">
                <a:latin typeface="Gill Sans MT"/>
                <a:cs typeface="Gill Sans MT"/>
              </a:rPr>
              <a:t>rows</a:t>
            </a:r>
            <a:r>
              <a:rPr sz="2000" spc="-10" dirty="0">
                <a:latin typeface="Gill Sans MT"/>
                <a:cs typeface="Gill Sans MT"/>
              </a:rPr>
              <a:t> </a:t>
            </a:r>
            <a:r>
              <a:rPr sz="2000" spc="-30" dirty="0">
                <a:latin typeface="Gill Sans MT"/>
                <a:cs typeface="Gill Sans MT"/>
              </a:rPr>
              <a:t>may</a:t>
            </a:r>
            <a:r>
              <a:rPr sz="2000" spc="-20" dirty="0">
                <a:latin typeface="Gill Sans MT"/>
                <a:cs typeface="Gill Sans MT"/>
              </a:rPr>
              <a:t> </a:t>
            </a:r>
            <a:r>
              <a:rPr sz="2000" dirty="0">
                <a:latin typeface="Gill Sans MT"/>
                <a:cs typeface="Gill Sans MT"/>
              </a:rPr>
              <a:t>cause</a:t>
            </a:r>
            <a:r>
              <a:rPr sz="2000" spc="-20" dirty="0">
                <a:latin typeface="Gill Sans MT"/>
                <a:cs typeface="Gill Sans MT"/>
              </a:rPr>
              <a:t> </a:t>
            </a:r>
            <a:r>
              <a:rPr sz="2000" dirty="0">
                <a:latin typeface="Gill Sans MT"/>
                <a:cs typeface="Gill Sans MT"/>
              </a:rPr>
              <a:t>a</a:t>
            </a:r>
            <a:r>
              <a:rPr sz="2000" spc="-10" dirty="0">
                <a:latin typeface="Gill Sans MT"/>
                <a:cs typeface="Gill Sans MT"/>
              </a:rPr>
              <a:t> </a:t>
            </a:r>
            <a:r>
              <a:rPr sz="2000" spc="-5" dirty="0">
                <a:latin typeface="Gill Sans MT"/>
                <a:cs typeface="Gill Sans MT"/>
              </a:rPr>
              <a:t>loss of</a:t>
            </a:r>
            <a:r>
              <a:rPr sz="2000" spc="-15" dirty="0">
                <a:latin typeface="Gill Sans MT"/>
                <a:cs typeface="Gill Sans MT"/>
              </a:rPr>
              <a:t> </a:t>
            </a:r>
            <a:r>
              <a:rPr sz="2000" dirty="0">
                <a:latin typeface="Gill Sans MT"/>
                <a:cs typeface="Gill Sans MT"/>
              </a:rPr>
              <a:t>data</a:t>
            </a:r>
            <a:r>
              <a:rPr sz="2000" spc="-20" dirty="0">
                <a:latin typeface="Gill Sans MT"/>
                <a:cs typeface="Gill Sans MT"/>
              </a:rPr>
              <a:t> </a:t>
            </a:r>
            <a:r>
              <a:rPr sz="2000" dirty="0">
                <a:latin typeface="Gill Sans MT"/>
                <a:cs typeface="Gill Sans MT"/>
              </a:rPr>
              <a:t>that</a:t>
            </a:r>
            <a:r>
              <a:rPr sz="2000" spc="-30" dirty="0">
                <a:latin typeface="Gill Sans MT"/>
                <a:cs typeface="Gill Sans MT"/>
              </a:rPr>
              <a:t> </a:t>
            </a:r>
            <a:r>
              <a:rPr sz="2000" spc="-5" dirty="0">
                <a:latin typeface="Gill Sans MT"/>
                <a:cs typeface="Gill Sans MT"/>
              </a:rPr>
              <a:t>would</a:t>
            </a:r>
            <a:r>
              <a:rPr sz="2000" spc="-25" dirty="0">
                <a:latin typeface="Gill Sans MT"/>
                <a:cs typeface="Gill Sans MT"/>
              </a:rPr>
              <a:t> </a:t>
            </a:r>
            <a:r>
              <a:rPr sz="2000" dirty="0">
                <a:latin typeface="Gill Sans MT"/>
                <a:cs typeface="Gill Sans MT"/>
              </a:rPr>
              <a:t>be</a:t>
            </a:r>
            <a:r>
              <a:rPr sz="2000" spc="-15" dirty="0">
                <a:latin typeface="Gill Sans MT"/>
                <a:cs typeface="Gill Sans MT"/>
              </a:rPr>
              <a:t> </a:t>
            </a:r>
            <a:r>
              <a:rPr sz="2000" dirty="0">
                <a:latin typeface="Gill Sans MT"/>
                <a:cs typeface="Gill Sans MT"/>
              </a:rPr>
              <a:t>needed </a:t>
            </a:r>
            <a:r>
              <a:rPr sz="2000" spc="-10" dirty="0">
                <a:latin typeface="Gill Sans MT"/>
                <a:cs typeface="Gill Sans MT"/>
              </a:rPr>
              <a:t>for</a:t>
            </a:r>
            <a:r>
              <a:rPr sz="2000" spc="-20" dirty="0">
                <a:latin typeface="Gill Sans MT"/>
                <a:cs typeface="Gill Sans MT"/>
              </a:rPr>
              <a:t> </a:t>
            </a:r>
            <a:r>
              <a:rPr sz="2000" dirty="0">
                <a:latin typeface="Gill Sans MT"/>
                <a:cs typeface="Gill Sans MT"/>
              </a:rPr>
              <a:t>other</a:t>
            </a:r>
            <a:endParaRPr sz="2000">
              <a:latin typeface="Gill Sans MT"/>
              <a:cs typeface="Gill Sans MT"/>
            </a:endParaRPr>
          </a:p>
          <a:p>
            <a:pPr marL="641985">
              <a:lnSpc>
                <a:spcPts val="2280"/>
              </a:lnSpc>
            </a:pPr>
            <a:r>
              <a:rPr sz="2000" spc="-5" dirty="0">
                <a:latin typeface="Gill Sans MT"/>
                <a:cs typeface="Gill Sans MT"/>
              </a:rPr>
              <a:t>future</a:t>
            </a:r>
            <a:r>
              <a:rPr sz="2000" spc="-75" dirty="0">
                <a:latin typeface="Gill Sans MT"/>
                <a:cs typeface="Gill Sans MT"/>
              </a:rPr>
              <a:t> </a:t>
            </a:r>
            <a:r>
              <a:rPr sz="2000" spc="-25" dirty="0">
                <a:latin typeface="Gill Sans MT"/>
                <a:cs typeface="Gill Sans MT"/>
              </a:rPr>
              <a:t>rows</a:t>
            </a:r>
            <a:endParaRPr sz="2000">
              <a:latin typeface="Gill Sans MT"/>
              <a:cs typeface="Gill Sans MT"/>
            </a:endParaRPr>
          </a:p>
          <a:p>
            <a:pPr marL="641985" marR="711835" lvl="1" indent="-305435">
              <a:lnSpc>
                <a:spcPts val="2160"/>
              </a:lnSpc>
              <a:spcBef>
                <a:spcPts val="1115"/>
              </a:spcBef>
              <a:buClr>
                <a:srgbClr val="4590B8"/>
              </a:buClr>
              <a:buSzPct val="90000"/>
              <a:buFont typeface="Wingdings 2"/>
              <a:buChar char=""/>
              <a:tabLst>
                <a:tab pos="641985" algn="l"/>
                <a:tab pos="642620" algn="l"/>
              </a:tabLst>
            </a:pPr>
            <a:r>
              <a:rPr sz="2000" b="1" dirty="0">
                <a:latin typeface="Gill Sans MT"/>
                <a:cs typeface="Gill Sans MT"/>
              </a:rPr>
              <a:t>Modification</a:t>
            </a:r>
            <a:r>
              <a:rPr sz="2000" b="1" spc="-240" dirty="0">
                <a:latin typeface="Gill Sans MT"/>
                <a:cs typeface="Gill Sans MT"/>
              </a:rPr>
              <a:t> </a:t>
            </a:r>
            <a:r>
              <a:rPr sz="2000" b="1" spc="-5" dirty="0">
                <a:latin typeface="Gill Sans MT"/>
                <a:cs typeface="Gill Sans MT"/>
              </a:rPr>
              <a:t>Anomaly</a:t>
            </a:r>
            <a:r>
              <a:rPr sz="2000" spc="-5" dirty="0">
                <a:latin typeface="Gill Sans MT"/>
                <a:cs typeface="Gill Sans MT"/>
              </a:rPr>
              <a:t>–changing</a:t>
            </a:r>
            <a:r>
              <a:rPr sz="2000" spc="-45" dirty="0">
                <a:latin typeface="Gill Sans MT"/>
                <a:cs typeface="Gill Sans MT"/>
              </a:rPr>
              <a:t> </a:t>
            </a:r>
            <a:r>
              <a:rPr sz="2000" dirty="0">
                <a:latin typeface="Gill Sans MT"/>
                <a:cs typeface="Gill Sans MT"/>
              </a:rPr>
              <a:t>data</a:t>
            </a:r>
            <a:r>
              <a:rPr sz="2000" spc="-15" dirty="0">
                <a:latin typeface="Gill Sans MT"/>
                <a:cs typeface="Gill Sans MT"/>
              </a:rPr>
              <a:t> </a:t>
            </a:r>
            <a:r>
              <a:rPr sz="2000" spc="-5" dirty="0">
                <a:latin typeface="Gill Sans MT"/>
                <a:cs typeface="Gill Sans MT"/>
              </a:rPr>
              <a:t>in </a:t>
            </a:r>
            <a:r>
              <a:rPr sz="2000" dirty="0">
                <a:latin typeface="Gill Sans MT"/>
                <a:cs typeface="Gill Sans MT"/>
              </a:rPr>
              <a:t>a </a:t>
            </a:r>
            <a:r>
              <a:rPr sz="2000" spc="-30" dirty="0">
                <a:latin typeface="Gill Sans MT"/>
                <a:cs typeface="Gill Sans MT"/>
              </a:rPr>
              <a:t>row</a:t>
            </a:r>
            <a:r>
              <a:rPr sz="2000" spc="-15" dirty="0">
                <a:latin typeface="Gill Sans MT"/>
                <a:cs typeface="Gill Sans MT"/>
              </a:rPr>
              <a:t> forces</a:t>
            </a:r>
            <a:r>
              <a:rPr sz="2000" spc="-5" dirty="0">
                <a:latin typeface="Gill Sans MT"/>
                <a:cs typeface="Gill Sans MT"/>
              </a:rPr>
              <a:t> </a:t>
            </a:r>
            <a:r>
              <a:rPr sz="2000" dirty="0">
                <a:latin typeface="Gill Sans MT"/>
                <a:cs typeface="Gill Sans MT"/>
              </a:rPr>
              <a:t>changes</a:t>
            </a:r>
            <a:r>
              <a:rPr sz="2000" spc="-30" dirty="0">
                <a:latin typeface="Gill Sans MT"/>
                <a:cs typeface="Gill Sans MT"/>
              </a:rPr>
              <a:t> </a:t>
            </a:r>
            <a:r>
              <a:rPr sz="2000" dirty="0">
                <a:latin typeface="Gill Sans MT"/>
                <a:cs typeface="Gill Sans MT"/>
              </a:rPr>
              <a:t>to</a:t>
            </a:r>
            <a:r>
              <a:rPr sz="2000" spc="-10" dirty="0">
                <a:latin typeface="Gill Sans MT"/>
                <a:cs typeface="Gill Sans MT"/>
              </a:rPr>
              <a:t> </a:t>
            </a:r>
            <a:r>
              <a:rPr sz="2000" dirty="0">
                <a:latin typeface="Gill Sans MT"/>
                <a:cs typeface="Gill Sans MT"/>
              </a:rPr>
              <a:t>other</a:t>
            </a:r>
            <a:r>
              <a:rPr sz="2000" spc="-25" dirty="0">
                <a:latin typeface="Gill Sans MT"/>
                <a:cs typeface="Gill Sans MT"/>
              </a:rPr>
              <a:t> rows</a:t>
            </a:r>
            <a:r>
              <a:rPr sz="2000" dirty="0">
                <a:latin typeface="Gill Sans MT"/>
                <a:cs typeface="Gill Sans MT"/>
              </a:rPr>
              <a:t> because</a:t>
            </a:r>
            <a:r>
              <a:rPr sz="2000" spc="-15" dirty="0">
                <a:latin typeface="Gill Sans MT"/>
                <a:cs typeface="Gill Sans MT"/>
              </a:rPr>
              <a:t> </a:t>
            </a:r>
            <a:r>
              <a:rPr sz="2000" dirty="0">
                <a:latin typeface="Gill Sans MT"/>
                <a:cs typeface="Gill Sans MT"/>
              </a:rPr>
              <a:t>of </a:t>
            </a:r>
            <a:r>
              <a:rPr sz="2000" spc="-540" dirty="0">
                <a:latin typeface="Gill Sans MT"/>
                <a:cs typeface="Gill Sans MT"/>
              </a:rPr>
              <a:t> </a:t>
            </a:r>
            <a:r>
              <a:rPr sz="2000" dirty="0">
                <a:latin typeface="Gill Sans MT"/>
                <a:cs typeface="Gill Sans MT"/>
              </a:rPr>
              <a:t>duplication</a:t>
            </a:r>
            <a:endParaRPr sz="2000">
              <a:latin typeface="Gill Sans MT"/>
              <a:cs typeface="Gill Sans MT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200">
              <a:latin typeface="Gill Sans MT"/>
              <a:cs typeface="Gill Sans MT"/>
            </a:endParaRPr>
          </a:p>
          <a:p>
            <a:pPr marL="3542665" marR="1566545" indent="-1881505">
              <a:lnSpc>
                <a:spcPct val="100000"/>
              </a:lnSpc>
            </a:pPr>
            <a:r>
              <a:rPr sz="2600" b="1" dirty="0">
                <a:solidFill>
                  <a:srgbClr val="990000"/>
                </a:solidFill>
                <a:latin typeface="Times New Roman"/>
                <a:cs typeface="Times New Roman"/>
              </a:rPr>
              <a:t>General</a:t>
            </a:r>
            <a:r>
              <a:rPr sz="2600" b="1" spc="-2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600" b="1" dirty="0">
                <a:solidFill>
                  <a:srgbClr val="990000"/>
                </a:solidFill>
                <a:latin typeface="Times New Roman"/>
                <a:cs typeface="Times New Roman"/>
              </a:rPr>
              <a:t>rule</a:t>
            </a:r>
            <a:r>
              <a:rPr sz="2600" b="1" spc="-1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600" b="1" dirty="0">
                <a:solidFill>
                  <a:srgbClr val="990000"/>
                </a:solidFill>
                <a:latin typeface="Times New Roman"/>
                <a:cs typeface="Times New Roman"/>
              </a:rPr>
              <a:t>of</a:t>
            </a:r>
            <a:r>
              <a:rPr sz="2600" b="1" spc="-2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600" b="1" dirty="0">
                <a:solidFill>
                  <a:srgbClr val="990000"/>
                </a:solidFill>
                <a:latin typeface="Times New Roman"/>
                <a:cs typeface="Times New Roman"/>
              </a:rPr>
              <a:t>thumb:</a:t>
            </a:r>
            <a:r>
              <a:rPr sz="2600" b="1" spc="-16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600" b="1" dirty="0">
                <a:solidFill>
                  <a:srgbClr val="990000"/>
                </a:solidFill>
                <a:latin typeface="Times New Roman"/>
                <a:cs typeface="Times New Roman"/>
              </a:rPr>
              <a:t>A</a:t>
            </a:r>
            <a:r>
              <a:rPr sz="2600" b="1" spc="-14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600" b="1" dirty="0">
                <a:solidFill>
                  <a:srgbClr val="990000"/>
                </a:solidFill>
                <a:latin typeface="Times New Roman"/>
                <a:cs typeface="Times New Roman"/>
              </a:rPr>
              <a:t>table</a:t>
            </a:r>
            <a:r>
              <a:rPr sz="2600" b="1" spc="-2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600" b="1" dirty="0">
                <a:solidFill>
                  <a:srgbClr val="990000"/>
                </a:solidFill>
                <a:latin typeface="Times New Roman"/>
                <a:cs typeface="Times New Roman"/>
              </a:rPr>
              <a:t>should</a:t>
            </a:r>
            <a:r>
              <a:rPr sz="2600" b="1" spc="-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600" b="1" dirty="0">
                <a:solidFill>
                  <a:srgbClr val="990000"/>
                </a:solidFill>
                <a:latin typeface="Times New Roman"/>
                <a:cs typeface="Times New Roman"/>
              </a:rPr>
              <a:t>not</a:t>
            </a:r>
            <a:r>
              <a:rPr sz="2600" b="1" spc="-1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600" b="1" dirty="0">
                <a:solidFill>
                  <a:srgbClr val="990000"/>
                </a:solidFill>
                <a:latin typeface="Times New Roman"/>
                <a:cs typeface="Times New Roman"/>
              </a:rPr>
              <a:t>pertain</a:t>
            </a:r>
            <a:r>
              <a:rPr sz="2600" b="1" spc="-1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600" b="1" dirty="0">
                <a:solidFill>
                  <a:srgbClr val="990000"/>
                </a:solidFill>
                <a:latin typeface="Times New Roman"/>
                <a:cs typeface="Times New Roman"/>
              </a:rPr>
              <a:t>to </a:t>
            </a:r>
            <a:r>
              <a:rPr sz="2600" b="1" spc="-63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600" b="1" spc="-15" dirty="0">
                <a:solidFill>
                  <a:srgbClr val="990000"/>
                </a:solidFill>
                <a:latin typeface="Times New Roman"/>
                <a:cs typeface="Times New Roman"/>
              </a:rPr>
              <a:t>more</a:t>
            </a:r>
            <a:r>
              <a:rPr sz="2600" b="1" spc="-3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600" b="1" dirty="0">
                <a:solidFill>
                  <a:srgbClr val="990000"/>
                </a:solidFill>
                <a:latin typeface="Times New Roman"/>
                <a:cs typeface="Times New Roman"/>
              </a:rPr>
              <a:t>than</a:t>
            </a:r>
            <a:r>
              <a:rPr sz="2600" b="1" spc="-1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600" b="1" dirty="0">
                <a:solidFill>
                  <a:srgbClr val="990000"/>
                </a:solidFill>
                <a:latin typeface="Times New Roman"/>
                <a:cs typeface="Times New Roman"/>
              </a:rPr>
              <a:t>one </a:t>
            </a:r>
            <a:r>
              <a:rPr sz="2600" b="1" spc="-5" dirty="0">
                <a:solidFill>
                  <a:srgbClr val="990000"/>
                </a:solidFill>
                <a:latin typeface="Times New Roman"/>
                <a:cs typeface="Times New Roman"/>
              </a:rPr>
              <a:t>entity</a:t>
            </a:r>
            <a:r>
              <a:rPr sz="2600" b="1" spc="-1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600" b="1" dirty="0">
                <a:solidFill>
                  <a:srgbClr val="990000"/>
                </a:solidFill>
                <a:latin typeface="Times New Roman"/>
                <a:cs typeface="Times New Roman"/>
              </a:rPr>
              <a:t>type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444500" y="6531499"/>
            <a:ext cx="644525" cy="202565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200" spc="-5" dirty="0">
                <a:solidFill>
                  <a:srgbClr val="393939"/>
                </a:solidFill>
                <a:latin typeface="Gill Sans MT"/>
                <a:cs typeface="Gill Sans MT"/>
              </a:rPr>
              <a:t>6/10/2020</a:t>
            </a:r>
            <a:endParaRPr sz="1200">
              <a:latin typeface="Gill Sans MT"/>
              <a:cs typeface="Gill Sans MT"/>
            </a:endParaRPr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597408" y="441959"/>
          <a:ext cx="10984228" cy="14166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88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785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468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320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1A31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6200">
                      <a:solidFill>
                        <a:srgbClr val="FFFFFF"/>
                      </a:solidFill>
                      <a:prstDash val="solid"/>
                    </a:lnL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4590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6200">
                      <a:solidFill>
                        <a:srgbClr val="FFFFFF"/>
                      </a:solidFill>
                      <a:prstDash val="solid"/>
                    </a:lnL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959F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84605">
                <a:tc gridSpan="3"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780"/>
                        </a:spcBef>
                      </a:pPr>
                      <a:r>
                        <a:rPr sz="3600" b="1" dirty="0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WHY</a:t>
                      </a:r>
                      <a:r>
                        <a:rPr sz="3600" b="1" spc="-170" dirty="0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 </a:t>
                      </a:r>
                      <a:r>
                        <a:rPr sz="3600" b="1" spc="-35" dirty="0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TO</a:t>
                      </a:r>
                      <a:r>
                        <a:rPr sz="3600" b="1" spc="-5" dirty="0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 </a:t>
                      </a:r>
                      <a:r>
                        <a:rPr sz="3600" b="1" dirty="0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NORMALIZE</a:t>
                      </a:r>
                      <a:r>
                        <a:rPr sz="3600" b="1" spc="-105" dirty="0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 </a:t>
                      </a:r>
                      <a:r>
                        <a:rPr sz="3600" b="1" spc="-45" dirty="0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TABLE</a:t>
                      </a:r>
                      <a:endParaRPr sz="3600">
                        <a:latin typeface="Constantia"/>
                        <a:cs typeface="Constantia"/>
                      </a:endParaRPr>
                    </a:p>
                  </a:txBody>
                  <a:tcPr marL="0" marR="0" marT="99060" marB="0">
                    <a:lnT w="57150">
                      <a:solidFill>
                        <a:srgbClr val="FFFFFF"/>
                      </a:solidFill>
                      <a:prstDash val="solid"/>
                    </a:lnT>
                    <a:solidFill>
                      <a:srgbClr val="1A315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700227" y="1677801"/>
            <a:ext cx="10766425" cy="4481830"/>
          </a:xfrm>
          <a:prstGeom prst="rect">
            <a:avLst/>
          </a:prstGeom>
        </p:spPr>
        <p:txBody>
          <a:bodyPr vert="horz" wrap="square" lIns="0" tIns="156845" rIns="0" bIns="0" rtlCol="0">
            <a:spAutoFit/>
          </a:bodyPr>
          <a:lstStyle/>
          <a:p>
            <a:pPr marL="317500" indent="-304800" algn="just">
              <a:lnSpc>
                <a:spcPct val="100000"/>
              </a:lnSpc>
              <a:spcBef>
                <a:spcPts val="1235"/>
              </a:spcBef>
              <a:buClr>
                <a:srgbClr val="4590B8"/>
              </a:buClr>
              <a:buSzPct val="90909"/>
              <a:buFont typeface="Wingdings 2"/>
              <a:buChar char=""/>
              <a:tabLst>
                <a:tab pos="317500" algn="l"/>
              </a:tabLst>
            </a:pPr>
            <a:r>
              <a:rPr sz="2200" spc="-5" dirty="0">
                <a:solidFill>
                  <a:srgbClr val="3C3C3C"/>
                </a:solidFill>
                <a:latin typeface="Gill Sans MT"/>
                <a:cs typeface="Gill Sans MT"/>
              </a:rPr>
              <a:t>T</a:t>
            </a:r>
            <a:r>
              <a:rPr sz="2200" dirty="0">
                <a:solidFill>
                  <a:srgbClr val="3C3C3C"/>
                </a:solidFill>
                <a:latin typeface="Gill Sans MT"/>
                <a:cs typeface="Gill Sans MT"/>
              </a:rPr>
              <a:t>h</a:t>
            </a:r>
            <a:r>
              <a:rPr sz="2200" spc="-5" dirty="0">
                <a:solidFill>
                  <a:srgbClr val="3C3C3C"/>
                </a:solidFill>
                <a:latin typeface="Gill Sans MT"/>
                <a:cs typeface="Gill Sans MT"/>
              </a:rPr>
              <a:t>ese</a:t>
            </a:r>
            <a:r>
              <a:rPr sz="2200" spc="-1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200" spc="-5" dirty="0">
                <a:solidFill>
                  <a:srgbClr val="3C3C3C"/>
                </a:solidFill>
                <a:latin typeface="Gill Sans MT"/>
                <a:cs typeface="Gill Sans MT"/>
              </a:rPr>
              <a:t>a</a:t>
            </a:r>
            <a:r>
              <a:rPr sz="2200" spc="-65" dirty="0">
                <a:solidFill>
                  <a:srgbClr val="3C3C3C"/>
                </a:solidFill>
                <a:latin typeface="Gill Sans MT"/>
                <a:cs typeface="Gill Sans MT"/>
              </a:rPr>
              <a:t>r</a:t>
            </a:r>
            <a:r>
              <a:rPr sz="2200" spc="-5" dirty="0">
                <a:solidFill>
                  <a:srgbClr val="3C3C3C"/>
                </a:solidFill>
                <a:latin typeface="Gill Sans MT"/>
                <a:cs typeface="Gill Sans MT"/>
              </a:rPr>
              <a:t>e;</a:t>
            </a:r>
            <a:r>
              <a:rPr sz="2200" spc="-21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200" b="1" i="1" spc="-5" dirty="0">
                <a:solidFill>
                  <a:srgbClr val="3C3C3C"/>
                </a:solidFill>
                <a:latin typeface="Gill Sans MT"/>
                <a:cs typeface="Gill Sans MT"/>
              </a:rPr>
              <a:t>Ins</a:t>
            </a:r>
            <a:r>
              <a:rPr sz="2200" b="1" i="1" spc="-15" dirty="0">
                <a:solidFill>
                  <a:srgbClr val="3C3C3C"/>
                </a:solidFill>
                <a:latin typeface="Gill Sans MT"/>
                <a:cs typeface="Gill Sans MT"/>
              </a:rPr>
              <a:t>e</a:t>
            </a:r>
            <a:r>
              <a:rPr sz="2200" b="1" i="1" spc="75" dirty="0">
                <a:solidFill>
                  <a:srgbClr val="3C3C3C"/>
                </a:solidFill>
                <a:latin typeface="Gill Sans MT"/>
                <a:cs typeface="Gill Sans MT"/>
              </a:rPr>
              <a:t>r</a:t>
            </a:r>
            <a:r>
              <a:rPr sz="2200" b="1" i="1" spc="-10" dirty="0">
                <a:solidFill>
                  <a:srgbClr val="3C3C3C"/>
                </a:solidFill>
                <a:latin typeface="Gill Sans MT"/>
                <a:cs typeface="Gill Sans MT"/>
              </a:rPr>
              <a:t>tio</a:t>
            </a:r>
            <a:r>
              <a:rPr sz="2200" b="1" i="1" dirty="0">
                <a:solidFill>
                  <a:srgbClr val="3C3C3C"/>
                </a:solidFill>
                <a:latin typeface="Gill Sans MT"/>
                <a:cs typeface="Gill Sans MT"/>
              </a:rPr>
              <a:t>n</a:t>
            </a:r>
            <a:r>
              <a:rPr sz="2200" spc="-5" dirty="0">
                <a:solidFill>
                  <a:srgbClr val="3C3C3C"/>
                </a:solidFill>
                <a:latin typeface="Gill Sans MT"/>
                <a:cs typeface="Gill Sans MT"/>
              </a:rPr>
              <a:t>,</a:t>
            </a:r>
            <a:r>
              <a:rPr sz="2200" spc="-21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200" b="1" i="1" spc="-5" dirty="0">
                <a:solidFill>
                  <a:srgbClr val="3C3C3C"/>
                </a:solidFill>
                <a:latin typeface="Gill Sans MT"/>
                <a:cs typeface="Gill Sans MT"/>
              </a:rPr>
              <a:t>update</a:t>
            </a:r>
            <a:r>
              <a:rPr sz="2200" b="1" i="1" spc="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200" spc="-5" dirty="0">
                <a:solidFill>
                  <a:srgbClr val="3C3C3C"/>
                </a:solidFill>
                <a:latin typeface="Gill Sans MT"/>
                <a:cs typeface="Gill Sans MT"/>
              </a:rPr>
              <a:t>and </a:t>
            </a:r>
            <a:r>
              <a:rPr sz="2200" b="1" i="1" spc="-5" dirty="0">
                <a:solidFill>
                  <a:srgbClr val="3C3C3C"/>
                </a:solidFill>
                <a:latin typeface="Gill Sans MT"/>
                <a:cs typeface="Gill Sans MT"/>
              </a:rPr>
              <a:t>d</a:t>
            </a:r>
            <a:r>
              <a:rPr sz="2200" b="1" i="1" spc="-15" dirty="0">
                <a:solidFill>
                  <a:srgbClr val="3C3C3C"/>
                </a:solidFill>
                <a:latin typeface="Gill Sans MT"/>
                <a:cs typeface="Gill Sans MT"/>
              </a:rPr>
              <a:t>e</a:t>
            </a:r>
            <a:r>
              <a:rPr sz="2200" b="1" i="1" spc="-5" dirty="0">
                <a:solidFill>
                  <a:srgbClr val="3C3C3C"/>
                </a:solidFill>
                <a:latin typeface="Gill Sans MT"/>
                <a:cs typeface="Gill Sans MT"/>
              </a:rPr>
              <a:t>letion</a:t>
            </a:r>
            <a:r>
              <a:rPr sz="2200" b="1" i="1" spc="2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200" spc="-5" dirty="0">
                <a:solidFill>
                  <a:srgbClr val="3C3C3C"/>
                </a:solidFill>
                <a:latin typeface="Gill Sans MT"/>
                <a:cs typeface="Gill Sans MT"/>
              </a:rPr>
              <a:t>anoma</a:t>
            </a:r>
            <a:r>
              <a:rPr sz="2200" spc="-40" dirty="0">
                <a:solidFill>
                  <a:srgbClr val="3C3C3C"/>
                </a:solidFill>
                <a:latin typeface="Gill Sans MT"/>
                <a:cs typeface="Gill Sans MT"/>
              </a:rPr>
              <a:t>l</a:t>
            </a:r>
            <a:r>
              <a:rPr sz="2200" spc="-190" dirty="0">
                <a:solidFill>
                  <a:srgbClr val="3C3C3C"/>
                </a:solidFill>
                <a:latin typeface="Gill Sans MT"/>
                <a:cs typeface="Gill Sans MT"/>
              </a:rPr>
              <a:t>y</a:t>
            </a:r>
            <a:r>
              <a:rPr sz="2200" spc="-5" dirty="0">
                <a:solidFill>
                  <a:srgbClr val="3C3C3C"/>
                </a:solidFill>
                <a:latin typeface="Gill Sans MT"/>
                <a:cs typeface="Gill Sans MT"/>
              </a:rPr>
              <a:t>.</a:t>
            </a:r>
            <a:endParaRPr sz="2200">
              <a:latin typeface="Gill Sans MT"/>
              <a:cs typeface="Gill Sans MT"/>
            </a:endParaRPr>
          </a:p>
          <a:p>
            <a:pPr marL="316865" marR="8890" indent="-304800" algn="just">
              <a:lnSpc>
                <a:spcPct val="100000"/>
              </a:lnSpc>
              <a:spcBef>
                <a:spcPts val="1130"/>
              </a:spcBef>
              <a:buClr>
                <a:srgbClr val="3C3C3C"/>
              </a:buClr>
              <a:buFont typeface="Gill Sans MT"/>
              <a:buAutoNum type="arabicParenR"/>
              <a:tabLst>
                <a:tab pos="406400" algn="l"/>
              </a:tabLst>
            </a:pPr>
            <a:r>
              <a:rPr dirty="0"/>
              <a:t>	</a:t>
            </a:r>
            <a:r>
              <a:rPr sz="2200" b="1" dirty="0">
                <a:solidFill>
                  <a:srgbClr val="3C3C3C"/>
                </a:solidFill>
                <a:latin typeface="Gill Sans MT"/>
                <a:cs typeface="Gill Sans MT"/>
              </a:rPr>
              <a:t>Insertion </a:t>
            </a:r>
            <a:r>
              <a:rPr sz="2200" b="1" spc="-30" dirty="0">
                <a:solidFill>
                  <a:srgbClr val="3C3C3C"/>
                </a:solidFill>
                <a:latin typeface="Gill Sans MT"/>
                <a:cs typeface="Gill Sans MT"/>
              </a:rPr>
              <a:t>Anomaly,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it 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occurs when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certain 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attributes cannot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be inserted 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into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the 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database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 without</a:t>
            </a:r>
            <a:r>
              <a:rPr sz="2000" spc="-4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the</a:t>
            </a:r>
            <a:r>
              <a:rPr sz="2000" spc="-2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presence</a:t>
            </a:r>
            <a:r>
              <a:rPr sz="2000" spc="-1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of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other</a:t>
            </a:r>
            <a:r>
              <a:rPr sz="2000" spc="-4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attributes.</a:t>
            </a:r>
            <a:endParaRPr sz="2000">
              <a:latin typeface="Gill Sans MT"/>
              <a:cs typeface="Gill Sans MT"/>
            </a:endParaRPr>
          </a:p>
          <a:p>
            <a:pPr marL="316865" marR="6350" algn="just">
              <a:lnSpc>
                <a:spcPct val="100000"/>
              </a:lnSpc>
              <a:spcBef>
                <a:spcPts val="1085"/>
              </a:spcBef>
            </a:pPr>
            <a:r>
              <a:rPr sz="2000" b="1" dirty="0">
                <a:solidFill>
                  <a:srgbClr val="3C3C3C"/>
                </a:solidFill>
                <a:latin typeface="Gill Sans MT"/>
                <a:cs typeface="Gill Sans MT"/>
              </a:rPr>
              <a:t>E.g: 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Let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us assume 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that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a </a:t>
            </a:r>
            <a:r>
              <a:rPr sz="2000" spc="-10" dirty="0">
                <a:solidFill>
                  <a:srgbClr val="3C3C3C"/>
                </a:solidFill>
                <a:latin typeface="Gill Sans MT"/>
                <a:cs typeface="Gill Sans MT"/>
              </a:rPr>
              <a:t>new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department has been started </a:t>
            </a:r>
            <a:r>
              <a:rPr sz="2000" spc="-10" dirty="0">
                <a:solidFill>
                  <a:srgbClr val="3C3C3C"/>
                </a:solidFill>
                <a:latin typeface="Gill Sans MT"/>
                <a:cs typeface="Gill Sans MT"/>
              </a:rPr>
              <a:t>by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the 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organization but initially </a:t>
            </a:r>
            <a:r>
              <a:rPr sz="2000" spc="-10" dirty="0">
                <a:solidFill>
                  <a:srgbClr val="3C3C3C"/>
                </a:solidFill>
                <a:latin typeface="Gill Sans MT"/>
                <a:cs typeface="Gill Sans MT"/>
              </a:rPr>
              <a:t>there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is </a:t>
            </a:r>
            <a:r>
              <a:rPr sz="2000" spc="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no </a:t>
            </a:r>
            <a:r>
              <a:rPr sz="2000" spc="-10" dirty="0">
                <a:solidFill>
                  <a:srgbClr val="3C3C3C"/>
                </a:solidFill>
                <a:latin typeface="Gill Sans MT"/>
                <a:cs typeface="Gill Sans MT"/>
              </a:rPr>
              <a:t>employee 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appointed </a:t>
            </a:r>
            <a:r>
              <a:rPr sz="2000" spc="-10" dirty="0">
                <a:solidFill>
                  <a:srgbClr val="3C3C3C"/>
                </a:solidFill>
                <a:latin typeface="Gill Sans MT"/>
                <a:cs typeface="Gill Sans MT"/>
              </a:rPr>
              <a:t>for 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that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department, then the </a:t>
            </a:r>
            <a:r>
              <a:rPr sz="2000" spc="-15" dirty="0">
                <a:solidFill>
                  <a:srgbClr val="3C3C3C"/>
                </a:solidFill>
                <a:latin typeface="Gill Sans MT"/>
                <a:cs typeface="Gill Sans MT"/>
              </a:rPr>
              <a:t>record </a:t>
            </a:r>
            <a:r>
              <a:rPr sz="2000" spc="-10" dirty="0">
                <a:solidFill>
                  <a:srgbClr val="3C3C3C"/>
                </a:solidFill>
                <a:latin typeface="Gill Sans MT"/>
                <a:cs typeface="Gill Sans MT"/>
              </a:rPr>
              <a:t>for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this department 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cannot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be </a:t>
            </a:r>
            <a:r>
              <a:rPr sz="2000" spc="5" dirty="0">
                <a:solidFill>
                  <a:srgbClr val="3C3C3C"/>
                </a:solidFill>
                <a:latin typeface="Gill Sans MT"/>
                <a:cs typeface="Gill Sans MT"/>
              </a:rPr>
              <a:t>inserted </a:t>
            </a:r>
            <a:r>
              <a:rPr sz="2000" spc="1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into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this 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table as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the </a:t>
            </a:r>
            <a:r>
              <a:rPr sz="2000" b="1" i="1" spc="-15" dirty="0">
                <a:solidFill>
                  <a:srgbClr val="3C3C3C"/>
                </a:solidFill>
                <a:latin typeface="Gill Sans MT"/>
                <a:cs typeface="Gill Sans MT"/>
              </a:rPr>
              <a:t>Employee</a:t>
            </a:r>
            <a:r>
              <a:rPr sz="2000" b="1" i="1" spc="-10" dirty="0">
                <a:solidFill>
                  <a:srgbClr val="3C3C3C"/>
                </a:solidFill>
                <a:latin typeface="Gill Sans MT"/>
                <a:cs typeface="Gill Sans MT"/>
              </a:rPr>
              <a:t> number</a:t>
            </a:r>
            <a:r>
              <a:rPr sz="2000" b="1" i="1" spc="-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will </a:t>
            </a:r>
            <a:r>
              <a:rPr sz="2000" spc="-30" dirty="0">
                <a:solidFill>
                  <a:srgbClr val="3C3C3C"/>
                </a:solidFill>
                <a:latin typeface="Gill Sans MT"/>
                <a:cs typeface="Gill Sans MT"/>
              </a:rPr>
              <a:t>have</a:t>
            </a:r>
            <a:r>
              <a:rPr sz="2000" spc="-2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b="1" spc="-5" dirty="0">
                <a:solidFill>
                  <a:srgbClr val="3C3C3C"/>
                </a:solidFill>
                <a:latin typeface="Gill Sans MT"/>
                <a:cs typeface="Gill Sans MT"/>
              </a:rPr>
              <a:t>NULL, 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which is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not </a:t>
            </a:r>
            <a:r>
              <a:rPr sz="2000" spc="-15" dirty="0">
                <a:solidFill>
                  <a:srgbClr val="3C3C3C"/>
                </a:solidFill>
                <a:latin typeface="Gill Sans MT"/>
                <a:cs typeface="Gill Sans MT"/>
              </a:rPr>
              <a:t>allowed</a:t>
            </a:r>
            <a:r>
              <a:rPr sz="2000" spc="52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as </a:t>
            </a:r>
            <a:r>
              <a:rPr sz="2000" b="1" i="1" spc="-15" dirty="0">
                <a:solidFill>
                  <a:srgbClr val="3C3C3C"/>
                </a:solidFill>
                <a:latin typeface="Gill Sans MT"/>
                <a:cs typeface="Gill Sans MT"/>
              </a:rPr>
              <a:t>Employee </a:t>
            </a:r>
            <a:r>
              <a:rPr sz="2000" b="1" i="1" spc="-10" dirty="0">
                <a:solidFill>
                  <a:srgbClr val="3C3C3C"/>
                </a:solidFill>
                <a:latin typeface="Gill Sans MT"/>
                <a:cs typeface="Gill Sans MT"/>
              </a:rPr>
              <a:t> number</a:t>
            </a:r>
            <a:r>
              <a:rPr sz="2000" b="1" i="1" spc="-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is</a:t>
            </a:r>
            <a:r>
              <a:rPr sz="2000" spc="-2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spc="10" dirty="0">
                <a:solidFill>
                  <a:srgbClr val="3C3C3C"/>
                </a:solidFill>
                <a:latin typeface="Gill Sans MT"/>
                <a:cs typeface="Gill Sans MT"/>
              </a:rPr>
              <a:t>primary</a:t>
            </a:r>
            <a:r>
              <a:rPr sz="2000" spc="-4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spc="-65" dirty="0">
                <a:solidFill>
                  <a:srgbClr val="3C3C3C"/>
                </a:solidFill>
                <a:latin typeface="Gill Sans MT"/>
                <a:cs typeface="Gill Sans MT"/>
              </a:rPr>
              <a:t>key.</a:t>
            </a:r>
            <a:endParaRPr sz="2000">
              <a:latin typeface="Gill Sans MT"/>
              <a:cs typeface="Gill Sans MT"/>
            </a:endParaRPr>
          </a:p>
          <a:p>
            <a:pPr marL="316865" marR="6350" indent="-304800" algn="just">
              <a:lnSpc>
                <a:spcPct val="100000"/>
              </a:lnSpc>
              <a:spcBef>
                <a:spcPts val="1125"/>
              </a:spcBef>
              <a:buClr>
                <a:srgbClr val="3C3C3C"/>
              </a:buClr>
              <a:buFont typeface="Gill Sans MT"/>
              <a:buAutoNum type="arabicParenR" startAt="2"/>
              <a:tabLst>
                <a:tab pos="383540" algn="l"/>
              </a:tabLst>
            </a:pPr>
            <a:r>
              <a:rPr dirty="0"/>
              <a:t>	</a:t>
            </a:r>
            <a:r>
              <a:rPr sz="2200" b="1" spc="-5" dirty="0">
                <a:solidFill>
                  <a:srgbClr val="3C3C3C"/>
                </a:solidFill>
                <a:latin typeface="Gill Sans MT"/>
                <a:cs typeface="Gill Sans MT"/>
              </a:rPr>
              <a:t>Deletion </a:t>
            </a:r>
            <a:r>
              <a:rPr sz="2200" b="1" spc="-30" dirty="0">
                <a:solidFill>
                  <a:srgbClr val="3C3C3C"/>
                </a:solidFill>
                <a:latin typeface="Gill Sans MT"/>
                <a:cs typeface="Gill Sans MT"/>
              </a:rPr>
              <a:t>Anomaly,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it exists 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when </a:t>
            </a:r>
            <a:r>
              <a:rPr sz="2000" spc="5" dirty="0">
                <a:solidFill>
                  <a:srgbClr val="3C3C3C"/>
                </a:solidFill>
                <a:latin typeface="Gill Sans MT"/>
                <a:cs typeface="Gill Sans MT"/>
              </a:rPr>
              <a:t>certain 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attributes </a:t>
            </a:r>
            <a:r>
              <a:rPr sz="2000" spc="-15" dirty="0">
                <a:solidFill>
                  <a:srgbClr val="3C3C3C"/>
                </a:solidFill>
                <a:latin typeface="Gill Sans MT"/>
                <a:cs typeface="Gill Sans MT"/>
              </a:rPr>
              <a:t>are 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lost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because 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of the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deletion 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of other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 attributes.</a:t>
            </a:r>
            <a:endParaRPr sz="2000">
              <a:latin typeface="Gill Sans MT"/>
              <a:cs typeface="Gill Sans MT"/>
            </a:endParaRPr>
          </a:p>
          <a:p>
            <a:pPr marL="316865" marR="5080" algn="just">
              <a:lnSpc>
                <a:spcPct val="100000"/>
              </a:lnSpc>
              <a:spcBef>
                <a:spcPts val="1090"/>
              </a:spcBef>
            </a:pPr>
            <a:r>
              <a:rPr sz="2000" b="1" dirty="0">
                <a:solidFill>
                  <a:srgbClr val="3C3C3C"/>
                </a:solidFill>
                <a:latin typeface="Gill Sans MT"/>
                <a:cs typeface="Gill Sans MT"/>
              </a:rPr>
              <a:t>E.g: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Consider </a:t>
            </a:r>
            <a:r>
              <a:rPr sz="2000" spc="-10" dirty="0">
                <a:solidFill>
                  <a:srgbClr val="3C3C3C"/>
                </a:solidFill>
                <a:latin typeface="Gill Sans MT"/>
                <a:cs typeface="Gill Sans MT"/>
              </a:rPr>
              <a:t>there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is</a:t>
            </a:r>
            <a:r>
              <a:rPr sz="2000" spc="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only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 one</a:t>
            </a:r>
            <a:r>
              <a:rPr sz="2000" spc="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spc="-15" dirty="0">
                <a:solidFill>
                  <a:srgbClr val="3C3C3C"/>
                </a:solidFill>
                <a:latin typeface="Gill Sans MT"/>
                <a:cs typeface="Gill Sans MT"/>
              </a:rPr>
              <a:t>employee</a:t>
            </a:r>
            <a:r>
              <a:rPr sz="2000" spc="-1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in</a:t>
            </a:r>
            <a:r>
              <a:rPr sz="2000" spc="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some</a:t>
            </a:r>
            <a:r>
              <a:rPr sz="2000" spc="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department</a:t>
            </a:r>
            <a:r>
              <a:rPr sz="2000" spc="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and 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that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spc="-15" dirty="0">
                <a:solidFill>
                  <a:srgbClr val="3C3C3C"/>
                </a:solidFill>
                <a:latin typeface="Gill Sans MT"/>
                <a:cs typeface="Gill Sans MT"/>
              </a:rPr>
              <a:t>employee</a:t>
            </a:r>
            <a:r>
              <a:rPr sz="2000" spc="-1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spc="-20" dirty="0">
                <a:solidFill>
                  <a:srgbClr val="3C3C3C"/>
                </a:solidFill>
                <a:latin typeface="Gill Sans MT"/>
                <a:cs typeface="Gill Sans MT"/>
              </a:rPr>
              <a:t>leaves</a:t>
            </a:r>
            <a:r>
              <a:rPr sz="2000" spc="-1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the </a:t>
            </a:r>
            <a:r>
              <a:rPr sz="2000" spc="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organization, then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the </a:t>
            </a:r>
            <a:r>
              <a:rPr sz="2000" spc="-15" dirty="0">
                <a:solidFill>
                  <a:srgbClr val="3C3C3C"/>
                </a:solidFill>
                <a:latin typeface="Gill Sans MT"/>
                <a:cs typeface="Gill Sans MT"/>
              </a:rPr>
              <a:t>record 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of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that </a:t>
            </a:r>
            <a:r>
              <a:rPr sz="2000" spc="-15" dirty="0">
                <a:solidFill>
                  <a:srgbClr val="3C3C3C"/>
                </a:solidFill>
                <a:latin typeface="Gill Sans MT"/>
                <a:cs typeface="Gill Sans MT"/>
              </a:rPr>
              <a:t>employee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has 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to be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deleted </a:t>
            </a:r>
            <a:r>
              <a:rPr sz="2000" spc="-15" dirty="0">
                <a:solidFill>
                  <a:srgbClr val="3C3C3C"/>
                </a:solidFill>
                <a:latin typeface="Gill Sans MT"/>
                <a:cs typeface="Gill Sans MT"/>
              </a:rPr>
              <a:t>from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the </a:t>
            </a:r>
            <a:r>
              <a:rPr sz="2000" spc="5" dirty="0">
                <a:solidFill>
                  <a:srgbClr val="3C3C3C"/>
                </a:solidFill>
                <a:latin typeface="Gill Sans MT"/>
                <a:cs typeface="Gill Sans MT"/>
              </a:rPr>
              <a:t>table,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but in 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addition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to </a:t>
            </a:r>
            <a:r>
              <a:rPr sz="2000" spc="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that</a:t>
            </a:r>
            <a:r>
              <a:rPr sz="2000" spc="-4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spc="5" dirty="0">
                <a:solidFill>
                  <a:srgbClr val="3C3C3C"/>
                </a:solidFill>
                <a:latin typeface="Gill Sans MT"/>
                <a:cs typeface="Gill Sans MT"/>
              </a:rPr>
              <a:t>the</a:t>
            </a:r>
            <a:r>
              <a:rPr sz="2000" spc="-1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information</a:t>
            </a:r>
            <a:r>
              <a:rPr sz="2000" spc="-3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about</a:t>
            </a:r>
            <a:r>
              <a:rPr sz="2000" spc="-3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spc="5" dirty="0">
                <a:solidFill>
                  <a:srgbClr val="3C3C3C"/>
                </a:solidFill>
                <a:latin typeface="Gill Sans MT"/>
                <a:cs typeface="Gill Sans MT"/>
              </a:rPr>
              <a:t>the</a:t>
            </a:r>
            <a:r>
              <a:rPr sz="2000" spc="-3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spc="5" dirty="0">
                <a:solidFill>
                  <a:srgbClr val="3C3C3C"/>
                </a:solidFill>
                <a:latin typeface="Gill Sans MT"/>
                <a:cs typeface="Gill Sans MT"/>
              </a:rPr>
              <a:t>department</a:t>
            </a:r>
            <a:r>
              <a:rPr sz="2000" spc="-3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also</a:t>
            </a:r>
            <a:r>
              <a:rPr sz="2000" spc="-2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will</a:t>
            </a:r>
            <a:r>
              <a:rPr sz="2000" spc="-2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get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deleted.</a:t>
            </a:r>
            <a:endParaRPr sz="2000">
              <a:latin typeface="Gill Sans MT"/>
              <a:cs typeface="Gill Sans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266423" y="6054344"/>
            <a:ext cx="825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4590B8"/>
                </a:solidFill>
                <a:latin typeface="Gill Sans MT"/>
                <a:cs typeface="Gill Sans MT"/>
              </a:rPr>
              <a:t>8</a:t>
            </a:r>
            <a:endParaRPr sz="900">
              <a:latin typeface="Gill Sans MT"/>
              <a:cs typeface="Gill Sans M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/>
          <p:nvPr/>
        </p:nvSpPr>
        <p:spPr>
          <a:xfrm>
            <a:off x="444500" y="6531499"/>
            <a:ext cx="644525" cy="202565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200" spc="-5" dirty="0">
                <a:solidFill>
                  <a:srgbClr val="393939"/>
                </a:solidFill>
                <a:latin typeface="Gill Sans MT"/>
                <a:cs typeface="Gill Sans MT"/>
              </a:rPr>
              <a:t>6/10/2020</a:t>
            </a:r>
            <a:endParaRPr sz="1200">
              <a:latin typeface="Gill Sans MT"/>
              <a:cs typeface="Gill Sans MT"/>
            </a:endParaRPr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597408" y="441959"/>
          <a:ext cx="10984228" cy="14166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88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785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468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320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1A31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6200">
                      <a:solidFill>
                        <a:srgbClr val="FFFFFF"/>
                      </a:solidFill>
                      <a:prstDash val="solid"/>
                    </a:lnL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4590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6200">
                      <a:solidFill>
                        <a:srgbClr val="FFFFFF"/>
                      </a:solidFill>
                      <a:prstDash val="solid"/>
                    </a:lnL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959F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84605">
                <a:tc gridSpan="3"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780"/>
                        </a:spcBef>
                      </a:pPr>
                      <a:r>
                        <a:rPr sz="3600" b="1" dirty="0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WHY</a:t>
                      </a:r>
                      <a:r>
                        <a:rPr sz="3600" b="1" spc="-170" dirty="0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 </a:t>
                      </a:r>
                      <a:r>
                        <a:rPr sz="3600" b="1" spc="-35" dirty="0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TO</a:t>
                      </a:r>
                      <a:r>
                        <a:rPr sz="3600" b="1" spc="-5" dirty="0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 </a:t>
                      </a:r>
                      <a:r>
                        <a:rPr sz="3600" b="1" dirty="0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NORMALIZE</a:t>
                      </a:r>
                      <a:r>
                        <a:rPr sz="3600" b="1" spc="-105" dirty="0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 </a:t>
                      </a:r>
                      <a:r>
                        <a:rPr sz="3600" b="1" spc="-45" dirty="0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TABLE</a:t>
                      </a:r>
                      <a:endParaRPr sz="3600">
                        <a:latin typeface="Constantia"/>
                        <a:cs typeface="Constantia"/>
                      </a:endParaRPr>
                    </a:p>
                  </a:txBody>
                  <a:tcPr marL="0" marR="0" marT="99060" marB="0">
                    <a:lnT w="57150">
                      <a:solidFill>
                        <a:srgbClr val="FFFFFF"/>
                      </a:solidFill>
                      <a:prstDash val="solid"/>
                    </a:lnT>
                    <a:solidFill>
                      <a:srgbClr val="1A315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51815" y="2606167"/>
            <a:ext cx="9706610" cy="6661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17500" marR="5080" indent="-304800">
              <a:lnSpc>
                <a:spcPct val="100000"/>
              </a:lnSpc>
              <a:spcBef>
                <a:spcPts val="95"/>
              </a:spcBef>
            </a:pPr>
            <a:r>
              <a:rPr sz="2200" spc="-5" dirty="0">
                <a:solidFill>
                  <a:srgbClr val="3C3C3C"/>
                </a:solidFill>
                <a:latin typeface="Gill Sans MT"/>
                <a:cs typeface="Gill Sans MT"/>
              </a:rPr>
              <a:t>3)</a:t>
            </a:r>
            <a:r>
              <a:rPr sz="2200" spc="10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200" spc="-5" dirty="0">
                <a:solidFill>
                  <a:srgbClr val="3C3C3C"/>
                </a:solidFill>
                <a:latin typeface="Gill Sans MT"/>
                <a:cs typeface="Gill Sans MT"/>
              </a:rPr>
              <a:t>Update</a:t>
            </a:r>
            <a:r>
              <a:rPr sz="2200" spc="11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200" spc="-30" dirty="0">
                <a:solidFill>
                  <a:srgbClr val="3C3C3C"/>
                </a:solidFill>
                <a:latin typeface="Gill Sans MT"/>
                <a:cs typeface="Gill Sans MT"/>
              </a:rPr>
              <a:t>Anomaly,</a:t>
            </a:r>
            <a:r>
              <a:rPr sz="2200" spc="-11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b="0" dirty="0">
                <a:solidFill>
                  <a:srgbClr val="3C3C3C"/>
                </a:solidFill>
                <a:latin typeface="Gill Sans MT"/>
                <a:cs typeface="Gill Sans MT"/>
              </a:rPr>
              <a:t>it</a:t>
            </a:r>
            <a:r>
              <a:rPr sz="2000" b="0" spc="7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b="0" spc="-5" dirty="0">
                <a:solidFill>
                  <a:srgbClr val="3C3C3C"/>
                </a:solidFill>
                <a:latin typeface="Gill Sans MT"/>
                <a:cs typeface="Gill Sans MT"/>
              </a:rPr>
              <a:t>exists</a:t>
            </a:r>
            <a:r>
              <a:rPr sz="2000" b="0" spc="6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b="0" spc="-5" dirty="0">
                <a:solidFill>
                  <a:srgbClr val="3C3C3C"/>
                </a:solidFill>
                <a:latin typeface="Gill Sans MT"/>
                <a:cs typeface="Gill Sans MT"/>
              </a:rPr>
              <a:t>when</a:t>
            </a:r>
            <a:r>
              <a:rPr sz="2000" b="0" spc="6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b="0" spc="-5" dirty="0">
                <a:solidFill>
                  <a:srgbClr val="3C3C3C"/>
                </a:solidFill>
                <a:latin typeface="Gill Sans MT"/>
                <a:cs typeface="Gill Sans MT"/>
              </a:rPr>
              <a:t>one</a:t>
            </a:r>
            <a:r>
              <a:rPr sz="2000" b="0" spc="7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b="0" spc="-5" dirty="0">
                <a:solidFill>
                  <a:srgbClr val="3C3C3C"/>
                </a:solidFill>
                <a:latin typeface="Gill Sans MT"/>
                <a:cs typeface="Gill Sans MT"/>
              </a:rPr>
              <a:t>or</a:t>
            </a:r>
            <a:r>
              <a:rPr sz="2000" b="0" spc="4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b="0" spc="-15" dirty="0">
                <a:solidFill>
                  <a:srgbClr val="3C3C3C"/>
                </a:solidFill>
                <a:latin typeface="Gill Sans MT"/>
                <a:cs typeface="Gill Sans MT"/>
              </a:rPr>
              <a:t>more</a:t>
            </a:r>
            <a:r>
              <a:rPr sz="2000" b="0" spc="6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b="0" spc="-5" dirty="0">
                <a:solidFill>
                  <a:srgbClr val="3C3C3C"/>
                </a:solidFill>
                <a:latin typeface="Gill Sans MT"/>
                <a:cs typeface="Gill Sans MT"/>
              </a:rPr>
              <a:t>instances</a:t>
            </a:r>
            <a:r>
              <a:rPr sz="2000" b="0" spc="6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b="0" spc="-5" dirty="0">
                <a:solidFill>
                  <a:srgbClr val="3C3C3C"/>
                </a:solidFill>
                <a:latin typeface="Gill Sans MT"/>
                <a:cs typeface="Gill Sans MT"/>
              </a:rPr>
              <a:t>of</a:t>
            </a:r>
            <a:r>
              <a:rPr sz="2000" b="0" spc="6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b="0" spc="-5" dirty="0">
                <a:solidFill>
                  <a:srgbClr val="3C3C3C"/>
                </a:solidFill>
                <a:latin typeface="Gill Sans MT"/>
                <a:cs typeface="Gill Sans MT"/>
              </a:rPr>
              <a:t>duplicated</a:t>
            </a:r>
            <a:r>
              <a:rPr sz="2000" b="0" spc="5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b="0" dirty="0">
                <a:solidFill>
                  <a:srgbClr val="3C3C3C"/>
                </a:solidFill>
                <a:latin typeface="Gill Sans MT"/>
                <a:cs typeface="Gill Sans MT"/>
              </a:rPr>
              <a:t>data</a:t>
            </a:r>
            <a:r>
              <a:rPr sz="2000" b="0" spc="4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b="0" dirty="0">
                <a:solidFill>
                  <a:srgbClr val="3C3C3C"/>
                </a:solidFill>
                <a:latin typeface="Gill Sans MT"/>
                <a:cs typeface="Gill Sans MT"/>
              </a:rPr>
              <a:t>is</a:t>
            </a:r>
            <a:r>
              <a:rPr sz="2000" b="0" spc="5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b="0" dirty="0">
                <a:solidFill>
                  <a:srgbClr val="3C3C3C"/>
                </a:solidFill>
                <a:latin typeface="Gill Sans MT"/>
                <a:cs typeface="Gill Sans MT"/>
              </a:rPr>
              <a:t>updated, </a:t>
            </a:r>
            <a:r>
              <a:rPr sz="2000" b="0" spc="-54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b="0" spc="5" dirty="0">
                <a:solidFill>
                  <a:srgbClr val="3C3C3C"/>
                </a:solidFill>
                <a:latin typeface="Gill Sans MT"/>
                <a:cs typeface="Gill Sans MT"/>
              </a:rPr>
              <a:t>but</a:t>
            </a:r>
            <a:r>
              <a:rPr sz="2000" b="0" spc="-3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b="0" dirty="0">
                <a:solidFill>
                  <a:srgbClr val="3C3C3C"/>
                </a:solidFill>
                <a:latin typeface="Gill Sans MT"/>
                <a:cs typeface="Gill Sans MT"/>
              </a:rPr>
              <a:t>not</a:t>
            </a:r>
            <a:r>
              <a:rPr sz="2000" b="0" spc="-2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b="0" dirty="0">
                <a:solidFill>
                  <a:srgbClr val="3C3C3C"/>
                </a:solidFill>
                <a:latin typeface="Gill Sans MT"/>
                <a:cs typeface="Gill Sans MT"/>
              </a:rPr>
              <a:t>all.</a:t>
            </a:r>
            <a:endParaRPr sz="2000">
              <a:latin typeface="Gill Sans MT"/>
              <a:cs typeface="Gill Sans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56615" y="3383102"/>
            <a:ext cx="9401810" cy="19926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3C3C3C"/>
                </a:solidFill>
                <a:latin typeface="Gill Sans MT"/>
                <a:cs typeface="Gill Sans MT"/>
              </a:rPr>
              <a:t>E.g: 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Suppose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the manager of a department 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has changed,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this </a:t>
            </a:r>
            <a:r>
              <a:rPr sz="2000" spc="-15" dirty="0">
                <a:solidFill>
                  <a:srgbClr val="3C3C3C"/>
                </a:solidFill>
                <a:latin typeface="Gill Sans MT"/>
                <a:cs typeface="Gill Sans MT"/>
              </a:rPr>
              <a:t>requires 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that the </a:t>
            </a:r>
            <a:r>
              <a:rPr sz="2000" b="1" i="1" dirty="0">
                <a:solidFill>
                  <a:srgbClr val="3C3C3C"/>
                </a:solidFill>
                <a:latin typeface="Gill Sans MT"/>
                <a:cs typeface="Gill Sans MT"/>
              </a:rPr>
              <a:t>Dept: </a:t>
            </a:r>
            <a:r>
              <a:rPr sz="2000" b="1" i="1" spc="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b="1" i="1" spc="-5" dirty="0">
                <a:solidFill>
                  <a:srgbClr val="3C3C3C"/>
                </a:solidFill>
                <a:latin typeface="Gill Sans MT"/>
                <a:cs typeface="Gill Sans MT"/>
              </a:rPr>
              <a:t>Manager Number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in 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all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the </a:t>
            </a:r>
            <a:r>
              <a:rPr sz="2000" spc="-15" dirty="0">
                <a:solidFill>
                  <a:srgbClr val="3C3C3C"/>
                </a:solidFill>
                <a:latin typeface="Gill Sans MT"/>
                <a:cs typeface="Gill Sans MT"/>
              </a:rPr>
              <a:t>records 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corresponding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to 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that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department 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must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be 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changed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 to</a:t>
            </a:r>
            <a:r>
              <a:rPr sz="2000" spc="-2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reflect</a:t>
            </a:r>
            <a:r>
              <a:rPr sz="2000" spc="-3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the</a:t>
            </a:r>
            <a:r>
              <a:rPr sz="2000" spc="-1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spc="-10" dirty="0">
                <a:solidFill>
                  <a:srgbClr val="3C3C3C"/>
                </a:solidFill>
                <a:latin typeface="Gill Sans MT"/>
                <a:cs typeface="Gill Sans MT"/>
              </a:rPr>
              <a:t>new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status.</a:t>
            </a:r>
            <a:endParaRPr sz="2000">
              <a:latin typeface="Gill Sans MT"/>
              <a:cs typeface="Gill Sans MT"/>
            </a:endParaRPr>
          </a:p>
          <a:p>
            <a:pPr marL="12700" marR="29845" algn="just">
              <a:lnSpc>
                <a:spcPct val="100000"/>
              </a:lnSpc>
              <a:spcBef>
                <a:spcPts val="1080"/>
              </a:spcBef>
            </a:pP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If </a:t>
            </a:r>
            <a:r>
              <a:rPr sz="2000" spc="-20" dirty="0">
                <a:solidFill>
                  <a:srgbClr val="3C3C3C"/>
                </a:solidFill>
                <a:latin typeface="Gill Sans MT"/>
                <a:cs typeface="Gill Sans MT"/>
              </a:rPr>
              <a:t>we 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fail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to 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update all the </a:t>
            </a:r>
            <a:r>
              <a:rPr sz="2000" spc="-15" dirty="0">
                <a:solidFill>
                  <a:srgbClr val="3C3C3C"/>
                </a:solidFill>
                <a:latin typeface="Gill Sans MT"/>
                <a:cs typeface="Gill Sans MT"/>
              </a:rPr>
              <a:t>records 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of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the </a:t>
            </a:r>
            <a:r>
              <a:rPr sz="2000" spc="-10" dirty="0">
                <a:solidFill>
                  <a:srgbClr val="3C3C3C"/>
                </a:solidFill>
                <a:latin typeface="Gill Sans MT"/>
                <a:cs typeface="Gill Sans MT"/>
              </a:rPr>
              <a:t>given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department, 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then </a:t>
            </a:r>
            <a:r>
              <a:rPr sz="2000" spc="-15" dirty="0">
                <a:solidFill>
                  <a:srgbClr val="3C3C3C"/>
                </a:solidFill>
                <a:latin typeface="Gill Sans MT"/>
                <a:cs typeface="Gill Sans MT"/>
              </a:rPr>
              <a:t>two </a:t>
            </a:r>
            <a:r>
              <a:rPr sz="2000" spc="-10" dirty="0">
                <a:solidFill>
                  <a:srgbClr val="3C3C3C"/>
                </a:solidFill>
                <a:latin typeface="Gill Sans MT"/>
                <a:cs typeface="Gill Sans MT"/>
              </a:rPr>
              <a:t>different </a:t>
            </a:r>
            <a:r>
              <a:rPr sz="2000" spc="-15" dirty="0">
                <a:solidFill>
                  <a:srgbClr val="3C3C3C"/>
                </a:solidFill>
                <a:latin typeface="Gill Sans MT"/>
                <a:cs typeface="Gill Sans MT"/>
              </a:rPr>
              <a:t>records 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of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spc="-10" dirty="0">
                <a:solidFill>
                  <a:srgbClr val="3C3C3C"/>
                </a:solidFill>
                <a:latin typeface="Gill Sans MT"/>
                <a:cs typeface="Gill Sans MT"/>
              </a:rPr>
              <a:t>employee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spc="-10" dirty="0">
                <a:solidFill>
                  <a:srgbClr val="3C3C3C"/>
                </a:solidFill>
                <a:latin typeface="Gill Sans MT"/>
                <a:cs typeface="Gill Sans MT"/>
              </a:rPr>
              <a:t>working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in</a:t>
            </a:r>
            <a:r>
              <a:rPr sz="2000" spc="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the</a:t>
            </a:r>
            <a:r>
              <a:rPr sz="2000" spc="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same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 department</a:t>
            </a:r>
            <a:r>
              <a:rPr sz="2000" spc="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might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show</a:t>
            </a:r>
            <a:r>
              <a:rPr sz="2000" spc="54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spc="-10" dirty="0">
                <a:solidFill>
                  <a:srgbClr val="3C3C3C"/>
                </a:solidFill>
                <a:latin typeface="Gill Sans MT"/>
                <a:cs typeface="Gill Sans MT"/>
              </a:rPr>
              <a:t>different</a:t>
            </a:r>
            <a:r>
              <a:rPr sz="2000" spc="53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b="1" i="1" dirty="0">
                <a:solidFill>
                  <a:srgbClr val="3C3C3C"/>
                </a:solidFill>
                <a:latin typeface="Gill Sans MT"/>
                <a:cs typeface="Gill Sans MT"/>
              </a:rPr>
              <a:t>Dept: </a:t>
            </a:r>
            <a:r>
              <a:rPr sz="2000" b="1" i="1" spc="-5" dirty="0">
                <a:solidFill>
                  <a:srgbClr val="3C3C3C"/>
                </a:solidFill>
                <a:latin typeface="Gill Sans MT"/>
                <a:cs typeface="Gill Sans MT"/>
              </a:rPr>
              <a:t>Manager </a:t>
            </a:r>
            <a:r>
              <a:rPr sz="2000" b="1" i="1" dirty="0">
                <a:solidFill>
                  <a:srgbClr val="3C3C3C"/>
                </a:solidFill>
                <a:latin typeface="Gill Sans MT"/>
                <a:cs typeface="Gill Sans MT"/>
              </a:rPr>
              <a:t> Number</a:t>
            </a:r>
            <a:r>
              <a:rPr sz="2000" b="1" i="1" spc="-1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leading</a:t>
            </a:r>
            <a:r>
              <a:rPr sz="2000" spc="-2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to</a:t>
            </a:r>
            <a:r>
              <a:rPr sz="2000" spc="-2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inconsistency</a:t>
            </a:r>
            <a:r>
              <a:rPr sz="2000" spc="-4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in</a:t>
            </a:r>
            <a:r>
              <a:rPr sz="2000" spc="-2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the</a:t>
            </a:r>
            <a:r>
              <a:rPr sz="2000" spc="-2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database.</a:t>
            </a:r>
            <a:endParaRPr sz="2000">
              <a:latin typeface="Gill Sans MT"/>
              <a:cs typeface="Gill Sans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266423" y="6054344"/>
            <a:ext cx="825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4590B8"/>
                </a:solidFill>
                <a:latin typeface="Gill Sans MT"/>
                <a:cs typeface="Gill Sans MT"/>
              </a:rPr>
              <a:t>9</a:t>
            </a:r>
            <a:endParaRPr sz="900">
              <a:latin typeface="Gill Sans MT"/>
              <a:cs typeface="Gill Sans M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444500" y="6531499"/>
            <a:ext cx="644525" cy="202565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200" spc="-5" dirty="0">
                <a:solidFill>
                  <a:srgbClr val="393939"/>
                </a:solidFill>
                <a:latin typeface="Gill Sans MT"/>
                <a:cs typeface="Gill Sans MT"/>
              </a:rPr>
              <a:t>6/10/2020</a:t>
            </a:r>
            <a:endParaRPr sz="1200">
              <a:latin typeface="Gill Sans MT"/>
              <a:cs typeface="Gill Sans MT"/>
            </a:endParaRPr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597408" y="441959"/>
          <a:ext cx="10984228" cy="14166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88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785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468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320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1A31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6200">
                      <a:solidFill>
                        <a:srgbClr val="FFFFFF"/>
                      </a:solidFill>
                      <a:prstDash val="solid"/>
                    </a:lnL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4590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6200">
                      <a:solidFill>
                        <a:srgbClr val="FFFFFF"/>
                      </a:solidFill>
                      <a:prstDash val="solid"/>
                    </a:lnL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959F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84605">
                <a:tc gridSpan="3">
                  <a:txBody>
                    <a:bodyPr/>
                    <a:lstStyle/>
                    <a:p>
                      <a:pPr marL="13335" algn="ctr">
                        <a:lnSpc>
                          <a:spcPct val="100000"/>
                        </a:lnSpc>
                        <a:spcBef>
                          <a:spcPts val="780"/>
                        </a:spcBef>
                      </a:pPr>
                      <a:r>
                        <a:rPr sz="3600" b="1" spc="-15" dirty="0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FORMS</a:t>
                      </a:r>
                      <a:r>
                        <a:rPr sz="3600" b="1" spc="-30" dirty="0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 </a:t>
                      </a:r>
                      <a:r>
                        <a:rPr sz="3600" b="1" dirty="0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OF </a:t>
                      </a:r>
                      <a:r>
                        <a:rPr sz="3600" b="1" spc="-20" dirty="0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NORMALIZATION</a:t>
                      </a:r>
                      <a:endParaRPr sz="3600">
                        <a:latin typeface="Constantia"/>
                        <a:cs typeface="Constantia"/>
                      </a:endParaRPr>
                    </a:p>
                  </a:txBody>
                  <a:tcPr marL="0" marR="0" marT="99060" marB="0">
                    <a:lnT w="57150">
                      <a:solidFill>
                        <a:srgbClr val="FFFFFF"/>
                      </a:solidFill>
                      <a:prstDash val="solid"/>
                    </a:lnT>
                    <a:solidFill>
                      <a:srgbClr val="1A315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941222" y="1726569"/>
            <a:ext cx="10920730" cy="3942079"/>
          </a:xfrm>
          <a:prstGeom prst="rect">
            <a:avLst/>
          </a:prstGeom>
        </p:spPr>
        <p:txBody>
          <a:bodyPr vert="horz" wrap="square" lIns="0" tIns="156845" rIns="0" bIns="0" rtlCol="0">
            <a:spAutoFit/>
          </a:bodyPr>
          <a:lstStyle/>
          <a:p>
            <a:pPr marL="342265" indent="-304800">
              <a:lnSpc>
                <a:spcPct val="100000"/>
              </a:lnSpc>
              <a:spcBef>
                <a:spcPts val="1235"/>
              </a:spcBef>
              <a:buClr>
                <a:srgbClr val="4590B8"/>
              </a:buClr>
              <a:buSzPct val="90909"/>
              <a:buFont typeface="Wingdings 2"/>
              <a:buChar char=""/>
              <a:tabLst>
                <a:tab pos="342265" algn="l"/>
                <a:tab pos="342900" algn="l"/>
              </a:tabLst>
            </a:pPr>
            <a:r>
              <a:rPr sz="2200" spc="-15" dirty="0">
                <a:solidFill>
                  <a:srgbClr val="3C3C3C"/>
                </a:solidFill>
                <a:latin typeface="Gill Sans MT"/>
                <a:cs typeface="Gill Sans MT"/>
              </a:rPr>
              <a:t>There</a:t>
            </a:r>
            <a:r>
              <a:rPr sz="2200" spc="-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200" spc="-25" dirty="0">
                <a:solidFill>
                  <a:srgbClr val="3C3C3C"/>
                </a:solidFill>
                <a:latin typeface="Gill Sans MT"/>
                <a:cs typeface="Gill Sans MT"/>
              </a:rPr>
              <a:t>are</a:t>
            </a:r>
            <a:r>
              <a:rPr sz="2200" spc="2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200" spc="-5" dirty="0">
                <a:solidFill>
                  <a:srgbClr val="3C3C3C"/>
                </a:solidFill>
                <a:latin typeface="Gill Sans MT"/>
                <a:cs typeface="Gill Sans MT"/>
              </a:rPr>
              <a:t>05</a:t>
            </a:r>
            <a:r>
              <a:rPr sz="2200" spc="1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200" spc="-10" dirty="0">
                <a:solidFill>
                  <a:srgbClr val="3C3C3C"/>
                </a:solidFill>
                <a:latin typeface="Gill Sans MT"/>
                <a:cs typeface="Gill Sans MT"/>
              </a:rPr>
              <a:t>forms</a:t>
            </a:r>
            <a:r>
              <a:rPr sz="2200" spc="2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200" spc="-5" dirty="0">
                <a:solidFill>
                  <a:srgbClr val="3C3C3C"/>
                </a:solidFill>
                <a:latin typeface="Gill Sans MT"/>
                <a:cs typeface="Gill Sans MT"/>
              </a:rPr>
              <a:t>of</a:t>
            </a:r>
            <a:r>
              <a:rPr sz="220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200" spc="-5" dirty="0">
                <a:solidFill>
                  <a:srgbClr val="3C3C3C"/>
                </a:solidFill>
                <a:latin typeface="Gill Sans MT"/>
                <a:cs typeface="Gill Sans MT"/>
              </a:rPr>
              <a:t>Normalization</a:t>
            </a:r>
            <a:r>
              <a:rPr sz="2200" spc="5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200" spc="-5" dirty="0">
                <a:solidFill>
                  <a:srgbClr val="3C3C3C"/>
                </a:solidFill>
                <a:latin typeface="Gill Sans MT"/>
                <a:cs typeface="Gill Sans MT"/>
              </a:rPr>
              <a:t>but</a:t>
            </a:r>
            <a:r>
              <a:rPr sz="2200" spc="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200" spc="-5" dirty="0">
                <a:solidFill>
                  <a:srgbClr val="3C3C3C"/>
                </a:solidFill>
                <a:latin typeface="Gill Sans MT"/>
                <a:cs typeface="Gill Sans MT"/>
              </a:rPr>
              <a:t>a</a:t>
            </a:r>
            <a:r>
              <a:rPr sz="220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200" spc="-5" dirty="0">
                <a:solidFill>
                  <a:srgbClr val="3C3C3C"/>
                </a:solidFill>
                <a:latin typeface="Gill Sans MT"/>
                <a:cs typeface="Gill Sans MT"/>
              </a:rPr>
              <a:t>table</a:t>
            </a:r>
            <a:r>
              <a:rPr sz="2200" spc="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200" spc="-5" dirty="0">
                <a:solidFill>
                  <a:srgbClr val="3C3C3C"/>
                </a:solidFill>
                <a:latin typeface="Gill Sans MT"/>
                <a:cs typeface="Gill Sans MT"/>
              </a:rPr>
              <a:t>can</a:t>
            </a:r>
            <a:r>
              <a:rPr sz="2200" spc="1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200" spc="-5" dirty="0">
                <a:solidFill>
                  <a:srgbClr val="3C3C3C"/>
                </a:solidFill>
                <a:latin typeface="Gill Sans MT"/>
                <a:cs typeface="Gill Sans MT"/>
              </a:rPr>
              <a:t>be</a:t>
            </a:r>
            <a:r>
              <a:rPr sz="2200" spc="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200" spc="-5" dirty="0">
                <a:solidFill>
                  <a:srgbClr val="3C3C3C"/>
                </a:solidFill>
                <a:latin typeface="Gill Sans MT"/>
                <a:cs typeface="Gill Sans MT"/>
              </a:rPr>
              <a:t>normalized</a:t>
            </a:r>
            <a:r>
              <a:rPr sz="2200" spc="4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200" dirty="0">
                <a:solidFill>
                  <a:srgbClr val="3C3C3C"/>
                </a:solidFill>
                <a:latin typeface="Gill Sans MT"/>
                <a:cs typeface="Gill Sans MT"/>
              </a:rPr>
              <a:t>up</a:t>
            </a:r>
            <a:r>
              <a:rPr sz="2200" spc="-5" dirty="0">
                <a:solidFill>
                  <a:srgbClr val="3C3C3C"/>
                </a:solidFill>
                <a:latin typeface="Gill Sans MT"/>
                <a:cs typeface="Gill Sans MT"/>
              </a:rPr>
              <a:t> to </a:t>
            </a:r>
            <a:r>
              <a:rPr sz="2200" spc="-20" dirty="0">
                <a:solidFill>
                  <a:srgbClr val="3C3C3C"/>
                </a:solidFill>
                <a:latin typeface="Gill Sans MT"/>
                <a:cs typeface="Gill Sans MT"/>
              </a:rPr>
              <a:t>3rd</a:t>
            </a:r>
            <a:r>
              <a:rPr sz="2200" spc="2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200" spc="-10" dirty="0">
                <a:solidFill>
                  <a:srgbClr val="3C3C3C"/>
                </a:solidFill>
                <a:latin typeface="Gill Sans MT"/>
                <a:cs typeface="Gill Sans MT"/>
              </a:rPr>
              <a:t>form.</a:t>
            </a:r>
            <a:endParaRPr sz="2200">
              <a:latin typeface="Gill Sans MT"/>
              <a:cs typeface="Gill Sans MT"/>
            </a:endParaRPr>
          </a:p>
          <a:p>
            <a:pPr marL="38100">
              <a:lnSpc>
                <a:spcPct val="100000"/>
              </a:lnSpc>
              <a:spcBef>
                <a:spcPts val="1130"/>
              </a:spcBef>
            </a:pPr>
            <a:r>
              <a:rPr sz="2200" b="1" dirty="0">
                <a:solidFill>
                  <a:srgbClr val="3C3C3C"/>
                </a:solidFill>
                <a:latin typeface="Gill Sans MT"/>
                <a:cs typeface="Gill Sans MT"/>
              </a:rPr>
              <a:t>1</a:t>
            </a:r>
            <a:r>
              <a:rPr sz="2175" b="1" baseline="24904" dirty="0">
                <a:solidFill>
                  <a:srgbClr val="3C3C3C"/>
                </a:solidFill>
                <a:latin typeface="Gill Sans MT"/>
                <a:cs typeface="Gill Sans MT"/>
              </a:rPr>
              <a:t>st</a:t>
            </a:r>
            <a:r>
              <a:rPr sz="2175" b="1" spc="322" baseline="24904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200" b="1" spc="-10" dirty="0">
                <a:solidFill>
                  <a:srgbClr val="3C3C3C"/>
                </a:solidFill>
                <a:latin typeface="Gill Sans MT"/>
                <a:cs typeface="Gill Sans MT"/>
              </a:rPr>
              <a:t>Normal</a:t>
            </a:r>
            <a:r>
              <a:rPr sz="2200" b="1" spc="5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200" b="1" spc="-20" dirty="0">
                <a:solidFill>
                  <a:srgbClr val="3C3C3C"/>
                </a:solidFill>
                <a:latin typeface="Gill Sans MT"/>
                <a:cs typeface="Gill Sans MT"/>
              </a:rPr>
              <a:t>Form,</a:t>
            </a:r>
            <a:r>
              <a:rPr sz="2200" b="1" spc="-204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An</a:t>
            </a:r>
            <a:r>
              <a:rPr sz="2000" spc="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entity</a:t>
            </a:r>
            <a:r>
              <a:rPr sz="2000" spc="-3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is in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the</a:t>
            </a:r>
            <a:r>
              <a:rPr sz="2000" spc="-2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first</a:t>
            </a:r>
            <a:r>
              <a:rPr sz="2000" spc="-1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normal</a:t>
            </a:r>
            <a:r>
              <a:rPr sz="2000" spc="-3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form</a:t>
            </a:r>
            <a:r>
              <a:rPr sz="2000" spc="-2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if</a:t>
            </a:r>
            <a:r>
              <a:rPr sz="2000" spc="-1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it</a:t>
            </a:r>
            <a:r>
              <a:rPr sz="2000" spc="-2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contains</a:t>
            </a:r>
            <a:r>
              <a:rPr sz="2000" spc="-3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no</a:t>
            </a:r>
            <a:r>
              <a:rPr sz="2000" spc="-1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repeating</a:t>
            </a:r>
            <a:r>
              <a:rPr sz="2000" spc="-2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spc="-10" dirty="0">
                <a:solidFill>
                  <a:srgbClr val="3C3C3C"/>
                </a:solidFill>
                <a:latin typeface="Gill Sans MT"/>
                <a:cs typeface="Gill Sans MT"/>
              </a:rPr>
              <a:t>groups.</a:t>
            </a:r>
            <a:endParaRPr sz="2000">
              <a:latin typeface="Gill Sans MT"/>
              <a:cs typeface="Gill Sans MT"/>
            </a:endParaRPr>
          </a:p>
          <a:p>
            <a:pPr marL="342265" marR="30480">
              <a:lnSpc>
                <a:spcPct val="100000"/>
              </a:lnSpc>
              <a:spcBef>
                <a:spcPts val="1085"/>
              </a:spcBef>
            </a:pP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In</a:t>
            </a:r>
            <a:r>
              <a:rPr sz="2000" spc="204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spc="-10" dirty="0">
                <a:solidFill>
                  <a:srgbClr val="3C3C3C"/>
                </a:solidFill>
                <a:latin typeface="Gill Sans MT"/>
                <a:cs typeface="Gill Sans MT"/>
              </a:rPr>
              <a:t>relational</a:t>
            </a:r>
            <a:r>
              <a:rPr sz="2000" spc="21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terms,</a:t>
            </a:r>
            <a:r>
              <a:rPr sz="2000" spc="1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a</a:t>
            </a:r>
            <a:r>
              <a:rPr sz="2000" spc="19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table</a:t>
            </a:r>
            <a:r>
              <a:rPr sz="2000" spc="22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is</a:t>
            </a:r>
            <a:r>
              <a:rPr sz="2000" spc="19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in</a:t>
            </a:r>
            <a:r>
              <a:rPr sz="2000" spc="21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the</a:t>
            </a:r>
            <a:r>
              <a:rPr sz="2000" spc="20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first</a:t>
            </a:r>
            <a:r>
              <a:rPr sz="2000" spc="204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normal</a:t>
            </a:r>
            <a:r>
              <a:rPr sz="2000" spc="204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spc="-10" dirty="0">
                <a:solidFill>
                  <a:srgbClr val="3C3C3C"/>
                </a:solidFill>
                <a:latin typeface="Gill Sans MT"/>
                <a:cs typeface="Gill Sans MT"/>
              </a:rPr>
              <a:t>form</a:t>
            </a:r>
            <a:r>
              <a:rPr sz="2000" spc="204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if</a:t>
            </a:r>
            <a:r>
              <a:rPr sz="2000" spc="19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it</a:t>
            </a:r>
            <a:r>
              <a:rPr sz="2000" spc="21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contains</a:t>
            </a:r>
            <a:r>
              <a:rPr sz="2000" spc="21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no</a:t>
            </a:r>
            <a:r>
              <a:rPr sz="2000" spc="20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repeating</a:t>
            </a:r>
            <a:r>
              <a:rPr sz="2000" spc="204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columns.</a:t>
            </a:r>
            <a:r>
              <a:rPr sz="2000" spc="1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Repeating </a:t>
            </a:r>
            <a:r>
              <a:rPr sz="2000" spc="-54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columns</a:t>
            </a:r>
            <a:r>
              <a:rPr sz="2000" spc="-4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spc="-15" dirty="0">
                <a:solidFill>
                  <a:srgbClr val="3C3C3C"/>
                </a:solidFill>
                <a:latin typeface="Gill Sans MT"/>
                <a:cs typeface="Gill Sans MT"/>
              </a:rPr>
              <a:t>make </a:t>
            </a:r>
            <a:r>
              <a:rPr sz="2000" spc="-10" dirty="0">
                <a:solidFill>
                  <a:srgbClr val="3C3C3C"/>
                </a:solidFill>
                <a:latin typeface="Gill Sans MT"/>
                <a:cs typeface="Gill Sans MT"/>
              </a:rPr>
              <a:t>your</a:t>
            </a:r>
            <a:r>
              <a:rPr sz="2000" spc="-1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data</a:t>
            </a:r>
            <a:r>
              <a:rPr sz="2000" spc="-2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less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spc="5" dirty="0">
                <a:solidFill>
                  <a:srgbClr val="3C3C3C"/>
                </a:solidFill>
                <a:latin typeface="Gill Sans MT"/>
                <a:cs typeface="Gill Sans MT"/>
              </a:rPr>
              <a:t>flexible,</a:t>
            </a:r>
            <a:r>
              <a:rPr sz="2000" spc="-24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waste</a:t>
            </a:r>
            <a:r>
              <a:rPr sz="2000" spc="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disk </a:t>
            </a:r>
            <a:r>
              <a:rPr sz="2000" spc="5" dirty="0">
                <a:solidFill>
                  <a:srgbClr val="3C3C3C"/>
                </a:solidFill>
                <a:latin typeface="Gill Sans MT"/>
                <a:cs typeface="Gill Sans MT"/>
              </a:rPr>
              <a:t>space,</a:t>
            </a:r>
            <a:r>
              <a:rPr sz="2000" spc="-204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and </a:t>
            </a:r>
            <a:r>
              <a:rPr sz="2000" spc="-15" dirty="0">
                <a:solidFill>
                  <a:srgbClr val="3C3C3C"/>
                </a:solidFill>
                <a:latin typeface="Gill Sans MT"/>
                <a:cs typeface="Gill Sans MT"/>
              </a:rPr>
              <a:t>make</a:t>
            </a:r>
            <a:r>
              <a:rPr sz="2000" spc="-2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it</a:t>
            </a:r>
            <a:r>
              <a:rPr sz="2000" spc="-2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spc="-10" dirty="0">
                <a:solidFill>
                  <a:srgbClr val="3C3C3C"/>
                </a:solidFill>
                <a:latin typeface="Gill Sans MT"/>
                <a:cs typeface="Gill Sans MT"/>
              </a:rPr>
              <a:t>more</a:t>
            </a:r>
            <a:r>
              <a:rPr sz="2000" spc="-1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difficult</a:t>
            </a:r>
            <a:r>
              <a:rPr sz="2000" spc="-4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to</a:t>
            </a:r>
            <a:r>
              <a:rPr sz="2000" spc="-1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spc="-10" dirty="0">
                <a:solidFill>
                  <a:srgbClr val="3C3C3C"/>
                </a:solidFill>
                <a:latin typeface="Gill Sans MT"/>
                <a:cs typeface="Gill Sans MT"/>
              </a:rPr>
              <a:t>search for</a:t>
            </a:r>
            <a:r>
              <a:rPr sz="2000" spc="-2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data.</a:t>
            </a:r>
            <a:endParaRPr sz="2000">
              <a:latin typeface="Gill Sans MT"/>
              <a:cs typeface="Gill Sans MT"/>
            </a:endParaRPr>
          </a:p>
          <a:p>
            <a:pPr marL="38100">
              <a:lnSpc>
                <a:spcPct val="100000"/>
              </a:lnSpc>
              <a:spcBef>
                <a:spcPts val="1080"/>
              </a:spcBef>
            </a:pPr>
            <a:r>
              <a:rPr sz="2000" b="1" spc="-20" dirty="0">
                <a:solidFill>
                  <a:srgbClr val="3C3C3C"/>
                </a:solidFill>
                <a:latin typeface="Gill Sans MT"/>
                <a:cs typeface="Gill Sans MT"/>
              </a:rPr>
              <a:t>For</a:t>
            </a:r>
            <a:r>
              <a:rPr sz="2000" b="1" spc="-5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b="1" spc="-5" dirty="0">
                <a:solidFill>
                  <a:srgbClr val="3C3C3C"/>
                </a:solidFill>
                <a:latin typeface="Gill Sans MT"/>
                <a:cs typeface="Gill Sans MT"/>
              </a:rPr>
              <a:t>1NF</a:t>
            </a:r>
            <a:endParaRPr sz="2000">
              <a:latin typeface="Gill Sans MT"/>
              <a:cs typeface="Gill Sans MT"/>
            </a:endParaRPr>
          </a:p>
          <a:p>
            <a:pPr marL="342265" indent="-304800">
              <a:lnSpc>
                <a:spcPct val="100000"/>
              </a:lnSpc>
              <a:spcBef>
                <a:spcPts val="1085"/>
              </a:spcBef>
              <a:buClr>
                <a:srgbClr val="4590B8"/>
              </a:buClr>
              <a:buSzPct val="90000"/>
              <a:buFont typeface="Wingdings 2"/>
              <a:buChar char=""/>
              <a:tabLst>
                <a:tab pos="342265" algn="l"/>
                <a:tab pos="342900" algn="l"/>
              </a:tabLst>
            </a:pP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The</a:t>
            </a:r>
            <a:r>
              <a:rPr sz="2000" spc="-2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table</a:t>
            </a:r>
            <a:r>
              <a:rPr sz="2000" spc="-3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cells</a:t>
            </a:r>
            <a:r>
              <a:rPr sz="2000" spc="-1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must</a:t>
            </a:r>
            <a:r>
              <a:rPr sz="2000" spc="-2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be 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of</a:t>
            </a:r>
            <a:r>
              <a:rPr sz="2000" spc="-2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single</a:t>
            </a:r>
            <a:r>
              <a:rPr sz="2000" spc="-3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spc="5" dirty="0">
                <a:solidFill>
                  <a:srgbClr val="3C3C3C"/>
                </a:solidFill>
                <a:latin typeface="Gill Sans MT"/>
                <a:cs typeface="Gill Sans MT"/>
              </a:rPr>
              <a:t>value.</a:t>
            </a:r>
            <a:endParaRPr sz="2000">
              <a:latin typeface="Gill Sans MT"/>
              <a:cs typeface="Gill Sans MT"/>
            </a:endParaRPr>
          </a:p>
          <a:p>
            <a:pPr marL="342265" indent="-304800">
              <a:lnSpc>
                <a:spcPct val="100000"/>
              </a:lnSpc>
              <a:spcBef>
                <a:spcPts val="1080"/>
              </a:spcBef>
              <a:buClr>
                <a:srgbClr val="4590B8"/>
              </a:buClr>
              <a:buSzPct val="90000"/>
              <a:buFont typeface="Wingdings 2"/>
              <a:buChar char=""/>
              <a:tabLst>
                <a:tab pos="342265" algn="l"/>
                <a:tab pos="342900" algn="l"/>
              </a:tabLst>
            </a:pP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Eliminate</a:t>
            </a:r>
            <a:r>
              <a:rPr sz="2000" spc="-4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repeating</a:t>
            </a:r>
            <a:r>
              <a:rPr sz="2000" spc="-3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spc="-10" dirty="0">
                <a:solidFill>
                  <a:srgbClr val="3C3C3C"/>
                </a:solidFill>
                <a:latin typeface="Gill Sans MT"/>
                <a:cs typeface="Gill Sans MT"/>
              </a:rPr>
              <a:t>groups</a:t>
            </a:r>
            <a:r>
              <a:rPr sz="2000" spc="-2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in</a:t>
            </a:r>
            <a:r>
              <a:rPr sz="2000" spc="-1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individual</a:t>
            </a:r>
            <a:r>
              <a:rPr sz="2000" spc="-3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tables.</a:t>
            </a:r>
            <a:endParaRPr sz="2000">
              <a:latin typeface="Gill Sans MT"/>
              <a:cs typeface="Gill Sans MT"/>
            </a:endParaRPr>
          </a:p>
          <a:p>
            <a:pPr marL="342265" indent="-304800">
              <a:lnSpc>
                <a:spcPct val="100000"/>
              </a:lnSpc>
              <a:spcBef>
                <a:spcPts val="1080"/>
              </a:spcBef>
              <a:buClr>
                <a:srgbClr val="4590B8"/>
              </a:buClr>
              <a:buSzPct val="90000"/>
              <a:buFont typeface="Wingdings 2"/>
              <a:buChar char=""/>
              <a:tabLst>
                <a:tab pos="342265" algn="l"/>
                <a:tab pos="342900" algn="l"/>
              </a:tabLst>
            </a:pP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Create</a:t>
            </a:r>
            <a:r>
              <a:rPr sz="2000" spc="-3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a</a:t>
            </a:r>
            <a:r>
              <a:rPr sz="2000" spc="-1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separate</a:t>
            </a:r>
            <a:r>
              <a:rPr sz="2000" spc="-2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table</a:t>
            </a:r>
            <a:r>
              <a:rPr sz="2000" spc="-3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spc="-10" dirty="0">
                <a:solidFill>
                  <a:srgbClr val="3C3C3C"/>
                </a:solidFill>
                <a:latin typeface="Gill Sans MT"/>
                <a:cs typeface="Gill Sans MT"/>
              </a:rPr>
              <a:t>for</a:t>
            </a:r>
            <a:r>
              <a:rPr sz="2000" spc="-3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each</a:t>
            </a:r>
            <a:r>
              <a:rPr sz="2000" spc="-1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set</a:t>
            </a:r>
            <a:r>
              <a:rPr sz="2000" spc="-1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of</a:t>
            </a:r>
            <a:r>
              <a:rPr sz="2000" spc="-1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related</a:t>
            </a:r>
            <a:r>
              <a:rPr sz="2000" spc="-3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data.</a:t>
            </a:r>
            <a:endParaRPr sz="2000">
              <a:latin typeface="Gill Sans MT"/>
              <a:cs typeface="Gill Sans MT"/>
            </a:endParaRPr>
          </a:p>
          <a:p>
            <a:pPr marL="342265" indent="-304800">
              <a:lnSpc>
                <a:spcPct val="100000"/>
              </a:lnSpc>
              <a:spcBef>
                <a:spcPts val="1080"/>
              </a:spcBef>
              <a:buClr>
                <a:srgbClr val="4590B8"/>
              </a:buClr>
              <a:buSzPct val="90000"/>
              <a:buFont typeface="Wingdings 2"/>
              <a:buChar char=""/>
              <a:tabLst>
                <a:tab pos="342265" algn="l"/>
                <a:tab pos="342900" algn="l"/>
              </a:tabLst>
            </a:pP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Identify</a:t>
            </a:r>
            <a:r>
              <a:rPr sz="2000" spc="-3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each</a:t>
            </a:r>
            <a:r>
              <a:rPr sz="2000" spc="-2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set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 of</a:t>
            </a:r>
            <a:r>
              <a:rPr sz="2000" spc="-2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related</a:t>
            </a:r>
            <a:r>
              <a:rPr sz="2000" spc="-4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data</a:t>
            </a:r>
            <a:r>
              <a:rPr sz="2000" spc="-2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with</a:t>
            </a:r>
            <a:r>
              <a:rPr sz="2000" spc="-3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a</a:t>
            </a:r>
            <a:r>
              <a:rPr sz="2000" spc="-1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spc="10" dirty="0">
                <a:solidFill>
                  <a:srgbClr val="3C3C3C"/>
                </a:solidFill>
                <a:latin typeface="Gill Sans MT"/>
                <a:cs typeface="Gill Sans MT"/>
              </a:rPr>
              <a:t>primary</a:t>
            </a:r>
            <a:r>
              <a:rPr sz="2000" spc="-6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spc="-65" dirty="0">
                <a:solidFill>
                  <a:srgbClr val="3C3C3C"/>
                </a:solidFill>
                <a:latin typeface="Gill Sans MT"/>
                <a:cs typeface="Gill Sans MT"/>
              </a:rPr>
              <a:t>key.</a:t>
            </a:r>
            <a:endParaRPr sz="2000">
              <a:latin typeface="Gill Sans MT"/>
              <a:cs typeface="Gill Sans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208511" y="6054344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5" dirty="0">
                <a:solidFill>
                  <a:srgbClr val="4590B8"/>
                </a:solidFill>
                <a:latin typeface="Gill Sans MT"/>
                <a:cs typeface="Gill Sans MT"/>
              </a:rPr>
              <a:t>10</a:t>
            </a:r>
            <a:endParaRPr sz="900">
              <a:latin typeface="Gill Sans MT"/>
              <a:cs typeface="Gill Sans M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444500" y="6531499"/>
            <a:ext cx="644525" cy="202565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200" spc="-5" dirty="0">
                <a:solidFill>
                  <a:srgbClr val="393939"/>
                </a:solidFill>
                <a:latin typeface="Gill Sans MT"/>
                <a:cs typeface="Gill Sans MT"/>
              </a:rPr>
              <a:t>6/10/2020</a:t>
            </a:r>
            <a:endParaRPr sz="1200">
              <a:latin typeface="Gill Sans MT"/>
              <a:cs typeface="Gill Sans MT"/>
            </a:endParaRPr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597408" y="441959"/>
          <a:ext cx="10984228" cy="14166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88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785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468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320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1A31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6200">
                      <a:solidFill>
                        <a:srgbClr val="FFFFFF"/>
                      </a:solidFill>
                      <a:prstDash val="solid"/>
                    </a:lnL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4590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6200">
                      <a:solidFill>
                        <a:srgbClr val="FFFFFF"/>
                      </a:solidFill>
                      <a:prstDash val="solid"/>
                    </a:lnL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959F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84605">
                <a:tc gridSpan="3">
                  <a:txBody>
                    <a:bodyPr/>
                    <a:lstStyle/>
                    <a:p>
                      <a:pPr marL="13335" algn="ctr">
                        <a:lnSpc>
                          <a:spcPct val="100000"/>
                        </a:lnSpc>
                        <a:spcBef>
                          <a:spcPts val="780"/>
                        </a:spcBef>
                      </a:pPr>
                      <a:r>
                        <a:rPr sz="3600" b="1" spc="-15" dirty="0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FORMS</a:t>
                      </a:r>
                      <a:r>
                        <a:rPr sz="3600" b="1" spc="-30" dirty="0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 </a:t>
                      </a:r>
                      <a:r>
                        <a:rPr sz="3600" b="1" dirty="0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OF </a:t>
                      </a:r>
                      <a:r>
                        <a:rPr sz="3600" b="1" spc="-20" dirty="0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NORMALIZATION</a:t>
                      </a:r>
                      <a:endParaRPr sz="3600">
                        <a:latin typeface="Constantia"/>
                        <a:cs typeface="Constantia"/>
                      </a:endParaRPr>
                    </a:p>
                  </a:txBody>
                  <a:tcPr marL="0" marR="0" marT="99060" marB="0">
                    <a:lnT w="57150">
                      <a:solidFill>
                        <a:srgbClr val="FFFFFF"/>
                      </a:solidFill>
                      <a:prstDash val="solid"/>
                    </a:lnT>
                    <a:solidFill>
                      <a:srgbClr val="1A315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6508" y="2077034"/>
            <a:ext cx="1105344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5"/>
              </a:spcBef>
            </a:pPr>
            <a:r>
              <a:rPr sz="2200" dirty="0">
                <a:solidFill>
                  <a:srgbClr val="3C3C3C"/>
                </a:solidFill>
                <a:latin typeface="Gill Sans MT"/>
                <a:cs typeface="Gill Sans MT"/>
              </a:rPr>
              <a:t>2</a:t>
            </a:r>
            <a:r>
              <a:rPr sz="2175" baseline="24904" dirty="0">
                <a:solidFill>
                  <a:srgbClr val="3C3C3C"/>
                </a:solidFill>
                <a:latin typeface="Gill Sans MT"/>
                <a:cs typeface="Gill Sans MT"/>
              </a:rPr>
              <a:t>nd</a:t>
            </a:r>
            <a:r>
              <a:rPr sz="2175" spc="397" baseline="24904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200" spc="-5" dirty="0">
                <a:solidFill>
                  <a:srgbClr val="3C3C3C"/>
                </a:solidFill>
                <a:latin typeface="Gill Sans MT"/>
                <a:cs typeface="Gill Sans MT"/>
              </a:rPr>
              <a:t>Normal</a:t>
            </a:r>
            <a:r>
              <a:rPr sz="2200" spc="8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200" spc="-15" dirty="0">
                <a:solidFill>
                  <a:srgbClr val="3C3C3C"/>
                </a:solidFill>
                <a:latin typeface="Gill Sans MT"/>
                <a:cs typeface="Gill Sans MT"/>
              </a:rPr>
              <a:t>Form,</a:t>
            </a:r>
            <a:r>
              <a:rPr sz="2200" spc="-15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b="0" dirty="0">
                <a:solidFill>
                  <a:srgbClr val="3C3C3C"/>
                </a:solidFill>
                <a:latin typeface="Gill Sans MT"/>
                <a:cs typeface="Gill Sans MT"/>
              </a:rPr>
              <a:t>A</a:t>
            </a:r>
            <a:r>
              <a:rPr sz="2000" b="0" spc="1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b="0" spc="-10" dirty="0">
                <a:solidFill>
                  <a:srgbClr val="3C3C3C"/>
                </a:solidFill>
                <a:latin typeface="Gill Sans MT"/>
                <a:cs typeface="Gill Sans MT"/>
              </a:rPr>
              <a:t>relation</a:t>
            </a:r>
            <a:r>
              <a:rPr sz="2000" b="0" spc="3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b="0" dirty="0">
                <a:solidFill>
                  <a:srgbClr val="3C3C3C"/>
                </a:solidFill>
                <a:latin typeface="Gill Sans MT"/>
                <a:cs typeface="Gill Sans MT"/>
              </a:rPr>
              <a:t>is</a:t>
            </a:r>
            <a:r>
              <a:rPr sz="2000" b="0" spc="2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b="0" spc="-5" dirty="0">
                <a:solidFill>
                  <a:srgbClr val="3C3C3C"/>
                </a:solidFill>
                <a:latin typeface="Gill Sans MT"/>
                <a:cs typeface="Gill Sans MT"/>
              </a:rPr>
              <a:t>in</a:t>
            </a:r>
            <a:r>
              <a:rPr sz="2000" b="0" spc="1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b="0" dirty="0">
                <a:solidFill>
                  <a:srgbClr val="3C3C3C"/>
                </a:solidFill>
                <a:latin typeface="Gill Sans MT"/>
                <a:cs typeface="Gill Sans MT"/>
              </a:rPr>
              <a:t>2NF</a:t>
            </a:r>
            <a:r>
              <a:rPr sz="2000" b="0" spc="1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b="0" dirty="0">
                <a:solidFill>
                  <a:srgbClr val="3C3C3C"/>
                </a:solidFill>
                <a:latin typeface="Gill Sans MT"/>
                <a:cs typeface="Gill Sans MT"/>
              </a:rPr>
              <a:t>if</a:t>
            </a:r>
            <a:r>
              <a:rPr sz="2000" b="0" spc="1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b="0" dirty="0">
                <a:solidFill>
                  <a:srgbClr val="3C3C3C"/>
                </a:solidFill>
                <a:latin typeface="Gill Sans MT"/>
                <a:cs typeface="Gill Sans MT"/>
              </a:rPr>
              <a:t>it</a:t>
            </a:r>
            <a:r>
              <a:rPr sz="2000" b="0" spc="1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b="0" dirty="0">
                <a:solidFill>
                  <a:srgbClr val="3C3C3C"/>
                </a:solidFill>
                <a:latin typeface="Gill Sans MT"/>
                <a:cs typeface="Gill Sans MT"/>
              </a:rPr>
              <a:t>is</a:t>
            </a:r>
            <a:r>
              <a:rPr sz="2000" b="0" spc="2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b="0" spc="-5" dirty="0">
                <a:solidFill>
                  <a:srgbClr val="3C3C3C"/>
                </a:solidFill>
                <a:latin typeface="Gill Sans MT"/>
                <a:cs typeface="Gill Sans MT"/>
              </a:rPr>
              <a:t>in</a:t>
            </a:r>
            <a:r>
              <a:rPr sz="2000" b="0" spc="1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b="0" dirty="0">
                <a:solidFill>
                  <a:srgbClr val="3C3C3C"/>
                </a:solidFill>
                <a:latin typeface="Gill Sans MT"/>
                <a:cs typeface="Gill Sans MT"/>
              </a:rPr>
              <a:t>1NF</a:t>
            </a:r>
            <a:r>
              <a:rPr sz="2000" b="0" spc="2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b="0" dirty="0">
                <a:solidFill>
                  <a:srgbClr val="3C3C3C"/>
                </a:solidFill>
                <a:latin typeface="Gill Sans MT"/>
                <a:cs typeface="Gill Sans MT"/>
              </a:rPr>
              <a:t>and</a:t>
            </a:r>
            <a:r>
              <a:rPr sz="2000" b="0" spc="2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b="0" spc="-5" dirty="0">
                <a:solidFill>
                  <a:srgbClr val="3C3C3C"/>
                </a:solidFill>
                <a:latin typeface="Gill Sans MT"/>
                <a:cs typeface="Gill Sans MT"/>
              </a:rPr>
              <a:t>every</a:t>
            </a:r>
            <a:r>
              <a:rPr sz="2000" b="0" spc="2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b="0" spc="-20" dirty="0">
                <a:solidFill>
                  <a:srgbClr val="3C3C3C"/>
                </a:solidFill>
                <a:latin typeface="Gill Sans MT"/>
                <a:cs typeface="Gill Sans MT"/>
              </a:rPr>
              <a:t>non-key</a:t>
            </a:r>
            <a:r>
              <a:rPr sz="2000" b="0" spc="2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b="0" dirty="0">
                <a:solidFill>
                  <a:srgbClr val="3C3C3C"/>
                </a:solidFill>
                <a:latin typeface="Gill Sans MT"/>
                <a:cs typeface="Gill Sans MT"/>
              </a:rPr>
              <a:t>attribute</a:t>
            </a:r>
            <a:r>
              <a:rPr sz="2000" b="0" spc="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b="0" dirty="0">
                <a:solidFill>
                  <a:srgbClr val="3C3C3C"/>
                </a:solidFill>
                <a:latin typeface="Gill Sans MT"/>
                <a:cs typeface="Gill Sans MT"/>
              </a:rPr>
              <a:t>is</a:t>
            </a:r>
            <a:r>
              <a:rPr sz="2000" b="0" spc="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b="0" spc="-5" dirty="0">
                <a:solidFill>
                  <a:srgbClr val="3C3C3C"/>
                </a:solidFill>
                <a:latin typeface="Gill Sans MT"/>
                <a:cs typeface="Gill Sans MT"/>
              </a:rPr>
              <a:t>fully</a:t>
            </a:r>
            <a:r>
              <a:rPr sz="2000" b="0" spc="2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b="0" dirty="0">
                <a:solidFill>
                  <a:srgbClr val="3C3C3C"/>
                </a:solidFill>
                <a:latin typeface="Gill Sans MT"/>
                <a:cs typeface="Gill Sans MT"/>
              </a:rPr>
              <a:t>dependent</a:t>
            </a:r>
            <a:r>
              <a:rPr sz="2000" b="0" spc="2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b="0" spc="-15" dirty="0">
                <a:solidFill>
                  <a:srgbClr val="3C3C3C"/>
                </a:solidFill>
                <a:latin typeface="Gill Sans MT"/>
                <a:cs typeface="Gill Sans MT"/>
              </a:rPr>
              <a:t>on</a:t>
            </a:r>
            <a:endParaRPr sz="2000">
              <a:latin typeface="Gill Sans MT"/>
              <a:cs typeface="Gill Sans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29208" y="2276322"/>
            <a:ext cx="11052810" cy="3940810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marL="317500">
              <a:lnSpc>
                <a:spcPct val="100000"/>
              </a:lnSpc>
              <a:spcBef>
                <a:spcPts val="1180"/>
              </a:spcBef>
            </a:pP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each</a:t>
            </a:r>
            <a:r>
              <a:rPr sz="2000" spc="-2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candidate</a:t>
            </a:r>
            <a:r>
              <a:rPr sz="2000" spc="-35" dirty="0">
                <a:solidFill>
                  <a:srgbClr val="3C3C3C"/>
                </a:solidFill>
                <a:latin typeface="Gill Sans MT"/>
                <a:cs typeface="Gill Sans MT"/>
              </a:rPr>
              <a:t> key</a:t>
            </a:r>
            <a:r>
              <a:rPr sz="2000" spc="-1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of</a:t>
            </a:r>
            <a:r>
              <a:rPr sz="2000" spc="-2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the</a:t>
            </a:r>
            <a:r>
              <a:rPr sz="2000" spc="-2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relation.</a:t>
            </a:r>
            <a:endParaRPr sz="200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sz="2000" b="1" spc="-20" dirty="0">
                <a:solidFill>
                  <a:srgbClr val="3C3C3C"/>
                </a:solidFill>
                <a:latin typeface="Gill Sans MT"/>
                <a:cs typeface="Gill Sans MT"/>
              </a:rPr>
              <a:t>For</a:t>
            </a:r>
            <a:r>
              <a:rPr sz="2000" b="1" spc="-5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b="1" dirty="0">
                <a:solidFill>
                  <a:srgbClr val="3C3C3C"/>
                </a:solidFill>
                <a:latin typeface="Gill Sans MT"/>
                <a:cs typeface="Gill Sans MT"/>
              </a:rPr>
              <a:t>2NF</a:t>
            </a:r>
            <a:endParaRPr sz="2000">
              <a:latin typeface="Gill Sans MT"/>
              <a:cs typeface="Gill Sans MT"/>
            </a:endParaRPr>
          </a:p>
          <a:p>
            <a:pPr marL="317500" indent="-304800">
              <a:lnSpc>
                <a:spcPct val="100000"/>
              </a:lnSpc>
              <a:spcBef>
                <a:spcPts val="1080"/>
              </a:spcBef>
              <a:buClr>
                <a:srgbClr val="4590B8"/>
              </a:buClr>
              <a:buSzPct val="90000"/>
              <a:buFont typeface="Wingdings 2"/>
              <a:buChar char=""/>
              <a:tabLst>
                <a:tab pos="316865" algn="l"/>
                <a:tab pos="317500" algn="l"/>
              </a:tabLst>
            </a:pPr>
            <a:r>
              <a:rPr sz="2000" spc="-10" dirty="0">
                <a:solidFill>
                  <a:srgbClr val="3C3C3C"/>
                </a:solidFill>
                <a:latin typeface="Gill Sans MT"/>
                <a:cs typeface="Gill Sans MT"/>
              </a:rPr>
              <a:t>Remove</a:t>
            </a:r>
            <a:r>
              <a:rPr sz="2000" spc="-3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spc="5" dirty="0">
                <a:solidFill>
                  <a:srgbClr val="3C3C3C"/>
                </a:solidFill>
                <a:latin typeface="Gill Sans MT"/>
                <a:cs typeface="Gill Sans MT"/>
              </a:rPr>
              <a:t>Partial</a:t>
            </a:r>
            <a:r>
              <a:rPr sz="2000" spc="-4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Dependencies.</a:t>
            </a:r>
            <a:endParaRPr sz="2000">
              <a:latin typeface="Gill Sans MT"/>
              <a:cs typeface="Gill Sans MT"/>
            </a:endParaRPr>
          </a:p>
          <a:p>
            <a:pPr marL="317500" indent="-304800">
              <a:lnSpc>
                <a:spcPct val="100000"/>
              </a:lnSpc>
              <a:spcBef>
                <a:spcPts val="1080"/>
              </a:spcBef>
              <a:buClr>
                <a:srgbClr val="4590B8"/>
              </a:buClr>
              <a:buSzPct val="90000"/>
              <a:buFont typeface="Wingdings 2"/>
              <a:buChar char=""/>
              <a:tabLst>
                <a:tab pos="316865" algn="l"/>
                <a:tab pos="317500" algn="l"/>
              </a:tabLst>
            </a:pPr>
            <a:r>
              <a:rPr sz="2000" i="1" spc="-5" dirty="0">
                <a:solidFill>
                  <a:srgbClr val="3C3C3C"/>
                </a:solidFill>
                <a:latin typeface="Gill Sans MT"/>
                <a:cs typeface="Gill Sans MT"/>
              </a:rPr>
              <a:t>Functional</a:t>
            </a:r>
            <a:r>
              <a:rPr sz="2000" i="1" spc="39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i="1" dirty="0">
                <a:solidFill>
                  <a:srgbClr val="3C3C3C"/>
                </a:solidFill>
                <a:latin typeface="Gill Sans MT"/>
                <a:cs typeface="Gill Sans MT"/>
              </a:rPr>
              <a:t>Dependency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:</a:t>
            </a:r>
            <a:r>
              <a:rPr sz="2000" spc="19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The</a:t>
            </a:r>
            <a:r>
              <a:rPr sz="2000" spc="38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value</a:t>
            </a:r>
            <a:r>
              <a:rPr sz="2000" spc="37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of</a:t>
            </a:r>
            <a:r>
              <a:rPr sz="2000" spc="38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one</a:t>
            </a:r>
            <a:r>
              <a:rPr sz="2000" spc="38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attribute</a:t>
            </a:r>
            <a:r>
              <a:rPr sz="2000" spc="39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in</a:t>
            </a:r>
            <a:r>
              <a:rPr sz="2000" spc="38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a</a:t>
            </a:r>
            <a:r>
              <a:rPr sz="2000" spc="38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table</a:t>
            </a:r>
            <a:r>
              <a:rPr sz="2000" spc="38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is</a:t>
            </a:r>
            <a:r>
              <a:rPr sz="2000" spc="39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determined</a:t>
            </a:r>
            <a:r>
              <a:rPr sz="2000" spc="40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spc="-10" dirty="0">
                <a:solidFill>
                  <a:srgbClr val="3C3C3C"/>
                </a:solidFill>
                <a:latin typeface="Gill Sans MT"/>
                <a:cs typeface="Gill Sans MT"/>
              </a:rPr>
              <a:t>entirely</a:t>
            </a:r>
            <a:r>
              <a:rPr sz="2000" spc="38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spc="-10" dirty="0">
                <a:solidFill>
                  <a:srgbClr val="3C3C3C"/>
                </a:solidFill>
                <a:latin typeface="Gill Sans MT"/>
                <a:cs typeface="Gill Sans MT"/>
              </a:rPr>
              <a:t>by</a:t>
            </a:r>
            <a:r>
              <a:rPr sz="2000" spc="38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the</a:t>
            </a:r>
            <a:r>
              <a:rPr sz="2000" spc="40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value</a:t>
            </a:r>
            <a:r>
              <a:rPr sz="2000" spc="38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spc="-15" dirty="0">
                <a:solidFill>
                  <a:srgbClr val="3C3C3C"/>
                </a:solidFill>
                <a:latin typeface="Gill Sans MT"/>
                <a:cs typeface="Gill Sans MT"/>
              </a:rPr>
              <a:t>of</a:t>
            </a:r>
            <a:endParaRPr sz="2000">
              <a:latin typeface="Gill Sans MT"/>
              <a:cs typeface="Gill Sans MT"/>
            </a:endParaRPr>
          </a:p>
          <a:p>
            <a:pPr marL="317500">
              <a:lnSpc>
                <a:spcPct val="100000"/>
              </a:lnSpc>
            </a:pPr>
            <a:r>
              <a:rPr sz="2000" spc="-25" dirty="0">
                <a:solidFill>
                  <a:srgbClr val="3C3C3C"/>
                </a:solidFill>
                <a:latin typeface="Gill Sans MT"/>
                <a:cs typeface="Gill Sans MT"/>
              </a:rPr>
              <a:t>another.</a:t>
            </a:r>
            <a:endParaRPr sz="2000">
              <a:latin typeface="Gill Sans MT"/>
              <a:cs typeface="Gill Sans MT"/>
            </a:endParaRPr>
          </a:p>
          <a:p>
            <a:pPr marL="317500" marR="26670" indent="-304800">
              <a:lnSpc>
                <a:spcPct val="100000"/>
              </a:lnSpc>
              <a:spcBef>
                <a:spcPts val="1080"/>
              </a:spcBef>
              <a:buClr>
                <a:srgbClr val="4590B8"/>
              </a:buClr>
              <a:buSzPct val="90000"/>
              <a:buFont typeface="Wingdings 2"/>
              <a:buChar char=""/>
              <a:tabLst>
                <a:tab pos="316865" algn="l"/>
                <a:tab pos="317500" algn="l"/>
              </a:tabLst>
            </a:pPr>
            <a:r>
              <a:rPr sz="2000" i="1" spc="-5" dirty="0">
                <a:solidFill>
                  <a:srgbClr val="3C3C3C"/>
                </a:solidFill>
                <a:latin typeface="Gill Sans MT"/>
                <a:cs typeface="Gill Sans MT"/>
              </a:rPr>
              <a:t>Partial</a:t>
            </a:r>
            <a:r>
              <a:rPr sz="2000" i="1" spc="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i="1" dirty="0">
                <a:solidFill>
                  <a:srgbClr val="3C3C3C"/>
                </a:solidFill>
                <a:latin typeface="Gill Sans MT"/>
                <a:cs typeface="Gill Sans MT"/>
              </a:rPr>
              <a:t>Dependency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:</a:t>
            </a:r>
            <a:r>
              <a:rPr sz="2000" spc="-21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A type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 of</a:t>
            </a:r>
            <a:r>
              <a:rPr sz="2000" spc="1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functional</a:t>
            </a:r>
            <a:r>
              <a:rPr sz="2000" spc="1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dependency</a:t>
            </a:r>
            <a:r>
              <a:rPr sz="2000" spc="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spc="-10" dirty="0">
                <a:solidFill>
                  <a:srgbClr val="3C3C3C"/>
                </a:solidFill>
                <a:latin typeface="Gill Sans MT"/>
                <a:cs typeface="Gill Sans MT"/>
              </a:rPr>
              <a:t>where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 an</a:t>
            </a:r>
            <a:r>
              <a:rPr sz="2000" spc="1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spc="-10" dirty="0">
                <a:solidFill>
                  <a:srgbClr val="3C3C3C"/>
                </a:solidFill>
                <a:latin typeface="Gill Sans MT"/>
                <a:cs typeface="Gill Sans MT"/>
              </a:rPr>
              <a:t>attribute</a:t>
            </a:r>
            <a:r>
              <a:rPr sz="2000" spc="1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is 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functionally</a:t>
            </a:r>
            <a:r>
              <a:rPr sz="2000" spc="-3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spc="-10" dirty="0">
                <a:solidFill>
                  <a:srgbClr val="3C3C3C"/>
                </a:solidFill>
                <a:latin typeface="Gill Sans MT"/>
                <a:cs typeface="Gill Sans MT"/>
              </a:rPr>
              <a:t>dependent</a:t>
            </a:r>
            <a:r>
              <a:rPr sz="2000" spc="-1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spc="-10" dirty="0">
                <a:solidFill>
                  <a:srgbClr val="3C3C3C"/>
                </a:solidFill>
                <a:latin typeface="Gill Sans MT"/>
                <a:cs typeface="Gill Sans MT"/>
              </a:rPr>
              <a:t>on</a:t>
            </a:r>
            <a:r>
              <a:rPr sz="2000" spc="-15" dirty="0">
                <a:solidFill>
                  <a:srgbClr val="3C3C3C"/>
                </a:solidFill>
                <a:latin typeface="Gill Sans MT"/>
                <a:cs typeface="Gill Sans MT"/>
              </a:rPr>
              <a:t> only </a:t>
            </a:r>
            <a:r>
              <a:rPr sz="2000" spc="-54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spc="5" dirty="0">
                <a:solidFill>
                  <a:srgbClr val="3C3C3C"/>
                </a:solidFill>
                <a:latin typeface="Gill Sans MT"/>
                <a:cs typeface="Gill Sans MT"/>
              </a:rPr>
              <a:t>part</a:t>
            </a:r>
            <a:r>
              <a:rPr sz="2000" spc="-2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of</a:t>
            </a:r>
            <a:r>
              <a:rPr sz="2000" spc="-1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the</a:t>
            </a:r>
            <a:r>
              <a:rPr sz="2000" spc="-1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spc="10" dirty="0">
                <a:solidFill>
                  <a:srgbClr val="3C3C3C"/>
                </a:solidFill>
                <a:latin typeface="Gill Sans MT"/>
                <a:cs typeface="Gill Sans MT"/>
              </a:rPr>
              <a:t>primary</a:t>
            </a:r>
            <a:r>
              <a:rPr sz="2000" spc="-4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spc="-35" dirty="0">
                <a:solidFill>
                  <a:srgbClr val="3C3C3C"/>
                </a:solidFill>
                <a:latin typeface="Gill Sans MT"/>
                <a:cs typeface="Gill Sans MT"/>
              </a:rPr>
              <a:t>key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spc="5" dirty="0">
                <a:solidFill>
                  <a:srgbClr val="3C3C3C"/>
                </a:solidFill>
                <a:latin typeface="Gill Sans MT"/>
                <a:cs typeface="Gill Sans MT"/>
              </a:rPr>
              <a:t>(primary</a:t>
            </a:r>
            <a:r>
              <a:rPr sz="2000" spc="-35" dirty="0">
                <a:solidFill>
                  <a:srgbClr val="3C3C3C"/>
                </a:solidFill>
                <a:latin typeface="Gill Sans MT"/>
                <a:cs typeface="Gill Sans MT"/>
              </a:rPr>
              <a:t> key</a:t>
            </a:r>
            <a:r>
              <a:rPr sz="2000" spc="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must</a:t>
            </a:r>
            <a:r>
              <a:rPr sz="2000" spc="-2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be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a</a:t>
            </a:r>
            <a:r>
              <a:rPr sz="2000" spc="-2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composite</a:t>
            </a:r>
            <a:r>
              <a:rPr sz="2000" spc="-3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spc="-25" dirty="0">
                <a:solidFill>
                  <a:srgbClr val="3C3C3C"/>
                </a:solidFill>
                <a:latin typeface="Gill Sans MT"/>
                <a:cs typeface="Gill Sans MT"/>
              </a:rPr>
              <a:t>key).</a:t>
            </a:r>
            <a:endParaRPr sz="2000">
              <a:latin typeface="Gill Sans MT"/>
              <a:cs typeface="Gill Sans MT"/>
            </a:endParaRPr>
          </a:p>
          <a:p>
            <a:pPr marL="317500" indent="-304800">
              <a:lnSpc>
                <a:spcPct val="100000"/>
              </a:lnSpc>
              <a:spcBef>
                <a:spcPts val="1080"/>
              </a:spcBef>
              <a:buClr>
                <a:srgbClr val="4590B8"/>
              </a:buClr>
              <a:buSzPct val="90000"/>
              <a:buFont typeface="Wingdings 2"/>
              <a:buChar char=""/>
              <a:tabLst>
                <a:tab pos="316865" algn="l"/>
                <a:tab pos="317500" algn="l"/>
              </a:tabLst>
            </a:pPr>
            <a:r>
              <a:rPr sz="2000" spc="-10" dirty="0">
                <a:solidFill>
                  <a:srgbClr val="3C3C3C"/>
                </a:solidFill>
                <a:latin typeface="Gill Sans MT"/>
                <a:cs typeface="Gill Sans MT"/>
              </a:rPr>
              <a:t>Create</a:t>
            </a:r>
            <a:r>
              <a:rPr sz="2000" spc="3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separate</a:t>
            </a:r>
            <a:r>
              <a:rPr sz="2000" spc="2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table</a:t>
            </a:r>
            <a:r>
              <a:rPr sz="2000" spc="2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with</a:t>
            </a:r>
            <a:r>
              <a:rPr sz="2000" spc="2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the</a:t>
            </a:r>
            <a:r>
              <a:rPr sz="2000" spc="2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functionally</a:t>
            </a:r>
            <a:r>
              <a:rPr sz="2000" spc="2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dependent</a:t>
            </a:r>
            <a:r>
              <a:rPr sz="2000" spc="3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data</a:t>
            </a:r>
            <a:r>
              <a:rPr sz="2000" spc="2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and</a:t>
            </a:r>
            <a:r>
              <a:rPr sz="2000" spc="2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the</a:t>
            </a:r>
            <a:r>
              <a:rPr sz="2000" spc="2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spc="5" dirty="0">
                <a:solidFill>
                  <a:srgbClr val="3C3C3C"/>
                </a:solidFill>
                <a:latin typeface="Gill Sans MT"/>
                <a:cs typeface="Gill Sans MT"/>
              </a:rPr>
              <a:t>part</a:t>
            </a:r>
            <a:r>
              <a:rPr sz="2000" spc="3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of</a:t>
            </a:r>
            <a:r>
              <a:rPr sz="2000" spc="2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the</a:t>
            </a:r>
            <a:r>
              <a:rPr sz="2000" spc="2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spc="-35" dirty="0">
                <a:solidFill>
                  <a:srgbClr val="3C3C3C"/>
                </a:solidFill>
                <a:latin typeface="Gill Sans MT"/>
                <a:cs typeface="Gill Sans MT"/>
              </a:rPr>
              <a:t>key</a:t>
            </a:r>
            <a:r>
              <a:rPr sz="2000" spc="2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on</a:t>
            </a:r>
            <a:r>
              <a:rPr sz="2000" spc="3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which</a:t>
            </a:r>
            <a:r>
              <a:rPr sz="2000" spc="3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it</a:t>
            </a:r>
            <a:r>
              <a:rPr sz="2000" spc="2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depends.</a:t>
            </a:r>
            <a:endParaRPr sz="2000">
              <a:latin typeface="Gill Sans MT"/>
              <a:cs typeface="Gill Sans MT"/>
            </a:endParaRPr>
          </a:p>
          <a:p>
            <a:pPr marL="317500">
              <a:lnSpc>
                <a:spcPct val="100000"/>
              </a:lnSpc>
              <a:spcBef>
                <a:spcPts val="5"/>
              </a:spcBef>
            </a:pPr>
            <a:r>
              <a:rPr sz="2000" spc="-40" dirty="0">
                <a:solidFill>
                  <a:srgbClr val="3C3C3C"/>
                </a:solidFill>
                <a:latin typeface="Gill Sans MT"/>
                <a:cs typeface="Gill Sans MT"/>
              </a:rPr>
              <a:t>Tables</a:t>
            </a:r>
            <a:r>
              <a:rPr sz="2000" spc="-2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created</a:t>
            </a:r>
            <a:r>
              <a:rPr sz="2000" spc="-1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at</a:t>
            </a:r>
            <a:r>
              <a:rPr sz="2000" spc="-1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this</a:t>
            </a:r>
            <a:r>
              <a:rPr sz="2000" spc="-1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step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will</a:t>
            </a:r>
            <a:r>
              <a:rPr sz="2000" spc="-2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usually</a:t>
            </a:r>
            <a:r>
              <a:rPr sz="2000" spc="-3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contain</a:t>
            </a:r>
            <a:r>
              <a:rPr sz="2000" spc="-3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descriptions</a:t>
            </a:r>
            <a:r>
              <a:rPr sz="2000" spc="-3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of</a:t>
            </a:r>
            <a:r>
              <a:rPr sz="2000" spc="-10" dirty="0">
                <a:solidFill>
                  <a:srgbClr val="3C3C3C"/>
                </a:solidFill>
                <a:latin typeface="Gill Sans MT"/>
                <a:cs typeface="Gill Sans MT"/>
              </a:rPr>
              <a:t> resources.</a:t>
            </a:r>
            <a:endParaRPr sz="2000">
              <a:latin typeface="Gill Sans MT"/>
              <a:cs typeface="Gill Sans MT"/>
            </a:endParaRPr>
          </a:p>
          <a:p>
            <a:pPr marR="336550" algn="r">
              <a:lnSpc>
                <a:spcPct val="100000"/>
              </a:lnSpc>
              <a:spcBef>
                <a:spcPts val="1660"/>
              </a:spcBef>
            </a:pPr>
            <a:r>
              <a:rPr sz="900" spc="5" dirty="0">
                <a:solidFill>
                  <a:srgbClr val="4590B8"/>
                </a:solidFill>
                <a:latin typeface="Gill Sans MT"/>
                <a:cs typeface="Gill Sans MT"/>
              </a:rPr>
              <a:t>11</a:t>
            </a:r>
            <a:endParaRPr sz="900">
              <a:latin typeface="Gill Sans MT"/>
              <a:cs typeface="Gill Sans M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/>
          <p:nvPr/>
        </p:nvSpPr>
        <p:spPr>
          <a:xfrm>
            <a:off x="444500" y="6531499"/>
            <a:ext cx="644525" cy="202565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200" spc="-5" dirty="0">
                <a:solidFill>
                  <a:srgbClr val="393939"/>
                </a:solidFill>
                <a:latin typeface="Gill Sans MT"/>
                <a:cs typeface="Gill Sans MT"/>
              </a:rPr>
              <a:t>6/10/2020</a:t>
            </a:r>
            <a:endParaRPr sz="1200">
              <a:latin typeface="Gill Sans MT"/>
              <a:cs typeface="Gill Sans MT"/>
            </a:endParaRPr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597408" y="441959"/>
          <a:ext cx="10984228" cy="14166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88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785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468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320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1A31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6200">
                      <a:solidFill>
                        <a:srgbClr val="FFFFFF"/>
                      </a:solidFill>
                      <a:prstDash val="solid"/>
                    </a:lnL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4590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6200">
                      <a:solidFill>
                        <a:srgbClr val="FFFFFF"/>
                      </a:solidFill>
                      <a:prstDash val="solid"/>
                    </a:lnL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959F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84605">
                <a:tc gridSpan="3">
                  <a:txBody>
                    <a:bodyPr/>
                    <a:lstStyle/>
                    <a:p>
                      <a:pPr marL="13335" algn="ctr">
                        <a:lnSpc>
                          <a:spcPct val="100000"/>
                        </a:lnSpc>
                        <a:spcBef>
                          <a:spcPts val="780"/>
                        </a:spcBef>
                      </a:pPr>
                      <a:r>
                        <a:rPr sz="3600" b="1" spc="-15" dirty="0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FORMS</a:t>
                      </a:r>
                      <a:r>
                        <a:rPr sz="3600" b="1" spc="-30" dirty="0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 </a:t>
                      </a:r>
                      <a:r>
                        <a:rPr sz="3600" b="1" dirty="0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OF </a:t>
                      </a:r>
                      <a:r>
                        <a:rPr sz="3600" b="1" spc="-20" dirty="0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NORMALIZATION</a:t>
                      </a:r>
                      <a:endParaRPr sz="3600">
                        <a:latin typeface="Constantia"/>
                        <a:cs typeface="Constantia"/>
                      </a:endParaRPr>
                    </a:p>
                  </a:txBody>
                  <a:tcPr marL="0" marR="0" marT="99060" marB="0">
                    <a:lnT w="57150">
                      <a:solidFill>
                        <a:srgbClr val="FFFFFF"/>
                      </a:solidFill>
                      <a:prstDash val="solid"/>
                    </a:lnT>
                    <a:solidFill>
                      <a:srgbClr val="1A315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34187" y="1942541"/>
            <a:ext cx="1085850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5"/>
              </a:spcBef>
            </a:pPr>
            <a:r>
              <a:rPr sz="2200" spc="-5" dirty="0">
                <a:solidFill>
                  <a:srgbClr val="3C3C3C"/>
                </a:solidFill>
                <a:latin typeface="Gill Sans MT"/>
                <a:cs typeface="Gill Sans MT"/>
              </a:rPr>
              <a:t>3</a:t>
            </a:r>
            <a:r>
              <a:rPr sz="2175" spc="-7" baseline="24904" dirty="0">
                <a:solidFill>
                  <a:srgbClr val="3C3C3C"/>
                </a:solidFill>
                <a:latin typeface="Gill Sans MT"/>
                <a:cs typeface="Gill Sans MT"/>
              </a:rPr>
              <a:t>rd</a:t>
            </a:r>
            <a:r>
              <a:rPr sz="2175" spc="615" baseline="24904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200" spc="-5" dirty="0">
                <a:solidFill>
                  <a:srgbClr val="3C3C3C"/>
                </a:solidFill>
                <a:latin typeface="Gill Sans MT"/>
                <a:cs typeface="Gill Sans MT"/>
              </a:rPr>
              <a:t>Normal</a:t>
            </a:r>
            <a:r>
              <a:rPr sz="2200" spc="204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200" spc="-15" dirty="0">
                <a:solidFill>
                  <a:srgbClr val="3C3C3C"/>
                </a:solidFill>
                <a:latin typeface="Gill Sans MT"/>
                <a:cs typeface="Gill Sans MT"/>
              </a:rPr>
              <a:t>Form, </a:t>
            </a:r>
            <a:r>
              <a:rPr sz="2000" b="0" dirty="0">
                <a:solidFill>
                  <a:srgbClr val="3C3C3C"/>
                </a:solidFill>
                <a:latin typeface="Gill Sans MT"/>
                <a:cs typeface="Gill Sans MT"/>
              </a:rPr>
              <a:t>A</a:t>
            </a:r>
            <a:r>
              <a:rPr sz="2000" b="0" spc="15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b="0" spc="-10" dirty="0">
                <a:solidFill>
                  <a:srgbClr val="3C3C3C"/>
                </a:solidFill>
                <a:latin typeface="Gill Sans MT"/>
                <a:cs typeface="Gill Sans MT"/>
              </a:rPr>
              <a:t>relation</a:t>
            </a:r>
            <a:r>
              <a:rPr sz="2000" b="0" spc="15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b="0" dirty="0">
                <a:solidFill>
                  <a:srgbClr val="3C3C3C"/>
                </a:solidFill>
                <a:latin typeface="Gill Sans MT"/>
                <a:cs typeface="Gill Sans MT"/>
              </a:rPr>
              <a:t>is</a:t>
            </a:r>
            <a:r>
              <a:rPr sz="2000" b="0" spc="15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b="0" spc="-5" dirty="0">
                <a:solidFill>
                  <a:srgbClr val="3C3C3C"/>
                </a:solidFill>
                <a:latin typeface="Gill Sans MT"/>
                <a:cs typeface="Gill Sans MT"/>
              </a:rPr>
              <a:t>in</a:t>
            </a:r>
            <a:r>
              <a:rPr sz="2000" b="0" spc="16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b="0" spc="-10" dirty="0">
                <a:solidFill>
                  <a:srgbClr val="3C3C3C"/>
                </a:solidFill>
                <a:latin typeface="Gill Sans MT"/>
                <a:cs typeface="Gill Sans MT"/>
              </a:rPr>
              <a:t>third</a:t>
            </a:r>
            <a:r>
              <a:rPr sz="2000" b="0" spc="15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b="0" dirty="0">
                <a:solidFill>
                  <a:srgbClr val="3C3C3C"/>
                </a:solidFill>
                <a:latin typeface="Gill Sans MT"/>
                <a:cs typeface="Gill Sans MT"/>
              </a:rPr>
              <a:t>normal</a:t>
            </a:r>
            <a:r>
              <a:rPr sz="2000" b="0" spc="16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b="0" spc="-15" dirty="0">
                <a:solidFill>
                  <a:srgbClr val="3C3C3C"/>
                </a:solidFill>
                <a:latin typeface="Gill Sans MT"/>
                <a:cs typeface="Gill Sans MT"/>
              </a:rPr>
              <a:t>form,</a:t>
            </a:r>
            <a:r>
              <a:rPr sz="2000" b="0" spc="-5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b="0" dirty="0">
                <a:solidFill>
                  <a:srgbClr val="3C3C3C"/>
                </a:solidFill>
                <a:latin typeface="Gill Sans MT"/>
                <a:cs typeface="Gill Sans MT"/>
              </a:rPr>
              <a:t>if</a:t>
            </a:r>
            <a:r>
              <a:rPr sz="2000" b="0" spc="15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b="0" spc="-5" dirty="0">
                <a:solidFill>
                  <a:srgbClr val="3C3C3C"/>
                </a:solidFill>
                <a:latin typeface="Gill Sans MT"/>
                <a:cs typeface="Gill Sans MT"/>
              </a:rPr>
              <a:t>it</a:t>
            </a:r>
            <a:r>
              <a:rPr sz="2000" b="0" spc="14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b="0" dirty="0">
                <a:solidFill>
                  <a:srgbClr val="3C3C3C"/>
                </a:solidFill>
                <a:latin typeface="Gill Sans MT"/>
                <a:cs typeface="Gill Sans MT"/>
              </a:rPr>
              <a:t>is</a:t>
            </a:r>
            <a:r>
              <a:rPr sz="2000" b="0" spc="14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b="0" dirty="0">
                <a:solidFill>
                  <a:srgbClr val="3C3C3C"/>
                </a:solidFill>
                <a:latin typeface="Gill Sans MT"/>
                <a:cs typeface="Gill Sans MT"/>
              </a:rPr>
              <a:t>in</a:t>
            </a:r>
            <a:r>
              <a:rPr sz="2000" b="0" spc="15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b="0" dirty="0">
                <a:solidFill>
                  <a:srgbClr val="3C3C3C"/>
                </a:solidFill>
                <a:latin typeface="Gill Sans MT"/>
                <a:cs typeface="Gill Sans MT"/>
              </a:rPr>
              <a:t>2NF</a:t>
            </a:r>
            <a:r>
              <a:rPr sz="2000" b="0" spc="14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b="0" dirty="0">
                <a:solidFill>
                  <a:srgbClr val="3C3C3C"/>
                </a:solidFill>
                <a:latin typeface="Gill Sans MT"/>
                <a:cs typeface="Gill Sans MT"/>
              </a:rPr>
              <a:t>and</a:t>
            </a:r>
            <a:r>
              <a:rPr sz="2000" b="0" spc="14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b="0" spc="-5" dirty="0">
                <a:solidFill>
                  <a:srgbClr val="3C3C3C"/>
                </a:solidFill>
                <a:latin typeface="Gill Sans MT"/>
                <a:cs typeface="Gill Sans MT"/>
              </a:rPr>
              <a:t>every</a:t>
            </a:r>
            <a:r>
              <a:rPr sz="2000" b="0" spc="15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b="0" spc="-15" dirty="0">
                <a:solidFill>
                  <a:srgbClr val="3C3C3C"/>
                </a:solidFill>
                <a:latin typeface="Gill Sans MT"/>
                <a:cs typeface="Gill Sans MT"/>
              </a:rPr>
              <a:t>non-key</a:t>
            </a:r>
            <a:r>
              <a:rPr sz="2000" b="0" spc="14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b="0" dirty="0">
                <a:solidFill>
                  <a:srgbClr val="3C3C3C"/>
                </a:solidFill>
                <a:latin typeface="Gill Sans MT"/>
                <a:cs typeface="Gill Sans MT"/>
              </a:rPr>
              <a:t>attribute</a:t>
            </a:r>
            <a:r>
              <a:rPr sz="2000" b="0" spc="13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b="0" spc="-5" dirty="0">
                <a:solidFill>
                  <a:srgbClr val="3C3C3C"/>
                </a:solidFill>
                <a:latin typeface="Gill Sans MT"/>
                <a:cs typeface="Gill Sans MT"/>
              </a:rPr>
              <a:t>of</a:t>
            </a:r>
            <a:endParaRPr sz="2000">
              <a:latin typeface="Gill Sans MT"/>
              <a:cs typeface="Gill Sans M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marL="317500">
              <a:lnSpc>
                <a:spcPct val="100000"/>
              </a:lnSpc>
              <a:spcBef>
                <a:spcPts val="1180"/>
              </a:spcBef>
            </a:pPr>
            <a:r>
              <a:rPr dirty="0"/>
              <a:t>the</a:t>
            </a:r>
            <a:r>
              <a:rPr spc="-15" dirty="0"/>
              <a:t> </a:t>
            </a:r>
            <a:r>
              <a:rPr spc="-5" dirty="0"/>
              <a:t>relation</a:t>
            </a:r>
            <a:r>
              <a:rPr spc="-35" dirty="0"/>
              <a:t> </a:t>
            </a:r>
            <a:r>
              <a:rPr dirty="0"/>
              <a:t>is</a:t>
            </a:r>
            <a:r>
              <a:rPr spc="-10" dirty="0"/>
              <a:t> </a:t>
            </a:r>
            <a:r>
              <a:rPr spc="-5" dirty="0"/>
              <a:t>non-transitively</a:t>
            </a:r>
            <a:r>
              <a:rPr spc="-50" dirty="0"/>
              <a:t> </a:t>
            </a:r>
            <a:r>
              <a:rPr dirty="0"/>
              <a:t>dependent</a:t>
            </a:r>
            <a:r>
              <a:rPr spc="-10" dirty="0"/>
              <a:t> </a:t>
            </a:r>
            <a:r>
              <a:rPr spc="-5" dirty="0"/>
              <a:t>on </a:t>
            </a:r>
            <a:r>
              <a:rPr dirty="0"/>
              <a:t>each</a:t>
            </a:r>
            <a:r>
              <a:rPr spc="-10" dirty="0"/>
              <a:t> </a:t>
            </a:r>
            <a:r>
              <a:rPr dirty="0"/>
              <a:t>candidate</a:t>
            </a:r>
            <a:r>
              <a:rPr spc="-25" dirty="0"/>
              <a:t> </a:t>
            </a:r>
            <a:r>
              <a:rPr spc="-35" dirty="0"/>
              <a:t>key</a:t>
            </a:r>
            <a:r>
              <a:rPr spc="10" dirty="0"/>
              <a:t> </a:t>
            </a:r>
            <a:r>
              <a:rPr spc="-5" dirty="0"/>
              <a:t>of</a:t>
            </a:r>
            <a:r>
              <a:rPr spc="-10" dirty="0"/>
              <a:t> </a:t>
            </a:r>
            <a:r>
              <a:rPr dirty="0"/>
              <a:t>the</a:t>
            </a:r>
            <a:r>
              <a:rPr spc="-15" dirty="0"/>
              <a:t> </a:t>
            </a:r>
            <a:r>
              <a:rPr spc="-5" dirty="0"/>
              <a:t>relation.</a:t>
            </a: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b="1" spc="-20" dirty="0">
                <a:latin typeface="Gill Sans MT"/>
                <a:cs typeface="Gill Sans MT"/>
              </a:rPr>
              <a:t>For</a:t>
            </a:r>
            <a:r>
              <a:rPr b="1" spc="-50" dirty="0">
                <a:latin typeface="Gill Sans MT"/>
                <a:cs typeface="Gill Sans MT"/>
              </a:rPr>
              <a:t> </a:t>
            </a:r>
            <a:r>
              <a:rPr b="1" dirty="0">
                <a:latin typeface="Gill Sans MT"/>
                <a:cs typeface="Gill Sans MT"/>
              </a:rPr>
              <a:t>3NF</a:t>
            </a:r>
          </a:p>
          <a:p>
            <a:pPr marL="317500" indent="-305435" algn="just">
              <a:lnSpc>
                <a:spcPct val="100000"/>
              </a:lnSpc>
              <a:spcBef>
                <a:spcPts val="1080"/>
              </a:spcBef>
              <a:buClr>
                <a:srgbClr val="4590B8"/>
              </a:buClr>
              <a:buSzPct val="90000"/>
              <a:buFont typeface="Wingdings 2"/>
              <a:buChar char=""/>
              <a:tabLst>
                <a:tab pos="318135" algn="l"/>
              </a:tabLst>
            </a:pPr>
            <a:r>
              <a:rPr spc="-10" dirty="0"/>
              <a:t>Remove</a:t>
            </a:r>
            <a:r>
              <a:rPr spc="-35" dirty="0"/>
              <a:t> </a:t>
            </a:r>
            <a:r>
              <a:rPr spc="-5" dirty="0"/>
              <a:t>transitive</a:t>
            </a:r>
            <a:r>
              <a:rPr spc="-50" dirty="0"/>
              <a:t> </a:t>
            </a:r>
            <a:r>
              <a:rPr dirty="0"/>
              <a:t>dependencies.</a:t>
            </a:r>
          </a:p>
          <a:p>
            <a:pPr marL="317500" marR="29845" indent="-305435" algn="just">
              <a:lnSpc>
                <a:spcPct val="100000"/>
              </a:lnSpc>
              <a:spcBef>
                <a:spcPts val="1080"/>
              </a:spcBef>
              <a:buClr>
                <a:srgbClr val="4590B8"/>
              </a:buClr>
              <a:buSzPct val="90000"/>
              <a:buFont typeface="Wingdings 2"/>
              <a:buChar char=""/>
              <a:tabLst>
                <a:tab pos="318135" algn="l"/>
              </a:tabLst>
            </a:pPr>
            <a:r>
              <a:rPr spc="-30" dirty="0"/>
              <a:t>Transitive</a:t>
            </a:r>
            <a:r>
              <a:rPr spc="-25" dirty="0"/>
              <a:t> </a:t>
            </a:r>
            <a:r>
              <a:rPr dirty="0"/>
              <a:t>Dependency</a:t>
            </a:r>
            <a:r>
              <a:rPr spc="5" dirty="0"/>
              <a:t> </a:t>
            </a:r>
            <a:r>
              <a:rPr dirty="0"/>
              <a:t>is</a:t>
            </a:r>
            <a:r>
              <a:rPr spc="5" dirty="0"/>
              <a:t> </a:t>
            </a:r>
            <a:r>
              <a:rPr dirty="0"/>
              <a:t>a</a:t>
            </a:r>
            <a:r>
              <a:rPr spc="5" dirty="0"/>
              <a:t> </a:t>
            </a:r>
            <a:r>
              <a:rPr dirty="0"/>
              <a:t>type</a:t>
            </a:r>
            <a:r>
              <a:rPr spc="5" dirty="0"/>
              <a:t> </a:t>
            </a:r>
            <a:r>
              <a:rPr spc="-5" dirty="0"/>
              <a:t>of</a:t>
            </a:r>
            <a:r>
              <a:rPr dirty="0"/>
              <a:t> </a:t>
            </a:r>
            <a:r>
              <a:rPr spc="-5" dirty="0"/>
              <a:t>functional</a:t>
            </a:r>
            <a:r>
              <a:rPr dirty="0"/>
              <a:t> dependency</a:t>
            </a:r>
            <a:r>
              <a:rPr spc="5" dirty="0"/>
              <a:t> </a:t>
            </a:r>
            <a:r>
              <a:rPr spc="-10" dirty="0"/>
              <a:t>where</a:t>
            </a:r>
            <a:r>
              <a:rPr spc="-5" dirty="0"/>
              <a:t> an</a:t>
            </a:r>
            <a:r>
              <a:rPr dirty="0"/>
              <a:t> </a:t>
            </a:r>
            <a:r>
              <a:rPr spc="-10" dirty="0"/>
              <a:t>attribute</a:t>
            </a:r>
            <a:r>
              <a:rPr spc="535" dirty="0"/>
              <a:t> </a:t>
            </a:r>
            <a:r>
              <a:rPr dirty="0"/>
              <a:t>is</a:t>
            </a:r>
            <a:r>
              <a:rPr spc="555" dirty="0"/>
              <a:t> </a:t>
            </a:r>
            <a:r>
              <a:rPr spc="-5" dirty="0"/>
              <a:t>functionally </a:t>
            </a:r>
            <a:r>
              <a:rPr dirty="0"/>
              <a:t> dependent </a:t>
            </a:r>
            <a:r>
              <a:rPr spc="-10" dirty="0"/>
              <a:t>on </a:t>
            </a:r>
            <a:r>
              <a:rPr spc="-5" dirty="0"/>
              <a:t>an attribute other than the </a:t>
            </a:r>
            <a:r>
              <a:rPr spc="5" dirty="0"/>
              <a:t>primary </a:t>
            </a:r>
            <a:r>
              <a:rPr spc="-65" dirty="0"/>
              <a:t>key. </a:t>
            </a:r>
            <a:r>
              <a:rPr spc="-5" dirty="0"/>
              <a:t>Thus its value </a:t>
            </a:r>
            <a:r>
              <a:rPr dirty="0"/>
              <a:t>is </a:t>
            </a:r>
            <a:r>
              <a:rPr spc="-5" dirty="0"/>
              <a:t>only </a:t>
            </a:r>
            <a:r>
              <a:rPr spc="-10" dirty="0"/>
              <a:t>indirectly </a:t>
            </a:r>
            <a:r>
              <a:rPr dirty="0"/>
              <a:t>determined </a:t>
            </a:r>
            <a:r>
              <a:rPr spc="-20" dirty="0"/>
              <a:t>by </a:t>
            </a:r>
            <a:r>
              <a:rPr spc="-15" dirty="0"/>
              <a:t> </a:t>
            </a:r>
            <a:r>
              <a:rPr dirty="0"/>
              <a:t>the</a:t>
            </a:r>
            <a:r>
              <a:rPr spc="-20" dirty="0"/>
              <a:t> </a:t>
            </a:r>
            <a:r>
              <a:rPr spc="10" dirty="0"/>
              <a:t>primary</a:t>
            </a:r>
            <a:r>
              <a:rPr spc="-55" dirty="0"/>
              <a:t> </a:t>
            </a:r>
            <a:r>
              <a:rPr spc="-65" dirty="0"/>
              <a:t>key.</a:t>
            </a:r>
          </a:p>
          <a:p>
            <a:pPr marL="317500" marR="5080" indent="-305435" algn="just">
              <a:lnSpc>
                <a:spcPct val="100000"/>
              </a:lnSpc>
              <a:spcBef>
                <a:spcPts val="1080"/>
              </a:spcBef>
              <a:buClr>
                <a:srgbClr val="4590B8"/>
              </a:buClr>
              <a:buSzPct val="90000"/>
              <a:buFont typeface="Wingdings 2"/>
              <a:buChar char=""/>
              <a:tabLst>
                <a:tab pos="318135" algn="l"/>
              </a:tabLst>
            </a:pPr>
            <a:r>
              <a:rPr spc="-10" dirty="0"/>
              <a:t>Create </a:t>
            </a:r>
            <a:r>
              <a:rPr dirty="0"/>
              <a:t>a </a:t>
            </a:r>
            <a:r>
              <a:rPr spc="-5" dirty="0"/>
              <a:t>separate </a:t>
            </a:r>
            <a:r>
              <a:rPr dirty="0"/>
              <a:t>table </a:t>
            </a:r>
            <a:r>
              <a:rPr spc="-5" dirty="0"/>
              <a:t>containing the attribute </a:t>
            </a:r>
            <a:r>
              <a:rPr dirty="0"/>
              <a:t>and </a:t>
            </a:r>
            <a:r>
              <a:rPr spc="-5" dirty="0"/>
              <a:t>the fields that </a:t>
            </a:r>
            <a:r>
              <a:rPr spc="-15" dirty="0"/>
              <a:t>are </a:t>
            </a:r>
            <a:r>
              <a:rPr spc="-5" dirty="0"/>
              <a:t>functionally dependent on </a:t>
            </a:r>
            <a:r>
              <a:rPr spc="-10" dirty="0"/>
              <a:t>it. </a:t>
            </a:r>
            <a:r>
              <a:rPr spc="-5" dirty="0"/>
              <a:t> </a:t>
            </a:r>
            <a:r>
              <a:rPr spc="-40" dirty="0"/>
              <a:t>Tables </a:t>
            </a:r>
            <a:r>
              <a:rPr spc="-10" dirty="0"/>
              <a:t>created </a:t>
            </a:r>
            <a:r>
              <a:rPr spc="-5" dirty="0"/>
              <a:t>at </a:t>
            </a:r>
            <a:r>
              <a:rPr dirty="0"/>
              <a:t>this step </a:t>
            </a:r>
            <a:r>
              <a:rPr spc="-10" dirty="0"/>
              <a:t>will </a:t>
            </a:r>
            <a:r>
              <a:rPr spc="-5" dirty="0"/>
              <a:t>usually contain </a:t>
            </a:r>
            <a:r>
              <a:rPr dirty="0"/>
              <a:t>descriptions of either </a:t>
            </a:r>
            <a:r>
              <a:rPr spc="-10" dirty="0"/>
              <a:t>resources </a:t>
            </a:r>
            <a:r>
              <a:rPr dirty="0"/>
              <a:t>or </a:t>
            </a:r>
            <a:r>
              <a:rPr spc="-5" dirty="0"/>
              <a:t>agents. </a:t>
            </a:r>
            <a:r>
              <a:rPr spc="-30" dirty="0"/>
              <a:t>Keep </a:t>
            </a:r>
            <a:r>
              <a:rPr dirty="0"/>
              <a:t>a </a:t>
            </a:r>
            <a:r>
              <a:rPr spc="-20" dirty="0"/>
              <a:t>copy </a:t>
            </a:r>
            <a:r>
              <a:rPr spc="-15" dirty="0"/>
              <a:t> </a:t>
            </a:r>
            <a:r>
              <a:rPr spc="-5" dirty="0"/>
              <a:t>of</a:t>
            </a:r>
            <a:r>
              <a:rPr spc="-20" dirty="0"/>
              <a:t> </a:t>
            </a:r>
            <a:r>
              <a:rPr dirty="0"/>
              <a:t>the</a:t>
            </a:r>
            <a:r>
              <a:rPr spc="-15" dirty="0"/>
              <a:t> </a:t>
            </a:r>
            <a:r>
              <a:rPr spc="-35" dirty="0"/>
              <a:t>key</a:t>
            </a:r>
            <a:r>
              <a:rPr spc="-5" dirty="0"/>
              <a:t> </a:t>
            </a:r>
            <a:r>
              <a:rPr dirty="0"/>
              <a:t>attribute</a:t>
            </a:r>
            <a:r>
              <a:rPr spc="-40" dirty="0"/>
              <a:t> </a:t>
            </a:r>
            <a:r>
              <a:rPr dirty="0"/>
              <a:t>in</a:t>
            </a:r>
            <a:r>
              <a:rPr spc="-25" dirty="0"/>
              <a:t> </a:t>
            </a:r>
            <a:r>
              <a:rPr spc="5" dirty="0"/>
              <a:t>the</a:t>
            </a:r>
            <a:r>
              <a:rPr spc="-15" dirty="0"/>
              <a:t> </a:t>
            </a:r>
            <a:r>
              <a:rPr dirty="0"/>
              <a:t>original</a:t>
            </a:r>
            <a:r>
              <a:rPr spc="-55" dirty="0"/>
              <a:t> </a:t>
            </a:r>
            <a:r>
              <a:rPr spc="5" dirty="0"/>
              <a:t>file.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1208511" y="6054344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5" dirty="0">
                <a:solidFill>
                  <a:srgbClr val="4590B8"/>
                </a:solidFill>
                <a:latin typeface="Gill Sans MT"/>
                <a:cs typeface="Gill Sans MT"/>
              </a:rPr>
              <a:t>12</a:t>
            </a:r>
            <a:endParaRPr sz="900">
              <a:latin typeface="Gill Sans MT"/>
              <a:cs typeface="Gill Sans M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160601" y="6107989"/>
            <a:ext cx="181314" cy="146022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1126216" y="6044895"/>
            <a:ext cx="22352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"/>
                <a:cs typeface="Arial"/>
              </a:rPr>
              <a:t>13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436876" y="452627"/>
            <a:ext cx="2497074" cy="100965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707894" y="569163"/>
            <a:ext cx="192532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0" dirty="0">
                <a:solidFill>
                  <a:srgbClr val="000000"/>
                </a:solidFill>
                <a:latin typeface="Gill Sans MT"/>
                <a:cs typeface="Gill Sans MT"/>
              </a:rPr>
              <a:t>EXA</a:t>
            </a:r>
            <a:r>
              <a:rPr sz="3600" b="0" spc="-15" dirty="0">
                <a:solidFill>
                  <a:srgbClr val="000000"/>
                </a:solidFill>
                <a:latin typeface="Gill Sans MT"/>
                <a:cs typeface="Gill Sans MT"/>
              </a:rPr>
              <a:t>M</a:t>
            </a:r>
            <a:r>
              <a:rPr sz="3600" b="0" dirty="0">
                <a:solidFill>
                  <a:srgbClr val="000000"/>
                </a:solidFill>
                <a:latin typeface="Gill Sans MT"/>
                <a:cs typeface="Gill Sans MT"/>
              </a:rPr>
              <a:t>PLE</a:t>
            </a:r>
            <a:endParaRPr sz="3600">
              <a:latin typeface="Gill Sans MT"/>
              <a:cs typeface="Gill Sans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907794" y="4569333"/>
            <a:ext cx="308737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5" dirty="0">
                <a:solidFill>
                  <a:srgbClr val="990000"/>
                </a:solidFill>
                <a:latin typeface="Times New Roman"/>
                <a:cs typeface="Times New Roman"/>
              </a:rPr>
              <a:t>Question–Is</a:t>
            </a:r>
            <a:r>
              <a:rPr sz="2200" spc="-2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solidFill>
                  <a:srgbClr val="990000"/>
                </a:solidFill>
                <a:latin typeface="Times New Roman"/>
                <a:cs typeface="Times New Roman"/>
              </a:rPr>
              <a:t>this a relation?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907794" y="5331663"/>
            <a:ext cx="392874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10" dirty="0">
                <a:solidFill>
                  <a:srgbClr val="990000"/>
                </a:solidFill>
                <a:latin typeface="Times New Roman"/>
                <a:cs typeface="Times New Roman"/>
              </a:rPr>
              <a:t>Question–What’s</a:t>
            </a:r>
            <a:r>
              <a:rPr sz="2200" spc="-4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solidFill>
                  <a:srgbClr val="990000"/>
                </a:solidFill>
                <a:latin typeface="Times New Roman"/>
                <a:cs typeface="Times New Roman"/>
              </a:rPr>
              <a:t>the</a:t>
            </a:r>
            <a:r>
              <a:rPr sz="2200" spc="-2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solidFill>
                  <a:srgbClr val="990000"/>
                </a:solidFill>
                <a:latin typeface="Times New Roman"/>
                <a:cs typeface="Times New Roman"/>
              </a:rPr>
              <a:t>primary</a:t>
            </a:r>
            <a:r>
              <a:rPr sz="2200" spc="1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990000"/>
                </a:solidFill>
                <a:latin typeface="Times New Roman"/>
                <a:cs typeface="Times New Roman"/>
              </a:rPr>
              <a:t>key?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328028" y="4229989"/>
            <a:ext cx="315277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solidFill>
                  <a:srgbClr val="0066FF"/>
                </a:solidFill>
                <a:latin typeface="Times New Roman"/>
                <a:cs typeface="Times New Roman"/>
              </a:rPr>
              <a:t>Answer–Yes:</a:t>
            </a:r>
            <a:r>
              <a:rPr sz="1800" spc="-10" dirty="0">
                <a:solidFill>
                  <a:srgbClr val="0066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66FF"/>
                </a:solidFill>
                <a:latin typeface="Times New Roman"/>
                <a:cs typeface="Times New Roman"/>
              </a:rPr>
              <a:t>Unique</a:t>
            </a:r>
            <a:r>
              <a:rPr sz="1800" spc="-15" dirty="0">
                <a:solidFill>
                  <a:srgbClr val="0066FF"/>
                </a:solidFill>
                <a:latin typeface="Times New Roman"/>
                <a:cs typeface="Times New Roman"/>
              </a:rPr>
              <a:t> </a:t>
            </a:r>
            <a:r>
              <a:rPr sz="1800" spc="-5" dirty="0">
                <a:solidFill>
                  <a:srgbClr val="0066FF"/>
                </a:solidFill>
                <a:latin typeface="Times New Roman"/>
                <a:cs typeface="Times New Roman"/>
              </a:rPr>
              <a:t>rows</a:t>
            </a:r>
            <a:r>
              <a:rPr sz="1800" spc="-10" dirty="0">
                <a:solidFill>
                  <a:srgbClr val="0066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66FF"/>
                </a:solidFill>
                <a:latin typeface="Times New Roman"/>
                <a:cs typeface="Times New Roman"/>
              </a:rPr>
              <a:t>and</a:t>
            </a:r>
            <a:r>
              <a:rPr sz="1800" spc="-15" dirty="0">
                <a:solidFill>
                  <a:srgbClr val="0066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66FF"/>
                </a:solidFill>
                <a:latin typeface="Times New Roman"/>
                <a:cs typeface="Times New Roman"/>
              </a:rPr>
              <a:t>no </a:t>
            </a:r>
            <a:r>
              <a:rPr sz="1800" spc="-434" dirty="0">
                <a:solidFill>
                  <a:srgbClr val="0066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66FF"/>
                </a:solidFill>
                <a:latin typeface="Times New Roman"/>
                <a:cs typeface="Times New Roman"/>
              </a:rPr>
              <a:t>multivalued</a:t>
            </a:r>
            <a:r>
              <a:rPr sz="1800" spc="-25" dirty="0">
                <a:solidFill>
                  <a:srgbClr val="0066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66FF"/>
                </a:solidFill>
                <a:latin typeface="Times New Roman"/>
                <a:cs typeface="Times New Roman"/>
              </a:rPr>
              <a:t>attributes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304279" y="5049266"/>
            <a:ext cx="3430904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0066FF"/>
                </a:solidFill>
                <a:latin typeface="Times New Roman"/>
                <a:cs typeface="Times New Roman"/>
              </a:rPr>
              <a:t>Answer–</a:t>
            </a:r>
            <a:r>
              <a:rPr sz="1800" spc="-15" dirty="0">
                <a:solidFill>
                  <a:srgbClr val="0066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66FF"/>
                </a:solidFill>
                <a:latin typeface="Times New Roman"/>
                <a:cs typeface="Times New Roman"/>
              </a:rPr>
              <a:t>Composite</a:t>
            </a:r>
            <a:r>
              <a:rPr sz="1800" spc="-15" dirty="0">
                <a:solidFill>
                  <a:srgbClr val="0066FF"/>
                </a:solidFill>
                <a:latin typeface="Times New Roman"/>
                <a:cs typeface="Times New Roman"/>
              </a:rPr>
              <a:t> </a:t>
            </a:r>
            <a:r>
              <a:rPr sz="1800" spc="-5" dirty="0">
                <a:solidFill>
                  <a:srgbClr val="0066FF"/>
                </a:solidFill>
                <a:latin typeface="Times New Roman"/>
                <a:cs typeface="Times New Roman"/>
              </a:rPr>
              <a:t>Key:</a:t>
            </a:r>
            <a:r>
              <a:rPr sz="1800" spc="-20" dirty="0">
                <a:solidFill>
                  <a:srgbClr val="0066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66FF"/>
                </a:solidFill>
                <a:latin typeface="Times New Roman"/>
                <a:cs typeface="Times New Roman"/>
              </a:rPr>
              <a:t>Emp_ID</a:t>
            </a:r>
            <a:r>
              <a:rPr sz="1800" spc="-15" dirty="0">
                <a:solidFill>
                  <a:srgbClr val="0066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66FF"/>
                </a:solidFill>
                <a:latin typeface="Times New Roman"/>
                <a:cs typeface="Times New Roman"/>
              </a:rPr>
              <a:t>+ </a:t>
            </a:r>
            <a:r>
              <a:rPr sz="1800" spc="-434" dirty="0">
                <a:solidFill>
                  <a:srgbClr val="0066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66FF"/>
                </a:solidFill>
                <a:latin typeface="Times New Roman"/>
                <a:cs typeface="Times New Roman"/>
              </a:rPr>
              <a:t>Course_Title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304279" y="5872226"/>
            <a:ext cx="404495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066FF"/>
                </a:solidFill>
                <a:latin typeface="Times New Roman"/>
                <a:cs typeface="Times New Roman"/>
              </a:rPr>
              <a:t>This combination uniquely identifies each </a:t>
            </a:r>
            <a:r>
              <a:rPr sz="1800" spc="5" dirty="0">
                <a:solidFill>
                  <a:srgbClr val="0066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66FF"/>
                </a:solidFill>
                <a:latin typeface="Times New Roman"/>
                <a:cs typeface="Times New Roman"/>
              </a:rPr>
              <a:t>record,</a:t>
            </a:r>
            <a:r>
              <a:rPr sz="1800" spc="-20" dirty="0">
                <a:solidFill>
                  <a:srgbClr val="0066FF"/>
                </a:solidFill>
                <a:latin typeface="Times New Roman"/>
                <a:cs typeface="Times New Roman"/>
              </a:rPr>
              <a:t> </a:t>
            </a:r>
            <a:r>
              <a:rPr sz="1800" spc="-5" dirty="0">
                <a:solidFill>
                  <a:srgbClr val="0066FF"/>
                </a:solidFill>
                <a:latin typeface="Times New Roman"/>
                <a:cs typeface="Times New Roman"/>
              </a:rPr>
              <a:t>since</a:t>
            </a:r>
            <a:r>
              <a:rPr sz="1800" spc="-20" dirty="0">
                <a:solidFill>
                  <a:srgbClr val="0066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66FF"/>
                </a:solidFill>
                <a:latin typeface="Times New Roman"/>
                <a:cs typeface="Times New Roman"/>
              </a:rPr>
              <a:t>an</a:t>
            </a:r>
            <a:r>
              <a:rPr sz="1800" spc="-15" dirty="0">
                <a:solidFill>
                  <a:srgbClr val="0066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66FF"/>
                </a:solidFill>
                <a:latin typeface="Times New Roman"/>
                <a:cs typeface="Times New Roman"/>
              </a:rPr>
              <a:t>employee</a:t>
            </a:r>
            <a:r>
              <a:rPr sz="1800" spc="-15" dirty="0">
                <a:solidFill>
                  <a:srgbClr val="0066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66FF"/>
                </a:solidFill>
                <a:latin typeface="Times New Roman"/>
                <a:cs typeface="Times New Roman"/>
              </a:rPr>
              <a:t>can</a:t>
            </a:r>
            <a:r>
              <a:rPr sz="1800" spc="-15" dirty="0">
                <a:solidFill>
                  <a:srgbClr val="0066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66FF"/>
                </a:solidFill>
                <a:latin typeface="Times New Roman"/>
                <a:cs typeface="Times New Roman"/>
              </a:rPr>
              <a:t>take</a:t>
            </a:r>
            <a:r>
              <a:rPr sz="1800" spc="-15" dirty="0">
                <a:solidFill>
                  <a:srgbClr val="0066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66FF"/>
                </a:solidFill>
                <a:latin typeface="Times New Roman"/>
                <a:cs typeface="Times New Roman"/>
              </a:rPr>
              <a:t>multiple </a:t>
            </a:r>
            <a:r>
              <a:rPr sz="1800" spc="-434" dirty="0">
                <a:solidFill>
                  <a:srgbClr val="0066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66FF"/>
                </a:solidFill>
                <a:latin typeface="Times New Roman"/>
                <a:cs typeface="Times New Roman"/>
              </a:rPr>
              <a:t>courses.</a:t>
            </a:r>
            <a:endParaRPr sz="1800">
              <a:latin typeface="Times New Roman"/>
              <a:cs typeface="Times New Roman"/>
            </a:endParaRPr>
          </a:p>
        </p:txBody>
      </p:sp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058923" y="1185672"/>
            <a:ext cx="8124444" cy="288797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97408" y="600455"/>
            <a:ext cx="10985500" cy="1259205"/>
          </a:xfrm>
          <a:custGeom>
            <a:avLst/>
            <a:gdLst/>
            <a:ahLst/>
            <a:cxnLst/>
            <a:rect l="l" t="t" r="r" b="b"/>
            <a:pathLst>
              <a:path w="10985500" h="1259205">
                <a:moveTo>
                  <a:pt x="10984992" y="0"/>
                </a:moveTo>
                <a:lnTo>
                  <a:pt x="0" y="0"/>
                </a:lnTo>
                <a:lnTo>
                  <a:pt x="0" y="1258824"/>
                </a:lnTo>
                <a:lnTo>
                  <a:pt x="10984992" y="1258824"/>
                </a:lnTo>
                <a:lnTo>
                  <a:pt x="10984992" y="0"/>
                </a:lnTo>
                <a:close/>
              </a:path>
            </a:pathLst>
          </a:custGeom>
          <a:solidFill>
            <a:srgbClr val="1A315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18925" y="6507281"/>
            <a:ext cx="181314" cy="14145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80260" y="870203"/>
            <a:ext cx="4659630" cy="787146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97408" y="958087"/>
            <a:ext cx="109855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703705">
              <a:lnSpc>
                <a:spcPct val="100000"/>
              </a:lnSpc>
              <a:spcBef>
                <a:spcPts val="95"/>
              </a:spcBef>
            </a:pPr>
            <a:r>
              <a:rPr sz="2800" b="0" spc="-5" dirty="0">
                <a:latin typeface="Gill Sans MT"/>
                <a:cs typeface="Gill Sans MT"/>
              </a:rPr>
              <a:t>ANOMAL</a:t>
            </a:r>
            <a:r>
              <a:rPr sz="2800" b="0" spc="-20" dirty="0">
                <a:latin typeface="Gill Sans MT"/>
                <a:cs typeface="Gill Sans MT"/>
              </a:rPr>
              <a:t>I</a:t>
            </a:r>
            <a:r>
              <a:rPr sz="2800" b="0" spc="-5" dirty="0">
                <a:latin typeface="Gill Sans MT"/>
                <a:cs typeface="Gill Sans MT"/>
              </a:rPr>
              <a:t>ES</a:t>
            </a:r>
            <a:r>
              <a:rPr sz="2800" b="0" spc="15" dirty="0">
                <a:latin typeface="Gill Sans MT"/>
                <a:cs typeface="Gill Sans MT"/>
              </a:rPr>
              <a:t> </a:t>
            </a:r>
            <a:r>
              <a:rPr sz="2800" b="0" spc="-5" dirty="0">
                <a:latin typeface="Gill Sans MT"/>
                <a:cs typeface="Gill Sans MT"/>
              </a:rPr>
              <a:t>IN</a:t>
            </a:r>
            <a:r>
              <a:rPr sz="2800" b="0" spc="-350" dirty="0">
                <a:latin typeface="Gill Sans MT"/>
                <a:cs typeface="Gill Sans MT"/>
              </a:rPr>
              <a:t> </a:t>
            </a:r>
            <a:r>
              <a:rPr sz="2800" b="0" spc="-5" dirty="0">
                <a:latin typeface="Gill Sans MT"/>
                <a:cs typeface="Gill Sans MT"/>
              </a:rPr>
              <a:t>THIS</a:t>
            </a:r>
            <a:r>
              <a:rPr sz="2800" b="0" spc="-345" dirty="0">
                <a:latin typeface="Gill Sans MT"/>
                <a:cs typeface="Gill Sans MT"/>
              </a:rPr>
              <a:t> </a:t>
            </a:r>
            <a:r>
              <a:rPr sz="2800" b="0" spc="-280" dirty="0">
                <a:latin typeface="Gill Sans MT"/>
                <a:cs typeface="Gill Sans MT"/>
              </a:rPr>
              <a:t>T</a:t>
            </a:r>
            <a:r>
              <a:rPr sz="2800" b="0" spc="-5" dirty="0">
                <a:latin typeface="Gill Sans MT"/>
                <a:cs typeface="Gill Sans MT"/>
              </a:rPr>
              <a:t>AB</a:t>
            </a:r>
            <a:r>
              <a:rPr sz="2800" b="0" spc="-15" dirty="0">
                <a:latin typeface="Gill Sans MT"/>
                <a:cs typeface="Gill Sans MT"/>
              </a:rPr>
              <a:t>L</a:t>
            </a:r>
            <a:r>
              <a:rPr sz="2800" b="0" spc="-5" dirty="0">
                <a:latin typeface="Gill Sans MT"/>
                <a:cs typeface="Gill Sans MT"/>
              </a:rPr>
              <a:t>E</a:t>
            </a:r>
            <a:endParaRPr sz="2800">
              <a:latin typeface="Gill Sans MT"/>
              <a:cs typeface="Gill Sans MT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318515" y="2252472"/>
            <a:ext cx="10979785" cy="2439670"/>
            <a:chOff x="318515" y="2252472"/>
            <a:chExt cx="10979785" cy="2439670"/>
          </a:xfrm>
        </p:grpSpPr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96541" y="2490615"/>
              <a:ext cx="132378" cy="127141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88263" y="2252472"/>
              <a:ext cx="1689354" cy="677417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874519" y="2252472"/>
              <a:ext cx="555498" cy="677417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026920" y="2252472"/>
              <a:ext cx="8899398" cy="677417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18515" y="2842259"/>
              <a:ext cx="488429" cy="553974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88263" y="2767584"/>
              <a:ext cx="1629918" cy="677418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815083" y="2767584"/>
              <a:ext cx="555498" cy="677418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967483" y="2767584"/>
              <a:ext cx="9330690" cy="677418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88263" y="3133344"/>
              <a:ext cx="2181606" cy="677417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18515" y="3723132"/>
              <a:ext cx="488429" cy="553974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88263" y="3648455"/>
              <a:ext cx="2167890" cy="677418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353055" y="3648455"/>
              <a:ext cx="555498" cy="677418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505455" y="3648455"/>
              <a:ext cx="7890509" cy="677418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88263" y="4014216"/>
              <a:ext cx="2422398" cy="677418"/>
            </a:xfrm>
            <a:prstGeom prst="rect">
              <a:avLst/>
            </a:prstGeom>
          </p:spPr>
        </p:pic>
      </p:grpSp>
      <p:sp>
        <p:nvSpPr>
          <p:cNvPr id="21" name="object 21"/>
          <p:cNvSpPr txBox="1"/>
          <p:nvPr/>
        </p:nvSpPr>
        <p:spPr>
          <a:xfrm>
            <a:off x="460654" y="2178630"/>
            <a:ext cx="10551795" cy="4389120"/>
          </a:xfrm>
          <a:prstGeom prst="rect">
            <a:avLst/>
          </a:prstGeom>
        </p:spPr>
        <p:txBody>
          <a:bodyPr vert="horz" wrap="square" lIns="0" tIns="161290" rIns="0" bIns="0" rtlCol="0">
            <a:spAutoFit/>
          </a:bodyPr>
          <a:lstStyle/>
          <a:p>
            <a:pPr marL="317500" indent="-304800">
              <a:lnSpc>
                <a:spcPct val="100000"/>
              </a:lnSpc>
              <a:spcBef>
                <a:spcPts val="1270"/>
              </a:spcBef>
              <a:buClr>
                <a:srgbClr val="4590B8"/>
              </a:buClr>
              <a:buSzPct val="91666"/>
              <a:buFont typeface="Wingdings 2"/>
              <a:buChar char=""/>
              <a:tabLst>
                <a:tab pos="316865" algn="l"/>
                <a:tab pos="317500" algn="l"/>
              </a:tabLst>
            </a:pPr>
            <a:r>
              <a:rPr sz="2400" b="1" spc="-5" dirty="0">
                <a:latin typeface="Gill Sans MT"/>
                <a:cs typeface="Gill Sans MT"/>
              </a:rPr>
              <a:t>Insertion</a:t>
            </a:r>
            <a:r>
              <a:rPr sz="2400" spc="-5" dirty="0">
                <a:latin typeface="Gill Sans MT"/>
                <a:cs typeface="Gill Sans MT"/>
              </a:rPr>
              <a:t>–can’t</a:t>
            </a:r>
            <a:r>
              <a:rPr sz="2400" spc="-15" dirty="0">
                <a:latin typeface="Gill Sans MT"/>
                <a:cs typeface="Gill Sans MT"/>
              </a:rPr>
              <a:t> </a:t>
            </a:r>
            <a:r>
              <a:rPr sz="2400" dirty="0">
                <a:latin typeface="Gill Sans MT"/>
                <a:cs typeface="Gill Sans MT"/>
              </a:rPr>
              <a:t>enter</a:t>
            </a:r>
            <a:r>
              <a:rPr sz="2400" spc="-10" dirty="0">
                <a:latin typeface="Gill Sans MT"/>
                <a:cs typeface="Gill Sans MT"/>
              </a:rPr>
              <a:t> </a:t>
            </a:r>
            <a:r>
              <a:rPr sz="2400" dirty="0">
                <a:latin typeface="Gill Sans MT"/>
                <a:cs typeface="Gill Sans MT"/>
              </a:rPr>
              <a:t>a</a:t>
            </a:r>
            <a:r>
              <a:rPr sz="2400" spc="-15" dirty="0">
                <a:latin typeface="Gill Sans MT"/>
                <a:cs typeface="Gill Sans MT"/>
              </a:rPr>
              <a:t> new</a:t>
            </a:r>
            <a:r>
              <a:rPr sz="2400" spc="-5" dirty="0">
                <a:latin typeface="Gill Sans MT"/>
                <a:cs typeface="Gill Sans MT"/>
              </a:rPr>
              <a:t> </a:t>
            </a:r>
            <a:r>
              <a:rPr sz="2400" spc="-15" dirty="0">
                <a:latin typeface="Gill Sans MT"/>
                <a:cs typeface="Gill Sans MT"/>
              </a:rPr>
              <a:t>employee</a:t>
            </a:r>
            <a:r>
              <a:rPr sz="2400" dirty="0">
                <a:latin typeface="Gill Sans MT"/>
                <a:cs typeface="Gill Sans MT"/>
              </a:rPr>
              <a:t> </a:t>
            </a:r>
            <a:r>
              <a:rPr sz="2400" spc="-5" dirty="0">
                <a:latin typeface="Gill Sans MT"/>
                <a:cs typeface="Gill Sans MT"/>
              </a:rPr>
              <a:t>without</a:t>
            </a:r>
            <a:r>
              <a:rPr sz="2400" spc="-20" dirty="0">
                <a:latin typeface="Gill Sans MT"/>
                <a:cs typeface="Gill Sans MT"/>
              </a:rPr>
              <a:t> </a:t>
            </a:r>
            <a:r>
              <a:rPr sz="2400" spc="-15" dirty="0">
                <a:latin typeface="Gill Sans MT"/>
                <a:cs typeface="Gill Sans MT"/>
              </a:rPr>
              <a:t>having</a:t>
            </a:r>
            <a:r>
              <a:rPr sz="2400" dirty="0">
                <a:latin typeface="Gill Sans MT"/>
                <a:cs typeface="Gill Sans MT"/>
              </a:rPr>
              <a:t> the </a:t>
            </a:r>
            <a:r>
              <a:rPr sz="2400" spc="-15" dirty="0">
                <a:latin typeface="Gill Sans MT"/>
                <a:cs typeface="Gill Sans MT"/>
              </a:rPr>
              <a:t>employee</a:t>
            </a:r>
            <a:r>
              <a:rPr sz="2400" dirty="0">
                <a:latin typeface="Gill Sans MT"/>
                <a:cs typeface="Gill Sans MT"/>
              </a:rPr>
              <a:t> </a:t>
            </a:r>
            <a:r>
              <a:rPr sz="2400" spc="-20" dirty="0">
                <a:latin typeface="Gill Sans MT"/>
                <a:cs typeface="Gill Sans MT"/>
              </a:rPr>
              <a:t>take</a:t>
            </a:r>
            <a:r>
              <a:rPr sz="2400" dirty="0">
                <a:latin typeface="Gill Sans MT"/>
                <a:cs typeface="Gill Sans MT"/>
              </a:rPr>
              <a:t> a</a:t>
            </a:r>
            <a:r>
              <a:rPr sz="2400" spc="-10" dirty="0">
                <a:latin typeface="Gill Sans MT"/>
                <a:cs typeface="Gill Sans MT"/>
              </a:rPr>
              <a:t> </a:t>
            </a:r>
            <a:r>
              <a:rPr sz="2400" dirty="0">
                <a:latin typeface="Gill Sans MT"/>
                <a:cs typeface="Gill Sans MT"/>
              </a:rPr>
              <a:t>class</a:t>
            </a:r>
            <a:endParaRPr sz="2400">
              <a:latin typeface="Gill Sans MT"/>
              <a:cs typeface="Gill Sans MT"/>
            </a:endParaRPr>
          </a:p>
          <a:p>
            <a:pPr marL="317500" indent="-304800">
              <a:lnSpc>
                <a:spcPct val="100000"/>
              </a:lnSpc>
              <a:spcBef>
                <a:spcPts val="1175"/>
              </a:spcBef>
              <a:buClr>
                <a:srgbClr val="4590B8"/>
              </a:buClr>
              <a:buSzPct val="91666"/>
              <a:buFont typeface="Wingdings 2"/>
              <a:buChar char=""/>
              <a:tabLst>
                <a:tab pos="316865" algn="l"/>
                <a:tab pos="317500" algn="l"/>
              </a:tabLst>
            </a:pPr>
            <a:r>
              <a:rPr sz="2400" b="1" spc="-5" dirty="0">
                <a:latin typeface="Gill Sans MT"/>
                <a:cs typeface="Gill Sans MT"/>
              </a:rPr>
              <a:t>Deletion</a:t>
            </a:r>
            <a:r>
              <a:rPr sz="2400" spc="-5" dirty="0">
                <a:latin typeface="Gill Sans MT"/>
                <a:cs typeface="Gill Sans MT"/>
              </a:rPr>
              <a:t>–if </a:t>
            </a:r>
            <a:r>
              <a:rPr sz="2400" spc="-25" dirty="0">
                <a:latin typeface="Gill Sans MT"/>
                <a:cs typeface="Gill Sans MT"/>
              </a:rPr>
              <a:t>we</a:t>
            </a:r>
            <a:r>
              <a:rPr sz="2400" spc="5" dirty="0">
                <a:latin typeface="Gill Sans MT"/>
                <a:cs typeface="Gill Sans MT"/>
              </a:rPr>
              <a:t> </a:t>
            </a:r>
            <a:r>
              <a:rPr sz="2400" spc="-25" dirty="0">
                <a:latin typeface="Gill Sans MT"/>
                <a:cs typeface="Gill Sans MT"/>
              </a:rPr>
              <a:t>remove</a:t>
            </a:r>
            <a:r>
              <a:rPr sz="2400" spc="5" dirty="0">
                <a:latin typeface="Gill Sans MT"/>
                <a:cs typeface="Gill Sans MT"/>
              </a:rPr>
              <a:t> </a:t>
            </a:r>
            <a:r>
              <a:rPr sz="2400" spc="-15" dirty="0">
                <a:latin typeface="Gill Sans MT"/>
                <a:cs typeface="Gill Sans MT"/>
              </a:rPr>
              <a:t>employee</a:t>
            </a:r>
            <a:r>
              <a:rPr sz="2400" spc="5" dirty="0">
                <a:latin typeface="Gill Sans MT"/>
                <a:cs typeface="Gill Sans MT"/>
              </a:rPr>
              <a:t> </a:t>
            </a:r>
            <a:r>
              <a:rPr sz="2400" spc="-5" dirty="0">
                <a:latin typeface="Gill Sans MT"/>
                <a:cs typeface="Gill Sans MT"/>
              </a:rPr>
              <a:t>140,</a:t>
            </a:r>
            <a:r>
              <a:rPr sz="2400" spc="-245" dirty="0">
                <a:latin typeface="Gill Sans MT"/>
                <a:cs typeface="Gill Sans MT"/>
              </a:rPr>
              <a:t> </a:t>
            </a:r>
            <a:r>
              <a:rPr sz="2400" spc="-25" dirty="0">
                <a:latin typeface="Gill Sans MT"/>
                <a:cs typeface="Gill Sans MT"/>
              </a:rPr>
              <a:t>we</a:t>
            </a:r>
            <a:r>
              <a:rPr sz="2400" spc="-15" dirty="0">
                <a:latin typeface="Gill Sans MT"/>
                <a:cs typeface="Gill Sans MT"/>
              </a:rPr>
              <a:t> </a:t>
            </a:r>
            <a:r>
              <a:rPr sz="2400" spc="-5" dirty="0">
                <a:latin typeface="Gill Sans MT"/>
                <a:cs typeface="Gill Sans MT"/>
              </a:rPr>
              <a:t>lose information</a:t>
            </a:r>
            <a:r>
              <a:rPr sz="2400" spc="5" dirty="0">
                <a:latin typeface="Gill Sans MT"/>
                <a:cs typeface="Gill Sans MT"/>
              </a:rPr>
              <a:t> </a:t>
            </a:r>
            <a:r>
              <a:rPr sz="2400" spc="-5" dirty="0">
                <a:latin typeface="Gill Sans MT"/>
                <a:cs typeface="Gill Sans MT"/>
              </a:rPr>
              <a:t>about</a:t>
            </a:r>
            <a:r>
              <a:rPr sz="2400" spc="5" dirty="0">
                <a:latin typeface="Gill Sans MT"/>
                <a:cs typeface="Gill Sans MT"/>
              </a:rPr>
              <a:t> </a:t>
            </a:r>
            <a:r>
              <a:rPr sz="2400" dirty="0">
                <a:latin typeface="Gill Sans MT"/>
                <a:cs typeface="Gill Sans MT"/>
              </a:rPr>
              <a:t>the</a:t>
            </a:r>
            <a:r>
              <a:rPr sz="2400" spc="-5" dirty="0">
                <a:latin typeface="Gill Sans MT"/>
                <a:cs typeface="Gill Sans MT"/>
              </a:rPr>
              <a:t> </a:t>
            </a:r>
            <a:r>
              <a:rPr sz="2400" dirty="0">
                <a:latin typeface="Gill Sans MT"/>
                <a:cs typeface="Gill Sans MT"/>
              </a:rPr>
              <a:t>existence</a:t>
            </a:r>
            <a:r>
              <a:rPr sz="2400" spc="-15" dirty="0">
                <a:latin typeface="Gill Sans MT"/>
                <a:cs typeface="Gill Sans MT"/>
              </a:rPr>
              <a:t> </a:t>
            </a:r>
            <a:r>
              <a:rPr sz="2400" dirty="0">
                <a:latin typeface="Gill Sans MT"/>
                <a:cs typeface="Gill Sans MT"/>
              </a:rPr>
              <a:t>of</a:t>
            </a:r>
            <a:endParaRPr sz="2400">
              <a:latin typeface="Gill Sans MT"/>
              <a:cs typeface="Gill Sans MT"/>
            </a:endParaRPr>
          </a:p>
          <a:p>
            <a:pPr marL="317500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latin typeface="Gill Sans MT"/>
                <a:cs typeface="Gill Sans MT"/>
              </a:rPr>
              <a:t>a</a:t>
            </a:r>
            <a:r>
              <a:rPr sz="2400" spc="-300" dirty="0">
                <a:latin typeface="Gill Sans MT"/>
                <a:cs typeface="Gill Sans MT"/>
              </a:rPr>
              <a:t> T</a:t>
            </a:r>
            <a:r>
              <a:rPr sz="2400" dirty="0">
                <a:latin typeface="Gill Sans MT"/>
                <a:cs typeface="Gill Sans MT"/>
              </a:rPr>
              <a:t>ax</a:t>
            </a:r>
            <a:r>
              <a:rPr sz="2400" spc="-254" dirty="0">
                <a:latin typeface="Gill Sans MT"/>
                <a:cs typeface="Gill Sans MT"/>
              </a:rPr>
              <a:t> </a:t>
            </a:r>
            <a:r>
              <a:rPr sz="2400" dirty="0">
                <a:latin typeface="Gill Sans MT"/>
                <a:cs typeface="Gill Sans MT"/>
              </a:rPr>
              <a:t>Acc class</a:t>
            </a:r>
            <a:endParaRPr sz="2400">
              <a:latin typeface="Gill Sans MT"/>
              <a:cs typeface="Gill Sans MT"/>
            </a:endParaRPr>
          </a:p>
          <a:p>
            <a:pPr marL="317500" marR="906780" indent="-304800">
              <a:lnSpc>
                <a:spcPct val="100000"/>
              </a:lnSpc>
              <a:spcBef>
                <a:spcPts val="1175"/>
              </a:spcBef>
              <a:buClr>
                <a:srgbClr val="4590B8"/>
              </a:buClr>
              <a:buSzPct val="91666"/>
              <a:buFont typeface="Wingdings 2"/>
              <a:buChar char=""/>
              <a:tabLst>
                <a:tab pos="316865" algn="l"/>
                <a:tab pos="317500" algn="l"/>
              </a:tabLst>
            </a:pPr>
            <a:r>
              <a:rPr sz="2400" b="1" spc="-5" dirty="0">
                <a:latin typeface="Gill Sans MT"/>
                <a:cs typeface="Gill Sans MT"/>
              </a:rPr>
              <a:t>Modification</a:t>
            </a:r>
            <a:r>
              <a:rPr sz="2400" spc="-5" dirty="0">
                <a:latin typeface="Gill Sans MT"/>
                <a:cs typeface="Gill Sans MT"/>
              </a:rPr>
              <a:t>–giving</a:t>
            </a:r>
            <a:r>
              <a:rPr sz="2400" spc="5" dirty="0">
                <a:latin typeface="Gill Sans MT"/>
                <a:cs typeface="Gill Sans MT"/>
              </a:rPr>
              <a:t> </a:t>
            </a:r>
            <a:r>
              <a:rPr sz="2400" dirty="0">
                <a:latin typeface="Gill Sans MT"/>
                <a:cs typeface="Gill Sans MT"/>
              </a:rPr>
              <a:t>a</a:t>
            </a:r>
            <a:r>
              <a:rPr sz="2400" spc="-15" dirty="0">
                <a:latin typeface="Gill Sans MT"/>
                <a:cs typeface="Gill Sans MT"/>
              </a:rPr>
              <a:t> </a:t>
            </a:r>
            <a:r>
              <a:rPr sz="2400" spc="10" dirty="0">
                <a:latin typeface="Gill Sans MT"/>
                <a:cs typeface="Gill Sans MT"/>
              </a:rPr>
              <a:t>salary </a:t>
            </a:r>
            <a:r>
              <a:rPr sz="2400" spc="-10" dirty="0">
                <a:latin typeface="Gill Sans MT"/>
                <a:cs typeface="Gill Sans MT"/>
              </a:rPr>
              <a:t>increase</a:t>
            </a:r>
            <a:r>
              <a:rPr sz="2400" spc="-15" dirty="0">
                <a:latin typeface="Gill Sans MT"/>
                <a:cs typeface="Gill Sans MT"/>
              </a:rPr>
              <a:t> </a:t>
            </a:r>
            <a:r>
              <a:rPr sz="2400" dirty="0">
                <a:latin typeface="Gill Sans MT"/>
                <a:cs typeface="Gill Sans MT"/>
              </a:rPr>
              <a:t>to</a:t>
            </a:r>
            <a:r>
              <a:rPr sz="2400" spc="5" dirty="0">
                <a:latin typeface="Gill Sans MT"/>
                <a:cs typeface="Gill Sans MT"/>
              </a:rPr>
              <a:t> </a:t>
            </a:r>
            <a:r>
              <a:rPr sz="2400" spc="-15" dirty="0">
                <a:latin typeface="Gill Sans MT"/>
                <a:cs typeface="Gill Sans MT"/>
              </a:rPr>
              <a:t>employee</a:t>
            </a:r>
            <a:r>
              <a:rPr sz="2400" spc="-10" dirty="0">
                <a:latin typeface="Gill Sans MT"/>
                <a:cs typeface="Gill Sans MT"/>
              </a:rPr>
              <a:t> </a:t>
            </a:r>
            <a:r>
              <a:rPr sz="2400" dirty="0">
                <a:latin typeface="Gill Sans MT"/>
                <a:cs typeface="Gill Sans MT"/>
              </a:rPr>
              <a:t>100</a:t>
            </a:r>
            <a:r>
              <a:rPr sz="2400" spc="-5" dirty="0">
                <a:latin typeface="Gill Sans MT"/>
                <a:cs typeface="Gill Sans MT"/>
              </a:rPr>
              <a:t> </a:t>
            </a:r>
            <a:r>
              <a:rPr sz="2400" spc="-20" dirty="0">
                <a:latin typeface="Gill Sans MT"/>
                <a:cs typeface="Gill Sans MT"/>
              </a:rPr>
              <a:t>forces</a:t>
            </a:r>
            <a:r>
              <a:rPr sz="2400" spc="15" dirty="0">
                <a:latin typeface="Gill Sans MT"/>
                <a:cs typeface="Gill Sans MT"/>
              </a:rPr>
              <a:t> </a:t>
            </a:r>
            <a:r>
              <a:rPr sz="2400" dirty="0">
                <a:latin typeface="Gill Sans MT"/>
                <a:cs typeface="Gill Sans MT"/>
              </a:rPr>
              <a:t>us</a:t>
            </a:r>
            <a:r>
              <a:rPr sz="2400" spc="-5" dirty="0">
                <a:latin typeface="Gill Sans MT"/>
                <a:cs typeface="Gill Sans MT"/>
              </a:rPr>
              <a:t> </a:t>
            </a:r>
            <a:r>
              <a:rPr sz="2400" dirty="0">
                <a:latin typeface="Gill Sans MT"/>
                <a:cs typeface="Gill Sans MT"/>
              </a:rPr>
              <a:t>to</a:t>
            </a:r>
            <a:r>
              <a:rPr sz="2400" spc="-5" dirty="0">
                <a:latin typeface="Gill Sans MT"/>
                <a:cs typeface="Gill Sans MT"/>
              </a:rPr>
              <a:t> </a:t>
            </a:r>
            <a:r>
              <a:rPr sz="2400" dirty="0">
                <a:latin typeface="Gill Sans MT"/>
                <a:cs typeface="Gill Sans MT"/>
              </a:rPr>
              <a:t>update </a:t>
            </a:r>
            <a:r>
              <a:rPr sz="2400" spc="-650" dirty="0">
                <a:latin typeface="Gill Sans MT"/>
                <a:cs typeface="Gill Sans MT"/>
              </a:rPr>
              <a:t> </a:t>
            </a:r>
            <a:r>
              <a:rPr sz="2400" spc="-5" dirty="0">
                <a:latin typeface="Gill Sans MT"/>
                <a:cs typeface="Gill Sans MT"/>
              </a:rPr>
              <a:t>multiple</a:t>
            </a:r>
            <a:r>
              <a:rPr sz="2400" spc="-20" dirty="0">
                <a:latin typeface="Gill Sans MT"/>
                <a:cs typeface="Gill Sans MT"/>
              </a:rPr>
              <a:t> </a:t>
            </a:r>
            <a:r>
              <a:rPr sz="2400" spc="-15" dirty="0">
                <a:latin typeface="Gill Sans MT"/>
                <a:cs typeface="Gill Sans MT"/>
              </a:rPr>
              <a:t>records</a:t>
            </a:r>
            <a:endParaRPr sz="2400">
              <a:latin typeface="Gill Sans MT"/>
              <a:cs typeface="Gill Sans MT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400">
              <a:latin typeface="Gill Sans MT"/>
              <a:cs typeface="Gill Sans MT"/>
            </a:endParaRPr>
          </a:p>
          <a:p>
            <a:pPr marL="767080">
              <a:lnSpc>
                <a:spcPct val="100000"/>
              </a:lnSpc>
            </a:pPr>
            <a:r>
              <a:rPr sz="2600" dirty="0">
                <a:solidFill>
                  <a:srgbClr val="990000"/>
                </a:solidFill>
                <a:latin typeface="Times New Roman"/>
                <a:cs typeface="Times New Roman"/>
              </a:rPr>
              <a:t>Why</a:t>
            </a:r>
            <a:r>
              <a:rPr sz="2600" spc="-2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990000"/>
                </a:solidFill>
                <a:latin typeface="Times New Roman"/>
                <a:cs typeface="Times New Roman"/>
              </a:rPr>
              <a:t>do</a:t>
            </a:r>
            <a:r>
              <a:rPr sz="2600" spc="-1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990000"/>
                </a:solidFill>
                <a:latin typeface="Times New Roman"/>
                <a:cs typeface="Times New Roman"/>
              </a:rPr>
              <a:t>these</a:t>
            </a:r>
            <a:r>
              <a:rPr sz="2600" spc="-1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600" spc="-5" dirty="0">
                <a:solidFill>
                  <a:srgbClr val="990000"/>
                </a:solidFill>
                <a:latin typeface="Times New Roman"/>
                <a:cs typeface="Times New Roman"/>
              </a:rPr>
              <a:t>anomalies</a:t>
            </a:r>
            <a:r>
              <a:rPr sz="2600" spc="-1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600" spc="-5" dirty="0">
                <a:solidFill>
                  <a:srgbClr val="990000"/>
                </a:solidFill>
                <a:latin typeface="Times New Roman"/>
                <a:cs typeface="Times New Roman"/>
              </a:rPr>
              <a:t>exist?</a:t>
            </a:r>
            <a:endParaRPr sz="2600">
              <a:latin typeface="Times New Roman"/>
              <a:cs typeface="Times New Roman"/>
            </a:endParaRPr>
          </a:p>
          <a:p>
            <a:pPr marL="1224280" marR="1432560">
              <a:lnSpc>
                <a:spcPct val="100000"/>
              </a:lnSpc>
            </a:pPr>
            <a:r>
              <a:rPr sz="2600" spc="-5" dirty="0">
                <a:solidFill>
                  <a:srgbClr val="990000"/>
                </a:solidFill>
                <a:latin typeface="Times New Roman"/>
                <a:cs typeface="Times New Roman"/>
              </a:rPr>
              <a:t>Because </a:t>
            </a:r>
            <a:r>
              <a:rPr sz="2600" dirty="0">
                <a:solidFill>
                  <a:srgbClr val="990000"/>
                </a:solidFill>
                <a:latin typeface="Times New Roman"/>
                <a:cs typeface="Times New Roman"/>
              </a:rPr>
              <a:t>there are two </a:t>
            </a:r>
            <a:r>
              <a:rPr sz="2600" spc="-5" dirty="0">
                <a:solidFill>
                  <a:srgbClr val="990000"/>
                </a:solidFill>
                <a:latin typeface="Times New Roman"/>
                <a:cs typeface="Times New Roman"/>
              </a:rPr>
              <a:t>themes (entity </a:t>
            </a:r>
            <a:r>
              <a:rPr sz="2600" dirty="0">
                <a:solidFill>
                  <a:srgbClr val="990000"/>
                </a:solidFill>
                <a:latin typeface="Times New Roman"/>
                <a:cs typeface="Times New Roman"/>
              </a:rPr>
              <a:t>types) in this </a:t>
            </a:r>
            <a:r>
              <a:rPr sz="2600" spc="5" dirty="0">
                <a:solidFill>
                  <a:srgbClr val="990000"/>
                </a:solidFill>
                <a:latin typeface="Times New Roman"/>
                <a:cs typeface="Times New Roman"/>
              </a:rPr>
              <a:t>one </a:t>
            </a:r>
            <a:r>
              <a:rPr sz="2600" spc="1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600" spc="-5" dirty="0">
                <a:solidFill>
                  <a:srgbClr val="990000"/>
                </a:solidFill>
                <a:latin typeface="Times New Roman"/>
                <a:cs typeface="Times New Roman"/>
              </a:rPr>
              <a:t>relation.</a:t>
            </a:r>
            <a:r>
              <a:rPr sz="2600" spc="-5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990000"/>
                </a:solidFill>
                <a:latin typeface="Times New Roman"/>
                <a:cs typeface="Times New Roman"/>
              </a:rPr>
              <a:t>This</a:t>
            </a:r>
            <a:r>
              <a:rPr sz="2600" spc="-2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600" spc="-5" dirty="0">
                <a:solidFill>
                  <a:srgbClr val="990000"/>
                </a:solidFill>
                <a:latin typeface="Times New Roman"/>
                <a:cs typeface="Times New Roman"/>
              </a:rPr>
              <a:t>results</a:t>
            </a:r>
            <a:r>
              <a:rPr sz="2600" spc="1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990000"/>
                </a:solidFill>
                <a:latin typeface="Times New Roman"/>
                <a:cs typeface="Times New Roman"/>
              </a:rPr>
              <a:t>in</a:t>
            </a:r>
            <a:r>
              <a:rPr sz="2600" spc="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990000"/>
                </a:solidFill>
                <a:latin typeface="Times New Roman"/>
                <a:cs typeface="Times New Roman"/>
              </a:rPr>
              <a:t>data</a:t>
            </a:r>
            <a:r>
              <a:rPr sz="2600" spc="-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990000"/>
                </a:solidFill>
                <a:latin typeface="Times New Roman"/>
                <a:cs typeface="Times New Roman"/>
              </a:rPr>
              <a:t>duplication</a:t>
            </a:r>
            <a:r>
              <a:rPr sz="2600" spc="-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990000"/>
                </a:solidFill>
                <a:latin typeface="Times New Roman"/>
                <a:cs typeface="Times New Roman"/>
              </a:rPr>
              <a:t>and</a:t>
            </a:r>
            <a:r>
              <a:rPr sz="2600" spc="-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990000"/>
                </a:solidFill>
                <a:latin typeface="Times New Roman"/>
                <a:cs typeface="Times New Roman"/>
              </a:rPr>
              <a:t>an</a:t>
            </a:r>
            <a:r>
              <a:rPr sz="2600" spc="-5" dirty="0">
                <a:solidFill>
                  <a:srgbClr val="990000"/>
                </a:solidFill>
                <a:latin typeface="Times New Roman"/>
                <a:cs typeface="Times New Roman"/>
              </a:rPr>
              <a:t> unnecessary </a:t>
            </a:r>
            <a:r>
              <a:rPr sz="2600" spc="-63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990000"/>
                </a:solidFill>
                <a:latin typeface="Times New Roman"/>
                <a:cs typeface="Times New Roman"/>
              </a:rPr>
              <a:t>dependency</a:t>
            </a:r>
            <a:r>
              <a:rPr sz="2600" spc="-1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600" spc="-5" dirty="0">
                <a:solidFill>
                  <a:srgbClr val="990000"/>
                </a:solidFill>
                <a:latin typeface="Times New Roman"/>
                <a:cs typeface="Times New Roman"/>
              </a:rPr>
              <a:t>between</a:t>
            </a:r>
            <a:r>
              <a:rPr sz="2600" spc="-1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990000"/>
                </a:solidFill>
                <a:latin typeface="Times New Roman"/>
                <a:cs typeface="Times New Roman"/>
              </a:rPr>
              <a:t>the</a:t>
            </a:r>
            <a:r>
              <a:rPr sz="2600" spc="-4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600" spc="-5" dirty="0">
                <a:solidFill>
                  <a:srgbClr val="990000"/>
                </a:solidFill>
                <a:latin typeface="Times New Roman"/>
                <a:cs typeface="Times New Roman"/>
              </a:rPr>
              <a:t>entities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5"/>
              </a:lnSpc>
            </a:pPr>
            <a:fld id="{81D60167-4931-47E6-BA6A-407CBD079E47}" type="slidenum">
              <a:rPr dirty="0"/>
              <a:t>14</a:t>
            </a:fld>
            <a:endParaRPr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97408" y="600455"/>
            <a:ext cx="10985500" cy="1259205"/>
          </a:xfrm>
          <a:custGeom>
            <a:avLst/>
            <a:gdLst/>
            <a:ahLst/>
            <a:cxnLst/>
            <a:rect l="l" t="t" r="r" b="b"/>
            <a:pathLst>
              <a:path w="10985500" h="1259205">
                <a:moveTo>
                  <a:pt x="10984992" y="0"/>
                </a:moveTo>
                <a:lnTo>
                  <a:pt x="0" y="0"/>
                </a:lnTo>
                <a:lnTo>
                  <a:pt x="0" y="1258824"/>
                </a:lnTo>
                <a:lnTo>
                  <a:pt x="10984992" y="1258824"/>
                </a:lnTo>
                <a:lnTo>
                  <a:pt x="10984992" y="0"/>
                </a:lnTo>
                <a:close/>
              </a:path>
            </a:pathLst>
          </a:custGeom>
          <a:solidFill>
            <a:srgbClr val="1A315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18925" y="6507281"/>
            <a:ext cx="181314" cy="14602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7072" y="1024127"/>
            <a:ext cx="8010906" cy="896874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97408" y="1124533"/>
            <a:ext cx="1098550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611505">
              <a:lnSpc>
                <a:spcPct val="100000"/>
              </a:lnSpc>
              <a:spcBef>
                <a:spcPts val="105"/>
              </a:spcBef>
            </a:pPr>
            <a:r>
              <a:rPr sz="3200" b="0" spc="-5" dirty="0">
                <a:latin typeface="Gill Sans MT"/>
                <a:cs typeface="Gill Sans MT"/>
              </a:rPr>
              <a:t>FU</a:t>
            </a:r>
            <a:r>
              <a:rPr sz="3200" b="0" spc="-10" dirty="0">
                <a:latin typeface="Gill Sans MT"/>
                <a:cs typeface="Gill Sans MT"/>
              </a:rPr>
              <a:t>N</a:t>
            </a:r>
            <a:r>
              <a:rPr sz="3200" b="0" dirty="0">
                <a:latin typeface="Gill Sans MT"/>
                <a:cs typeface="Gill Sans MT"/>
              </a:rPr>
              <a:t>CTIO</a:t>
            </a:r>
            <a:r>
              <a:rPr sz="3200" b="0" spc="-10" dirty="0">
                <a:latin typeface="Gill Sans MT"/>
                <a:cs typeface="Gill Sans MT"/>
              </a:rPr>
              <a:t>N</a:t>
            </a:r>
            <a:r>
              <a:rPr sz="3200" b="0" dirty="0">
                <a:latin typeface="Gill Sans MT"/>
                <a:cs typeface="Gill Sans MT"/>
              </a:rPr>
              <a:t>AL </a:t>
            </a:r>
            <a:r>
              <a:rPr sz="3200" b="0" spc="-10" dirty="0">
                <a:latin typeface="Gill Sans MT"/>
                <a:cs typeface="Gill Sans MT"/>
              </a:rPr>
              <a:t>D</a:t>
            </a:r>
            <a:r>
              <a:rPr sz="3200" b="0" dirty="0">
                <a:latin typeface="Gill Sans MT"/>
                <a:cs typeface="Gill Sans MT"/>
              </a:rPr>
              <a:t>EPENDE</a:t>
            </a:r>
            <a:r>
              <a:rPr sz="3200" b="0" spc="-5" dirty="0">
                <a:latin typeface="Gill Sans MT"/>
                <a:cs typeface="Gill Sans MT"/>
              </a:rPr>
              <a:t>NCIE</a:t>
            </a:r>
            <a:r>
              <a:rPr sz="3200" b="0" dirty="0">
                <a:latin typeface="Gill Sans MT"/>
                <a:cs typeface="Gill Sans MT"/>
              </a:rPr>
              <a:t>S</a:t>
            </a:r>
            <a:r>
              <a:rPr sz="3200" b="0" spc="-350" dirty="0">
                <a:latin typeface="Gill Sans MT"/>
                <a:cs typeface="Gill Sans MT"/>
              </a:rPr>
              <a:t> </a:t>
            </a:r>
            <a:r>
              <a:rPr sz="3200" b="0" dirty="0">
                <a:latin typeface="Gill Sans MT"/>
                <a:cs typeface="Gill Sans MT"/>
              </a:rPr>
              <a:t>A</a:t>
            </a:r>
            <a:r>
              <a:rPr sz="3200" b="0" spc="-5" dirty="0">
                <a:latin typeface="Gill Sans MT"/>
                <a:cs typeface="Gill Sans MT"/>
              </a:rPr>
              <a:t>N</a:t>
            </a:r>
            <a:r>
              <a:rPr sz="3200" b="0" dirty="0">
                <a:latin typeface="Gill Sans MT"/>
                <a:cs typeface="Gill Sans MT"/>
              </a:rPr>
              <a:t>D </a:t>
            </a:r>
            <a:r>
              <a:rPr sz="3200" b="0" spc="-15" dirty="0">
                <a:latin typeface="Gill Sans MT"/>
                <a:cs typeface="Gill Sans MT"/>
              </a:rPr>
              <a:t>K</a:t>
            </a:r>
            <a:r>
              <a:rPr sz="3200" b="0" dirty="0">
                <a:latin typeface="Gill Sans MT"/>
                <a:cs typeface="Gill Sans MT"/>
              </a:rPr>
              <a:t>E</a:t>
            </a:r>
            <a:r>
              <a:rPr sz="3200" b="0" spc="-65" dirty="0">
                <a:latin typeface="Gill Sans MT"/>
                <a:cs typeface="Gill Sans MT"/>
              </a:rPr>
              <a:t>Y</a:t>
            </a:r>
            <a:r>
              <a:rPr sz="3200" b="0" dirty="0">
                <a:latin typeface="Gill Sans MT"/>
                <a:cs typeface="Gill Sans MT"/>
              </a:rPr>
              <a:t>S</a:t>
            </a:r>
            <a:endParaRPr sz="3200">
              <a:latin typeface="Gill Sans MT"/>
              <a:cs typeface="Gill Sans MT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568451" y="2331732"/>
            <a:ext cx="9364345" cy="2119630"/>
            <a:chOff x="568451" y="2331732"/>
            <a:chExt cx="9364345" cy="2119630"/>
          </a:xfrm>
        </p:grpSpPr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09309" y="2515428"/>
              <a:ext cx="95419" cy="9549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07341" y="2468685"/>
              <a:ext cx="5092498" cy="22825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009131" y="2331732"/>
              <a:ext cx="1538478" cy="51128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242047" y="2331732"/>
              <a:ext cx="2690622" cy="511289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47343" y="2578620"/>
              <a:ext cx="1901189" cy="51128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68451" y="3012947"/>
              <a:ext cx="368045" cy="418338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47343" y="2956572"/>
              <a:ext cx="1700022" cy="511289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905255" y="3387839"/>
              <a:ext cx="329958" cy="375678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187195" y="3340608"/>
              <a:ext cx="6425946" cy="454913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223771" y="3733800"/>
              <a:ext cx="287261" cy="32689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473707" y="3689591"/>
              <a:ext cx="7533894" cy="398538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905255" y="4043159"/>
              <a:ext cx="329958" cy="375678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187195" y="3995927"/>
              <a:ext cx="1023366" cy="454913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938527" y="3995927"/>
              <a:ext cx="337553" cy="454913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2004059" y="3995927"/>
              <a:ext cx="4988814" cy="454913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673709" y="2386076"/>
            <a:ext cx="9048750" cy="1925955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317500" marR="5080" indent="-304800">
              <a:lnSpc>
                <a:spcPts val="1939"/>
              </a:lnSpc>
              <a:spcBef>
                <a:spcPts val="345"/>
              </a:spcBef>
              <a:buClr>
                <a:srgbClr val="4590B8"/>
              </a:buClr>
              <a:buSzPct val="91666"/>
              <a:buFont typeface="Wingdings 2"/>
              <a:buChar char=""/>
              <a:tabLst>
                <a:tab pos="316865" algn="l"/>
                <a:tab pos="317500" algn="l"/>
              </a:tabLst>
            </a:pPr>
            <a:r>
              <a:rPr sz="1800" spc="-5" dirty="0">
                <a:latin typeface="Gill Sans MT"/>
                <a:cs typeface="Gill Sans MT"/>
              </a:rPr>
              <a:t>Functional </a:t>
            </a:r>
            <a:r>
              <a:rPr sz="1800" spc="5" dirty="0">
                <a:latin typeface="Gill Sans MT"/>
                <a:cs typeface="Gill Sans MT"/>
              </a:rPr>
              <a:t>Dependency:The </a:t>
            </a:r>
            <a:r>
              <a:rPr sz="1800" dirty="0">
                <a:latin typeface="Gill Sans MT"/>
                <a:cs typeface="Gill Sans MT"/>
              </a:rPr>
              <a:t>value of one </a:t>
            </a:r>
            <a:r>
              <a:rPr sz="1800" spc="-5" dirty="0">
                <a:latin typeface="Gill Sans MT"/>
                <a:cs typeface="Gill Sans MT"/>
              </a:rPr>
              <a:t>attribute (the </a:t>
            </a:r>
            <a:r>
              <a:rPr sz="1800" b="1" i="1" spc="-5" dirty="0">
                <a:latin typeface="Gill Sans MT"/>
                <a:cs typeface="Gill Sans MT"/>
              </a:rPr>
              <a:t>determinant</a:t>
            </a:r>
            <a:r>
              <a:rPr sz="1800" spc="-5" dirty="0">
                <a:latin typeface="Gill Sans MT"/>
                <a:cs typeface="Gill Sans MT"/>
              </a:rPr>
              <a:t>) </a:t>
            </a:r>
            <a:r>
              <a:rPr sz="1800" dirty="0">
                <a:latin typeface="Gill Sans MT"/>
                <a:cs typeface="Gill Sans MT"/>
              </a:rPr>
              <a:t>determines the value of </a:t>
            </a:r>
            <a:r>
              <a:rPr sz="1800" spc="-490" dirty="0">
                <a:latin typeface="Gill Sans MT"/>
                <a:cs typeface="Gill Sans MT"/>
              </a:rPr>
              <a:t> </a:t>
            </a:r>
            <a:r>
              <a:rPr sz="1800" dirty="0">
                <a:latin typeface="Gill Sans MT"/>
                <a:cs typeface="Gill Sans MT"/>
              </a:rPr>
              <a:t>another</a:t>
            </a:r>
            <a:r>
              <a:rPr sz="1800" spc="-15" dirty="0">
                <a:latin typeface="Gill Sans MT"/>
                <a:cs typeface="Gill Sans MT"/>
              </a:rPr>
              <a:t> </a:t>
            </a:r>
            <a:r>
              <a:rPr sz="1800" dirty="0">
                <a:latin typeface="Gill Sans MT"/>
                <a:cs typeface="Gill Sans MT"/>
              </a:rPr>
              <a:t>attribute</a:t>
            </a:r>
            <a:endParaRPr sz="1800">
              <a:latin typeface="Gill Sans MT"/>
              <a:cs typeface="Gill Sans MT"/>
            </a:endParaRPr>
          </a:p>
          <a:p>
            <a:pPr marL="317500" indent="-304800">
              <a:lnSpc>
                <a:spcPct val="100000"/>
              </a:lnSpc>
              <a:spcBef>
                <a:spcPts val="795"/>
              </a:spcBef>
              <a:buClr>
                <a:srgbClr val="4590B8"/>
              </a:buClr>
              <a:buSzPct val="91666"/>
              <a:buFont typeface="Wingdings 2"/>
              <a:buChar char=""/>
              <a:tabLst>
                <a:tab pos="316865" algn="l"/>
                <a:tab pos="317500" algn="l"/>
              </a:tabLst>
            </a:pPr>
            <a:r>
              <a:rPr sz="1800" spc="-5" dirty="0">
                <a:latin typeface="Gill Sans MT"/>
                <a:cs typeface="Gill Sans MT"/>
              </a:rPr>
              <a:t>Candidate</a:t>
            </a:r>
            <a:r>
              <a:rPr sz="1800" spc="-45" dirty="0">
                <a:latin typeface="Gill Sans MT"/>
                <a:cs typeface="Gill Sans MT"/>
              </a:rPr>
              <a:t> </a:t>
            </a:r>
            <a:r>
              <a:rPr sz="1800" spc="-35" dirty="0">
                <a:latin typeface="Gill Sans MT"/>
                <a:cs typeface="Gill Sans MT"/>
              </a:rPr>
              <a:t>Key:</a:t>
            </a:r>
            <a:endParaRPr sz="1800">
              <a:latin typeface="Gill Sans MT"/>
              <a:cs typeface="Gill Sans MT"/>
            </a:endParaRPr>
          </a:p>
          <a:p>
            <a:pPr marL="641985" lvl="1" indent="-305435">
              <a:lnSpc>
                <a:spcPct val="100000"/>
              </a:lnSpc>
              <a:spcBef>
                <a:spcPts val="800"/>
              </a:spcBef>
              <a:buClr>
                <a:srgbClr val="4590B8"/>
              </a:buClr>
              <a:buSzPct val="90625"/>
              <a:buFont typeface="Wingdings 2"/>
              <a:buChar char=""/>
              <a:tabLst>
                <a:tab pos="641985" algn="l"/>
                <a:tab pos="642620" algn="l"/>
              </a:tabLst>
            </a:pPr>
            <a:r>
              <a:rPr sz="1600" spc="-5" dirty="0">
                <a:latin typeface="Gill Sans MT"/>
                <a:cs typeface="Gill Sans MT"/>
              </a:rPr>
              <a:t>A unique </a:t>
            </a:r>
            <a:r>
              <a:rPr sz="1600" spc="-20" dirty="0">
                <a:latin typeface="Gill Sans MT"/>
                <a:cs typeface="Gill Sans MT"/>
              </a:rPr>
              <a:t>identifier.</a:t>
            </a:r>
            <a:r>
              <a:rPr sz="1600" spc="-155" dirty="0">
                <a:latin typeface="Gill Sans MT"/>
                <a:cs typeface="Gill Sans MT"/>
              </a:rPr>
              <a:t> </a:t>
            </a:r>
            <a:r>
              <a:rPr sz="1600" spc="-10" dirty="0">
                <a:latin typeface="Gill Sans MT"/>
                <a:cs typeface="Gill Sans MT"/>
              </a:rPr>
              <a:t>One</a:t>
            </a:r>
            <a:r>
              <a:rPr sz="1600" dirty="0">
                <a:latin typeface="Gill Sans MT"/>
                <a:cs typeface="Gill Sans MT"/>
              </a:rPr>
              <a:t> </a:t>
            </a:r>
            <a:r>
              <a:rPr sz="1600" spc="-5" dirty="0">
                <a:latin typeface="Gill Sans MT"/>
                <a:cs typeface="Gill Sans MT"/>
              </a:rPr>
              <a:t>of</a:t>
            </a:r>
            <a:r>
              <a:rPr sz="1600" spc="20" dirty="0">
                <a:latin typeface="Gill Sans MT"/>
                <a:cs typeface="Gill Sans MT"/>
              </a:rPr>
              <a:t> </a:t>
            </a:r>
            <a:r>
              <a:rPr sz="1600" spc="-5" dirty="0">
                <a:latin typeface="Gill Sans MT"/>
                <a:cs typeface="Gill Sans MT"/>
              </a:rPr>
              <a:t>the</a:t>
            </a:r>
            <a:r>
              <a:rPr sz="1600" spc="20" dirty="0">
                <a:latin typeface="Gill Sans MT"/>
                <a:cs typeface="Gill Sans MT"/>
              </a:rPr>
              <a:t> </a:t>
            </a:r>
            <a:r>
              <a:rPr sz="1600" spc="-5" dirty="0">
                <a:latin typeface="Gill Sans MT"/>
                <a:cs typeface="Gill Sans MT"/>
              </a:rPr>
              <a:t>candidate</a:t>
            </a:r>
            <a:r>
              <a:rPr sz="1600" spc="15" dirty="0">
                <a:latin typeface="Gill Sans MT"/>
                <a:cs typeface="Gill Sans MT"/>
              </a:rPr>
              <a:t> </a:t>
            </a:r>
            <a:r>
              <a:rPr sz="1600" spc="-20" dirty="0">
                <a:latin typeface="Gill Sans MT"/>
                <a:cs typeface="Gill Sans MT"/>
              </a:rPr>
              <a:t>keys</a:t>
            </a:r>
            <a:r>
              <a:rPr sz="1600" spc="-5" dirty="0">
                <a:latin typeface="Gill Sans MT"/>
                <a:cs typeface="Gill Sans MT"/>
              </a:rPr>
              <a:t> will</a:t>
            </a:r>
            <a:r>
              <a:rPr sz="1600" dirty="0">
                <a:latin typeface="Gill Sans MT"/>
                <a:cs typeface="Gill Sans MT"/>
              </a:rPr>
              <a:t> </a:t>
            </a:r>
            <a:r>
              <a:rPr sz="1600" spc="-5" dirty="0">
                <a:latin typeface="Gill Sans MT"/>
                <a:cs typeface="Gill Sans MT"/>
              </a:rPr>
              <a:t>become</a:t>
            </a:r>
            <a:r>
              <a:rPr sz="1600" spc="15" dirty="0">
                <a:latin typeface="Gill Sans MT"/>
                <a:cs typeface="Gill Sans MT"/>
              </a:rPr>
              <a:t> </a:t>
            </a:r>
            <a:r>
              <a:rPr sz="1600" spc="-5" dirty="0">
                <a:latin typeface="Gill Sans MT"/>
                <a:cs typeface="Gill Sans MT"/>
              </a:rPr>
              <a:t>the</a:t>
            </a:r>
            <a:r>
              <a:rPr sz="1600" spc="20" dirty="0">
                <a:latin typeface="Gill Sans MT"/>
                <a:cs typeface="Gill Sans MT"/>
              </a:rPr>
              <a:t> </a:t>
            </a:r>
            <a:r>
              <a:rPr sz="1600" spc="5" dirty="0">
                <a:latin typeface="Gill Sans MT"/>
                <a:cs typeface="Gill Sans MT"/>
              </a:rPr>
              <a:t>primary</a:t>
            </a:r>
            <a:r>
              <a:rPr sz="1600" spc="10" dirty="0">
                <a:latin typeface="Gill Sans MT"/>
                <a:cs typeface="Gill Sans MT"/>
              </a:rPr>
              <a:t> </a:t>
            </a:r>
            <a:r>
              <a:rPr sz="1600" spc="-30" dirty="0">
                <a:latin typeface="Gill Sans MT"/>
                <a:cs typeface="Gill Sans MT"/>
              </a:rPr>
              <a:t>key</a:t>
            </a:r>
            <a:endParaRPr sz="1600">
              <a:latin typeface="Gill Sans MT"/>
              <a:cs typeface="Gill Sans MT"/>
            </a:endParaRPr>
          </a:p>
          <a:p>
            <a:pPr marL="911860" lvl="2" indent="-270510">
              <a:lnSpc>
                <a:spcPct val="100000"/>
              </a:lnSpc>
              <a:spcBef>
                <a:spcPts val="775"/>
              </a:spcBef>
              <a:buClr>
                <a:srgbClr val="4590B8"/>
              </a:buClr>
              <a:buSzPct val="89285"/>
              <a:buFont typeface="Wingdings 2"/>
              <a:buChar char=""/>
              <a:tabLst>
                <a:tab pos="911225" algn="l"/>
                <a:tab pos="912494" algn="l"/>
              </a:tabLst>
            </a:pPr>
            <a:r>
              <a:rPr sz="1400" dirty="0">
                <a:latin typeface="Gill Sans MT"/>
                <a:cs typeface="Gill Sans MT"/>
              </a:rPr>
              <a:t>E.g.</a:t>
            </a:r>
            <a:r>
              <a:rPr sz="1400" spc="-145" dirty="0">
                <a:latin typeface="Gill Sans MT"/>
                <a:cs typeface="Gill Sans MT"/>
              </a:rPr>
              <a:t> </a:t>
            </a:r>
            <a:r>
              <a:rPr sz="1400" spc="-5" dirty="0">
                <a:latin typeface="Gill Sans MT"/>
                <a:cs typeface="Gill Sans MT"/>
              </a:rPr>
              <a:t>perhaps</a:t>
            </a:r>
            <a:r>
              <a:rPr sz="1400" spc="-25" dirty="0">
                <a:latin typeface="Gill Sans MT"/>
                <a:cs typeface="Gill Sans MT"/>
              </a:rPr>
              <a:t> </a:t>
            </a:r>
            <a:r>
              <a:rPr sz="1400" spc="-5" dirty="0">
                <a:latin typeface="Gill Sans MT"/>
                <a:cs typeface="Gill Sans MT"/>
              </a:rPr>
              <a:t>there</a:t>
            </a:r>
            <a:r>
              <a:rPr sz="1400" spc="-20" dirty="0">
                <a:latin typeface="Gill Sans MT"/>
                <a:cs typeface="Gill Sans MT"/>
              </a:rPr>
              <a:t> </a:t>
            </a:r>
            <a:r>
              <a:rPr sz="1400" dirty="0">
                <a:latin typeface="Gill Sans MT"/>
                <a:cs typeface="Gill Sans MT"/>
              </a:rPr>
              <a:t>is both</a:t>
            </a:r>
            <a:r>
              <a:rPr sz="1400" spc="-20" dirty="0">
                <a:latin typeface="Gill Sans MT"/>
                <a:cs typeface="Gill Sans MT"/>
              </a:rPr>
              <a:t> </a:t>
            </a:r>
            <a:r>
              <a:rPr sz="1400" spc="-5" dirty="0">
                <a:latin typeface="Gill Sans MT"/>
                <a:cs typeface="Gill Sans MT"/>
              </a:rPr>
              <a:t>credit</a:t>
            </a:r>
            <a:r>
              <a:rPr sz="1400" dirty="0">
                <a:latin typeface="Gill Sans MT"/>
                <a:cs typeface="Gill Sans MT"/>
              </a:rPr>
              <a:t> </a:t>
            </a:r>
            <a:r>
              <a:rPr sz="1400" spc="-10" dirty="0">
                <a:latin typeface="Gill Sans MT"/>
                <a:cs typeface="Gill Sans MT"/>
              </a:rPr>
              <a:t>card</a:t>
            </a:r>
            <a:r>
              <a:rPr sz="1400" spc="-15" dirty="0">
                <a:latin typeface="Gill Sans MT"/>
                <a:cs typeface="Gill Sans MT"/>
              </a:rPr>
              <a:t> </a:t>
            </a:r>
            <a:r>
              <a:rPr sz="1400" dirty="0">
                <a:latin typeface="Gill Sans MT"/>
                <a:cs typeface="Gill Sans MT"/>
              </a:rPr>
              <a:t>number</a:t>
            </a:r>
            <a:r>
              <a:rPr sz="1400" spc="-25" dirty="0">
                <a:latin typeface="Gill Sans MT"/>
                <a:cs typeface="Gill Sans MT"/>
              </a:rPr>
              <a:t> </a:t>
            </a:r>
            <a:r>
              <a:rPr sz="1400" dirty="0">
                <a:latin typeface="Gill Sans MT"/>
                <a:cs typeface="Gill Sans MT"/>
              </a:rPr>
              <a:t>and</a:t>
            </a:r>
            <a:r>
              <a:rPr sz="1400" spc="-10" dirty="0">
                <a:latin typeface="Gill Sans MT"/>
                <a:cs typeface="Gill Sans MT"/>
              </a:rPr>
              <a:t> </a:t>
            </a:r>
            <a:r>
              <a:rPr sz="1400" dirty="0">
                <a:latin typeface="Gill Sans MT"/>
                <a:cs typeface="Gill Sans MT"/>
              </a:rPr>
              <a:t>SS#</a:t>
            </a:r>
            <a:r>
              <a:rPr sz="1400" spc="-30" dirty="0">
                <a:latin typeface="Gill Sans MT"/>
                <a:cs typeface="Gill Sans MT"/>
              </a:rPr>
              <a:t> </a:t>
            </a:r>
            <a:r>
              <a:rPr sz="1400" dirty="0">
                <a:latin typeface="Gill Sans MT"/>
                <a:cs typeface="Gill Sans MT"/>
              </a:rPr>
              <a:t>in</a:t>
            </a:r>
            <a:r>
              <a:rPr sz="1400" spc="-5" dirty="0">
                <a:latin typeface="Gill Sans MT"/>
                <a:cs typeface="Gill Sans MT"/>
              </a:rPr>
              <a:t> </a:t>
            </a:r>
            <a:r>
              <a:rPr sz="1400" dirty="0">
                <a:latin typeface="Gill Sans MT"/>
                <a:cs typeface="Gill Sans MT"/>
              </a:rPr>
              <a:t>a table…in</a:t>
            </a:r>
            <a:r>
              <a:rPr sz="1400" spc="-5" dirty="0">
                <a:latin typeface="Gill Sans MT"/>
                <a:cs typeface="Gill Sans MT"/>
              </a:rPr>
              <a:t> </a:t>
            </a:r>
            <a:r>
              <a:rPr sz="1400" dirty="0">
                <a:latin typeface="Gill Sans MT"/>
                <a:cs typeface="Gill Sans MT"/>
              </a:rPr>
              <a:t>this</a:t>
            </a:r>
            <a:r>
              <a:rPr sz="1400" spc="-15" dirty="0">
                <a:latin typeface="Gill Sans MT"/>
                <a:cs typeface="Gill Sans MT"/>
              </a:rPr>
              <a:t> </a:t>
            </a:r>
            <a:r>
              <a:rPr sz="1400" dirty="0">
                <a:latin typeface="Gill Sans MT"/>
                <a:cs typeface="Gill Sans MT"/>
              </a:rPr>
              <a:t>case</a:t>
            </a:r>
            <a:r>
              <a:rPr sz="1400" spc="-10" dirty="0">
                <a:latin typeface="Gill Sans MT"/>
                <a:cs typeface="Gill Sans MT"/>
              </a:rPr>
              <a:t> </a:t>
            </a:r>
            <a:r>
              <a:rPr sz="1400" dirty="0">
                <a:latin typeface="Gill Sans MT"/>
                <a:cs typeface="Gill Sans MT"/>
              </a:rPr>
              <a:t>both</a:t>
            </a:r>
            <a:r>
              <a:rPr sz="1400" spc="-20" dirty="0">
                <a:latin typeface="Gill Sans MT"/>
                <a:cs typeface="Gill Sans MT"/>
              </a:rPr>
              <a:t> </a:t>
            </a:r>
            <a:r>
              <a:rPr sz="1400" spc="-10" dirty="0">
                <a:latin typeface="Gill Sans MT"/>
                <a:cs typeface="Gill Sans MT"/>
              </a:rPr>
              <a:t>are</a:t>
            </a:r>
            <a:r>
              <a:rPr sz="1400" spc="-5" dirty="0">
                <a:latin typeface="Gill Sans MT"/>
                <a:cs typeface="Gill Sans MT"/>
              </a:rPr>
              <a:t> </a:t>
            </a:r>
            <a:r>
              <a:rPr sz="1400" dirty="0">
                <a:latin typeface="Gill Sans MT"/>
                <a:cs typeface="Gill Sans MT"/>
              </a:rPr>
              <a:t>candidate</a:t>
            </a:r>
            <a:r>
              <a:rPr sz="1400" spc="-15" dirty="0">
                <a:latin typeface="Gill Sans MT"/>
                <a:cs typeface="Gill Sans MT"/>
              </a:rPr>
              <a:t> keys</a:t>
            </a:r>
            <a:endParaRPr sz="1400">
              <a:latin typeface="Gill Sans MT"/>
              <a:cs typeface="Gill Sans MT"/>
            </a:endParaRPr>
          </a:p>
          <a:p>
            <a:pPr marL="641985" lvl="1" indent="-305435">
              <a:lnSpc>
                <a:spcPct val="100000"/>
              </a:lnSpc>
              <a:spcBef>
                <a:spcPts val="785"/>
              </a:spcBef>
              <a:buClr>
                <a:srgbClr val="4590B8"/>
              </a:buClr>
              <a:buSzPct val="90625"/>
              <a:buFont typeface="Wingdings 2"/>
              <a:buChar char=""/>
              <a:tabLst>
                <a:tab pos="641985" algn="l"/>
                <a:tab pos="642620" algn="l"/>
              </a:tabLst>
            </a:pPr>
            <a:r>
              <a:rPr sz="1600" spc="-5" dirty="0">
                <a:latin typeface="Gill Sans MT"/>
                <a:cs typeface="Gill Sans MT"/>
              </a:rPr>
              <a:t>Each</a:t>
            </a:r>
            <a:r>
              <a:rPr sz="1600" dirty="0">
                <a:latin typeface="Gill Sans MT"/>
                <a:cs typeface="Gill Sans MT"/>
              </a:rPr>
              <a:t> </a:t>
            </a:r>
            <a:r>
              <a:rPr sz="1600" spc="-15" dirty="0">
                <a:latin typeface="Gill Sans MT"/>
                <a:cs typeface="Gill Sans MT"/>
              </a:rPr>
              <a:t>non-key</a:t>
            </a:r>
            <a:r>
              <a:rPr sz="1600" dirty="0">
                <a:latin typeface="Gill Sans MT"/>
                <a:cs typeface="Gill Sans MT"/>
              </a:rPr>
              <a:t> </a:t>
            </a:r>
            <a:r>
              <a:rPr sz="1600" spc="-10" dirty="0">
                <a:latin typeface="Gill Sans MT"/>
                <a:cs typeface="Gill Sans MT"/>
              </a:rPr>
              <a:t>field</a:t>
            </a:r>
            <a:r>
              <a:rPr sz="1600" spc="15" dirty="0">
                <a:latin typeface="Gill Sans MT"/>
                <a:cs typeface="Gill Sans MT"/>
              </a:rPr>
              <a:t> </a:t>
            </a:r>
            <a:r>
              <a:rPr sz="1600" spc="-5" dirty="0">
                <a:latin typeface="Gill Sans MT"/>
                <a:cs typeface="Gill Sans MT"/>
              </a:rPr>
              <a:t>is</a:t>
            </a:r>
            <a:r>
              <a:rPr sz="1600" spc="5" dirty="0">
                <a:latin typeface="Gill Sans MT"/>
                <a:cs typeface="Gill Sans MT"/>
              </a:rPr>
              <a:t> </a:t>
            </a:r>
            <a:r>
              <a:rPr sz="1600" spc="-5" dirty="0">
                <a:latin typeface="Gill Sans MT"/>
                <a:cs typeface="Gill Sans MT"/>
              </a:rPr>
              <a:t>functionally</a:t>
            </a:r>
            <a:r>
              <a:rPr sz="1600" spc="20" dirty="0">
                <a:latin typeface="Gill Sans MT"/>
                <a:cs typeface="Gill Sans MT"/>
              </a:rPr>
              <a:t> </a:t>
            </a:r>
            <a:r>
              <a:rPr sz="1600" spc="-5" dirty="0">
                <a:latin typeface="Gill Sans MT"/>
                <a:cs typeface="Gill Sans MT"/>
              </a:rPr>
              <a:t>dependent</a:t>
            </a:r>
            <a:r>
              <a:rPr sz="1600" spc="-20" dirty="0">
                <a:latin typeface="Gill Sans MT"/>
                <a:cs typeface="Gill Sans MT"/>
              </a:rPr>
              <a:t> </a:t>
            </a:r>
            <a:r>
              <a:rPr sz="1600" spc="-5" dirty="0">
                <a:latin typeface="Gill Sans MT"/>
                <a:cs typeface="Gill Sans MT"/>
              </a:rPr>
              <a:t>on</a:t>
            </a:r>
            <a:r>
              <a:rPr sz="1600" spc="20" dirty="0">
                <a:latin typeface="Gill Sans MT"/>
                <a:cs typeface="Gill Sans MT"/>
              </a:rPr>
              <a:t> </a:t>
            </a:r>
            <a:r>
              <a:rPr sz="1600" spc="-5" dirty="0">
                <a:latin typeface="Gill Sans MT"/>
                <a:cs typeface="Gill Sans MT"/>
              </a:rPr>
              <a:t>every</a:t>
            </a:r>
            <a:r>
              <a:rPr sz="1600" dirty="0">
                <a:latin typeface="Gill Sans MT"/>
                <a:cs typeface="Gill Sans MT"/>
              </a:rPr>
              <a:t> </a:t>
            </a:r>
            <a:r>
              <a:rPr sz="1600" spc="-5" dirty="0">
                <a:latin typeface="Gill Sans MT"/>
                <a:cs typeface="Gill Sans MT"/>
              </a:rPr>
              <a:t>candidate</a:t>
            </a:r>
            <a:r>
              <a:rPr sz="1600" spc="15" dirty="0">
                <a:latin typeface="Gill Sans MT"/>
                <a:cs typeface="Gill Sans MT"/>
              </a:rPr>
              <a:t> </a:t>
            </a:r>
            <a:r>
              <a:rPr sz="1600" spc="-30" dirty="0">
                <a:latin typeface="Gill Sans MT"/>
                <a:cs typeface="Gill Sans MT"/>
              </a:rPr>
              <a:t>key</a:t>
            </a:r>
            <a:endParaRPr sz="1600">
              <a:latin typeface="Gill Sans MT"/>
              <a:cs typeface="Gill Sans MT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5"/>
              </a:lnSpc>
            </a:pPr>
            <a:fld id="{81D60167-4931-47E6-BA6A-407CBD079E47}" type="slidenum">
              <a:rPr dirty="0"/>
              <a:t>15</a:t>
            </a:fld>
            <a:endParaRPr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037826" y="6054344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5" dirty="0">
                <a:solidFill>
                  <a:srgbClr val="4590B8"/>
                </a:solidFill>
                <a:latin typeface="Gill Sans MT"/>
                <a:cs typeface="Gill Sans MT"/>
              </a:rPr>
              <a:t>16</a:t>
            </a:r>
            <a:endParaRPr sz="900">
              <a:latin typeface="Gill Sans MT"/>
              <a:cs typeface="Gill Sans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314194" y="701116"/>
            <a:ext cx="302260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0" spc="-5" dirty="0">
                <a:solidFill>
                  <a:srgbClr val="000000"/>
                </a:solidFill>
                <a:latin typeface="Arial"/>
                <a:cs typeface="Arial"/>
              </a:rPr>
              <a:t>Steps</a:t>
            </a:r>
            <a:r>
              <a:rPr sz="2400" b="0" spc="-1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0" dirty="0">
                <a:solidFill>
                  <a:srgbClr val="000000"/>
                </a:solidFill>
                <a:latin typeface="Arial"/>
                <a:cs typeface="Arial"/>
              </a:rPr>
              <a:t>in</a:t>
            </a:r>
            <a:r>
              <a:rPr sz="2400" b="0" spc="-1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0" spc="-5" dirty="0">
                <a:solidFill>
                  <a:srgbClr val="000000"/>
                </a:solidFill>
                <a:latin typeface="Arial"/>
                <a:cs typeface="Arial"/>
              </a:rPr>
              <a:t>normalization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07920" y="1290827"/>
            <a:ext cx="7460776" cy="497512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97408" y="600455"/>
            <a:ext cx="10985500" cy="1259205"/>
          </a:xfrm>
          <a:custGeom>
            <a:avLst/>
            <a:gdLst/>
            <a:ahLst/>
            <a:cxnLst/>
            <a:rect l="l" t="t" r="r" b="b"/>
            <a:pathLst>
              <a:path w="10985500" h="1259205">
                <a:moveTo>
                  <a:pt x="10984992" y="0"/>
                </a:moveTo>
                <a:lnTo>
                  <a:pt x="0" y="0"/>
                </a:lnTo>
                <a:lnTo>
                  <a:pt x="0" y="1258824"/>
                </a:lnTo>
                <a:lnTo>
                  <a:pt x="10984992" y="1258824"/>
                </a:lnTo>
                <a:lnTo>
                  <a:pt x="10984992" y="0"/>
                </a:lnTo>
                <a:close/>
              </a:path>
            </a:pathLst>
          </a:custGeom>
          <a:solidFill>
            <a:srgbClr val="1A315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18925" y="6507281"/>
            <a:ext cx="181314" cy="14145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8384285" y="6444488"/>
            <a:ext cx="223520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5" dirty="0">
                <a:latin typeface="Arial"/>
                <a:cs typeface="Arial"/>
              </a:rPr>
              <a:t>17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04060" y="979932"/>
            <a:ext cx="3935729" cy="787146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597408" y="1068450"/>
            <a:ext cx="109855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627505">
              <a:lnSpc>
                <a:spcPct val="100000"/>
              </a:lnSpc>
              <a:spcBef>
                <a:spcPts val="95"/>
              </a:spcBef>
            </a:pPr>
            <a:r>
              <a:rPr sz="2800" b="0" spc="-10" dirty="0">
                <a:latin typeface="Gill Sans MT"/>
                <a:cs typeface="Gill Sans MT"/>
              </a:rPr>
              <a:t>FIRST</a:t>
            </a:r>
            <a:r>
              <a:rPr sz="2800" b="0" spc="-25" dirty="0">
                <a:latin typeface="Gill Sans MT"/>
                <a:cs typeface="Gill Sans MT"/>
              </a:rPr>
              <a:t> </a:t>
            </a:r>
            <a:r>
              <a:rPr sz="2800" b="0" spc="-5" dirty="0">
                <a:latin typeface="Gill Sans MT"/>
                <a:cs typeface="Gill Sans MT"/>
              </a:rPr>
              <a:t>NORMAL</a:t>
            </a:r>
            <a:r>
              <a:rPr sz="2800" b="0" spc="-20" dirty="0">
                <a:latin typeface="Gill Sans MT"/>
                <a:cs typeface="Gill Sans MT"/>
              </a:rPr>
              <a:t> </a:t>
            </a:r>
            <a:r>
              <a:rPr sz="2800" b="0" spc="-10" dirty="0">
                <a:latin typeface="Gill Sans MT"/>
                <a:cs typeface="Gill Sans MT"/>
              </a:rPr>
              <a:t>FORM</a:t>
            </a:r>
            <a:endParaRPr sz="2800">
              <a:latin typeface="Gill Sans MT"/>
              <a:cs typeface="Gill Sans MT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754380" y="2546604"/>
            <a:ext cx="10358120" cy="2807970"/>
            <a:chOff x="754380" y="2546604"/>
            <a:chExt cx="10358120" cy="2807970"/>
          </a:xfrm>
        </p:grpSpPr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64409" y="2820259"/>
              <a:ext cx="150673" cy="154896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18032" y="2546604"/>
              <a:ext cx="4165854" cy="787146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54380" y="3179064"/>
              <a:ext cx="566165" cy="642366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18032" y="3092196"/>
              <a:ext cx="4839462" cy="787145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54380" y="3726180"/>
              <a:ext cx="566165" cy="642366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18032" y="3639312"/>
              <a:ext cx="1005078" cy="787145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556004" y="3639312"/>
              <a:ext cx="1180337" cy="78714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369819" y="3639312"/>
              <a:ext cx="998982" cy="787145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973324" y="3681996"/>
              <a:ext cx="496062" cy="538721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169919" y="3639312"/>
              <a:ext cx="6012941" cy="787145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8715756" y="3634740"/>
              <a:ext cx="846581" cy="787145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9194291" y="3639312"/>
              <a:ext cx="1917953" cy="787145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018032" y="4021836"/>
              <a:ext cx="1570482" cy="787145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54380" y="4654296"/>
              <a:ext cx="566165" cy="642365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018032" y="4567427"/>
              <a:ext cx="2320290" cy="787145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2970275" y="4567427"/>
              <a:ext cx="1703070" cy="787145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4277868" y="4610112"/>
              <a:ext cx="523493" cy="538721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4503420" y="4567427"/>
              <a:ext cx="2774442" cy="787145"/>
            </a:xfrm>
            <a:prstGeom prst="rect">
              <a:avLst/>
            </a:prstGeom>
          </p:spPr>
        </p:pic>
      </p:grpSp>
      <p:sp>
        <p:nvSpPr>
          <p:cNvPr id="26" name="object 26"/>
          <p:cNvSpPr txBox="1"/>
          <p:nvPr/>
        </p:nvSpPr>
        <p:spPr>
          <a:xfrm>
            <a:off x="896721" y="2516276"/>
            <a:ext cx="9908540" cy="2592070"/>
          </a:xfrm>
          <a:prstGeom prst="rect">
            <a:avLst/>
          </a:prstGeom>
        </p:spPr>
        <p:txBody>
          <a:bodyPr vert="horz" wrap="square" lIns="0" tIns="131445" rIns="0" bIns="0" rtlCol="0">
            <a:spAutoFit/>
          </a:bodyPr>
          <a:lstStyle/>
          <a:p>
            <a:pPr marL="342900" indent="-305435">
              <a:lnSpc>
                <a:spcPct val="100000"/>
              </a:lnSpc>
              <a:spcBef>
                <a:spcPts val="1035"/>
              </a:spcBef>
              <a:buClr>
                <a:srgbClr val="4590B8"/>
              </a:buClr>
              <a:buSzPct val="91071"/>
              <a:buFont typeface="Wingdings 2"/>
              <a:buChar char=""/>
              <a:tabLst>
                <a:tab pos="343535" algn="l"/>
              </a:tabLst>
            </a:pPr>
            <a:r>
              <a:rPr sz="2800" spc="-5" dirty="0">
                <a:latin typeface="Gill Sans MT"/>
                <a:cs typeface="Gill Sans MT"/>
              </a:rPr>
              <a:t>No </a:t>
            </a:r>
            <a:r>
              <a:rPr sz="2800" spc="-10" dirty="0">
                <a:latin typeface="Gill Sans MT"/>
                <a:cs typeface="Gill Sans MT"/>
              </a:rPr>
              <a:t>multivalued</a:t>
            </a:r>
            <a:r>
              <a:rPr sz="2800" spc="-5" dirty="0">
                <a:latin typeface="Gill Sans MT"/>
                <a:cs typeface="Gill Sans MT"/>
              </a:rPr>
              <a:t> attributes</a:t>
            </a:r>
            <a:endParaRPr sz="2800">
              <a:latin typeface="Gill Sans MT"/>
              <a:cs typeface="Gill Sans MT"/>
            </a:endParaRPr>
          </a:p>
          <a:p>
            <a:pPr marL="342900" indent="-305435">
              <a:lnSpc>
                <a:spcPct val="100000"/>
              </a:lnSpc>
              <a:spcBef>
                <a:spcPts val="935"/>
              </a:spcBef>
              <a:buClr>
                <a:srgbClr val="4590B8"/>
              </a:buClr>
              <a:buSzPct val="91071"/>
              <a:buFont typeface="Wingdings 2"/>
              <a:buChar char=""/>
              <a:tabLst>
                <a:tab pos="343535" algn="l"/>
              </a:tabLst>
            </a:pPr>
            <a:r>
              <a:rPr sz="2800" dirty="0">
                <a:latin typeface="Gill Sans MT"/>
                <a:cs typeface="Gill Sans MT"/>
              </a:rPr>
              <a:t>Every</a:t>
            </a:r>
            <a:r>
              <a:rPr sz="2800" spc="-10" dirty="0">
                <a:latin typeface="Gill Sans MT"/>
                <a:cs typeface="Gill Sans MT"/>
              </a:rPr>
              <a:t> </a:t>
            </a:r>
            <a:r>
              <a:rPr sz="2800" spc="-5" dirty="0">
                <a:latin typeface="Gill Sans MT"/>
                <a:cs typeface="Gill Sans MT"/>
              </a:rPr>
              <a:t>attribute</a:t>
            </a:r>
            <a:r>
              <a:rPr sz="2800" spc="-10" dirty="0">
                <a:latin typeface="Gill Sans MT"/>
                <a:cs typeface="Gill Sans MT"/>
              </a:rPr>
              <a:t> </a:t>
            </a:r>
            <a:r>
              <a:rPr sz="2800" spc="-5" dirty="0">
                <a:latin typeface="Gill Sans MT"/>
                <a:cs typeface="Gill Sans MT"/>
              </a:rPr>
              <a:t>value</a:t>
            </a:r>
            <a:r>
              <a:rPr sz="2800" spc="5" dirty="0">
                <a:latin typeface="Gill Sans MT"/>
                <a:cs typeface="Gill Sans MT"/>
              </a:rPr>
              <a:t> </a:t>
            </a:r>
            <a:r>
              <a:rPr sz="2800" spc="-5" dirty="0">
                <a:latin typeface="Gill Sans MT"/>
                <a:cs typeface="Gill Sans MT"/>
              </a:rPr>
              <a:t>is</a:t>
            </a:r>
            <a:r>
              <a:rPr sz="2800" spc="-10" dirty="0">
                <a:latin typeface="Gill Sans MT"/>
                <a:cs typeface="Gill Sans MT"/>
              </a:rPr>
              <a:t> </a:t>
            </a:r>
            <a:r>
              <a:rPr sz="2800" spc="-5" dirty="0">
                <a:latin typeface="Gill Sans MT"/>
                <a:cs typeface="Gill Sans MT"/>
              </a:rPr>
              <a:t>atomic</a:t>
            </a:r>
            <a:endParaRPr sz="2800">
              <a:latin typeface="Gill Sans MT"/>
              <a:cs typeface="Gill Sans MT"/>
            </a:endParaRPr>
          </a:p>
          <a:p>
            <a:pPr marL="342900" marR="30480" indent="-305435">
              <a:lnSpc>
                <a:spcPts val="3010"/>
              </a:lnSpc>
              <a:spcBef>
                <a:spcPts val="1340"/>
              </a:spcBef>
              <a:buClr>
                <a:srgbClr val="4590B8"/>
              </a:buClr>
              <a:buSzPct val="91071"/>
              <a:buFont typeface="Wingdings 2"/>
              <a:buChar char=""/>
              <a:tabLst>
                <a:tab pos="343535" algn="l"/>
              </a:tabLst>
            </a:pPr>
            <a:r>
              <a:rPr sz="2800" spc="-10" dirty="0">
                <a:latin typeface="Gill Sans MT"/>
                <a:cs typeface="Gill Sans MT"/>
              </a:rPr>
              <a:t>Fig.</a:t>
            </a:r>
            <a:r>
              <a:rPr sz="2800" spc="-265" dirty="0">
                <a:latin typeface="Gill Sans MT"/>
                <a:cs typeface="Gill Sans MT"/>
              </a:rPr>
              <a:t> </a:t>
            </a:r>
            <a:r>
              <a:rPr sz="2800" i="1" spc="-5" dirty="0">
                <a:latin typeface="Gill Sans MT"/>
                <a:cs typeface="Gill Sans MT"/>
              </a:rPr>
              <a:t>is</a:t>
            </a:r>
            <a:r>
              <a:rPr sz="2800" i="1" spc="-15" dirty="0">
                <a:latin typeface="Gill Sans MT"/>
                <a:cs typeface="Gill Sans MT"/>
              </a:rPr>
              <a:t> </a:t>
            </a:r>
            <a:r>
              <a:rPr sz="2800" i="1" spc="-10" dirty="0">
                <a:latin typeface="Gill Sans MT"/>
                <a:cs typeface="Gill Sans MT"/>
              </a:rPr>
              <a:t>not</a:t>
            </a:r>
            <a:r>
              <a:rPr sz="2800" i="1" spc="5" dirty="0">
                <a:latin typeface="Gill Sans MT"/>
                <a:cs typeface="Gill Sans MT"/>
              </a:rPr>
              <a:t> </a:t>
            </a:r>
            <a:r>
              <a:rPr sz="2800" spc="-5" dirty="0">
                <a:latin typeface="Gill Sans MT"/>
                <a:cs typeface="Gill Sans MT"/>
              </a:rPr>
              <a:t>in</a:t>
            </a:r>
            <a:r>
              <a:rPr sz="2800" dirty="0">
                <a:latin typeface="Gill Sans MT"/>
                <a:cs typeface="Gill Sans MT"/>
              </a:rPr>
              <a:t> 1</a:t>
            </a:r>
            <a:r>
              <a:rPr sz="2775" baseline="25525" dirty="0">
                <a:latin typeface="Gill Sans MT"/>
                <a:cs typeface="Gill Sans MT"/>
              </a:rPr>
              <a:t>st</a:t>
            </a:r>
            <a:r>
              <a:rPr sz="2775" spc="375" baseline="25525" dirty="0">
                <a:latin typeface="Gill Sans MT"/>
                <a:cs typeface="Gill Sans MT"/>
              </a:rPr>
              <a:t> </a:t>
            </a:r>
            <a:r>
              <a:rPr sz="2800" dirty="0">
                <a:latin typeface="Gill Sans MT"/>
                <a:cs typeface="Gill Sans MT"/>
              </a:rPr>
              <a:t>Normal</a:t>
            </a:r>
            <a:r>
              <a:rPr sz="2800" spc="20" dirty="0">
                <a:latin typeface="Gill Sans MT"/>
                <a:cs typeface="Gill Sans MT"/>
              </a:rPr>
              <a:t> </a:t>
            </a:r>
            <a:r>
              <a:rPr sz="2800" spc="-15" dirty="0">
                <a:latin typeface="Gill Sans MT"/>
                <a:cs typeface="Gill Sans MT"/>
              </a:rPr>
              <a:t>Form</a:t>
            </a:r>
            <a:r>
              <a:rPr sz="2800" spc="35" dirty="0">
                <a:latin typeface="Gill Sans MT"/>
                <a:cs typeface="Gill Sans MT"/>
              </a:rPr>
              <a:t> </a:t>
            </a:r>
            <a:r>
              <a:rPr sz="2800" spc="-5" dirty="0">
                <a:latin typeface="Gill Sans MT"/>
                <a:cs typeface="Gill Sans MT"/>
              </a:rPr>
              <a:t>(multivalued</a:t>
            </a:r>
            <a:r>
              <a:rPr sz="2800" dirty="0">
                <a:latin typeface="Gill Sans MT"/>
                <a:cs typeface="Gill Sans MT"/>
              </a:rPr>
              <a:t> attributes)</a:t>
            </a:r>
            <a:r>
              <a:rPr sz="2800" spc="-60" dirty="0">
                <a:latin typeface="Gill Sans MT"/>
                <a:cs typeface="Gill Sans MT"/>
              </a:rPr>
              <a:t> </a:t>
            </a:r>
            <a:r>
              <a:rPr sz="2800" spc="-5" dirty="0">
                <a:latin typeface="Wingdings"/>
                <a:cs typeface="Wingdings"/>
              </a:rPr>
              <a:t></a:t>
            </a:r>
            <a:r>
              <a:rPr sz="2800" spc="8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Gill Sans MT"/>
                <a:cs typeface="Gill Sans MT"/>
              </a:rPr>
              <a:t>it</a:t>
            </a:r>
            <a:r>
              <a:rPr sz="2800" dirty="0">
                <a:latin typeface="Gill Sans MT"/>
                <a:cs typeface="Gill Sans MT"/>
              </a:rPr>
              <a:t> </a:t>
            </a:r>
            <a:r>
              <a:rPr sz="2800" spc="-5" dirty="0">
                <a:latin typeface="Gill Sans MT"/>
                <a:cs typeface="Gill Sans MT"/>
              </a:rPr>
              <a:t>is not</a:t>
            </a:r>
            <a:r>
              <a:rPr sz="2800" spc="-10" dirty="0">
                <a:latin typeface="Gill Sans MT"/>
                <a:cs typeface="Gill Sans MT"/>
              </a:rPr>
              <a:t> </a:t>
            </a:r>
            <a:r>
              <a:rPr sz="2800" spc="-5" dirty="0">
                <a:latin typeface="Gill Sans MT"/>
                <a:cs typeface="Gill Sans MT"/>
              </a:rPr>
              <a:t>a </a:t>
            </a:r>
            <a:r>
              <a:rPr sz="2800" spc="-760" dirty="0">
                <a:latin typeface="Gill Sans MT"/>
                <a:cs typeface="Gill Sans MT"/>
              </a:rPr>
              <a:t> </a:t>
            </a:r>
            <a:r>
              <a:rPr sz="2800" spc="-10" dirty="0">
                <a:latin typeface="Gill Sans MT"/>
                <a:cs typeface="Gill Sans MT"/>
              </a:rPr>
              <a:t>relation</a:t>
            </a:r>
            <a:endParaRPr sz="2800">
              <a:latin typeface="Gill Sans MT"/>
              <a:cs typeface="Gill Sans MT"/>
            </a:endParaRPr>
          </a:p>
          <a:p>
            <a:pPr marL="342900" indent="-305435">
              <a:lnSpc>
                <a:spcPct val="100000"/>
              </a:lnSpc>
              <a:spcBef>
                <a:spcPts val="900"/>
              </a:spcBef>
              <a:buClr>
                <a:srgbClr val="4590B8"/>
              </a:buClr>
              <a:buSzPct val="91071"/>
              <a:buFont typeface="Wingdings 2"/>
              <a:buChar char=""/>
              <a:tabLst>
                <a:tab pos="343535" algn="l"/>
              </a:tabLst>
            </a:pPr>
            <a:r>
              <a:rPr sz="2800" b="1" i="1" dirty="0">
                <a:latin typeface="Gill Sans MT"/>
                <a:cs typeface="Gill Sans MT"/>
              </a:rPr>
              <a:t>All</a:t>
            </a:r>
            <a:r>
              <a:rPr sz="2800" b="1" i="1" spc="-25" dirty="0">
                <a:latin typeface="Gill Sans MT"/>
                <a:cs typeface="Gill Sans MT"/>
              </a:rPr>
              <a:t> </a:t>
            </a:r>
            <a:r>
              <a:rPr sz="2800" b="1" i="1" spc="-10" dirty="0">
                <a:latin typeface="Gill Sans MT"/>
                <a:cs typeface="Gill Sans MT"/>
              </a:rPr>
              <a:t>relations</a:t>
            </a:r>
            <a:r>
              <a:rPr sz="2800" b="1" i="1" spc="10" dirty="0">
                <a:latin typeface="Gill Sans MT"/>
                <a:cs typeface="Gill Sans MT"/>
              </a:rPr>
              <a:t> </a:t>
            </a:r>
            <a:r>
              <a:rPr sz="2800" b="1" spc="-25" dirty="0">
                <a:latin typeface="Gill Sans MT"/>
                <a:cs typeface="Gill Sans MT"/>
              </a:rPr>
              <a:t>are</a:t>
            </a:r>
            <a:r>
              <a:rPr sz="2800" b="1" dirty="0">
                <a:latin typeface="Gill Sans MT"/>
                <a:cs typeface="Gill Sans MT"/>
              </a:rPr>
              <a:t> </a:t>
            </a:r>
            <a:r>
              <a:rPr sz="2800" b="1" spc="-5" dirty="0">
                <a:latin typeface="Gill Sans MT"/>
                <a:cs typeface="Gill Sans MT"/>
              </a:rPr>
              <a:t>in</a:t>
            </a:r>
            <a:r>
              <a:rPr sz="2800" b="1" spc="10" dirty="0">
                <a:latin typeface="Gill Sans MT"/>
                <a:cs typeface="Gill Sans MT"/>
              </a:rPr>
              <a:t> </a:t>
            </a:r>
            <a:r>
              <a:rPr sz="2800" b="1" spc="5" dirty="0">
                <a:latin typeface="Gill Sans MT"/>
                <a:cs typeface="Gill Sans MT"/>
              </a:rPr>
              <a:t>1</a:t>
            </a:r>
            <a:r>
              <a:rPr sz="2775" b="1" spc="7" baseline="25525" dirty="0">
                <a:latin typeface="Gill Sans MT"/>
                <a:cs typeface="Gill Sans MT"/>
              </a:rPr>
              <a:t>st</a:t>
            </a:r>
            <a:r>
              <a:rPr sz="2775" b="1" spc="390" baseline="25525" dirty="0">
                <a:latin typeface="Gill Sans MT"/>
                <a:cs typeface="Gill Sans MT"/>
              </a:rPr>
              <a:t> </a:t>
            </a:r>
            <a:r>
              <a:rPr sz="2800" b="1" spc="-10" dirty="0">
                <a:latin typeface="Gill Sans MT"/>
                <a:cs typeface="Gill Sans MT"/>
              </a:rPr>
              <a:t>Normal</a:t>
            </a:r>
            <a:r>
              <a:rPr sz="2800" b="1" spc="-5" dirty="0">
                <a:latin typeface="Gill Sans MT"/>
                <a:cs typeface="Gill Sans MT"/>
              </a:rPr>
              <a:t> </a:t>
            </a:r>
            <a:r>
              <a:rPr sz="2800" b="1" spc="-30" dirty="0">
                <a:latin typeface="Gill Sans MT"/>
                <a:cs typeface="Gill Sans MT"/>
              </a:rPr>
              <a:t>Form</a:t>
            </a:r>
            <a:endParaRPr sz="2800">
              <a:latin typeface="Gill Sans MT"/>
              <a:cs typeface="Gill Sans M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263394" y="635253"/>
            <a:ext cx="743965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spc="-60" dirty="0">
                <a:latin typeface="Arial"/>
                <a:cs typeface="Arial"/>
              </a:rPr>
              <a:t>Table</a:t>
            </a:r>
            <a:r>
              <a:rPr sz="2400" spc="1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with</a:t>
            </a:r>
            <a:r>
              <a:rPr sz="2400" spc="2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multivalued</a:t>
            </a:r>
            <a:r>
              <a:rPr sz="2400" spc="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attributes,</a:t>
            </a:r>
            <a:r>
              <a:rPr sz="2400" spc="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not</a:t>
            </a:r>
            <a:r>
              <a:rPr sz="240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in</a:t>
            </a:r>
            <a:r>
              <a:rPr sz="2400" spc="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1</a:t>
            </a:r>
            <a:r>
              <a:rPr sz="2400" baseline="24305" dirty="0">
                <a:latin typeface="Arial"/>
                <a:cs typeface="Arial"/>
              </a:rPr>
              <a:t>st</a:t>
            </a:r>
            <a:r>
              <a:rPr sz="2400" spc="337" baseline="2430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normal</a:t>
            </a:r>
            <a:r>
              <a:rPr sz="2400" spc="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form</a:t>
            </a:r>
            <a:endParaRPr sz="2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409947" y="5435294"/>
            <a:ext cx="312864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5" dirty="0">
                <a:solidFill>
                  <a:srgbClr val="990000"/>
                </a:solidFill>
                <a:latin typeface="Times New Roman"/>
                <a:cs typeface="Times New Roman"/>
              </a:rPr>
              <a:t>Note:</a:t>
            </a:r>
            <a:r>
              <a:rPr sz="2200" spc="-1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solidFill>
                  <a:srgbClr val="990000"/>
                </a:solidFill>
                <a:latin typeface="Times New Roman"/>
                <a:cs typeface="Times New Roman"/>
              </a:rPr>
              <a:t>this</a:t>
            </a:r>
            <a:r>
              <a:rPr sz="2200" spc="-1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solidFill>
                  <a:srgbClr val="990000"/>
                </a:solidFill>
                <a:latin typeface="Times New Roman"/>
                <a:cs typeface="Times New Roman"/>
              </a:rPr>
              <a:t>is</a:t>
            </a:r>
            <a:r>
              <a:rPr sz="2200" spc="-1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solidFill>
                  <a:srgbClr val="990000"/>
                </a:solidFill>
                <a:latin typeface="Times New Roman"/>
                <a:cs typeface="Times New Roman"/>
              </a:rPr>
              <a:t>NOT</a:t>
            </a:r>
            <a:r>
              <a:rPr sz="2200" spc="-3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solidFill>
                  <a:srgbClr val="990000"/>
                </a:solidFill>
                <a:latin typeface="Times New Roman"/>
                <a:cs typeface="Times New Roman"/>
              </a:rPr>
              <a:t>a</a:t>
            </a:r>
            <a:r>
              <a:rPr sz="2200" spc="-1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solidFill>
                  <a:srgbClr val="990000"/>
                </a:solidFill>
                <a:latin typeface="Times New Roman"/>
                <a:cs typeface="Times New Roman"/>
              </a:rPr>
              <a:t>relation</a:t>
            </a:r>
            <a:endParaRPr sz="22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39111" y="1436256"/>
            <a:ext cx="8321992" cy="361114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0012426" y="6062436"/>
            <a:ext cx="205104" cy="15811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z="900" dirty="0">
                <a:solidFill>
                  <a:srgbClr val="4590B8"/>
                </a:solidFill>
                <a:latin typeface="Gill Sans MT"/>
                <a:cs typeface="Gill Sans MT"/>
              </a:rPr>
              <a:t>18</a:t>
            </a:fld>
            <a:endParaRPr sz="900">
              <a:latin typeface="Gill Sans MT"/>
              <a:cs typeface="Gill Sans MT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0360">
              <a:lnSpc>
                <a:spcPct val="100000"/>
              </a:lnSpc>
              <a:spcBef>
                <a:spcPts val="100"/>
              </a:spcBef>
            </a:pPr>
            <a:r>
              <a:rPr spc="-55" dirty="0"/>
              <a:t>Table</a:t>
            </a:r>
            <a:r>
              <a:rPr dirty="0"/>
              <a:t> </a:t>
            </a:r>
            <a:r>
              <a:rPr spc="-5" dirty="0"/>
              <a:t>with</a:t>
            </a:r>
            <a:r>
              <a:rPr spc="15" dirty="0"/>
              <a:t> </a:t>
            </a:r>
            <a:r>
              <a:rPr dirty="0"/>
              <a:t>no</a:t>
            </a:r>
            <a:r>
              <a:rPr spc="-10" dirty="0"/>
              <a:t> </a:t>
            </a:r>
            <a:r>
              <a:rPr spc="-5" dirty="0"/>
              <a:t>multivalued</a:t>
            </a:r>
            <a:r>
              <a:rPr spc="20" dirty="0"/>
              <a:t> </a:t>
            </a:r>
            <a:r>
              <a:rPr dirty="0"/>
              <a:t>attributes </a:t>
            </a:r>
            <a:r>
              <a:rPr spc="-5" dirty="0"/>
              <a:t>and</a:t>
            </a:r>
            <a:r>
              <a:rPr dirty="0"/>
              <a:t> </a:t>
            </a:r>
            <a:r>
              <a:rPr spc="-5" dirty="0"/>
              <a:t>unique</a:t>
            </a:r>
            <a:r>
              <a:rPr spc="20" dirty="0"/>
              <a:t> </a:t>
            </a:r>
            <a:r>
              <a:rPr spc="-5" dirty="0"/>
              <a:t>rows,</a:t>
            </a:r>
            <a:r>
              <a:rPr spc="5" dirty="0"/>
              <a:t> </a:t>
            </a:r>
            <a:r>
              <a:rPr dirty="0"/>
              <a:t>in</a:t>
            </a:r>
            <a:r>
              <a:rPr spc="-10" dirty="0"/>
              <a:t> </a:t>
            </a:r>
            <a:r>
              <a:rPr spc="5" dirty="0"/>
              <a:t>1</a:t>
            </a:r>
            <a:r>
              <a:rPr sz="2400" spc="7" baseline="24305" dirty="0"/>
              <a:t>st</a:t>
            </a:r>
            <a:endParaRPr sz="2400" baseline="24305"/>
          </a:p>
          <a:p>
            <a:pPr marL="340360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normal</a:t>
            </a:r>
            <a:r>
              <a:rPr spc="-25" dirty="0"/>
              <a:t> </a:t>
            </a:r>
            <a:r>
              <a:rPr dirty="0"/>
              <a:t>form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279394" y="5663894"/>
            <a:ext cx="565213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5" dirty="0">
                <a:solidFill>
                  <a:srgbClr val="990000"/>
                </a:solidFill>
                <a:latin typeface="Times New Roman"/>
                <a:cs typeface="Times New Roman"/>
              </a:rPr>
              <a:t>Note: this is</a:t>
            </a:r>
            <a:r>
              <a:rPr sz="2200" spc="-1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solidFill>
                  <a:srgbClr val="990000"/>
                </a:solidFill>
                <a:latin typeface="Times New Roman"/>
                <a:cs typeface="Times New Roman"/>
              </a:rPr>
              <a:t>relation, </a:t>
            </a:r>
            <a:r>
              <a:rPr sz="2200" dirty="0">
                <a:solidFill>
                  <a:srgbClr val="990000"/>
                </a:solidFill>
                <a:latin typeface="Times New Roman"/>
                <a:cs typeface="Times New Roman"/>
              </a:rPr>
              <a:t>but not</a:t>
            </a:r>
            <a:r>
              <a:rPr sz="2200" spc="-1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solidFill>
                  <a:srgbClr val="990000"/>
                </a:solidFill>
                <a:latin typeface="Times New Roman"/>
                <a:cs typeface="Times New Roman"/>
              </a:rPr>
              <a:t>a </a:t>
            </a:r>
            <a:r>
              <a:rPr sz="2200" dirty="0">
                <a:solidFill>
                  <a:srgbClr val="990000"/>
                </a:solidFill>
                <a:latin typeface="Times New Roman"/>
                <a:cs typeface="Times New Roman"/>
              </a:rPr>
              <a:t>well-structured</a:t>
            </a:r>
            <a:r>
              <a:rPr sz="2200" spc="1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200" spc="-5" dirty="0">
                <a:solidFill>
                  <a:srgbClr val="990000"/>
                </a:solidFill>
                <a:latin typeface="Times New Roman"/>
                <a:cs typeface="Times New Roman"/>
              </a:rPr>
              <a:t>one</a:t>
            </a:r>
            <a:endParaRPr sz="22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37528" y="1419931"/>
            <a:ext cx="8142435" cy="3964147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0012426" y="6062436"/>
            <a:ext cx="205104" cy="15811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z="900" dirty="0">
                <a:solidFill>
                  <a:srgbClr val="4590B8"/>
                </a:solidFill>
                <a:latin typeface="Gill Sans MT"/>
                <a:cs typeface="Gill Sans MT"/>
              </a:rPr>
              <a:t>19</a:t>
            </a:fld>
            <a:endParaRPr sz="900">
              <a:latin typeface="Gill Sans MT"/>
              <a:cs typeface="Gill Sans MT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97408" y="600455"/>
            <a:ext cx="10985500" cy="1259205"/>
          </a:xfrm>
          <a:custGeom>
            <a:avLst/>
            <a:gdLst/>
            <a:ahLst/>
            <a:cxnLst/>
            <a:rect l="l" t="t" r="r" b="b"/>
            <a:pathLst>
              <a:path w="10985500" h="1259205">
                <a:moveTo>
                  <a:pt x="10984992" y="0"/>
                </a:moveTo>
                <a:lnTo>
                  <a:pt x="0" y="0"/>
                </a:lnTo>
                <a:lnTo>
                  <a:pt x="0" y="1258824"/>
                </a:lnTo>
                <a:lnTo>
                  <a:pt x="10984992" y="1258824"/>
                </a:lnTo>
                <a:lnTo>
                  <a:pt x="10984992" y="0"/>
                </a:lnTo>
                <a:close/>
              </a:path>
            </a:pathLst>
          </a:custGeom>
          <a:solidFill>
            <a:srgbClr val="1A315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00794" y="6507281"/>
            <a:ext cx="199445" cy="14602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80260" y="861060"/>
            <a:ext cx="4659630" cy="787146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97408" y="949198"/>
            <a:ext cx="109855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703705">
              <a:lnSpc>
                <a:spcPct val="100000"/>
              </a:lnSpc>
              <a:spcBef>
                <a:spcPts val="95"/>
              </a:spcBef>
            </a:pPr>
            <a:r>
              <a:rPr sz="2800" b="0" spc="-5" dirty="0">
                <a:latin typeface="Gill Sans MT"/>
                <a:cs typeface="Gill Sans MT"/>
              </a:rPr>
              <a:t>ANOMAL</a:t>
            </a:r>
            <a:r>
              <a:rPr sz="2800" b="0" spc="-20" dirty="0">
                <a:latin typeface="Gill Sans MT"/>
                <a:cs typeface="Gill Sans MT"/>
              </a:rPr>
              <a:t>I</a:t>
            </a:r>
            <a:r>
              <a:rPr sz="2800" b="0" spc="-5" dirty="0">
                <a:latin typeface="Gill Sans MT"/>
                <a:cs typeface="Gill Sans MT"/>
              </a:rPr>
              <a:t>ES</a:t>
            </a:r>
            <a:r>
              <a:rPr sz="2800" b="0" spc="15" dirty="0">
                <a:latin typeface="Gill Sans MT"/>
                <a:cs typeface="Gill Sans MT"/>
              </a:rPr>
              <a:t> </a:t>
            </a:r>
            <a:r>
              <a:rPr sz="2800" b="0" spc="-5" dirty="0">
                <a:latin typeface="Gill Sans MT"/>
                <a:cs typeface="Gill Sans MT"/>
              </a:rPr>
              <a:t>IN</a:t>
            </a:r>
            <a:r>
              <a:rPr sz="2800" b="0" spc="-350" dirty="0">
                <a:latin typeface="Gill Sans MT"/>
                <a:cs typeface="Gill Sans MT"/>
              </a:rPr>
              <a:t> </a:t>
            </a:r>
            <a:r>
              <a:rPr sz="2800" b="0" spc="-5" dirty="0">
                <a:latin typeface="Gill Sans MT"/>
                <a:cs typeface="Gill Sans MT"/>
              </a:rPr>
              <a:t>THIS</a:t>
            </a:r>
            <a:r>
              <a:rPr sz="2800" b="0" spc="-345" dirty="0">
                <a:latin typeface="Gill Sans MT"/>
                <a:cs typeface="Gill Sans MT"/>
              </a:rPr>
              <a:t> </a:t>
            </a:r>
            <a:r>
              <a:rPr sz="2800" b="0" spc="-280" dirty="0">
                <a:latin typeface="Gill Sans MT"/>
                <a:cs typeface="Gill Sans MT"/>
              </a:rPr>
              <a:t>T</a:t>
            </a:r>
            <a:r>
              <a:rPr sz="2800" b="0" spc="-5" dirty="0">
                <a:latin typeface="Gill Sans MT"/>
                <a:cs typeface="Gill Sans MT"/>
              </a:rPr>
              <a:t>AB</a:t>
            </a:r>
            <a:r>
              <a:rPr sz="2800" b="0" spc="-15" dirty="0">
                <a:latin typeface="Gill Sans MT"/>
                <a:cs typeface="Gill Sans MT"/>
              </a:rPr>
              <a:t>L</a:t>
            </a:r>
            <a:r>
              <a:rPr sz="2800" b="0" spc="-5" dirty="0">
                <a:latin typeface="Gill Sans MT"/>
                <a:cs typeface="Gill Sans MT"/>
              </a:rPr>
              <a:t>E</a:t>
            </a:r>
            <a:endParaRPr sz="2800">
              <a:latin typeface="Gill Sans MT"/>
              <a:cs typeface="Gill Sans MT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557783" y="2185416"/>
            <a:ext cx="10448290" cy="2146935"/>
            <a:chOff x="557783" y="2185416"/>
            <a:chExt cx="10448290" cy="2146935"/>
          </a:xfrm>
        </p:grpSpPr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35809" y="2422485"/>
              <a:ext cx="132378" cy="127491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27531" y="2185416"/>
              <a:ext cx="1689354" cy="677417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13787" y="2185416"/>
              <a:ext cx="555498" cy="677417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266188" y="2185416"/>
              <a:ext cx="8183117" cy="677417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27531" y="2478024"/>
              <a:ext cx="3594354" cy="677417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018787" y="2478024"/>
              <a:ext cx="502145" cy="677417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117848" y="2478024"/>
              <a:ext cx="3798570" cy="677417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57783" y="2993136"/>
              <a:ext cx="488429" cy="555498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827531" y="2919984"/>
              <a:ext cx="1629918" cy="677418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054351" y="2919984"/>
              <a:ext cx="555498" cy="67741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206751" y="2919984"/>
              <a:ext cx="8798814" cy="677418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827531" y="3212591"/>
              <a:ext cx="5031486" cy="677417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57783" y="3727704"/>
              <a:ext cx="488429" cy="555498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827531" y="3654552"/>
              <a:ext cx="1463802" cy="677418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888236" y="3654552"/>
              <a:ext cx="555498" cy="677418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2040636" y="3654552"/>
              <a:ext cx="8942069" cy="677418"/>
            </a:xfrm>
            <a:prstGeom prst="rect">
              <a:avLst/>
            </a:prstGeom>
          </p:spPr>
        </p:pic>
      </p:grpSp>
      <p:sp>
        <p:nvSpPr>
          <p:cNvPr id="23" name="object 23"/>
          <p:cNvSpPr txBox="1"/>
          <p:nvPr/>
        </p:nvSpPr>
        <p:spPr>
          <a:xfrm>
            <a:off x="700227" y="2259279"/>
            <a:ext cx="10081895" cy="3942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7500" indent="-304800">
              <a:lnSpc>
                <a:spcPts val="2595"/>
              </a:lnSpc>
              <a:spcBef>
                <a:spcPts val="100"/>
              </a:spcBef>
              <a:buClr>
                <a:srgbClr val="4590B8"/>
              </a:buClr>
              <a:buSzPct val="91666"/>
              <a:buFont typeface="Wingdings 2"/>
              <a:buChar char=""/>
              <a:tabLst>
                <a:tab pos="316865" algn="l"/>
                <a:tab pos="317500" algn="l"/>
              </a:tabLst>
            </a:pPr>
            <a:r>
              <a:rPr sz="2400" b="1" dirty="0">
                <a:latin typeface="Gill Sans MT"/>
                <a:cs typeface="Gill Sans MT"/>
              </a:rPr>
              <a:t>Insertion</a:t>
            </a:r>
            <a:r>
              <a:rPr sz="2400" dirty="0">
                <a:latin typeface="Gill Sans MT"/>
                <a:cs typeface="Gill Sans MT"/>
              </a:rPr>
              <a:t>–if</a:t>
            </a:r>
            <a:r>
              <a:rPr sz="2400" spc="-5" dirty="0">
                <a:latin typeface="Gill Sans MT"/>
                <a:cs typeface="Gill Sans MT"/>
              </a:rPr>
              <a:t> </a:t>
            </a:r>
            <a:r>
              <a:rPr sz="2400" spc="-15" dirty="0">
                <a:latin typeface="Gill Sans MT"/>
                <a:cs typeface="Gill Sans MT"/>
              </a:rPr>
              <a:t>new</a:t>
            </a:r>
            <a:r>
              <a:rPr sz="2400" spc="-20" dirty="0">
                <a:latin typeface="Gill Sans MT"/>
                <a:cs typeface="Gill Sans MT"/>
              </a:rPr>
              <a:t> </a:t>
            </a:r>
            <a:r>
              <a:rPr sz="2400" spc="-10" dirty="0">
                <a:latin typeface="Gill Sans MT"/>
                <a:cs typeface="Gill Sans MT"/>
              </a:rPr>
              <a:t>product</a:t>
            </a:r>
            <a:r>
              <a:rPr sz="2400" spc="5" dirty="0">
                <a:latin typeface="Gill Sans MT"/>
                <a:cs typeface="Gill Sans MT"/>
              </a:rPr>
              <a:t> </a:t>
            </a:r>
            <a:r>
              <a:rPr sz="2400" spc="-5" dirty="0">
                <a:latin typeface="Gill Sans MT"/>
                <a:cs typeface="Gill Sans MT"/>
              </a:rPr>
              <a:t>is</a:t>
            </a:r>
            <a:r>
              <a:rPr sz="2400" spc="-10" dirty="0">
                <a:latin typeface="Gill Sans MT"/>
                <a:cs typeface="Gill Sans MT"/>
              </a:rPr>
              <a:t> </a:t>
            </a:r>
            <a:r>
              <a:rPr sz="2400" spc="-15" dirty="0">
                <a:latin typeface="Gill Sans MT"/>
                <a:cs typeface="Gill Sans MT"/>
              </a:rPr>
              <a:t>ordered</a:t>
            </a:r>
            <a:r>
              <a:rPr sz="2400" dirty="0">
                <a:latin typeface="Gill Sans MT"/>
                <a:cs typeface="Gill Sans MT"/>
              </a:rPr>
              <a:t> </a:t>
            </a:r>
            <a:r>
              <a:rPr sz="2400" spc="-10" dirty="0">
                <a:latin typeface="Gill Sans MT"/>
                <a:cs typeface="Gill Sans MT"/>
              </a:rPr>
              <a:t>for</a:t>
            </a:r>
            <a:r>
              <a:rPr sz="2400" spc="-5" dirty="0">
                <a:latin typeface="Gill Sans MT"/>
                <a:cs typeface="Gill Sans MT"/>
              </a:rPr>
              <a:t> </a:t>
            </a:r>
            <a:r>
              <a:rPr sz="2400" spc="-10" dirty="0">
                <a:latin typeface="Gill Sans MT"/>
                <a:cs typeface="Gill Sans MT"/>
              </a:rPr>
              <a:t>order</a:t>
            </a:r>
            <a:r>
              <a:rPr sz="2400" dirty="0">
                <a:latin typeface="Gill Sans MT"/>
                <a:cs typeface="Gill Sans MT"/>
              </a:rPr>
              <a:t> 1007</a:t>
            </a:r>
            <a:r>
              <a:rPr sz="2400" spc="-10" dirty="0">
                <a:latin typeface="Gill Sans MT"/>
                <a:cs typeface="Gill Sans MT"/>
              </a:rPr>
              <a:t> </a:t>
            </a:r>
            <a:r>
              <a:rPr sz="2400" dirty="0">
                <a:latin typeface="Gill Sans MT"/>
                <a:cs typeface="Gill Sans MT"/>
              </a:rPr>
              <a:t>of existing</a:t>
            </a:r>
            <a:r>
              <a:rPr sz="2400" spc="-25" dirty="0">
                <a:latin typeface="Gill Sans MT"/>
                <a:cs typeface="Gill Sans MT"/>
              </a:rPr>
              <a:t> </a:t>
            </a:r>
            <a:r>
              <a:rPr sz="2400" spc="-30" dirty="0">
                <a:latin typeface="Gill Sans MT"/>
                <a:cs typeface="Gill Sans MT"/>
              </a:rPr>
              <a:t>customer,</a:t>
            </a:r>
            <a:endParaRPr sz="2400">
              <a:latin typeface="Gill Sans MT"/>
              <a:cs typeface="Gill Sans MT"/>
            </a:endParaRPr>
          </a:p>
          <a:p>
            <a:pPr marL="316865">
              <a:lnSpc>
                <a:spcPts val="2595"/>
              </a:lnSpc>
            </a:pPr>
            <a:r>
              <a:rPr sz="2400" dirty="0">
                <a:latin typeface="Gill Sans MT"/>
                <a:cs typeface="Gill Sans MT"/>
              </a:rPr>
              <a:t>cus</a:t>
            </a:r>
            <a:r>
              <a:rPr sz="2400" spc="5" dirty="0">
                <a:latin typeface="Gill Sans MT"/>
                <a:cs typeface="Gill Sans MT"/>
              </a:rPr>
              <a:t>t</a:t>
            </a:r>
            <a:r>
              <a:rPr sz="2400" dirty="0">
                <a:latin typeface="Gill Sans MT"/>
                <a:cs typeface="Gill Sans MT"/>
              </a:rPr>
              <a:t>o</a:t>
            </a:r>
            <a:r>
              <a:rPr sz="2400" spc="-10" dirty="0">
                <a:latin typeface="Gill Sans MT"/>
                <a:cs typeface="Gill Sans MT"/>
              </a:rPr>
              <a:t>m</a:t>
            </a:r>
            <a:r>
              <a:rPr sz="2400" dirty="0">
                <a:latin typeface="Gill Sans MT"/>
                <a:cs typeface="Gill Sans MT"/>
              </a:rPr>
              <a:t>er</a:t>
            </a:r>
            <a:r>
              <a:rPr sz="2400" spc="-10" dirty="0">
                <a:latin typeface="Gill Sans MT"/>
                <a:cs typeface="Gill Sans MT"/>
              </a:rPr>
              <a:t> </a:t>
            </a:r>
            <a:r>
              <a:rPr sz="2400" dirty="0">
                <a:latin typeface="Gill Sans MT"/>
                <a:cs typeface="Gill Sans MT"/>
              </a:rPr>
              <a:t>data </a:t>
            </a:r>
            <a:r>
              <a:rPr sz="2400" spc="-30" dirty="0">
                <a:latin typeface="Gill Sans MT"/>
                <a:cs typeface="Gill Sans MT"/>
              </a:rPr>
              <a:t>m</a:t>
            </a:r>
            <a:r>
              <a:rPr sz="2400" dirty="0">
                <a:latin typeface="Gill Sans MT"/>
                <a:cs typeface="Gill Sans MT"/>
              </a:rPr>
              <a:t>ust be </a:t>
            </a:r>
            <a:r>
              <a:rPr sz="2400" spc="-60" dirty="0">
                <a:latin typeface="Gill Sans MT"/>
                <a:cs typeface="Gill Sans MT"/>
              </a:rPr>
              <a:t>r</a:t>
            </a:r>
            <a:r>
              <a:rPr sz="2400" spc="5" dirty="0">
                <a:latin typeface="Gill Sans MT"/>
                <a:cs typeface="Gill Sans MT"/>
              </a:rPr>
              <a:t>e</a:t>
            </a:r>
            <a:r>
              <a:rPr sz="2400" dirty="0">
                <a:latin typeface="Gill Sans MT"/>
                <a:cs typeface="Gill Sans MT"/>
              </a:rPr>
              <a:t>-ente</a:t>
            </a:r>
            <a:r>
              <a:rPr sz="2400" spc="-50" dirty="0">
                <a:latin typeface="Gill Sans MT"/>
                <a:cs typeface="Gill Sans MT"/>
              </a:rPr>
              <a:t>r</a:t>
            </a:r>
            <a:r>
              <a:rPr sz="2400" dirty="0">
                <a:latin typeface="Gill Sans MT"/>
                <a:cs typeface="Gill Sans MT"/>
              </a:rPr>
              <a:t>ed,</a:t>
            </a:r>
            <a:r>
              <a:rPr sz="2400" spc="-254" dirty="0">
                <a:latin typeface="Gill Sans MT"/>
                <a:cs typeface="Gill Sans MT"/>
              </a:rPr>
              <a:t> </a:t>
            </a:r>
            <a:r>
              <a:rPr sz="2400" dirty="0">
                <a:latin typeface="Gill Sans MT"/>
                <a:cs typeface="Gill Sans MT"/>
              </a:rPr>
              <a:t>causing</a:t>
            </a:r>
            <a:r>
              <a:rPr sz="2400" spc="-10" dirty="0">
                <a:latin typeface="Gill Sans MT"/>
                <a:cs typeface="Gill Sans MT"/>
              </a:rPr>
              <a:t> </a:t>
            </a:r>
            <a:r>
              <a:rPr sz="2400" dirty="0">
                <a:latin typeface="Gill Sans MT"/>
                <a:cs typeface="Gill Sans MT"/>
              </a:rPr>
              <a:t>dupli</a:t>
            </a:r>
            <a:r>
              <a:rPr sz="2400" spc="5" dirty="0">
                <a:latin typeface="Gill Sans MT"/>
                <a:cs typeface="Gill Sans MT"/>
              </a:rPr>
              <a:t>c</a:t>
            </a:r>
            <a:r>
              <a:rPr sz="2400" dirty="0">
                <a:latin typeface="Gill Sans MT"/>
                <a:cs typeface="Gill Sans MT"/>
              </a:rPr>
              <a:t>ation</a:t>
            </a:r>
            <a:endParaRPr sz="2400">
              <a:latin typeface="Gill Sans MT"/>
              <a:cs typeface="Gill Sans MT"/>
            </a:endParaRPr>
          </a:p>
          <a:p>
            <a:pPr marL="316865" marR="66675" indent="-304800">
              <a:lnSpc>
                <a:spcPts val="2300"/>
              </a:lnSpc>
              <a:spcBef>
                <a:spcPts val="1160"/>
              </a:spcBef>
              <a:buClr>
                <a:srgbClr val="4590B8"/>
              </a:buClr>
              <a:buSzPct val="91666"/>
              <a:buFont typeface="Wingdings 2"/>
              <a:buChar char=""/>
              <a:tabLst>
                <a:tab pos="316865" algn="l"/>
                <a:tab pos="317500" algn="l"/>
              </a:tabLst>
            </a:pPr>
            <a:r>
              <a:rPr sz="2400" b="1" dirty="0">
                <a:latin typeface="Gill Sans MT"/>
                <a:cs typeface="Gill Sans MT"/>
              </a:rPr>
              <a:t>D</a:t>
            </a:r>
            <a:r>
              <a:rPr sz="2400" b="1" spc="-10" dirty="0">
                <a:latin typeface="Gill Sans MT"/>
                <a:cs typeface="Gill Sans MT"/>
              </a:rPr>
              <a:t>e</a:t>
            </a:r>
            <a:r>
              <a:rPr sz="2400" b="1" dirty="0">
                <a:latin typeface="Gill Sans MT"/>
                <a:cs typeface="Gill Sans MT"/>
              </a:rPr>
              <a:t>le</a:t>
            </a:r>
            <a:r>
              <a:rPr sz="2400" b="1" spc="-10" dirty="0">
                <a:latin typeface="Gill Sans MT"/>
                <a:cs typeface="Gill Sans MT"/>
              </a:rPr>
              <a:t>t</a:t>
            </a:r>
            <a:r>
              <a:rPr sz="2400" b="1" dirty="0">
                <a:latin typeface="Gill Sans MT"/>
                <a:cs typeface="Gill Sans MT"/>
              </a:rPr>
              <a:t>io</a:t>
            </a:r>
            <a:r>
              <a:rPr sz="2400" b="1" spc="5" dirty="0">
                <a:latin typeface="Gill Sans MT"/>
                <a:cs typeface="Gill Sans MT"/>
              </a:rPr>
              <a:t>n</a:t>
            </a:r>
            <a:r>
              <a:rPr sz="2400" dirty="0">
                <a:latin typeface="Gill Sans MT"/>
                <a:cs typeface="Gill Sans MT"/>
              </a:rPr>
              <a:t>–</a:t>
            </a:r>
            <a:r>
              <a:rPr sz="2400" spc="-5" dirty="0">
                <a:latin typeface="Gill Sans MT"/>
                <a:cs typeface="Gill Sans MT"/>
              </a:rPr>
              <a:t>i</a:t>
            </a:r>
            <a:r>
              <a:rPr sz="2400" dirty="0">
                <a:latin typeface="Gill Sans MT"/>
                <a:cs typeface="Gill Sans MT"/>
              </a:rPr>
              <a:t>f </a:t>
            </a:r>
            <a:r>
              <a:rPr sz="2400" spc="-50" dirty="0">
                <a:latin typeface="Gill Sans MT"/>
                <a:cs typeface="Gill Sans MT"/>
              </a:rPr>
              <a:t>w</a:t>
            </a:r>
            <a:r>
              <a:rPr sz="2400" dirty="0">
                <a:latin typeface="Gill Sans MT"/>
                <a:cs typeface="Gill Sans MT"/>
              </a:rPr>
              <a:t>e dele</a:t>
            </a:r>
            <a:r>
              <a:rPr sz="2400" spc="5" dirty="0">
                <a:latin typeface="Gill Sans MT"/>
                <a:cs typeface="Gill Sans MT"/>
              </a:rPr>
              <a:t>t</a:t>
            </a:r>
            <a:r>
              <a:rPr sz="2400" dirty="0">
                <a:latin typeface="Gill Sans MT"/>
                <a:cs typeface="Gill Sans MT"/>
              </a:rPr>
              <a:t>e</a:t>
            </a:r>
            <a:r>
              <a:rPr sz="2400" spc="-20" dirty="0">
                <a:latin typeface="Gill Sans MT"/>
                <a:cs typeface="Gill Sans MT"/>
              </a:rPr>
              <a:t> </a:t>
            </a:r>
            <a:r>
              <a:rPr sz="2400" dirty="0">
                <a:latin typeface="Gill Sans MT"/>
                <a:cs typeface="Gill Sans MT"/>
              </a:rPr>
              <a:t>the</a:t>
            </a:r>
            <a:r>
              <a:rPr sz="2400" spc="5" dirty="0">
                <a:latin typeface="Gill Sans MT"/>
                <a:cs typeface="Gill Sans MT"/>
              </a:rPr>
              <a:t> </a:t>
            </a:r>
            <a:r>
              <a:rPr sz="2400" spc="-10" dirty="0">
                <a:latin typeface="Gill Sans MT"/>
                <a:cs typeface="Gill Sans MT"/>
              </a:rPr>
              <a:t>D</a:t>
            </a:r>
            <a:r>
              <a:rPr sz="2400" spc="-5" dirty="0">
                <a:latin typeface="Gill Sans MT"/>
                <a:cs typeface="Gill Sans MT"/>
              </a:rPr>
              <a:t>inin</a:t>
            </a:r>
            <a:r>
              <a:rPr sz="2400" dirty="0">
                <a:latin typeface="Gill Sans MT"/>
                <a:cs typeface="Gill Sans MT"/>
              </a:rPr>
              <a:t>g</a:t>
            </a:r>
            <a:r>
              <a:rPr sz="2400" spc="-310" dirty="0">
                <a:latin typeface="Gill Sans MT"/>
                <a:cs typeface="Gill Sans MT"/>
              </a:rPr>
              <a:t> </a:t>
            </a:r>
            <a:r>
              <a:rPr sz="2400" spc="-300" dirty="0">
                <a:latin typeface="Gill Sans MT"/>
                <a:cs typeface="Gill Sans MT"/>
              </a:rPr>
              <a:t>T</a:t>
            </a:r>
            <a:r>
              <a:rPr sz="2400" dirty="0">
                <a:latin typeface="Gill Sans MT"/>
                <a:cs typeface="Gill Sans MT"/>
              </a:rPr>
              <a:t>able</a:t>
            </a:r>
            <a:r>
              <a:rPr sz="2400" spc="-10" dirty="0">
                <a:latin typeface="Gill Sans MT"/>
                <a:cs typeface="Gill Sans MT"/>
              </a:rPr>
              <a:t> </a:t>
            </a:r>
            <a:r>
              <a:rPr sz="2400" dirty="0">
                <a:latin typeface="Gill Sans MT"/>
                <a:cs typeface="Gill Sans MT"/>
              </a:rPr>
              <a:t>f</a:t>
            </a:r>
            <a:r>
              <a:rPr sz="2400" spc="-65" dirty="0">
                <a:latin typeface="Gill Sans MT"/>
                <a:cs typeface="Gill Sans MT"/>
              </a:rPr>
              <a:t>r</a:t>
            </a:r>
            <a:r>
              <a:rPr sz="2400" dirty="0">
                <a:latin typeface="Gill Sans MT"/>
                <a:cs typeface="Gill Sans MT"/>
              </a:rPr>
              <a:t>om</a:t>
            </a:r>
            <a:r>
              <a:rPr sz="2400" spc="-10" dirty="0">
                <a:latin typeface="Gill Sans MT"/>
                <a:cs typeface="Gill Sans MT"/>
              </a:rPr>
              <a:t> </a:t>
            </a:r>
            <a:r>
              <a:rPr sz="2400" spc="5" dirty="0">
                <a:latin typeface="Gill Sans MT"/>
                <a:cs typeface="Gill Sans MT"/>
              </a:rPr>
              <a:t>O</a:t>
            </a:r>
            <a:r>
              <a:rPr sz="2400" spc="-40" dirty="0">
                <a:latin typeface="Gill Sans MT"/>
                <a:cs typeface="Gill Sans MT"/>
              </a:rPr>
              <a:t>r</a:t>
            </a:r>
            <a:r>
              <a:rPr sz="2400" dirty="0">
                <a:latin typeface="Gill Sans MT"/>
                <a:cs typeface="Gill Sans MT"/>
              </a:rPr>
              <a:t>der</a:t>
            </a:r>
            <a:r>
              <a:rPr sz="2400" spc="-10" dirty="0">
                <a:latin typeface="Gill Sans MT"/>
                <a:cs typeface="Gill Sans MT"/>
              </a:rPr>
              <a:t> </a:t>
            </a:r>
            <a:r>
              <a:rPr sz="2400" dirty="0">
                <a:latin typeface="Gill Sans MT"/>
                <a:cs typeface="Gill Sans MT"/>
              </a:rPr>
              <a:t>1006,</a:t>
            </a:r>
            <a:r>
              <a:rPr sz="2400" spc="-240" dirty="0">
                <a:latin typeface="Gill Sans MT"/>
                <a:cs typeface="Gill Sans MT"/>
              </a:rPr>
              <a:t> </a:t>
            </a:r>
            <a:r>
              <a:rPr sz="2400" spc="-55" dirty="0">
                <a:latin typeface="Gill Sans MT"/>
                <a:cs typeface="Gill Sans MT"/>
              </a:rPr>
              <a:t>w</a:t>
            </a:r>
            <a:r>
              <a:rPr sz="2400" dirty="0">
                <a:latin typeface="Gill Sans MT"/>
                <a:cs typeface="Gill Sans MT"/>
              </a:rPr>
              <a:t>e </a:t>
            </a:r>
            <a:r>
              <a:rPr sz="2400" spc="-5" dirty="0">
                <a:latin typeface="Gill Sans MT"/>
                <a:cs typeface="Gill Sans MT"/>
              </a:rPr>
              <a:t>los</a:t>
            </a:r>
            <a:r>
              <a:rPr sz="2400" dirty="0">
                <a:latin typeface="Gill Sans MT"/>
                <a:cs typeface="Gill Sans MT"/>
              </a:rPr>
              <a:t>e</a:t>
            </a:r>
            <a:r>
              <a:rPr sz="2400" spc="-15" dirty="0">
                <a:latin typeface="Gill Sans MT"/>
                <a:cs typeface="Gill Sans MT"/>
              </a:rPr>
              <a:t> </a:t>
            </a:r>
            <a:r>
              <a:rPr sz="2400" spc="-5" dirty="0">
                <a:latin typeface="Gill Sans MT"/>
                <a:cs typeface="Gill Sans MT"/>
              </a:rPr>
              <a:t>in</a:t>
            </a:r>
            <a:r>
              <a:rPr sz="2400" spc="-25" dirty="0">
                <a:latin typeface="Gill Sans MT"/>
                <a:cs typeface="Gill Sans MT"/>
              </a:rPr>
              <a:t>f</a:t>
            </a:r>
            <a:r>
              <a:rPr sz="2400" dirty="0">
                <a:latin typeface="Gill Sans MT"/>
                <a:cs typeface="Gill Sans MT"/>
              </a:rPr>
              <a:t>or</a:t>
            </a:r>
            <a:r>
              <a:rPr sz="2400" spc="-10" dirty="0">
                <a:latin typeface="Gill Sans MT"/>
                <a:cs typeface="Gill Sans MT"/>
              </a:rPr>
              <a:t>m</a:t>
            </a:r>
            <a:r>
              <a:rPr sz="2400" dirty="0">
                <a:latin typeface="Gill Sans MT"/>
                <a:cs typeface="Gill Sans MT"/>
              </a:rPr>
              <a:t>ation  concerning</a:t>
            </a:r>
            <a:r>
              <a:rPr sz="2400" spc="-5" dirty="0">
                <a:latin typeface="Gill Sans MT"/>
                <a:cs typeface="Gill Sans MT"/>
              </a:rPr>
              <a:t> </a:t>
            </a:r>
            <a:r>
              <a:rPr sz="2400" dirty="0">
                <a:latin typeface="Gill Sans MT"/>
                <a:cs typeface="Gill Sans MT"/>
              </a:rPr>
              <a:t>this </a:t>
            </a:r>
            <a:r>
              <a:rPr sz="2400" spc="-5" dirty="0">
                <a:latin typeface="Gill Sans MT"/>
                <a:cs typeface="Gill Sans MT"/>
              </a:rPr>
              <a:t>item's</a:t>
            </a:r>
            <a:r>
              <a:rPr sz="2400" spc="-15" dirty="0">
                <a:latin typeface="Gill Sans MT"/>
                <a:cs typeface="Gill Sans MT"/>
              </a:rPr>
              <a:t> </a:t>
            </a:r>
            <a:r>
              <a:rPr sz="2400" dirty="0">
                <a:latin typeface="Gill Sans MT"/>
                <a:cs typeface="Gill Sans MT"/>
              </a:rPr>
              <a:t>finish</a:t>
            </a:r>
            <a:r>
              <a:rPr sz="2400" spc="-5" dirty="0">
                <a:latin typeface="Gill Sans MT"/>
                <a:cs typeface="Gill Sans MT"/>
              </a:rPr>
              <a:t> and</a:t>
            </a:r>
            <a:r>
              <a:rPr sz="2400" spc="-10" dirty="0">
                <a:latin typeface="Gill Sans MT"/>
                <a:cs typeface="Gill Sans MT"/>
              </a:rPr>
              <a:t> </a:t>
            </a:r>
            <a:r>
              <a:rPr sz="2400" dirty="0">
                <a:latin typeface="Gill Sans MT"/>
                <a:cs typeface="Gill Sans MT"/>
              </a:rPr>
              <a:t>price</a:t>
            </a:r>
            <a:endParaRPr sz="2400">
              <a:latin typeface="Gill Sans MT"/>
              <a:cs typeface="Gill Sans MT"/>
            </a:endParaRPr>
          </a:p>
          <a:p>
            <a:pPr marL="317500" indent="-304800">
              <a:lnSpc>
                <a:spcPct val="100000"/>
              </a:lnSpc>
              <a:spcBef>
                <a:spcPts val="625"/>
              </a:spcBef>
              <a:buClr>
                <a:srgbClr val="4590B8"/>
              </a:buClr>
              <a:buSzPct val="91666"/>
              <a:buFont typeface="Wingdings 2"/>
              <a:buChar char=""/>
              <a:tabLst>
                <a:tab pos="316865" algn="l"/>
                <a:tab pos="317500" algn="l"/>
              </a:tabLst>
            </a:pPr>
            <a:r>
              <a:rPr sz="2400" b="1" spc="-5" dirty="0">
                <a:latin typeface="Gill Sans MT"/>
                <a:cs typeface="Gill Sans MT"/>
              </a:rPr>
              <a:t>Update</a:t>
            </a:r>
            <a:r>
              <a:rPr sz="2400" spc="-5" dirty="0">
                <a:latin typeface="Gill Sans MT"/>
                <a:cs typeface="Gill Sans MT"/>
              </a:rPr>
              <a:t>–changing </a:t>
            </a:r>
            <a:r>
              <a:rPr sz="2400" dirty="0">
                <a:latin typeface="Gill Sans MT"/>
                <a:cs typeface="Gill Sans MT"/>
              </a:rPr>
              <a:t>the</a:t>
            </a:r>
            <a:r>
              <a:rPr sz="2400" spc="-15" dirty="0">
                <a:latin typeface="Gill Sans MT"/>
                <a:cs typeface="Gill Sans MT"/>
              </a:rPr>
              <a:t> </a:t>
            </a:r>
            <a:r>
              <a:rPr sz="2400" dirty="0">
                <a:latin typeface="Gill Sans MT"/>
                <a:cs typeface="Gill Sans MT"/>
              </a:rPr>
              <a:t>price</a:t>
            </a:r>
            <a:r>
              <a:rPr sz="2400" spc="5" dirty="0">
                <a:latin typeface="Gill Sans MT"/>
                <a:cs typeface="Gill Sans MT"/>
              </a:rPr>
              <a:t> </a:t>
            </a:r>
            <a:r>
              <a:rPr sz="2400" spc="-10" dirty="0">
                <a:latin typeface="Gill Sans MT"/>
                <a:cs typeface="Gill Sans MT"/>
              </a:rPr>
              <a:t>of</a:t>
            </a:r>
            <a:r>
              <a:rPr sz="2400" spc="-5" dirty="0">
                <a:latin typeface="Gill Sans MT"/>
                <a:cs typeface="Gill Sans MT"/>
              </a:rPr>
              <a:t> </a:t>
            </a:r>
            <a:r>
              <a:rPr sz="2400" spc="-10" dirty="0">
                <a:latin typeface="Gill Sans MT"/>
                <a:cs typeface="Gill Sans MT"/>
              </a:rPr>
              <a:t>product</a:t>
            </a:r>
            <a:r>
              <a:rPr sz="2400" spc="5" dirty="0">
                <a:latin typeface="Gill Sans MT"/>
                <a:cs typeface="Gill Sans MT"/>
              </a:rPr>
              <a:t> </a:t>
            </a:r>
            <a:r>
              <a:rPr sz="2400" dirty="0">
                <a:latin typeface="Gill Sans MT"/>
                <a:cs typeface="Gill Sans MT"/>
              </a:rPr>
              <a:t>ID</a:t>
            </a:r>
            <a:r>
              <a:rPr sz="2400" spc="5" dirty="0">
                <a:latin typeface="Gill Sans MT"/>
                <a:cs typeface="Gill Sans MT"/>
              </a:rPr>
              <a:t> </a:t>
            </a:r>
            <a:r>
              <a:rPr sz="2400" dirty="0">
                <a:latin typeface="Gill Sans MT"/>
                <a:cs typeface="Gill Sans MT"/>
              </a:rPr>
              <a:t>4</a:t>
            </a:r>
            <a:r>
              <a:rPr sz="2400" spc="-5" dirty="0">
                <a:latin typeface="Gill Sans MT"/>
                <a:cs typeface="Gill Sans MT"/>
              </a:rPr>
              <a:t> </a:t>
            </a:r>
            <a:r>
              <a:rPr sz="2400" spc="-15" dirty="0">
                <a:latin typeface="Gill Sans MT"/>
                <a:cs typeface="Gill Sans MT"/>
              </a:rPr>
              <a:t>requires</a:t>
            </a:r>
            <a:r>
              <a:rPr sz="2400" spc="-5" dirty="0">
                <a:latin typeface="Gill Sans MT"/>
                <a:cs typeface="Gill Sans MT"/>
              </a:rPr>
              <a:t> update</a:t>
            </a:r>
            <a:r>
              <a:rPr sz="2400" dirty="0">
                <a:latin typeface="Gill Sans MT"/>
                <a:cs typeface="Gill Sans MT"/>
              </a:rPr>
              <a:t> </a:t>
            </a:r>
            <a:r>
              <a:rPr sz="2400" spc="-5" dirty="0">
                <a:latin typeface="Gill Sans MT"/>
                <a:cs typeface="Gill Sans MT"/>
              </a:rPr>
              <a:t>in </a:t>
            </a:r>
            <a:r>
              <a:rPr sz="2400" spc="-15" dirty="0">
                <a:latin typeface="Gill Sans MT"/>
                <a:cs typeface="Gill Sans MT"/>
              </a:rPr>
              <a:t>several</a:t>
            </a:r>
            <a:r>
              <a:rPr sz="2400" dirty="0">
                <a:latin typeface="Gill Sans MT"/>
                <a:cs typeface="Gill Sans MT"/>
              </a:rPr>
              <a:t> </a:t>
            </a:r>
            <a:r>
              <a:rPr sz="2400" spc="-15" dirty="0">
                <a:latin typeface="Gill Sans MT"/>
                <a:cs typeface="Gill Sans MT"/>
              </a:rPr>
              <a:t>records</a:t>
            </a:r>
            <a:endParaRPr sz="2400">
              <a:latin typeface="Gill Sans MT"/>
              <a:cs typeface="Gill Sans MT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3350">
              <a:latin typeface="Gill Sans MT"/>
              <a:cs typeface="Gill Sans MT"/>
            </a:endParaRPr>
          </a:p>
          <a:p>
            <a:pPr marL="1524635">
              <a:lnSpc>
                <a:spcPct val="100000"/>
              </a:lnSpc>
            </a:pPr>
            <a:r>
              <a:rPr sz="2600" dirty="0">
                <a:solidFill>
                  <a:srgbClr val="990000"/>
                </a:solidFill>
                <a:latin typeface="Times New Roman"/>
                <a:cs typeface="Times New Roman"/>
              </a:rPr>
              <a:t>Why</a:t>
            </a:r>
            <a:r>
              <a:rPr sz="2600" spc="-2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990000"/>
                </a:solidFill>
                <a:latin typeface="Times New Roman"/>
                <a:cs typeface="Times New Roman"/>
              </a:rPr>
              <a:t>do</a:t>
            </a:r>
            <a:r>
              <a:rPr sz="2600" spc="-1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990000"/>
                </a:solidFill>
                <a:latin typeface="Times New Roman"/>
                <a:cs typeface="Times New Roman"/>
              </a:rPr>
              <a:t>these</a:t>
            </a:r>
            <a:r>
              <a:rPr sz="2600" spc="-1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600" spc="-5" dirty="0">
                <a:solidFill>
                  <a:srgbClr val="990000"/>
                </a:solidFill>
                <a:latin typeface="Times New Roman"/>
                <a:cs typeface="Times New Roman"/>
              </a:rPr>
              <a:t>anomalies</a:t>
            </a:r>
            <a:r>
              <a:rPr sz="2600" spc="-1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600" spc="-5" dirty="0">
                <a:solidFill>
                  <a:srgbClr val="990000"/>
                </a:solidFill>
                <a:latin typeface="Times New Roman"/>
                <a:cs typeface="Times New Roman"/>
              </a:rPr>
              <a:t>exist?</a:t>
            </a:r>
            <a:endParaRPr sz="2600">
              <a:latin typeface="Times New Roman"/>
              <a:cs typeface="Times New Roman"/>
            </a:endParaRPr>
          </a:p>
          <a:p>
            <a:pPr marL="1981835" marR="1394460">
              <a:lnSpc>
                <a:spcPct val="100000"/>
              </a:lnSpc>
            </a:pPr>
            <a:r>
              <a:rPr sz="2600" spc="-5" dirty="0">
                <a:solidFill>
                  <a:srgbClr val="990000"/>
                </a:solidFill>
                <a:latin typeface="Times New Roman"/>
                <a:cs typeface="Times New Roman"/>
              </a:rPr>
              <a:t>Because </a:t>
            </a:r>
            <a:r>
              <a:rPr sz="2600" dirty="0">
                <a:solidFill>
                  <a:srgbClr val="990000"/>
                </a:solidFill>
                <a:latin typeface="Times New Roman"/>
                <a:cs typeface="Times New Roman"/>
              </a:rPr>
              <a:t>there are </a:t>
            </a:r>
            <a:r>
              <a:rPr sz="2600" spc="-5" dirty="0">
                <a:solidFill>
                  <a:srgbClr val="990000"/>
                </a:solidFill>
                <a:latin typeface="Times New Roman"/>
                <a:cs typeface="Times New Roman"/>
              </a:rPr>
              <a:t>multiple themes (entity </a:t>
            </a:r>
            <a:r>
              <a:rPr sz="2600" dirty="0">
                <a:solidFill>
                  <a:srgbClr val="990000"/>
                </a:solidFill>
                <a:latin typeface="Times New Roman"/>
                <a:cs typeface="Times New Roman"/>
              </a:rPr>
              <a:t>types) in </a:t>
            </a:r>
            <a:r>
              <a:rPr sz="2600" spc="-63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600" spc="5" dirty="0">
                <a:solidFill>
                  <a:srgbClr val="990000"/>
                </a:solidFill>
                <a:latin typeface="Times New Roman"/>
                <a:cs typeface="Times New Roman"/>
              </a:rPr>
              <a:t>one </a:t>
            </a:r>
            <a:r>
              <a:rPr sz="2600" spc="-5" dirty="0">
                <a:solidFill>
                  <a:srgbClr val="990000"/>
                </a:solidFill>
                <a:latin typeface="Times New Roman"/>
                <a:cs typeface="Times New Roman"/>
              </a:rPr>
              <a:t>relation. </a:t>
            </a:r>
            <a:r>
              <a:rPr sz="2600" dirty="0">
                <a:solidFill>
                  <a:srgbClr val="990000"/>
                </a:solidFill>
                <a:latin typeface="Times New Roman"/>
                <a:cs typeface="Times New Roman"/>
              </a:rPr>
              <a:t>This </a:t>
            </a:r>
            <a:r>
              <a:rPr sz="2600" spc="-5" dirty="0">
                <a:solidFill>
                  <a:srgbClr val="990000"/>
                </a:solidFill>
                <a:latin typeface="Times New Roman"/>
                <a:cs typeface="Times New Roman"/>
              </a:rPr>
              <a:t>results </a:t>
            </a:r>
            <a:r>
              <a:rPr sz="2600" dirty="0">
                <a:solidFill>
                  <a:srgbClr val="990000"/>
                </a:solidFill>
                <a:latin typeface="Times New Roman"/>
                <a:cs typeface="Times New Roman"/>
              </a:rPr>
              <a:t>in duplication and an </a:t>
            </a:r>
            <a:r>
              <a:rPr sz="2600" spc="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600" spc="-5" dirty="0">
                <a:solidFill>
                  <a:srgbClr val="990000"/>
                </a:solidFill>
                <a:latin typeface="Times New Roman"/>
                <a:cs typeface="Times New Roman"/>
              </a:rPr>
              <a:t>unnecessary</a:t>
            </a:r>
            <a:r>
              <a:rPr sz="2600" spc="-4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990000"/>
                </a:solidFill>
                <a:latin typeface="Times New Roman"/>
                <a:cs typeface="Times New Roman"/>
              </a:rPr>
              <a:t>dependency</a:t>
            </a:r>
            <a:r>
              <a:rPr sz="2600" spc="-3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990000"/>
                </a:solidFill>
                <a:latin typeface="Times New Roman"/>
                <a:cs typeface="Times New Roman"/>
              </a:rPr>
              <a:t>between</a:t>
            </a:r>
            <a:r>
              <a:rPr sz="2600" spc="-3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990000"/>
                </a:solidFill>
                <a:latin typeface="Times New Roman"/>
                <a:cs typeface="Times New Roman"/>
              </a:rPr>
              <a:t>the </a:t>
            </a:r>
            <a:r>
              <a:rPr sz="2600" spc="-5" dirty="0">
                <a:solidFill>
                  <a:srgbClr val="990000"/>
                </a:solidFill>
                <a:latin typeface="Times New Roman"/>
                <a:cs typeface="Times New Roman"/>
              </a:rPr>
              <a:t>entities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5"/>
              </a:lnSpc>
            </a:pPr>
            <a:fld id="{81D60167-4931-47E6-BA6A-407CBD079E47}" type="slidenum">
              <a:rPr dirty="0"/>
              <a:t>20</a:t>
            </a:fld>
            <a:endParaRPr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97408" y="600455"/>
            <a:ext cx="10985500" cy="1259205"/>
          </a:xfrm>
          <a:custGeom>
            <a:avLst/>
            <a:gdLst/>
            <a:ahLst/>
            <a:cxnLst/>
            <a:rect l="l" t="t" r="r" b="b"/>
            <a:pathLst>
              <a:path w="10985500" h="1259205">
                <a:moveTo>
                  <a:pt x="10984992" y="0"/>
                </a:moveTo>
                <a:lnTo>
                  <a:pt x="0" y="0"/>
                </a:lnTo>
                <a:lnTo>
                  <a:pt x="0" y="1258824"/>
                </a:lnTo>
                <a:lnTo>
                  <a:pt x="10984992" y="1258824"/>
                </a:lnTo>
                <a:lnTo>
                  <a:pt x="10984992" y="0"/>
                </a:lnTo>
                <a:close/>
              </a:path>
            </a:pathLst>
          </a:custGeom>
          <a:solidFill>
            <a:srgbClr val="1A315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00794" y="6507281"/>
            <a:ext cx="176781" cy="14602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80260" y="861060"/>
            <a:ext cx="4517897" cy="787146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97408" y="949198"/>
            <a:ext cx="109855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703705">
              <a:lnSpc>
                <a:spcPct val="100000"/>
              </a:lnSpc>
              <a:spcBef>
                <a:spcPts val="95"/>
              </a:spcBef>
            </a:pPr>
            <a:r>
              <a:rPr sz="2800" b="0" spc="-5" dirty="0">
                <a:latin typeface="Gill Sans MT"/>
                <a:cs typeface="Gill Sans MT"/>
              </a:rPr>
              <a:t>SECOND</a:t>
            </a:r>
            <a:r>
              <a:rPr sz="2800" b="0" spc="-20" dirty="0">
                <a:latin typeface="Gill Sans MT"/>
                <a:cs typeface="Gill Sans MT"/>
              </a:rPr>
              <a:t> </a:t>
            </a:r>
            <a:r>
              <a:rPr sz="2800" b="0" spc="-5" dirty="0">
                <a:latin typeface="Gill Sans MT"/>
                <a:cs typeface="Gill Sans MT"/>
              </a:rPr>
              <a:t>NORMAL</a:t>
            </a:r>
            <a:r>
              <a:rPr sz="2800" b="0" spc="-20" dirty="0">
                <a:latin typeface="Gill Sans MT"/>
                <a:cs typeface="Gill Sans MT"/>
              </a:rPr>
              <a:t> </a:t>
            </a:r>
            <a:r>
              <a:rPr sz="2800" b="0" spc="-10" dirty="0">
                <a:latin typeface="Gill Sans MT"/>
                <a:cs typeface="Gill Sans MT"/>
              </a:rPr>
              <a:t>FORM</a:t>
            </a:r>
            <a:endParaRPr sz="2800">
              <a:latin typeface="Gill Sans MT"/>
              <a:cs typeface="Gill Sans MT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943079" y="2266188"/>
            <a:ext cx="9512935" cy="2576830"/>
            <a:chOff x="943079" y="2266188"/>
            <a:chExt cx="9512935" cy="2576830"/>
          </a:xfrm>
        </p:grpSpPr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43079" y="2539843"/>
              <a:ext cx="155239" cy="154896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01267" y="2266188"/>
              <a:ext cx="2058162" cy="787146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592323" y="2266188"/>
              <a:ext cx="1994153" cy="787146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119372" y="2266188"/>
              <a:ext cx="589026" cy="787146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241292" y="2266188"/>
              <a:ext cx="5618225" cy="787146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001267" y="2692908"/>
              <a:ext cx="6538722" cy="787146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086611" y="3358896"/>
              <a:ext cx="488429" cy="553973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356359" y="3284220"/>
              <a:ext cx="1648205" cy="677417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601467" y="3284220"/>
              <a:ext cx="502145" cy="677417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700527" y="3284220"/>
              <a:ext cx="7754874" cy="677417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356359" y="3649980"/>
              <a:ext cx="2224278" cy="677418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086611" y="4239767"/>
              <a:ext cx="488429" cy="553974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356359" y="4165092"/>
              <a:ext cx="4708398" cy="677418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904443" y="2354706"/>
            <a:ext cx="9268460" cy="22771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17500" marR="651510" indent="-304800">
              <a:lnSpc>
                <a:spcPct val="100000"/>
              </a:lnSpc>
              <a:spcBef>
                <a:spcPts val="95"/>
              </a:spcBef>
              <a:buClr>
                <a:srgbClr val="4590B8"/>
              </a:buClr>
              <a:buSzPct val="91071"/>
              <a:buFont typeface="Wingdings 2"/>
              <a:buChar char=""/>
              <a:tabLst>
                <a:tab pos="317500" algn="l"/>
              </a:tabLst>
            </a:pPr>
            <a:r>
              <a:rPr sz="2800" spc="-5" dirty="0">
                <a:latin typeface="Gill Sans MT"/>
                <a:cs typeface="Gill Sans MT"/>
              </a:rPr>
              <a:t>1NF PLUS</a:t>
            </a:r>
            <a:r>
              <a:rPr sz="2800" spc="25" dirty="0">
                <a:latin typeface="Gill Sans MT"/>
                <a:cs typeface="Gill Sans MT"/>
              </a:rPr>
              <a:t> </a:t>
            </a:r>
            <a:r>
              <a:rPr sz="2800" b="1" i="1" spc="5" dirty="0">
                <a:latin typeface="Gill Sans MT"/>
                <a:cs typeface="Gill Sans MT"/>
              </a:rPr>
              <a:t>every</a:t>
            </a:r>
            <a:r>
              <a:rPr sz="2800" b="1" i="1" spc="10" dirty="0">
                <a:latin typeface="Gill Sans MT"/>
                <a:cs typeface="Gill Sans MT"/>
              </a:rPr>
              <a:t> </a:t>
            </a:r>
            <a:r>
              <a:rPr sz="2800" b="1" i="1" spc="-15" dirty="0">
                <a:latin typeface="Gill Sans MT"/>
                <a:cs typeface="Gill Sans MT"/>
              </a:rPr>
              <a:t>non-key</a:t>
            </a:r>
            <a:r>
              <a:rPr sz="2800" b="1" i="1" dirty="0">
                <a:latin typeface="Gill Sans MT"/>
                <a:cs typeface="Gill Sans MT"/>
              </a:rPr>
              <a:t> </a:t>
            </a:r>
            <a:r>
              <a:rPr sz="2800" b="1" i="1" spc="-5" dirty="0">
                <a:latin typeface="Gill Sans MT"/>
                <a:cs typeface="Gill Sans MT"/>
              </a:rPr>
              <a:t>attribute</a:t>
            </a:r>
            <a:r>
              <a:rPr sz="2800" b="1" i="1" spc="15" dirty="0">
                <a:latin typeface="Gill Sans MT"/>
                <a:cs typeface="Gill Sans MT"/>
              </a:rPr>
              <a:t> </a:t>
            </a:r>
            <a:r>
              <a:rPr sz="2800" b="1" i="1" spc="-5" dirty="0">
                <a:latin typeface="Gill Sans MT"/>
                <a:cs typeface="Gill Sans MT"/>
              </a:rPr>
              <a:t>is </a:t>
            </a:r>
            <a:r>
              <a:rPr sz="2800" b="1" i="1" dirty="0">
                <a:latin typeface="Gill Sans MT"/>
                <a:cs typeface="Gill Sans MT"/>
              </a:rPr>
              <a:t>fully </a:t>
            </a:r>
            <a:r>
              <a:rPr sz="2800" b="1" i="1" spc="-5" dirty="0">
                <a:latin typeface="Gill Sans MT"/>
                <a:cs typeface="Gill Sans MT"/>
              </a:rPr>
              <a:t>functionally </a:t>
            </a:r>
            <a:r>
              <a:rPr sz="2800" b="1" i="1" spc="-760" dirty="0">
                <a:latin typeface="Gill Sans MT"/>
                <a:cs typeface="Gill Sans MT"/>
              </a:rPr>
              <a:t> </a:t>
            </a:r>
            <a:r>
              <a:rPr sz="2800" b="1" i="1" spc="-5" dirty="0">
                <a:latin typeface="Gill Sans MT"/>
                <a:cs typeface="Gill Sans MT"/>
              </a:rPr>
              <a:t>dependent</a:t>
            </a:r>
            <a:r>
              <a:rPr sz="2800" b="1" i="1" spc="-10" dirty="0">
                <a:latin typeface="Gill Sans MT"/>
                <a:cs typeface="Gill Sans MT"/>
              </a:rPr>
              <a:t> </a:t>
            </a:r>
            <a:r>
              <a:rPr sz="2800" b="1" i="1" spc="-5" dirty="0">
                <a:latin typeface="Gill Sans MT"/>
                <a:cs typeface="Gill Sans MT"/>
              </a:rPr>
              <a:t>on the</a:t>
            </a:r>
            <a:r>
              <a:rPr sz="2800" b="1" i="1" dirty="0">
                <a:latin typeface="Gill Sans MT"/>
                <a:cs typeface="Gill Sans MT"/>
              </a:rPr>
              <a:t> </a:t>
            </a:r>
            <a:r>
              <a:rPr sz="2800" b="1" i="1" spc="-5" dirty="0">
                <a:latin typeface="Gill Sans MT"/>
                <a:cs typeface="Gill Sans MT"/>
              </a:rPr>
              <a:t>ENTIRE</a:t>
            </a:r>
            <a:r>
              <a:rPr sz="2800" b="1" i="1" spc="40" dirty="0">
                <a:latin typeface="Gill Sans MT"/>
                <a:cs typeface="Gill Sans MT"/>
              </a:rPr>
              <a:t> </a:t>
            </a:r>
            <a:r>
              <a:rPr sz="2800" b="1" i="1" spc="10" dirty="0">
                <a:latin typeface="Gill Sans MT"/>
                <a:cs typeface="Gill Sans MT"/>
              </a:rPr>
              <a:t>primary</a:t>
            </a:r>
            <a:r>
              <a:rPr sz="2800" b="1" i="1" spc="5" dirty="0">
                <a:latin typeface="Gill Sans MT"/>
                <a:cs typeface="Gill Sans MT"/>
              </a:rPr>
              <a:t> </a:t>
            </a:r>
            <a:r>
              <a:rPr sz="2800" b="1" i="1" spc="-35" dirty="0">
                <a:latin typeface="Gill Sans MT"/>
                <a:cs typeface="Gill Sans MT"/>
              </a:rPr>
              <a:t>key</a:t>
            </a:r>
            <a:endParaRPr sz="2800">
              <a:latin typeface="Gill Sans MT"/>
              <a:cs typeface="Gill Sans MT"/>
            </a:endParaRPr>
          </a:p>
          <a:p>
            <a:pPr marL="641985" lvl="1" indent="-305435">
              <a:lnSpc>
                <a:spcPct val="100000"/>
              </a:lnSpc>
              <a:spcBef>
                <a:spcPts val="1190"/>
              </a:spcBef>
              <a:buClr>
                <a:srgbClr val="4590B8"/>
              </a:buClr>
              <a:buSzPct val="91666"/>
              <a:buFont typeface="Wingdings 2"/>
              <a:buChar char=""/>
              <a:tabLst>
                <a:tab pos="641985" algn="l"/>
                <a:tab pos="642620" algn="l"/>
              </a:tabLst>
            </a:pPr>
            <a:r>
              <a:rPr sz="2400" dirty="0">
                <a:latin typeface="Gill Sans MT"/>
                <a:cs typeface="Gill Sans MT"/>
              </a:rPr>
              <a:t>Every</a:t>
            </a:r>
            <a:r>
              <a:rPr sz="2400" spc="-15" dirty="0">
                <a:latin typeface="Gill Sans MT"/>
                <a:cs typeface="Gill Sans MT"/>
              </a:rPr>
              <a:t> </a:t>
            </a:r>
            <a:r>
              <a:rPr sz="2400" spc="-20" dirty="0">
                <a:latin typeface="Gill Sans MT"/>
                <a:cs typeface="Gill Sans MT"/>
              </a:rPr>
              <a:t>non-key</a:t>
            </a:r>
            <a:r>
              <a:rPr sz="2400" spc="5" dirty="0">
                <a:latin typeface="Gill Sans MT"/>
                <a:cs typeface="Gill Sans MT"/>
              </a:rPr>
              <a:t> </a:t>
            </a:r>
            <a:r>
              <a:rPr sz="2400" spc="-5" dirty="0">
                <a:latin typeface="Gill Sans MT"/>
                <a:cs typeface="Gill Sans MT"/>
              </a:rPr>
              <a:t>attribute</a:t>
            </a:r>
            <a:r>
              <a:rPr sz="2400" spc="-10" dirty="0">
                <a:latin typeface="Gill Sans MT"/>
                <a:cs typeface="Gill Sans MT"/>
              </a:rPr>
              <a:t> must</a:t>
            </a:r>
            <a:r>
              <a:rPr sz="2400" spc="5" dirty="0">
                <a:latin typeface="Gill Sans MT"/>
                <a:cs typeface="Gill Sans MT"/>
              </a:rPr>
              <a:t> </a:t>
            </a:r>
            <a:r>
              <a:rPr sz="2400" dirty="0">
                <a:latin typeface="Gill Sans MT"/>
                <a:cs typeface="Gill Sans MT"/>
              </a:rPr>
              <a:t>be</a:t>
            </a:r>
            <a:r>
              <a:rPr sz="2400" spc="-5" dirty="0">
                <a:latin typeface="Gill Sans MT"/>
                <a:cs typeface="Gill Sans MT"/>
              </a:rPr>
              <a:t> </a:t>
            </a:r>
            <a:r>
              <a:rPr sz="2400" dirty="0">
                <a:latin typeface="Gill Sans MT"/>
                <a:cs typeface="Gill Sans MT"/>
              </a:rPr>
              <a:t>defined </a:t>
            </a:r>
            <a:r>
              <a:rPr sz="2400" spc="-15" dirty="0">
                <a:latin typeface="Gill Sans MT"/>
                <a:cs typeface="Gill Sans MT"/>
              </a:rPr>
              <a:t>by</a:t>
            </a:r>
            <a:r>
              <a:rPr sz="2400" spc="10" dirty="0">
                <a:latin typeface="Gill Sans MT"/>
                <a:cs typeface="Gill Sans MT"/>
              </a:rPr>
              <a:t> </a:t>
            </a:r>
            <a:r>
              <a:rPr sz="2400" dirty="0">
                <a:latin typeface="Gill Sans MT"/>
                <a:cs typeface="Gill Sans MT"/>
              </a:rPr>
              <a:t>the</a:t>
            </a:r>
            <a:r>
              <a:rPr sz="2400" spc="-15" dirty="0">
                <a:latin typeface="Gill Sans MT"/>
                <a:cs typeface="Gill Sans MT"/>
              </a:rPr>
              <a:t> </a:t>
            </a:r>
            <a:r>
              <a:rPr sz="2400" spc="-10" dirty="0">
                <a:latin typeface="Gill Sans MT"/>
                <a:cs typeface="Gill Sans MT"/>
              </a:rPr>
              <a:t>entire</a:t>
            </a:r>
            <a:r>
              <a:rPr sz="2400" spc="5" dirty="0">
                <a:latin typeface="Gill Sans MT"/>
                <a:cs typeface="Gill Sans MT"/>
              </a:rPr>
              <a:t> </a:t>
            </a:r>
            <a:r>
              <a:rPr sz="2400" spc="-80" dirty="0">
                <a:latin typeface="Gill Sans MT"/>
                <a:cs typeface="Gill Sans MT"/>
              </a:rPr>
              <a:t>key,</a:t>
            </a:r>
            <a:r>
              <a:rPr sz="2400" spc="-254" dirty="0">
                <a:latin typeface="Gill Sans MT"/>
                <a:cs typeface="Gill Sans MT"/>
              </a:rPr>
              <a:t> </a:t>
            </a:r>
            <a:r>
              <a:rPr sz="2400" spc="-5" dirty="0">
                <a:latin typeface="Gill Sans MT"/>
                <a:cs typeface="Gill Sans MT"/>
              </a:rPr>
              <a:t>not</a:t>
            </a:r>
            <a:r>
              <a:rPr sz="2400" spc="10" dirty="0">
                <a:latin typeface="Gill Sans MT"/>
                <a:cs typeface="Gill Sans MT"/>
              </a:rPr>
              <a:t> </a:t>
            </a:r>
            <a:r>
              <a:rPr sz="2400" spc="-15" dirty="0">
                <a:latin typeface="Gill Sans MT"/>
                <a:cs typeface="Gill Sans MT"/>
              </a:rPr>
              <a:t>by</a:t>
            </a:r>
            <a:r>
              <a:rPr sz="2400" spc="5" dirty="0">
                <a:latin typeface="Gill Sans MT"/>
                <a:cs typeface="Gill Sans MT"/>
              </a:rPr>
              <a:t> </a:t>
            </a:r>
            <a:r>
              <a:rPr sz="2400" spc="-10" dirty="0">
                <a:latin typeface="Gill Sans MT"/>
                <a:cs typeface="Gill Sans MT"/>
              </a:rPr>
              <a:t>only</a:t>
            </a:r>
            <a:endParaRPr sz="2400">
              <a:latin typeface="Gill Sans MT"/>
              <a:cs typeface="Gill Sans MT"/>
            </a:endParaRPr>
          </a:p>
          <a:p>
            <a:pPr marL="641985">
              <a:lnSpc>
                <a:spcPct val="100000"/>
              </a:lnSpc>
              <a:spcBef>
                <a:spcPts val="5"/>
              </a:spcBef>
            </a:pPr>
            <a:r>
              <a:rPr sz="2400" spc="5" dirty="0">
                <a:latin typeface="Gill Sans MT"/>
                <a:cs typeface="Gill Sans MT"/>
              </a:rPr>
              <a:t>part</a:t>
            </a:r>
            <a:r>
              <a:rPr sz="2400" spc="-20" dirty="0">
                <a:latin typeface="Gill Sans MT"/>
                <a:cs typeface="Gill Sans MT"/>
              </a:rPr>
              <a:t> </a:t>
            </a:r>
            <a:r>
              <a:rPr sz="2400" dirty="0">
                <a:latin typeface="Gill Sans MT"/>
                <a:cs typeface="Gill Sans MT"/>
              </a:rPr>
              <a:t>of</a:t>
            </a:r>
            <a:r>
              <a:rPr sz="2400" spc="-20" dirty="0">
                <a:latin typeface="Gill Sans MT"/>
                <a:cs typeface="Gill Sans MT"/>
              </a:rPr>
              <a:t> </a:t>
            </a:r>
            <a:r>
              <a:rPr sz="2400" dirty="0">
                <a:latin typeface="Gill Sans MT"/>
                <a:cs typeface="Gill Sans MT"/>
              </a:rPr>
              <a:t>the</a:t>
            </a:r>
            <a:r>
              <a:rPr sz="2400" spc="-15" dirty="0">
                <a:latin typeface="Gill Sans MT"/>
                <a:cs typeface="Gill Sans MT"/>
              </a:rPr>
              <a:t> </a:t>
            </a:r>
            <a:r>
              <a:rPr sz="2400" spc="-40" dirty="0">
                <a:latin typeface="Gill Sans MT"/>
                <a:cs typeface="Gill Sans MT"/>
              </a:rPr>
              <a:t>key</a:t>
            </a:r>
            <a:endParaRPr sz="2400">
              <a:latin typeface="Gill Sans MT"/>
              <a:cs typeface="Gill Sans MT"/>
            </a:endParaRPr>
          </a:p>
          <a:p>
            <a:pPr marL="641985" lvl="1" indent="-305435">
              <a:lnSpc>
                <a:spcPct val="100000"/>
              </a:lnSpc>
              <a:spcBef>
                <a:spcPts val="1175"/>
              </a:spcBef>
              <a:buClr>
                <a:srgbClr val="4590B8"/>
              </a:buClr>
              <a:buSzPct val="91666"/>
              <a:buFont typeface="Wingdings 2"/>
              <a:buChar char=""/>
              <a:tabLst>
                <a:tab pos="641985" algn="l"/>
                <a:tab pos="642620" algn="l"/>
              </a:tabLst>
            </a:pPr>
            <a:r>
              <a:rPr sz="2400" dirty="0">
                <a:latin typeface="Gill Sans MT"/>
                <a:cs typeface="Gill Sans MT"/>
              </a:rPr>
              <a:t>No</a:t>
            </a:r>
            <a:r>
              <a:rPr sz="2400" spc="-20" dirty="0">
                <a:latin typeface="Gill Sans MT"/>
                <a:cs typeface="Gill Sans MT"/>
              </a:rPr>
              <a:t> </a:t>
            </a:r>
            <a:r>
              <a:rPr sz="2400" spc="5" dirty="0">
                <a:latin typeface="Gill Sans MT"/>
                <a:cs typeface="Gill Sans MT"/>
              </a:rPr>
              <a:t>partial</a:t>
            </a:r>
            <a:r>
              <a:rPr sz="2400" spc="-25" dirty="0">
                <a:latin typeface="Gill Sans MT"/>
                <a:cs typeface="Gill Sans MT"/>
              </a:rPr>
              <a:t> </a:t>
            </a:r>
            <a:r>
              <a:rPr sz="2400" spc="-5" dirty="0">
                <a:latin typeface="Gill Sans MT"/>
                <a:cs typeface="Gill Sans MT"/>
              </a:rPr>
              <a:t>functional</a:t>
            </a:r>
            <a:r>
              <a:rPr sz="2400" spc="-20" dirty="0">
                <a:latin typeface="Gill Sans MT"/>
                <a:cs typeface="Gill Sans MT"/>
              </a:rPr>
              <a:t> </a:t>
            </a:r>
            <a:r>
              <a:rPr sz="2400" dirty="0">
                <a:latin typeface="Gill Sans MT"/>
                <a:cs typeface="Gill Sans MT"/>
              </a:rPr>
              <a:t>dependencies</a:t>
            </a:r>
            <a:endParaRPr sz="2400">
              <a:latin typeface="Gill Sans MT"/>
              <a:cs typeface="Gill Sans MT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5"/>
              </a:lnSpc>
            </a:pPr>
            <a:fld id="{81D60167-4931-47E6-BA6A-407CBD079E47}" type="slidenum">
              <a:rPr dirty="0"/>
              <a:t>21</a:t>
            </a:fld>
            <a:endParaRPr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97408" y="600455"/>
            <a:ext cx="10985500" cy="1259205"/>
          </a:xfrm>
          <a:custGeom>
            <a:avLst/>
            <a:gdLst/>
            <a:ahLst/>
            <a:cxnLst/>
            <a:rect l="l" t="t" r="r" b="b"/>
            <a:pathLst>
              <a:path w="10985500" h="1259205">
                <a:moveTo>
                  <a:pt x="10984992" y="0"/>
                </a:moveTo>
                <a:lnTo>
                  <a:pt x="0" y="0"/>
                </a:lnTo>
                <a:lnTo>
                  <a:pt x="0" y="1258824"/>
                </a:lnTo>
                <a:lnTo>
                  <a:pt x="10984992" y="1258824"/>
                </a:lnTo>
                <a:lnTo>
                  <a:pt x="10984992" y="0"/>
                </a:lnTo>
                <a:close/>
              </a:path>
            </a:pathLst>
          </a:custGeom>
          <a:solidFill>
            <a:srgbClr val="1A315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00794" y="6507281"/>
            <a:ext cx="199445" cy="146022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729994" y="4048099"/>
            <a:ext cx="8654415" cy="21704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30480">
              <a:lnSpc>
                <a:spcPct val="125000"/>
              </a:lnSpc>
              <a:spcBef>
                <a:spcPts val="100"/>
              </a:spcBef>
            </a:pPr>
            <a:r>
              <a:rPr sz="2000" b="1" dirty="0">
                <a:solidFill>
                  <a:srgbClr val="990000"/>
                </a:solidFill>
                <a:latin typeface="Times New Roman"/>
                <a:cs typeface="Times New Roman"/>
              </a:rPr>
              <a:t>Order_ID</a:t>
            </a:r>
            <a:r>
              <a:rPr sz="2000" b="1" spc="-1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990000"/>
                </a:solidFill>
                <a:latin typeface="Wingdings"/>
                <a:cs typeface="Wingdings"/>
              </a:rPr>
              <a:t></a:t>
            </a:r>
            <a:r>
              <a:rPr sz="2000" spc="1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990000"/>
                </a:solidFill>
                <a:latin typeface="Times New Roman"/>
                <a:cs typeface="Times New Roman"/>
              </a:rPr>
              <a:t>Order_Date,</a:t>
            </a:r>
            <a:r>
              <a:rPr sz="2000" b="1" spc="-2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990000"/>
                </a:solidFill>
                <a:latin typeface="Times New Roman"/>
                <a:cs typeface="Times New Roman"/>
              </a:rPr>
              <a:t>Customer_ID,</a:t>
            </a:r>
            <a:r>
              <a:rPr sz="2000" b="1" spc="-3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990000"/>
                </a:solidFill>
                <a:latin typeface="Times New Roman"/>
                <a:cs typeface="Times New Roman"/>
              </a:rPr>
              <a:t>Customer_Name,</a:t>
            </a:r>
            <a:r>
              <a:rPr sz="2000" b="1" spc="-3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000" b="1" spc="-5" dirty="0">
                <a:solidFill>
                  <a:srgbClr val="990000"/>
                </a:solidFill>
                <a:latin typeface="Times New Roman"/>
                <a:cs typeface="Times New Roman"/>
              </a:rPr>
              <a:t>Customer_Address </a:t>
            </a:r>
            <a:r>
              <a:rPr sz="2000" b="1" spc="-484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990000"/>
                </a:solidFill>
                <a:latin typeface="Times New Roman"/>
                <a:cs typeface="Times New Roman"/>
              </a:rPr>
              <a:t>Customer_ID</a:t>
            </a:r>
            <a:r>
              <a:rPr sz="2000" b="1" spc="-2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990000"/>
                </a:solidFill>
                <a:latin typeface="Wingdings"/>
                <a:cs typeface="Wingdings"/>
              </a:rPr>
              <a:t></a:t>
            </a:r>
            <a:r>
              <a:rPr sz="2000" spc="-1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990000"/>
                </a:solidFill>
                <a:latin typeface="Times New Roman"/>
                <a:cs typeface="Times New Roman"/>
              </a:rPr>
              <a:t>Customer_Name,</a:t>
            </a:r>
            <a:r>
              <a:rPr sz="2000" b="1" spc="-3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000" b="1" spc="-5" dirty="0">
                <a:solidFill>
                  <a:srgbClr val="990000"/>
                </a:solidFill>
                <a:latin typeface="Times New Roman"/>
                <a:cs typeface="Times New Roman"/>
              </a:rPr>
              <a:t>Customer_Address</a:t>
            </a:r>
            <a:endParaRPr sz="2000">
              <a:latin typeface="Times New Roman"/>
              <a:cs typeface="Times New Roman"/>
            </a:endParaRPr>
          </a:p>
          <a:p>
            <a:pPr marL="38100" marR="1570355">
              <a:lnSpc>
                <a:spcPts val="3000"/>
              </a:lnSpc>
              <a:spcBef>
                <a:spcPts val="200"/>
              </a:spcBef>
            </a:pPr>
            <a:r>
              <a:rPr sz="2000" b="1" spc="-5" dirty="0">
                <a:solidFill>
                  <a:srgbClr val="990000"/>
                </a:solidFill>
                <a:latin typeface="Times New Roman"/>
                <a:cs typeface="Times New Roman"/>
              </a:rPr>
              <a:t>Product_ID </a:t>
            </a:r>
            <a:r>
              <a:rPr sz="2000" dirty="0">
                <a:solidFill>
                  <a:srgbClr val="990000"/>
                </a:solidFill>
                <a:latin typeface="Wingdings"/>
                <a:cs typeface="Wingdings"/>
              </a:rPr>
              <a:t></a:t>
            </a:r>
            <a:r>
              <a:rPr sz="2000" spc="3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000" b="1" spc="-5" dirty="0">
                <a:solidFill>
                  <a:srgbClr val="990000"/>
                </a:solidFill>
                <a:latin typeface="Times New Roman"/>
                <a:cs typeface="Times New Roman"/>
              </a:rPr>
              <a:t>Product_Description,</a:t>
            </a:r>
            <a:r>
              <a:rPr sz="2000" b="1" spc="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000" b="1" spc="-5" dirty="0">
                <a:solidFill>
                  <a:srgbClr val="990000"/>
                </a:solidFill>
                <a:latin typeface="Times New Roman"/>
                <a:cs typeface="Times New Roman"/>
              </a:rPr>
              <a:t>Product_Finish,</a:t>
            </a:r>
            <a:r>
              <a:rPr sz="2000" b="1" spc="-1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990000"/>
                </a:solidFill>
                <a:latin typeface="Times New Roman"/>
                <a:cs typeface="Times New Roman"/>
              </a:rPr>
              <a:t>Unit_Price </a:t>
            </a:r>
            <a:r>
              <a:rPr sz="2000" b="1" spc="-484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990000"/>
                </a:solidFill>
                <a:latin typeface="Times New Roman"/>
                <a:cs typeface="Times New Roman"/>
              </a:rPr>
              <a:t>Order_ID,</a:t>
            </a:r>
            <a:r>
              <a:rPr sz="2000" b="1" spc="-3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000" b="1" spc="-5" dirty="0">
                <a:solidFill>
                  <a:srgbClr val="990000"/>
                </a:solidFill>
                <a:latin typeface="Times New Roman"/>
                <a:cs typeface="Times New Roman"/>
              </a:rPr>
              <a:t>Product_ID</a:t>
            </a:r>
            <a:r>
              <a:rPr sz="2000" b="1" spc="-3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990000"/>
                </a:solidFill>
                <a:latin typeface="Wingdings"/>
                <a:cs typeface="Wingdings"/>
              </a:rPr>
              <a:t></a:t>
            </a:r>
            <a:r>
              <a:rPr sz="200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990000"/>
                </a:solidFill>
                <a:latin typeface="Times New Roman"/>
                <a:cs typeface="Times New Roman"/>
              </a:rPr>
              <a:t>Order_Quantity</a:t>
            </a:r>
            <a:endParaRPr sz="2000">
              <a:latin typeface="Times New Roman"/>
              <a:cs typeface="Times New Roman"/>
            </a:endParaRPr>
          </a:p>
          <a:p>
            <a:pPr marR="20320" algn="ctr">
              <a:lnSpc>
                <a:spcPct val="100000"/>
              </a:lnSpc>
              <a:spcBef>
                <a:spcPts val="1085"/>
              </a:spcBef>
            </a:pPr>
            <a:r>
              <a:rPr sz="3000" b="1" spc="-15" dirty="0">
                <a:solidFill>
                  <a:srgbClr val="0066FF"/>
                </a:solidFill>
                <a:latin typeface="Times New Roman"/>
                <a:cs typeface="Times New Roman"/>
              </a:rPr>
              <a:t>Therefore,</a:t>
            </a:r>
            <a:r>
              <a:rPr sz="3000" b="1" dirty="0">
                <a:solidFill>
                  <a:srgbClr val="0066FF"/>
                </a:solidFill>
                <a:latin typeface="Times New Roman"/>
                <a:cs typeface="Times New Roman"/>
              </a:rPr>
              <a:t> </a:t>
            </a:r>
            <a:r>
              <a:rPr sz="3000" b="1" spc="-5" dirty="0">
                <a:solidFill>
                  <a:srgbClr val="0066FF"/>
                </a:solidFill>
                <a:latin typeface="Times New Roman"/>
                <a:cs typeface="Times New Roman"/>
              </a:rPr>
              <a:t>NOT</a:t>
            </a:r>
            <a:r>
              <a:rPr sz="3000" b="1" spc="-50" dirty="0">
                <a:solidFill>
                  <a:srgbClr val="0066FF"/>
                </a:solidFill>
                <a:latin typeface="Times New Roman"/>
                <a:cs typeface="Times New Roman"/>
              </a:rPr>
              <a:t> </a:t>
            </a:r>
            <a:r>
              <a:rPr sz="3000" b="1" spc="-10" dirty="0">
                <a:solidFill>
                  <a:srgbClr val="0066FF"/>
                </a:solidFill>
                <a:latin typeface="Times New Roman"/>
                <a:cs typeface="Times New Roman"/>
              </a:rPr>
              <a:t>in</a:t>
            </a:r>
            <a:r>
              <a:rPr sz="3000" b="1" spc="-5" dirty="0">
                <a:solidFill>
                  <a:srgbClr val="0066FF"/>
                </a:solidFill>
                <a:latin typeface="Times New Roman"/>
                <a:cs typeface="Times New Roman"/>
              </a:rPr>
              <a:t> </a:t>
            </a:r>
            <a:r>
              <a:rPr sz="3000" b="1" dirty="0">
                <a:solidFill>
                  <a:srgbClr val="0066FF"/>
                </a:solidFill>
                <a:latin typeface="Times New Roman"/>
                <a:cs typeface="Times New Roman"/>
              </a:rPr>
              <a:t>2</a:t>
            </a:r>
            <a:r>
              <a:rPr sz="3000" b="1" baseline="25000" dirty="0">
                <a:solidFill>
                  <a:srgbClr val="0066FF"/>
                </a:solidFill>
                <a:latin typeface="Times New Roman"/>
                <a:cs typeface="Times New Roman"/>
              </a:rPr>
              <a:t>nd</a:t>
            </a:r>
            <a:r>
              <a:rPr sz="3000" b="1" spc="359" baseline="25000" dirty="0">
                <a:solidFill>
                  <a:srgbClr val="0066FF"/>
                </a:solidFill>
                <a:latin typeface="Times New Roman"/>
                <a:cs typeface="Times New Roman"/>
              </a:rPr>
              <a:t> </a:t>
            </a:r>
            <a:r>
              <a:rPr sz="3000" b="1" dirty="0">
                <a:solidFill>
                  <a:srgbClr val="0066FF"/>
                </a:solidFill>
                <a:latin typeface="Times New Roman"/>
                <a:cs typeface="Times New Roman"/>
              </a:rPr>
              <a:t>Normal</a:t>
            </a:r>
            <a:r>
              <a:rPr sz="3000" b="1" spc="5" dirty="0">
                <a:solidFill>
                  <a:srgbClr val="0066FF"/>
                </a:solidFill>
                <a:latin typeface="Times New Roman"/>
                <a:cs typeface="Times New Roman"/>
              </a:rPr>
              <a:t> </a:t>
            </a:r>
            <a:r>
              <a:rPr sz="3000" b="1" dirty="0">
                <a:solidFill>
                  <a:srgbClr val="0066FF"/>
                </a:solidFill>
                <a:latin typeface="Times New Roman"/>
                <a:cs typeface="Times New Roman"/>
              </a:rPr>
              <a:t>Form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97408" y="635253"/>
            <a:ext cx="109855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03705">
              <a:lnSpc>
                <a:spcPct val="100000"/>
              </a:lnSpc>
              <a:spcBef>
                <a:spcPts val="100"/>
              </a:spcBef>
            </a:pPr>
            <a:r>
              <a:rPr sz="2400" b="0" spc="-5" dirty="0">
                <a:latin typeface="Arial"/>
                <a:cs typeface="Arial"/>
              </a:rPr>
              <a:t>Functional</a:t>
            </a:r>
            <a:r>
              <a:rPr sz="2400" b="0" spc="20" dirty="0">
                <a:latin typeface="Arial"/>
                <a:cs typeface="Arial"/>
              </a:rPr>
              <a:t> </a:t>
            </a:r>
            <a:r>
              <a:rPr sz="2400" b="0" spc="-5" dirty="0">
                <a:latin typeface="Arial"/>
                <a:cs typeface="Arial"/>
              </a:rPr>
              <a:t>dependency</a:t>
            </a:r>
            <a:r>
              <a:rPr sz="2400" b="0" spc="30" dirty="0">
                <a:latin typeface="Arial"/>
                <a:cs typeface="Arial"/>
              </a:rPr>
              <a:t> </a:t>
            </a:r>
            <a:r>
              <a:rPr sz="2400" b="0" spc="-5" dirty="0">
                <a:latin typeface="Arial"/>
                <a:cs typeface="Arial"/>
              </a:rPr>
              <a:t>diagram</a:t>
            </a:r>
            <a:r>
              <a:rPr sz="2400" b="0" spc="15" dirty="0">
                <a:latin typeface="Arial"/>
                <a:cs typeface="Arial"/>
              </a:rPr>
              <a:t> </a:t>
            </a:r>
            <a:r>
              <a:rPr sz="2400" b="0" dirty="0">
                <a:latin typeface="Arial"/>
                <a:cs typeface="Arial"/>
              </a:rPr>
              <a:t>for</a:t>
            </a:r>
            <a:r>
              <a:rPr sz="2400" b="0" spc="5" dirty="0">
                <a:latin typeface="Arial"/>
                <a:cs typeface="Arial"/>
              </a:rPr>
              <a:t> </a:t>
            </a:r>
            <a:r>
              <a:rPr sz="2400" b="0" spc="-5" dirty="0">
                <a:latin typeface="Arial"/>
                <a:cs typeface="Arial"/>
              </a:rPr>
              <a:t>INVOICE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40051" y="1213103"/>
            <a:ext cx="8401812" cy="2659380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5"/>
              </a:lnSpc>
            </a:pPr>
            <a:fld id="{81D60167-4931-47E6-BA6A-407CBD079E47}" type="slidenum">
              <a:rPr dirty="0"/>
              <a:t>22</a:t>
            </a:fld>
            <a:endParaRPr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142470" y="6107989"/>
            <a:ext cx="199445" cy="146022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1126216" y="6044895"/>
            <a:ext cx="22352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"/>
                <a:cs typeface="Arial"/>
              </a:rPr>
              <a:t>23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220467" y="1269491"/>
            <a:ext cx="7429500" cy="3733165"/>
            <a:chOff x="2220467" y="1269491"/>
            <a:chExt cx="7429500" cy="3733165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220467" y="1269491"/>
              <a:ext cx="7429500" cy="346100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664196" y="3942600"/>
              <a:ext cx="1683257" cy="51128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664196" y="4216920"/>
              <a:ext cx="1820418" cy="51128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664196" y="4491240"/>
              <a:ext cx="802385" cy="511289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3050794" y="3996690"/>
            <a:ext cx="6224270" cy="19780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758055" marR="508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Gill Sans MT"/>
                <a:cs typeface="Gill Sans MT"/>
              </a:rPr>
              <a:t>Getting it into </a:t>
            </a:r>
            <a:r>
              <a:rPr sz="1800" dirty="0">
                <a:latin typeface="Gill Sans MT"/>
                <a:cs typeface="Gill Sans MT"/>
              </a:rPr>
              <a:t> Second</a:t>
            </a:r>
            <a:r>
              <a:rPr sz="1800" spc="-114" dirty="0">
                <a:latin typeface="Gill Sans MT"/>
                <a:cs typeface="Gill Sans MT"/>
              </a:rPr>
              <a:t> </a:t>
            </a:r>
            <a:r>
              <a:rPr sz="1800" dirty="0">
                <a:latin typeface="Gill Sans MT"/>
                <a:cs typeface="Gill Sans MT"/>
              </a:rPr>
              <a:t>Normal </a:t>
            </a:r>
            <a:r>
              <a:rPr sz="1800" spc="-484" dirty="0">
                <a:latin typeface="Gill Sans MT"/>
                <a:cs typeface="Gill Sans MT"/>
              </a:rPr>
              <a:t> </a:t>
            </a:r>
            <a:r>
              <a:rPr sz="1800" spc="-10" dirty="0">
                <a:latin typeface="Gill Sans MT"/>
                <a:cs typeface="Gill Sans MT"/>
              </a:rPr>
              <a:t>Form</a:t>
            </a:r>
            <a:endParaRPr sz="1800">
              <a:latin typeface="Gill Sans MT"/>
              <a:cs typeface="Gill Sans MT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250">
              <a:latin typeface="Gill Sans MT"/>
              <a:cs typeface="Gill Sans MT"/>
            </a:endParaRPr>
          </a:p>
          <a:p>
            <a:pPr marL="12700" marR="433070">
              <a:lnSpc>
                <a:spcPct val="100000"/>
              </a:lnSpc>
            </a:pPr>
            <a:r>
              <a:rPr sz="2600" spc="-5" dirty="0">
                <a:solidFill>
                  <a:srgbClr val="990000"/>
                </a:solidFill>
                <a:latin typeface="Times New Roman"/>
                <a:cs typeface="Times New Roman"/>
              </a:rPr>
              <a:t>Partial </a:t>
            </a:r>
            <a:r>
              <a:rPr sz="2600" dirty="0">
                <a:solidFill>
                  <a:srgbClr val="990000"/>
                </a:solidFill>
                <a:latin typeface="Times New Roman"/>
                <a:cs typeface="Times New Roman"/>
              </a:rPr>
              <a:t>dependencies</a:t>
            </a:r>
            <a:r>
              <a:rPr sz="2600" spc="-4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600" spc="-5" dirty="0">
                <a:solidFill>
                  <a:srgbClr val="990000"/>
                </a:solidFill>
                <a:latin typeface="Times New Roman"/>
                <a:cs typeface="Times New Roman"/>
              </a:rPr>
              <a:t>are</a:t>
            </a:r>
            <a:r>
              <a:rPr sz="2600" spc="-2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600" spc="-5" dirty="0">
                <a:solidFill>
                  <a:srgbClr val="990000"/>
                </a:solidFill>
                <a:latin typeface="Times New Roman"/>
                <a:cs typeface="Times New Roman"/>
              </a:rPr>
              <a:t>removed,</a:t>
            </a:r>
            <a:r>
              <a:rPr sz="2600" spc="-2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990000"/>
                </a:solidFill>
                <a:latin typeface="Times New Roman"/>
                <a:cs typeface="Times New Roman"/>
              </a:rPr>
              <a:t>but</a:t>
            </a:r>
            <a:r>
              <a:rPr sz="2600" spc="-2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990000"/>
                </a:solidFill>
                <a:latin typeface="Times New Roman"/>
                <a:cs typeface="Times New Roman"/>
              </a:rPr>
              <a:t>there </a:t>
            </a:r>
            <a:r>
              <a:rPr sz="2600" spc="-63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990000"/>
                </a:solidFill>
                <a:latin typeface="Times New Roman"/>
                <a:cs typeface="Times New Roman"/>
              </a:rPr>
              <a:t>are</a:t>
            </a:r>
            <a:r>
              <a:rPr sz="2600" spc="-1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600" spc="-5" dirty="0">
                <a:solidFill>
                  <a:srgbClr val="990000"/>
                </a:solidFill>
                <a:latin typeface="Times New Roman"/>
                <a:cs typeface="Times New Roman"/>
              </a:rPr>
              <a:t>still</a:t>
            </a:r>
            <a:r>
              <a:rPr sz="2600" spc="1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600" spc="-5" dirty="0">
                <a:solidFill>
                  <a:srgbClr val="990000"/>
                </a:solidFill>
                <a:latin typeface="Times New Roman"/>
                <a:cs typeface="Times New Roman"/>
              </a:rPr>
              <a:t>transitive </a:t>
            </a:r>
            <a:r>
              <a:rPr sz="2600" dirty="0">
                <a:solidFill>
                  <a:srgbClr val="990000"/>
                </a:solidFill>
                <a:latin typeface="Times New Roman"/>
                <a:cs typeface="Times New Roman"/>
              </a:rPr>
              <a:t>dependencies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2372614" y="635253"/>
            <a:ext cx="42957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0" spc="-5" dirty="0">
                <a:solidFill>
                  <a:srgbClr val="000000"/>
                </a:solidFill>
                <a:latin typeface="Arial"/>
                <a:cs typeface="Arial"/>
              </a:rPr>
              <a:t>Removing</a:t>
            </a:r>
            <a:r>
              <a:rPr sz="2400" b="0" spc="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0" spc="-5" dirty="0">
                <a:solidFill>
                  <a:srgbClr val="000000"/>
                </a:solidFill>
                <a:latin typeface="Arial"/>
                <a:cs typeface="Arial"/>
              </a:rPr>
              <a:t>partial</a:t>
            </a:r>
            <a:r>
              <a:rPr sz="2400" b="0" spc="1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0" spc="-5" dirty="0">
                <a:solidFill>
                  <a:srgbClr val="000000"/>
                </a:solidFill>
                <a:latin typeface="Arial"/>
                <a:cs typeface="Arial"/>
              </a:rPr>
              <a:t>dependencies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97408" y="600455"/>
            <a:ext cx="10985500" cy="1259205"/>
          </a:xfrm>
          <a:custGeom>
            <a:avLst/>
            <a:gdLst/>
            <a:ahLst/>
            <a:cxnLst/>
            <a:rect l="l" t="t" r="r" b="b"/>
            <a:pathLst>
              <a:path w="10985500" h="1259205">
                <a:moveTo>
                  <a:pt x="10984992" y="0"/>
                </a:moveTo>
                <a:lnTo>
                  <a:pt x="0" y="0"/>
                </a:lnTo>
                <a:lnTo>
                  <a:pt x="0" y="1258824"/>
                </a:lnTo>
                <a:lnTo>
                  <a:pt x="10984992" y="1258824"/>
                </a:lnTo>
                <a:lnTo>
                  <a:pt x="10984992" y="0"/>
                </a:lnTo>
                <a:close/>
              </a:path>
            </a:pathLst>
          </a:custGeom>
          <a:solidFill>
            <a:srgbClr val="1A315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56858" y="6507281"/>
            <a:ext cx="194912" cy="146022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0736960" y="6444488"/>
            <a:ext cx="223520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5" dirty="0">
                <a:latin typeface="Arial"/>
                <a:cs typeface="Arial"/>
              </a:rPr>
              <a:t>24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44651" y="1182624"/>
            <a:ext cx="4130802" cy="787146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597408" y="1271092"/>
            <a:ext cx="109855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68605">
              <a:lnSpc>
                <a:spcPct val="100000"/>
              </a:lnSpc>
              <a:spcBef>
                <a:spcPts val="95"/>
              </a:spcBef>
            </a:pPr>
            <a:r>
              <a:rPr sz="2800" b="0" spc="-5" dirty="0">
                <a:latin typeface="Gill Sans MT"/>
                <a:cs typeface="Gill Sans MT"/>
              </a:rPr>
              <a:t>THIRD</a:t>
            </a:r>
            <a:r>
              <a:rPr sz="2800" b="0" spc="-25" dirty="0">
                <a:latin typeface="Gill Sans MT"/>
                <a:cs typeface="Gill Sans MT"/>
              </a:rPr>
              <a:t> </a:t>
            </a:r>
            <a:r>
              <a:rPr sz="2800" b="0" spc="-5" dirty="0">
                <a:latin typeface="Gill Sans MT"/>
                <a:cs typeface="Gill Sans MT"/>
              </a:rPr>
              <a:t>NORMAL</a:t>
            </a:r>
            <a:r>
              <a:rPr sz="2800" b="0" spc="-30" dirty="0">
                <a:latin typeface="Gill Sans MT"/>
                <a:cs typeface="Gill Sans MT"/>
              </a:rPr>
              <a:t> </a:t>
            </a:r>
            <a:r>
              <a:rPr sz="2800" b="0" spc="-10" dirty="0">
                <a:latin typeface="Gill Sans MT"/>
                <a:cs typeface="Gill Sans MT"/>
              </a:rPr>
              <a:t>FORM</a:t>
            </a:r>
            <a:endParaRPr sz="2800">
              <a:latin typeface="Gill Sans MT"/>
              <a:cs typeface="Gill Sans MT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592836" y="2319527"/>
            <a:ext cx="10993755" cy="2731770"/>
            <a:chOff x="592836" y="2319527"/>
            <a:chExt cx="10993755" cy="2731770"/>
          </a:xfrm>
        </p:grpSpPr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0861" y="2557671"/>
              <a:ext cx="132378" cy="127141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62584" y="2319527"/>
              <a:ext cx="1765553" cy="677418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286000" y="2447543"/>
              <a:ext cx="2641854" cy="464058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671059" y="2319527"/>
              <a:ext cx="4417314" cy="677418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685276" y="2319527"/>
              <a:ext cx="502145" cy="677418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784336" y="2319527"/>
              <a:ext cx="1370837" cy="677418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752076" y="2319527"/>
              <a:ext cx="502145" cy="677418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851136" y="2319527"/>
              <a:ext cx="898398" cy="677418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62584" y="2612136"/>
              <a:ext cx="1693926" cy="67741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92836" y="3128772"/>
              <a:ext cx="488429" cy="553973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862584" y="3054095"/>
              <a:ext cx="10723626" cy="677417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862584" y="3346703"/>
              <a:ext cx="6653022" cy="677418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92836" y="3863339"/>
              <a:ext cx="488429" cy="553974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862584" y="3788663"/>
              <a:ext cx="2097786" cy="677418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557271" y="3788663"/>
              <a:ext cx="502145" cy="677418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2656331" y="3788663"/>
              <a:ext cx="8568690" cy="677418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862584" y="4081272"/>
              <a:ext cx="875538" cy="677418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335023" y="4081272"/>
              <a:ext cx="502145" cy="677418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434083" y="4081272"/>
              <a:ext cx="9748266" cy="677418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862584" y="4373879"/>
              <a:ext cx="2841498" cy="677418"/>
            </a:xfrm>
            <a:prstGeom prst="rect">
              <a:avLst/>
            </a:prstGeom>
          </p:spPr>
        </p:pic>
      </p:grpSp>
      <p:sp>
        <p:nvSpPr>
          <p:cNvPr id="28" name="object 28"/>
          <p:cNvSpPr txBox="1"/>
          <p:nvPr/>
        </p:nvSpPr>
        <p:spPr>
          <a:xfrm>
            <a:off x="735888" y="2394330"/>
            <a:ext cx="10563860" cy="2446020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317500" marR="836294" indent="-304800">
              <a:lnSpc>
                <a:spcPts val="2300"/>
              </a:lnSpc>
              <a:spcBef>
                <a:spcPts val="660"/>
              </a:spcBef>
              <a:buClr>
                <a:srgbClr val="4590B8"/>
              </a:buClr>
              <a:buSzPct val="91666"/>
              <a:buFont typeface="Wingdings 2"/>
              <a:buChar char=""/>
              <a:tabLst>
                <a:tab pos="316865" algn="l"/>
                <a:tab pos="317500" algn="l"/>
              </a:tabLst>
            </a:pPr>
            <a:r>
              <a:rPr sz="2400" dirty="0">
                <a:latin typeface="Gill Sans MT"/>
                <a:cs typeface="Gill Sans MT"/>
              </a:rPr>
              <a:t>2NF PLUS</a:t>
            </a:r>
            <a:r>
              <a:rPr sz="2400" spc="-10" dirty="0">
                <a:latin typeface="Gill Sans MT"/>
                <a:cs typeface="Gill Sans MT"/>
              </a:rPr>
              <a:t> </a:t>
            </a:r>
            <a:r>
              <a:rPr sz="1600" b="1" i="1" spc="-5" dirty="0">
                <a:latin typeface="Gill Sans MT"/>
                <a:cs typeface="Gill Sans MT"/>
              </a:rPr>
              <a:t>no</a:t>
            </a:r>
            <a:r>
              <a:rPr sz="1600" b="1" i="1" spc="10" dirty="0">
                <a:latin typeface="Gill Sans MT"/>
                <a:cs typeface="Gill Sans MT"/>
              </a:rPr>
              <a:t> </a:t>
            </a:r>
            <a:r>
              <a:rPr sz="1600" b="1" i="1" spc="-10" dirty="0">
                <a:latin typeface="Gill Sans MT"/>
                <a:cs typeface="Gill Sans MT"/>
              </a:rPr>
              <a:t>transitive</a:t>
            </a:r>
            <a:r>
              <a:rPr sz="1600" b="1" i="1" spc="10" dirty="0">
                <a:latin typeface="Gill Sans MT"/>
                <a:cs typeface="Gill Sans MT"/>
              </a:rPr>
              <a:t> </a:t>
            </a:r>
            <a:r>
              <a:rPr sz="1600" b="1" i="1" spc="-5" dirty="0">
                <a:latin typeface="Gill Sans MT"/>
                <a:cs typeface="Gill Sans MT"/>
              </a:rPr>
              <a:t>dependencies</a:t>
            </a:r>
            <a:r>
              <a:rPr sz="1600" b="1" i="1" spc="245" dirty="0">
                <a:latin typeface="Gill Sans MT"/>
                <a:cs typeface="Gill Sans MT"/>
              </a:rPr>
              <a:t> </a:t>
            </a:r>
            <a:r>
              <a:rPr sz="2400" spc="-5" dirty="0">
                <a:latin typeface="Gill Sans MT"/>
                <a:cs typeface="Gill Sans MT"/>
              </a:rPr>
              <a:t>(functional</a:t>
            </a:r>
            <a:r>
              <a:rPr sz="2400" spc="-20" dirty="0">
                <a:latin typeface="Gill Sans MT"/>
                <a:cs typeface="Gill Sans MT"/>
              </a:rPr>
              <a:t> </a:t>
            </a:r>
            <a:r>
              <a:rPr sz="2400" dirty="0">
                <a:latin typeface="Gill Sans MT"/>
                <a:cs typeface="Gill Sans MT"/>
              </a:rPr>
              <a:t>dependencies </a:t>
            </a:r>
            <a:r>
              <a:rPr sz="2400" spc="-5" dirty="0">
                <a:latin typeface="Gill Sans MT"/>
                <a:cs typeface="Gill Sans MT"/>
              </a:rPr>
              <a:t>on non-primary-key </a:t>
            </a:r>
            <a:r>
              <a:rPr sz="2400" spc="-655" dirty="0">
                <a:latin typeface="Gill Sans MT"/>
                <a:cs typeface="Gill Sans MT"/>
              </a:rPr>
              <a:t> </a:t>
            </a:r>
            <a:r>
              <a:rPr sz="2400" dirty="0">
                <a:latin typeface="Gill Sans MT"/>
                <a:cs typeface="Gill Sans MT"/>
              </a:rPr>
              <a:t>attributes)</a:t>
            </a:r>
            <a:endParaRPr sz="2400">
              <a:latin typeface="Gill Sans MT"/>
              <a:cs typeface="Gill Sans MT"/>
            </a:endParaRPr>
          </a:p>
          <a:p>
            <a:pPr marL="317500" marR="5080" indent="-304800">
              <a:lnSpc>
                <a:spcPts val="2300"/>
              </a:lnSpc>
              <a:spcBef>
                <a:spcPts val="1180"/>
              </a:spcBef>
              <a:buClr>
                <a:srgbClr val="4590B8"/>
              </a:buClr>
              <a:buSzPct val="91666"/>
              <a:buFont typeface="Wingdings 2"/>
              <a:buChar char=""/>
              <a:tabLst>
                <a:tab pos="316865" algn="l"/>
                <a:tab pos="317500" algn="l"/>
              </a:tabLst>
            </a:pPr>
            <a:r>
              <a:rPr sz="2400" dirty="0">
                <a:latin typeface="Gill Sans MT"/>
                <a:cs typeface="Gill Sans MT"/>
              </a:rPr>
              <a:t>N</a:t>
            </a:r>
            <a:r>
              <a:rPr sz="2400" spc="-10" dirty="0">
                <a:latin typeface="Gill Sans MT"/>
                <a:cs typeface="Gill Sans MT"/>
              </a:rPr>
              <a:t>o</a:t>
            </a:r>
            <a:r>
              <a:rPr sz="2400" dirty="0">
                <a:latin typeface="Gill Sans MT"/>
                <a:cs typeface="Gill Sans MT"/>
              </a:rPr>
              <a:t>te</a:t>
            </a:r>
            <a:r>
              <a:rPr sz="2400" spc="125" dirty="0">
                <a:latin typeface="Gill Sans MT"/>
                <a:cs typeface="Gill Sans MT"/>
              </a:rPr>
              <a:t>:</a:t>
            </a:r>
            <a:r>
              <a:rPr sz="2400" dirty="0">
                <a:latin typeface="Gill Sans MT"/>
                <a:cs typeface="Gill Sans MT"/>
              </a:rPr>
              <a:t>This </a:t>
            </a:r>
            <a:r>
              <a:rPr sz="2400" spc="-5" dirty="0">
                <a:latin typeface="Gill Sans MT"/>
                <a:cs typeface="Gill Sans MT"/>
              </a:rPr>
              <a:t>i</a:t>
            </a:r>
            <a:r>
              <a:rPr sz="2400" dirty="0">
                <a:latin typeface="Gill Sans MT"/>
                <a:cs typeface="Gill Sans MT"/>
              </a:rPr>
              <a:t>s</a:t>
            </a:r>
            <a:r>
              <a:rPr sz="2400" spc="-10" dirty="0">
                <a:latin typeface="Gill Sans MT"/>
                <a:cs typeface="Gill Sans MT"/>
              </a:rPr>
              <a:t> </a:t>
            </a:r>
            <a:r>
              <a:rPr sz="2400" dirty="0">
                <a:latin typeface="Gill Sans MT"/>
                <a:cs typeface="Gill Sans MT"/>
              </a:rPr>
              <a:t>called</a:t>
            </a:r>
            <a:r>
              <a:rPr sz="2400" spc="-10" dirty="0">
                <a:latin typeface="Gill Sans MT"/>
                <a:cs typeface="Gill Sans MT"/>
              </a:rPr>
              <a:t> </a:t>
            </a:r>
            <a:r>
              <a:rPr sz="2400" dirty="0">
                <a:latin typeface="Gill Sans MT"/>
                <a:cs typeface="Gill Sans MT"/>
              </a:rPr>
              <a:t>transiti</a:t>
            </a:r>
            <a:r>
              <a:rPr sz="2400" spc="-45" dirty="0">
                <a:latin typeface="Gill Sans MT"/>
                <a:cs typeface="Gill Sans MT"/>
              </a:rPr>
              <a:t>v</a:t>
            </a:r>
            <a:r>
              <a:rPr sz="2400" spc="45" dirty="0">
                <a:latin typeface="Gill Sans MT"/>
                <a:cs typeface="Gill Sans MT"/>
              </a:rPr>
              <a:t>e</a:t>
            </a:r>
            <a:r>
              <a:rPr sz="2400" dirty="0">
                <a:latin typeface="Gill Sans MT"/>
                <a:cs typeface="Gill Sans MT"/>
              </a:rPr>
              <a:t>,</a:t>
            </a:r>
            <a:r>
              <a:rPr sz="2400" spc="-270" dirty="0">
                <a:latin typeface="Gill Sans MT"/>
                <a:cs typeface="Gill Sans MT"/>
              </a:rPr>
              <a:t> </a:t>
            </a:r>
            <a:r>
              <a:rPr sz="2400" dirty="0">
                <a:latin typeface="Gill Sans MT"/>
                <a:cs typeface="Gill Sans MT"/>
              </a:rPr>
              <a:t>because</a:t>
            </a:r>
            <a:r>
              <a:rPr sz="2400" spc="-10" dirty="0">
                <a:latin typeface="Gill Sans MT"/>
                <a:cs typeface="Gill Sans MT"/>
              </a:rPr>
              <a:t> </a:t>
            </a:r>
            <a:r>
              <a:rPr sz="2400" dirty="0">
                <a:latin typeface="Gill Sans MT"/>
                <a:cs typeface="Gill Sans MT"/>
              </a:rPr>
              <a:t>the</a:t>
            </a:r>
            <a:r>
              <a:rPr sz="2400" spc="5" dirty="0">
                <a:latin typeface="Gill Sans MT"/>
                <a:cs typeface="Gill Sans MT"/>
              </a:rPr>
              <a:t> </a:t>
            </a:r>
            <a:r>
              <a:rPr sz="2400" spc="-10" dirty="0">
                <a:latin typeface="Gill Sans MT"/>
                <a:cs typeface="Gill Sans MT"/>
              </a:rPr>
              <a:t>p</a:t>
            </a:r>
            <a:r>
              <a:rPr sz="2400" dirty="0">
                <a:latin typeface="Gill Sans MT"/>
                <a:cs typeface="Gill Sans MT"/>
              </a:rPr>
              <a:t>rim</a:t>
            </a:r>
            <a:r>
              <a:rPr sz="2400" spc="-10" dirty="0">
                <a:latin typeface="Gill Sans MT"/>
                <a:cs typeface="Gill Sans MT"/>
              </a:rPr>
              <a:t>a</a:t>
            </a:r>
            <a:r>
              <a:rPr sz="2400" spc="65" dirty="0">
                <a:latin typeface="Gill Sans MT"/>
                <a:cs typeface="Gill Sans MT"/>
              </a:rPr>
              <a:t>r</a:t>
            </a:r>
            <a:r>
              <a:rPr sz="2400" dirty="0">
                <a:latin typeface="Gill Sans MT"/>
                <a:cs typeface="Gill Sans MT"/>
              </a:rPr>
              <a:t>y </a:t>
            </a:r>
            <a:r>
              <a:rPr sz="2400" spc="-75" dirty="0">
                <a:latin typeface="Gill Sans MT"/>
                <a:cs typeface="Gill Sans MT"/>
              </a:rPr>
              <a:t>k</a:t>
            </a:r>
            <a:r>
              <a:rPr sz="2400" spc="-35" dirty="0">
                <a:latin typeface="Gill Sans MT"/>
                <a:cs typeface="Gill Sans MT"/>
              </a:rPr>
              <a:t>e</a:t>
            </a:r>
            <a:r>
              <a:rPr sz="2400" dirty="0">
                <a:latin typeface="Gill Sans MT"/>
                <a:cs typeface="Gill Sans MT"/>
              </a:rPr>
              <a:t>y </a:t>
            </a:r>
            <a:r>
              <a:rPr sz="2400" spc="-5" dirty="0">
                <a:latin typeface="Gill Sans MT"/>
                <a:cs typeface="Gill Sans MT"/>
              </a:rPr>
              <a:t>i</a:t>
            </a:r>
            <a:r>
              <a:rPr sz="2400" dirty="0">
                <a:latin typeface="Gill Sans MT"/>
                <a:cs typeface="Gill Sans MT"/>
              </a:rPr>
              <a:t>s</a:t>
            </a:r>
            <a:r>
              <a:rPr sz="2400" spc="-10" dirty="0">
                <a:latin typeface="Gill Sans MT"/>
                <a:cs typeface="Gill Sans MT"/>
              </a:rPr>
              <a:t> </a:t>
            </a:r>
            <a:r>
              <a:rPr sz="2400" dirty="0">
                <a:latin typeface="Gill Sans MT"/>
                <a:cs typeface="Gill Sans MT"/>
              </a:rPr>
              <a:t>a</a:t>
            </a:r>
            <a:r>
              <a:rPr sz="2400" spc="-15" dirty="0">
                <a:latin typeface="Gill Sans MT"/>
                <a:cs typeface="Gill Sans MT"/>
              </a:rPr>
              <a:t> </a:t>
            </a:r>
            <a:r>
              <a:rPr sz="2400" dirty="0">
                <a:latin typeface="Gill Sans MT"/>
                <a:cs typeface="Gill Sans MT"/>
              </a:rPr>
              <a:t>de</a:t>
            </a:r>
            <a:r>
              <a:rPr sz="2400" spc="5" dirty="0">
                <a:latin typeface="Gill Sans MT"/>
                <a:cs typeface="Gill Sans MT"/>
              </a:rPr>
              <a:t>t</a:t>
            </a:r>
            <a:r>
              <a:rPr sz="2400" dirty="0">
                <a:latin typeface="Gill Sans MT"/>
                <a:cs typeface="Gill Sans MT"/>
              </a:rPr>
              <a:t>erminant </a:t>
            </a:r>
            <a:r>
              <a:rPr sz="2400" spc="-35" dirty="0">
                <a:latin typeface="Gill Sans MT"/>
                <a:cs typeface="Gill Sans MT"/>
              </a:rPr>
              <a:t>f</a:t>
            </a:r>
            <a:r>
              <a:rPr sz="2400" dirty="0">
                <a:latin typeface="Gill Sans MT"/>
                <a:cs typeface="Gill Sans MT"/>
              </a:rPr>
              <a:t>or an</a:t>
            </a:r>
            <a:r>
              <a:rPr sz="2400" spc="-15" dirty="0">
                <a:latin typeface="Gill Sans MT"/>
                <a:cs typeface="Gill Sans MT"/>
              </a:rPr>
              <a:t>o</a:t>
            </a:r>
            <a:r>
              <a:rPr sz="2400" dirty="0">
                <a:latin typeface="Gill Sans MT"/>
                <a:cs typeface="Gill Sans MT"/>
              </a:rPr>
              <a:t>ther  attribut</a:t>
            </a:r>
            <a:r>
              <a:rPr sz="2400" spc="45" dirty="0">
                <a:latin typeface="Gill Sans MT"/>
                <a:cs typeface="Gill Sans MT"/>
              </a:rPr>
              <a:t>e</a:t>
            </a:r>
            <a:r>
              <a:rPr sz="2400" dirty="0">
                <a:latin typeface="Gill Sans MT"/>
                <a:cs typeface="Gill Sans MT"/>
              </a:rPr>
              <a:t>,</a:t>
            </a:r>
            <a:r>
              <a:rPr sz="2400" spc="-260" dirty="0">
                <a:latin typeface="Gill Sans MT"/>
                <a:cs typeface="Gill Sans MT"/>
              </a:rPr>
              <a:t> </a:t>
            </a:r>
            <a:r>
              <a:rPr sz="2400" spc="-5" dirty="0">
                <a:latin typeface="Gill Sans MT"/>
                <a:cs typeface="Gill Sans MT"/>
              </a:rPr>
              <a:t>whic</a:t>
            </a:r>
            <a:r>
              <a:rPr sz="2400" dirty="0">
                <a:latin typeface="Gill Sans MT"/>
                <a:cs typeface="Gill Sans MT"/>
              </a:rPr>
              <a:t>h</a:t>
            </a:r>
            <a:r>
              <a:rPr sz="2400" spc="-20" dirty="0">
                <a:latin typeface="Gill Sans MT"/>
                <a:cs typeface="Gill Sans MT"/>
              </a:rPr>
              <a:t> </a:t>
            </a:r>
            <a:r>
              <a:rPr sz="2400" spc="-5" dirty="0">
                <a:latin typeface="Gill Sans MT"/>
                <a:cs typeface="Gill Sans MT"/>
              </a:rPr>
              <a:t>i</a:t>
            </a:r>
            <a:r>
              <a:rPr sz="2400" dirty="0">
                <a:latin typeface="Gill Sans MT"/>
                <a:cs typeface="Gill Sans MT"/>
              </a:rPr>
              <a:t>n</a:t>
            </a:r>
            <a:r>
              <a:rPr sz="2400" spc="-5" dirty="0">
                <a:latin typeface="Gill Sans MT"/>
                <a:cs typeface="Gill Sans MT"/>
              </a:rPr>
              <a:t> </a:t>
            </a:r>
            <a:r>
              <a:rPr sz="2400" dirty="0">
                <a:latin typeface="Gill Sans MT"/>
                <a:cs typeface="Gill Sans MT"/>
              </a:rPr>
              <a:t>tu</a:t>
            </a:r>
            <a:r>
              <a:rPr sz="2400" spc="-10" dirty="0">
                <a:latin typeface="Gill Sans MT"/>
                <a:cs typeface="Gill Sans MT"/>
              </a:rPr>
              <a:t>r</a:t>
            </a:r>
            <a:r>
              <a:rPr sz="2400" dirty="0">
                <a:latin typeface="Gill Sans MT"/>
                <a:cs typeface="Gill Sans MT"/>
              </a:rPr>
              <a:t>n</a:t>
            </a:r>
            <a:r>
              <a:rPr sz="2400" spc="-10" dirty="0">
                <a:latin typeface="Gill Sans MT"/>
                <a:cs typeface="Gill Sans MT"/>
              </a:rPr>
              <a:t> </a:t>
            </a:r>
            <a:r>
              <a:rPr sz="2400" spc="-5" dirty="0">
                <a:latin typeface="Gill Sans MT"/>
                <a:cs typeface="Gill Sans MT"/>
              </a:rPr>
              <a:t>i</a:t>
            </a:r>
            <a:r>
              <a:rPr sz="2400" dirty="0">
                <a:latin typeface="Gill Sans MT"/>
                <a:cs typeface="Gill Sans MT"/>
              </a:rPr>
              <a:t>s</a:t>
            </a:r>
            <a:r>
              <a:rPr sz="2400" spc="-5" dirty="0">
                <a:latin typeface="Gill Sans MT"/>
                <a:cs typeface="Gill Sans MT"/>
              </a:rPr>
              <a:t> </a:t>
            </a:r>
            <a:r>
              <a:rPr sz="2400" dirty="0">
                <a:latin typeface="Gill Sans MT"/>
                <a:cs typeface="Gill Sans MT"/>
              </a:rPr>
              <a:t>a</a:t>
            </a:r>
            <a:r>
              <a:rPr sz="2400" spc="-15" dirty="0">
                <a:latin typeface="Gill Sans MT"/>
                <a:cs typeface="Gill Sans MT"/>
              </a:rPr>
              <a:t> </a:t>
            </a:r>
            <a:r>
              <a:rPr sz="2400" dirty="0">
                <a:latin typeface="Gill Sans MT"/>
                <a:cs typeface="Gill Sans MT"/>
              </a:rPr>
              <a:t>de</a:t>
            </a:r>
            <a:r>
              <a:rPr sz="2400" spc="5" dirty="0">
                <a:latin typeface="Gill Sans MT"/>
                <a:cs typeface="Gill Sans MT"/>
              </a:rPr>
              <a:t>t</a:t>
            </a:r>
            <a:r>
              <a:rPr sz="2400" dirty="0">
                <a:latin typeface="Gill Sans MT"/>
                <a:cs typeface="Gill Sans MT"/>
              </a:rPr>
              <a:t>ermin</a:t>
            </a:r>
            <a:r>
              <a:rPr sz="2400" spc="-15" dirty="0">
                <a:latin typeface="Gill Sans MT"/>
                <a:cs typeface="Gill Sans MT"/>
              </a:rPr>
              <a:t>a</a:t>
            </a:r>
            <a:r>
              <a:rPr sz="2400" dirty="0">
                <a:latin typeface="Gill Sans MT"/>
                <a:cs typeface="Gill Sans MT"/>
              </a:rPr>
              <a:t>nt </a:t>
            </a:r>
            <a:r>
              <a:rPr sz="2400" spc="-30" dirty="0">
                <a:latin typeface="Gill Sans MT"/>
                <a:cs typeface="Gill Sans MT"/>
              </a:rPr>
              <a:t>f</a:t>
            </a:r>
            <a:r>
              <a:rPr sz="2400" dirty="0">
                <a:latin typeface="Gill Sans MT"/>
                <a:cs typeface="Gill Sans MT"/>
              </a:rPr>
              <a:t>or</a:t>
            </a:r>
            <a:r>
              <a:rPr sz="2400" spc="-10" dirty="0">
                <a:latin typeface="Gill Sans MT"/>
                <a:cs typeface="Gill Sans MT"/>
              </a:rPr>
              <a:t> </a:t>
            </a:r>
            <a:r>
              <a:rPr sz="2400" dirty="0">
                <a:latin typeface="Gill Sans MT"/>
                <a:cs typeface="Gill Sans MT"/>
              </a:rPr>
              <a:t>a</a:t>
            </a:r>
            <a:r>
              <a:rPr sz="2400" spc="-10" dirty="0">
                <a:latin typeface="Gill Sans MT"/>
                <a:cs typeface="Gill Sans MT"/>
              </a:rPr>
              <a:t> </a:t>
            </a:r>
            <a:r>
              <a:rPr sz="2400" dirty="0">
                <a:latin typeface="Gill Sans MT"/>
                <a:cs typeface="Gill Sans MT"/>
              </a:rPr>
              <a:t>thi</a:t>
            </a:r>
            <a:r>
              <a:rPr sz="2400" spc="-35" dirty="0">
                <a:latin typeface="Gill Sans MT"/>
                <a:cs typeface="Gill Sans MT"/>
              </a:rPr>
              <a:t>r</a:t>
            </a:r>
            <a:r>
              <a:rPr sz="2400" dirty="0">
                <a:latin typeface="Gill Sans MT"/>
                <a:cs typeface="Gill Sans MT"/>
              </a:rPr>
              <a:t>d</a:t>
            </a:r>
            <a:endParaRPr sz="2400">
              <a:latin typeface="Gill Sans MT"/>
              <a:cs typeface="Gill Sans MT"/>
            </a:endParaRPr>
          </a:p>
          <a:p>
            <a:pPr marL="317500" marR="334010" indent="-304800" algn="just">
              <a:lnSpc>
                <a:spcPts val="2300"/>
              </a:lnSpc>
              <a:spcBef>
                <a:spcPts val="1190"/>
              </a:spcBef>
              <a:buClr>
                <a:srgbClr val="4590B8"/>
              </a:buClr>
              <a:buSzPct val="91666"/>
              <a:buFont typeface="Wingdings 2"/>
              <a:buChar char=""/>
              <a:tabLst>
                <a:tab pos="317500" algn="l"/>
              </a:tabLst>
            </a:pPr>
            <a:r>
              <a:rPr sz="2400" dirty="0">
                <a:latin typeface="Gill Sans MT"/>
                <a:cs typeface="Gill Sans MT"/>
              </a:rPr>
              <a:t>Solut</a:t>
            </a:r>
            <a:r>
              <a:rPr sz="2400" spc="-5" dirty="0">
                <a:latin typeface="Gill Sans MT"/>
                <a:cs typeface="Gill Sans MT"/>
              </a:rPr>
              <a:t>ion</a:t>
            </a:r>
            <a:r>
              <a:rPr sz="2400" dirty="0">
                <a:latin typeface="Gill Sans MT"/>
                <a:cs typeface="Gill Sans MT"/>
              </a:rPr>
              <a:t>:</a:t>
            </a:r>
            <a:r>
              <a:rPr sz="2400" spc="-245" dirty="0">
                <a:latin typeface="Gill Sans MT"/>
                <a:cs typeface="Gill Sans MT"/>
              </a:rPr>
              <a:t> </a:t>
            </a:r>
            <a:r>
              <a:rPr sz="2400" spc="-10" dirty="0">
                <a:latin typeface="Gill Sans MT"/>
                <a:cs typeface="Gill Sans MT"/>
              </a:rPr>
              <a:t>N</a:t>
            </a:r>
            <a:r>
              <a:rPr sz="2400" dirty="0">
                <a:latin typeface="Gill Sans MT"/>
                <a:cs typeface="Gill Sans MT"/>
              </a:rPr>
              <a:t>on-</a:t>
            </a:r>
            <a:r>
              <a:rPr sz="2400" spc="-70" dirty="0">
                <a:latin typeface="Gill Sans MT"/>
                <a:cs typeface="Gill Sans MT"/>
              </a:rPr>
              <a:t>k</a:t>
            </a:r>
            <a:r>
              <a:rPr sz="2400" spc="-35" dirty="0">
                <a:latin typeface="Gill Sans MT"/>
                <a:cs typeface="Gill Sans MT"/>
              </a:rPr>
              <a:t>e</a:t>
            </a:r>
            <a:r>
              <a:rPr sz="2400" dirty="0">
                <a:latin typeface="Gill Sans MT"/>
                <a:cs typeface="Gill Sans MT"/>
              </a:rPr>
              <a:t>y</a:t>
            </a:r>
            <a:r>
              <a:rPr sz="2400" spc="-15" dirty="0">
                <a:latin typeface="Gill Sans MT"/>
                <a:cs typeface="Gill Sans MT"/>
              </a:rPr>
              <a:t> </a:t>
            </a:r>
            <a:r>
              <a:rPr sz="2400" dirty="0">
                <a:latin typeface="Gill Sans MT"/>
                <a:cs typeface="Gill Sans MT"/>
              </a:rPr>
              <a:t>de</a:t>
            </a:r>
            <a:r>
              <a:rPr sz="2400" spc="5" dirty="0">
                <a:latin typeface="Gill Sans MT"/>
                <a:cs typeface="Gill Sans MT"/>
              </a:rPr>
              <a:t>t</a:t>
            </a:r>
            <a:r>
              <a:rPr sz="2400" dirty="0">
                <a:latin typeface="Gill Sans MT"/>
                <a:cs typeface="Gill Sans MT"/>
              </a:rPr>
              <a:t>erminant </a:t>
            </a:r>
            <a:r>
              <a:rPr sz="2400" spc="-5" dirty="0">
                <a:latin typeface="Gill Sans MT"/>
                <a:cs typeface="Gill Sans MT"/>
              </a:rPr>
              <a:t>wit</a:t>
            </a:r>
            <a:r>
              <a:rPr sz="2400" dirty="0">
                <a:latin typeface="Gill Sans MT"/>
                <a:cs typeface="Gill Sans MT"/>
              </a:rPr>
              <a:t>h</a:t>
            </a:r>
            <a:r>
              <a:rPr sz="2400" spc="-20" dirty="0">
                <a:latin typeface="Gill Sans MT"/>
                <a:cs typeface="Gill Sans MT"/>
              </a:rPr>
              <a:t> </a:t>
            </a:r>
            <a:r>
              <a:rPr sz="2400" dirty="0">
                <a:latin typeface="Gill Sans MT"/>
                <a:cs typeface="Gill Sans MT"/>
              </a:rPr>
              <a:t>transiti</a:t>
            </a:r>
            <a:r>
              <a:rPr sz="2400" spc="-45" dirty="0">
                <a:latin typeface="Gill Sans MT"/>
                <a:cs typeface="Gill Sans MT"/>
              </a:rPr>
              <a:t>v</a:t>
            </a:r>
            <a:r>
              <a:rPr sz="2400" dirty="0">
                <a:latin typeface="Gill Sans MT"/>
                <a:cs typeface="Gill Sans MT"/>
              </a:rPr>
              <a:t>e</a:t>
            </a:r>
            <a:r>
              <a:rPr sz="2400" spc="-20" dirty="0">
                <a:latin typeface="Gill Sans MT"/>
                <a:cs typeface="Gill Sans MT"/>
              </a:rPr>
              <a:t> </a:t>
            </a:r>
            <a:r>
              <a:rPr sz="2400" dirty="0">
                <a:latin typeface="Gill Sans MT"/>
                <a:cs typeface="Gill Sans MT"/>
              </a:rPr>
              <a:t>depend</a:t>
            </a:r>
            <a:r>
              <a:rPr sz="2400" spc="5" dirty="0">
                <a:latin typeface="Gill Sans MT"/>
                <a:cs typeface="Gill Sans MT"/>
              </a:rPr>
              <a:t>e</a:t>
            </a:r>
            <a:r>
              <a:rPr sz="2400" dirty="0">
                <a:latin typeface="Gill Sans MT"/>
                <a:cs typeface="Gill Sans MT"/>
              </a:rPr>
              <a:t>ncies </a:t>
            </a:r>
            <a:r>
              <a:rPr sz="2400" spc="-35" dirty="0">
                <a:latin typeface="Gill Sans MT"/>
                <a:cs typeface="Gill Sans MT"/>
              </a:rPr>
              <a:t>g</a:t>
            </a:r>
            <a:r>
              <a:rPr sz="2400" dirty="0">
                <a:latin typeface="Gill Sans MT"/>
                <a:cs typeface="Gill Sans MT"/>
              </a:rPr>
              <a:t>o </a:t>
            </a:r>
            <a:r>
              <a:rPr sz="2400" spc="-5" dirty="0">
                <a:latin typeface="Gill Sans MT"/>
                <a:cs typeface="Gill Sans MT"/>
              </a:rPr>
              <a:t>in</a:t>
            </a:r>
            <a:r>
              <a:rPr sz="2400" dirty="0">
                <a:latin typeface="Gill Sans MT"/>
                <a:cs typeface="Gill Sans MT"/>
              </a:rPr>
              <a:t>to</a:t>
            </a:r>
            <a:r>
              <a:rPr sz="2400" spc="-15" dirty="0">
                <a:latin typeface="Gill Sans MT"/>
                <a:cs typeface="Gill Sans MT"/>
              </a:rPr>
              <a:t> </a:t>
            </a:r>
            <a:r>
              <a:rPr sz="2400" dirty="0">
                <a:latin typeface="Gill Sans MT"/>
                <a:cs typeface="Gill Sans MT"/>
              </a:rPr>
              <a:t>a</a:t>
            </a:r>
            <a:r>
              <a:rPr sz="2400" spc="-15" dirty="0">
                <a:latin typeface="Gill Sans MT"/>
                <a:cs typeface="Gill Sans MT"/>
              </a:rPr>
              <a:t> </a:t>
            </a:r>
            <a:r>
              <a:rPr sz="2400" dirty="0">
                <a:latin typeface="Gill Sans MT"/>
                <a:cs typeface="Gill Sans MT"/>
              </a:rPr>
              <a:t>n</a:t>
            </a:r>
            <a:r>
              <a:rPr sz="2400" spc="-35" dirty="0">
                <a:latin typeface="Gill Sans MT"/>
                <a:cs typeface="Gill Sans MT"/>
              </a:rPr>
              <a:t>e</a:t>
            </a:r>
            <a:r>
              <a:rPr sz="2400" dirty="0">
                <a:latin typeface="Gill Sans MT"/>
                <a:cs typeface="Gill Sans MT"/>
              </a:rPr>
              <a:t>w</a:t>
            </a:r>
            <a:r>
              <a:rPr sz="2400" spc="-5" dirty="0">
                <a:latin typeface="Gill Sans MT"/>
                <a:cs typeface="Gill Sans MT"/>
              </a:rPr>
              <a:t> </a:t>
            </a:r>
            <a:r>
              <a:rPr sz="2400" dirty="0">
                <a:latin typeface="Gill Sans MT"/>
                <a:cs typeface="Gill Sans MT"/>
              </a:rPr>
              <a:t>table;  </a:t>
            </a:r>
            <a:r>
              <a:rPr sz="2400" spc="-20" dirty="0">
                <a:latin typeface="Gill Sans MT"/>
                <a:cs typeface="Gill Sans MT"/>
              </a:rPr>
              <a:t>non-key </a:t>
            </a:r>
            <a:r>
              <a:rPr sz="2400" dirty="0">
                <a:latin typeface="Gill Sans MT"/>
                <a:cs typeface="Gill Sans MT"/>
              </a:rPr>
              <a:t>determinant becomes </a:t>
            </a:r>
            <a:r>
              <a:rPr sz="2400" spc="5" dirty="0">
                <a:latin typeface="Gill Sans MT"/>
                <a:cs typeface="Gill Sans MT"/>
              </a:rPr>
              <a:t>primary </a:t>
            </a:r>
            <a:r>
              <a:rPr sz="2400" spc="-35" dirty="0">
                <a:latin typeface="Gill Sans MT"/>
                <a:cs typeface="Gill Sans MT"/>
              </a:rPr>
              <a:t>key </a:t>
            </a:r>
            <a:r>
              <a:rPr sz="2400" spc="-5" dirty="0">
                <a:latin typeface="Gill Sans MT"/>
                <a:cs typeface="Gill Sans MT"/>
              </a:rPr>
              <a:t>in </a:t>
            </a:r>
            <a:r>
              <a:rPr sz="2400" dirty="0">
                <a:latin typeface="Gill Sans MT"/>
                <a:cs typeface="Gill Sans MT"/>
              </a:rPr>
              <a:t>the </a:t>
            </a:r>
            <a:r>
              <a:rPr sz="2400" spc="-15" dirty="0">
                <a:latin typeface="Gill Sans MT"/>
                <a:cs typeface="Gill Sans MT"/>
              </a:rPr>
              <a:t>new </a:t>
            </a:r>
            <a:r>
              <a:rPr sz="2400" dirty="0">
                <a:latin typeface="Gill Sans MT"/>
                <a:cs typeface="Gill Sans MT"/>
              </a:rPr>
              <a:t>table </a:t>
            </a:r>
            <a:r>
              <a:rPr sz="2400" spc="-5" dirty="0">
                <a:latin typeface="Gill Sans MT"/>
                <a:cs typeface="Gill Sans MT"/>
              </a:rPr>
              <a:t>and </a:t>
            </a:r>
            <a:r>
              <a:rPr sz="2400" spc="-20" dirty="0">
                <a:latin typeface="Gill Sans MT"/>
                <a:cs typeface="Gill Sans MT"/>
              </a:rPr>
              <a:t>stays </a:t>
            </a:r>
            <a:r>
              <a:rPr sz="2400" spc="-5" dirty="0">
                <a:latin typeface="Gill Sans MT"/>
                <a:cs typeface="Gill Sans MT"/>
              </a:rPr>
              <a:t>as </a:t>
            </a:r>
            <a:r>
              <a:rPr sz="2400" spc="-15" dirty="0">
                <a:latin typeface="Gill Sans MT"/>
                <a:cs typeface="Gill Sans MT"/>
              </a:rPr>
              <a:t>foreign </a:t>
            </a:r>
            <a:r>
              <a:rPr sz="2400" spc="-10" dirty="0">
                <a:latin typeface="Gill Sans MT"/>
                <a:cs typeface="Gill Sans MT"/>
              </a:rPr>
              <a:t> </a:t>
            </a:r>
            <a:r>
              <a:rPr sz="2400" spc="-35" dirty="0">
                <a:latin typeface="Gill Sans MT"/>
                <a:cs typeface="Gill Sans MT"/>
              </a:rPr>
              <a:t>key</a:t>
            </a:r>
            <a:r>
              <a:rPr sz="2400" spc="-20" dirty="0">
                <a:latin typeface="Gill Sans MT"/>
                <a:cs typeface="Gill Sans MT"/>
              </a:rPr>
              <a:t> </a:t>
            </a:r>
            <a:r>
              <a:rPr sz="2400" spc="-5" dirty="0">
                <a:latin typeface="Gill Sans MT"/>
                <a:cs typeface="Gill Sans MT"/>
              </a:rPr>
              <a:t>in </a:t>
            </a:r>
            <a:r>
              <a:rPr sz="2400" dirty="0">
                <a:latin typeface="Gill Sans MT"/>
                <a:cs typeface="Gill Sans MT"/>
              </a:rPr>
              <a:t>the </a:t>
            </a:r>
            <a:r>
              <a:rPr sz="2400" spc="-5" dirty="0">
                <a:latin typeface="Gill Sans MT"/>
                <a:cs typeface="Gill Sans MT"/>
              </a:rPr>
              <a:t>old</a:t>
            </a:r>
            <a:r>
              <a:rPr sz="2400" dirty="0">
                <a:latin typeface="Gill Sans MT"/>
                <a:cs typeface="Gill Sans MT"/>
              </a:rPr>
              <a:t> table</a:t>
            </a:r>
            <a:endParaRPr sz="2400">
              <a:latin typeface="Gill Sans MT"/>
              <a:cs typeface="Gill Sans MT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142470" y="6107989"/>
            <a:ext cx="199445" cy="146022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1126216" y="6044895"/>
            <a:ext cx="22352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"/>
                <a:cs typeface="Arial"/>
              </a:rPr>
              <a:t>25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442972" y="1514855"/>
            <a:ext cx="7225665" cy="3131820"/>
            <a:chOff x="2442972" y="1514855"/>
            <a:chExt cx="7225665" cy="313182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42972" y="1514855"/>
              <a:ext cx="7225361" cy="313182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99831" y="2055888"/>
              <a:ext cx="1683257" cy="51128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799831" y="2330208"/>
              <a:ext cx="1655826" cy="51128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799831" y="2604528"/>
              <a:ext cx="802385" cy="511289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3203194" y="4822012"/>
            <a:ext cx="4933315" cy="422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spc="-10" dirty="0">
                <a:solidFill>
                  <a:srgbClr val="990000"/>
                </a:solidFill>
                <a:latin typeface="Times New Roman"/>
                <a:cs typeface="Times New Roman"/>
              </a:rPr>
              <a:t>Transitive</a:t>
            </a:r>
            <a:r>
              <a:rPr sz="2600" spc="-30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990000"/>
                </a:solidFill>
                <a:latin typeface="Times New Roman"/>
                <a:cs typeface="Times New Roman"/>
              </a:rPr>
              <a:t>dependencies</a:t>
            </a:r>
            <a:r>
              <a:rPr sz="2600" spc="-6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600" spc="-5" dirty="0">
                <a:solidFill>
                  <a:srgbClr val="990000"/>
                </a:solidFill>
                <a:latin typeface="Times New Roman"/>
                <a:cs typeface="Times New Roman"/>
              </a:rPr>
              <a:t>are</a:t>
            </a:r>
            <a:r>
              <a:rPr sz="2600" spc="-25" dirty="0">
                <a:solidFill>
                  <a:srgbClr val="990000"/>
                </a:solidFill>
                <a:latin typeface="Times New Roman"/>
                <a:cs typeface="Times New Roman"/>
              </a:rPr>
              <a:t> </a:t>
            </a:r>
            <a:r>
              <a:rPr sz="2600" spc="-5" dirty="0">
                <a:solidFill>
                  <a:srgbClr val="990000"/>
                </a:solidFill>
                <a:latin typeface="Times New Roman"/>
                <a:cs typeface="Times New Roman"/>
              </a:rPr>
              <a:t>removed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2288794" y="635253"/>
            <a:ext cx="42938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0" spc="-5" dirty="0">
                <a:solidFill>
                  <a:srgbClr val="000000"/>
                </a:solidFill>
                <a:latin typeface="Arial"/>
                <a:cs typeface="Arial"/>
              </a:rPr>
              <a:t>Removing</a:t>
            </a:r>
            <a:r>
              <a:rPr sz="2400" b="0" spc="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0" spc="-5" dirty="0">
                <a:solidFill>
                  <a:srgbClr val="000000"/>
                </a:solidFill>
                <a:latin typeface="Arial"/>
                <a:cs typeface="Arial"/>
              </a:rPr>
              <a:t>partial</a:t>
            </a:r>
            <a:r>
              <a:rPr sz="2400" b="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0" spc="-5" dirty="0">
                <a:solidFill>
                  <a:srgbClr val="000000"/>
                </a:solidFill>
                <a:latin typeface="Arial"/>
                <a:cs typeface="Arial"/>
              </a:rPr>
              <a:t>dependencies</a:t>
            </a:r>
            <a:endParaRPr sz="24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931657" y="2110232"/>
            <a:ext cx="1338580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Gill Sans MT"/>
                <a:cs typeface="Gill Sans MT"/>
              </a:rPr>
              <a:t>Getting</a:t>
            </a:r>
            <a:r>
              <a:rPr sz="1800" spc="-45" dirty="0">
                <a:latin typeface="Gill Sans MT"/>
                <a:cs typeface="Gill Sans MT"/>
              </a:rPr>
              <a:t> </a:t>
            </a:r>
            <a:r>
              <a:rPr sz="1800" spc="-5" dirty="0">
                <a:latin typeface="Gill Sans MT"/>
                <a:cs typeface="Gill Sans MT"/>
              </a:rPr>
              <a:t>it</a:t>
            </a:r>
            <a:r>
              <a:rPr sz="1800" spc="-40" dirty="0">
                <a:latin typeface="Gill Sans MT"/>
                <a:cs typeface="Gill Sans MT"/>
              </a:rPr>
              <a:t> </a:t>
            </a:r>
            <a:r>
              <a:rPr sz="1800" spc="-5" dirty="0">
                <a:latin typeface="Gill Sans MT"/>
                <a:cs typeface="Gill Sans MT"/>
              </a:rPr>
              <a:t>into </a:t>
            </a:r>
            <a:r>
              <a:rPr sz="1800" spc="-490" dirty="0">
                <a:latin typeface="Gill Sans MT"/>
                <a:cs typeface="Gill Sans MT"/>
              </a:rPr>
              <a:t> </a:t>
            </a:r>
            <a:r>
              <a:rPr sz="1800" spc="-5" dirty="0">
                <a:latin typeface="Gill Sans MT"/>
                <a:cs typeface="Gill Sans MT"/>
              </a:rPr>
              <a:t>Third </a:t>
            </a:r>
            <a:r>
              <a:rPr sz="1800" dirty="0">
                <a:latin typeface="Gill Sans MT"/>
                <a:cs typeface="Gill Sans MT"/>
              </a:rPr>
              <a:t>Normal </a:t>
            </a:r>
            <a:r>
              <a:rPr sz="1800" spc="-490" dirty="0">
                <a:latin typeface="Gill Sans MT"/>
                <a:cs typeface="Gill Sans MT"/>
              </a:rPr>
              <a:t> </a:t>
            </a:r>
            <a:r>
              <a:rPr sz="1800" spc="-10" dirty="0">
                <a:latin typeface="Gill Sans MT"/>
                <a:cs typeface="Gill Sans MT"/>
              </a:rPr>
              <a:t>Form</a:t>
            </a:r>
            <a:endParaRPr sz="1800">
              <a:latin typeface="Gill Sans MT"/>
              <a:cs typeface="Gill Sans MT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97408" y="600455"/>
            <a:ext cx="10985500" cy="1259205"/>
          </a:xfrm>
          <a:prstGeom prst="rect">
            <a:avLst/>
          </a:prstGeom>
          <a:solidFill>
            <a:srgbClr val="1A315F"/>
          </a:solidFill>
        </p:spPr>
        <p:txBody>
          <a:bodyPr vert="horz" wrap="square" lIns="0" tIns="73025" rIns="0" bIns="0" rtlCol="0">
            <a:spAutoFit/>
          </a:bodyPr>
          <a:lstStyle/>
          <a:p>
            <a:pPr marL="9525" algn="ctr">
              <a:lnSpc>
                <a:spcPct val="100000"/>
              </a:lnSpc>
              <a:spcBef>
                <a:spcPts val="575"/>
              </a:spcBef>
            </a:pPr>
            <a:r>
              <a:rPr sz="3600" spc="-15" dirty="0"/>
              <a:t>EXAMPLE</a:t>
            </a:r>
            <a:r>
              <a:rPr sz="3600" spc="-40" dirty="0"/>
              <a:t> </a:t>
            </a:r>
            <a:r>
              <a:rPr sz="3600" dirty="0"/>
              <a:t>OF</a:t>
            </a:r>
            <a:r>
              <a:rPr sz="3600" spc="-5" dirty="0"/>
              <a:t> </a:t>
            </a:r>
            <a:r>
              <a:rPr sz="3600" spc="-20" dirty="0"/>
              <a:t>NORMALIZATION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11208511" y="6054344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5" dirty="0">
                <a:solidFill>
                  <a:srgbClr val="4590B8"/>
                </a:solidFill>
                <a:latin typeface="Gill Sans MT"/>
                <a:cs typeface="Gill Sans MT"/>
              </a:rPr>
              <a:t>26</a:t>
            </a:r>
            <a:endParaRPr sz="900">
              <a:latin typeface="Gill Sans MT"/>
              <a:cs typeface="Gill Sans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20724" y="2462783"/>
            <a:ext cx="3445569" cy="236220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906016" y="5160009"/>
            <a:ext cx="19824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Gill Sans MT"/>
                <a:cs typeface="Gill Sans MT"/>
              </a:rPr>
              <a:t>U</a:t>
            </a:r>
            <a:r>
              <a:rPr sz="1800" dirty="0">
                <a:latin typeface="Gill Sans MT"/>
                <a:cs typeface="Gill Sans MT"/>
              </a:rPr>
              <a:t>n</a:t>
            </a:r>
            <a:r>
              <a:rPr sz="1800" spc="-10" dirty="0">
                <a:latin typeface="Gill Sans MT"/>
                <a:cs typeface="Gill Sans MT"/>
              </a:rPr>
              <a:t>-</a:t>
            </a:r>
            <a:r>
              <a:rPr sz="1800" dirty="0">
                <a:latin typeface="Gill Sans MT"/>
                <a:cs typeface="Gill Sans MT"/>
              </a:rPr>
              <a:t>Normali</a:t>
            </a:r>
            <a:r>
              <a:rPr sz="1800" spc="5" dirty="0">
                <a:latin typeface="Gill Sans MT"/>
                <a:cs typeface="Gill Sans MT"/>
              </a:rPr>
              <a:t>z</a:t>
            </a:r>
            <a:r>
              <a:rPr sz="1800" dirty="0">
                <a:latin typeface="Gill Sans MT"/>
                <a:cs typeface="Gill Sans MT"/>
              </a:rPr>
              <a:t>ed</a:t>
            </a:r>
            <a:r>
              <a:rPr sz="1800" spc="-229" dirty="0">
                <a:latin typeface="Gill Sans MT"/>
                <a:cs typeface="Gill Sans MT"/>
              </a:rPr>
              <a:t> </a:t>
            </a:r>
            <a:r>
              <a:rPr sz="1800" spc="-225" dirty="0">
                <a:latin typeface="Gill Sans MT"/>
                <a:cs typeface="Gill Sans MT"/>
              </a:rPr>
              <a:t>T</a:t>
            </a:r>
            <a:r>
              <a:rPr sz="1800" dirty="0">
                <a:latin typeface="Gill Sans MT"/>
                <a:cs typeface="Gill Sans MT"/>
              </a:rPr>
              <a:t>able</a:t>
            </a:r>
            <a:endParaRPr sz="1800">
              <a:latin typeface="Gill Sans MT"/>
              <a:cs typeface="Gill Sans MT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172200" y="2505455"/>
            <a:ext cx="3962400" cy="2180844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6946392" y="5196966"/>
            <a:ext cx="24149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45" dirty="0">
                <a:latin typeface="Gill Sans MT"/>
                <a:cs typeface="Gill Sans MT"/>
              </a:rPr>
              <a:t>Table</a:t>
            </a:r>
            <a:r>
              <a:rPr sz="1800" spc="-25" dirty="0">
                <a:latin typeface="Gill Sans MT"/>
                <a:cs typeface="Gill Sans MT"/>
              </a:rPr>
              <a:t> </a:t>
            </a:r>
            <a:r>
              <a:rPr sz="1800" spc="-5" dirty="0">
                <a:latin typeface="Gill Sans MT"/>
                <a:cs typeface="Gill Sans MT"/>
              </a:rPr>
              <a:t>in</a:t>
            </a:r>
            <a:r>
              <a:rPr sz="1800" spc="-15" dirty="0">
                <a:latin typeface="Gill Sans MT"/>
                <a:cs typeface="Gill Sans MT"/>
              </a:rPr>
              <a:t> </a:t>
            </a:r>
            <a:r>
              <a:rPr sz="1800" spc="-5" dirty="0">
                <a:latin typeface="Gill Sans MT"/>
                <a:cs typeface="Gill Sans MT"/>
              </a:rPr>
              <a:t>1</a:t>
            </a:r>
            <a:r>
              <a:rPr sz="1800" spc="-7" baseline="25462" dirty="0">
                <a:latin typeface="Gill Sans MT"/>
                <a:cs typeface="Gill Sans MT"/>
              </a:rPr>
              <a:t>st</a:t>
            </a:r>
            <a:r>
              <a:rPr sz="1800" spc="240" baseline="25462" dirty="0">
                <a:latin typeface="Gill Sans MT"/>
                <a:cs typeface="Gill Sans MT"/>
              </a:rPr>
              <a:t> </a:t>
            </a:r>
            <a:r>
              <a:rPr sz="1800" dirty="0">
                <a:latin typeface="Gill Sans MT"/>
                <a:cs typeface="Gill Sans MT"/>
              </a:rPr>
              <a:t>Normal</a:t>
            </a:r>
            <a:r>
              <a:rPr sz="1800" spc="-40" dirty="0">
                <a:latin typeface="Gill Sans MT"/>
                <a:cs typeface="Gill Sans MT"/>
              </a:rPr>
              <a:t> </a:t>
            </a:r>
            <a:r>
              <a:rPr sz="1800" spc="-10" dirty="0">
                <a:latin typeface="Gill Sans MT"/>
                <a:cs typeface="Gill Sans MT"/>
              </a:rPr>
              <a:t>Form</a:t>
            </a:r>
            <a:endParaRPr sz="1800">
              <a:latin typeface="Gill Sans MT"/>
              <a:cs typeface="Gill Sans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44500" y="6531499"/>
            <a:ext cx="644525" cy="202565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200" spc="-5" dirty="0">
                <a:solidFill>
                  <a:srgbClr val="393939"/>
                </a:solidFill>
                <a:latin typeface="Gill Sans MT"/>
                <a:cs typeface="Gill Sans MT"/>
              </a:rPr>
              <a:t>6/10/2020</a:t>
            </a:r>
            <a:endParaRPr sz="1200">
              <a:latin typeface="Gill Sans MT"/>
              <a:cs typeface="Gill Sans MT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597408" y="441959"/>
          <a:ext cx="10985500" cy="14166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88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785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468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320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1A31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6200">
                      <a:solidFill>
                        <a:srgbClr val="FFFFFF"/>
                      </a:solidFill>
                      <a:prstDash val="solid"/>
                    </a:lnL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4590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6200">
                      <a:solidFill>
                        <a:srgbClr val="FFFFFF"/>
                      </a:solidFill>
                      <a:prstDash val="solid"/>
                    </a:lnL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959F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84605">
                <a:tc gridSpan="3"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780"/>
                        </a:spcBef>
                      </a:pPr>
                      <a:r>
                        <a:rPr sz="3600" b="1" dirty="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2</a:t>
                      </a:r>
                      <a:r>
                        <a:rPr sz="3600" b="1" baseline="25462" dirty="0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ND</a:t>
                      </a:r>
                      <a:r>
                        <a:rPr sz="3600" b="1" spc="419" baseline="25462" dirty="0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 </a:t>
                      </a:r>
                      <a:r>
                        <a:rPr sz="3600" b="1" spc="-25" dirty="0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FORM</a:t>
                      </a:r>
                      <a:r>
                        <a:rPr sz="3600" b="1" spc="-20" dirty="0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 </a:t>
                      </a:r>
                      <a:r>
                        <a:rPr sz="3600" b="1" dirty="0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OF</a:t>
                      </a:r>
                      <a:r>
                        <a:rPr sz="3600" b="1" spc="-5" dirty="0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 </a:t>
                      </a:r>
                      <a:r>
                        <a:rPr sz="3600" b="1" spc="-20" dirty="0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NORMALIZATION</a:t>
                      </a:r>
                      <a:endParaRPr sz="3600">
                        <a:latin typeface="Constantia"/>
                        <a:cs typeface="Constantia"/>
                      </a:endParaRPr>
                    </a:p>
                  </a:txBody>
                  <a:tcPr marL="0" marR="0" marT="99060" marB="0">
                    <a:lnT w="57150">
                      <a:solidFill>
                        <a:srgbClr val="FFFFFF"/>
                      </a:solidFill>
                      <a:prstDash val="solid"/>
                    </a:lnT>
                    <a:solidFill>
                      <a:srgbClr val="1A315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762406" y="3978630"/>
            <a:ext cx="9372600" cy="2098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7500" marR="2405380">
              <a:lnSpc>
                <a:spcPct val="145000"/>
              </a:lnSpc>
              <a:spcBef>
                <a:spcPts val="100"/>
              </a:spcBef>
            </a:pP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T</a:t>
            </a:r>
            <a:r>
              <a:rPr sz="2000" spc="5" dirty="0">
                <a:solidFill>
                  <a:srgbClr val="3C3C3C"/>
                </a:solidFill>
                <a:latin typeface="Gill Sans MT"/>
                <a:cs typeface="Gill Sans MT"/>
              </a:rPr>
              <a:t>h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i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s</a:t>
            </a:r>
            <a:r>
              <a:rPr sz="2000" spc="-1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tab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l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e</a:t>
            </a:r>
            <a:r>
              <a:rPr sz="2000" spc="-2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has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a</a:t>
            </a:r>
            <a:r>
              <a:rPr sz="2000" spc="-2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composi</a:t>
            </a:r>
            <a:r>
              <a:rPr sz="2000" spc="5" dirty="0">
                <a:solidFill>
                  <a:srgbClr val="3C3C3C"/>
                </a:solidFill>
                <a:latin typeface="Gill Sans MT"/>
                <a:cs typeface="Gill Sans MT"/>
              </a:rPr>
              <a:t>t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e</a:t>
            </a:r>
            <a:r>
              <a:rPr sz="2000" spc="-4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pr</a:t>
            </a:r>
            <a:r>
              <a:rPr sz="2000" spc="5" dirty="0">
                <a:solidFill>
                  <a:srgbClr val="3C3C3C"/>
                </a:solidFill>
                <a:latin typeface="Gill Sans MT"/>
                <a:cs typeface="Gill Sans MT"/>
              </a:rPr>
              <a:t>i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ma</a:t>
            </a:r>
            <a:r>
              <a:rPr sz="2000" spc="55" dirty="0">
                <a:solidFill>
                  <a:srgbClr val="3C3C3C"/>
                </a:solidFill>
                <a:latin typeface="Gill Sans MT"/>
                <a:cs typeface="Gill Sans MT"/>
              </a:rPr>
              <a:t>r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y</a:t>
            </a:r>
            <a:r>
              <a:rPr sz="2000" spc="-4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spc="-65" dirty="0">
                <a:solidFill>
                  <a:srgbClr val="3C3C3C"/>
                </a:solidFill>
                <a:latin typeface="Gill Sans MT"/>
                <a:cs typeface="Gill Sans MT"/>
              </a:rPr>
              <a:t>k</a:t>
            </a:r>
            <a:r>
              <a:rPr sz="2000" spc="-40" dirty="0">
                <a:solidFill>
                  <a:srgbClr val="3C3C3C"/>
                </a:solidFill>
                <a:latin typeface="Gill Sans MT"/>
                <a:cs typeface="Gill Sans MT"/>
              </a:rPr>
              <a:t>e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y</a:t>
            </a:r>
            <a:r>
              <a:rPr sz="2000" spc="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[C</a:t>
            </a:r>
            <a:r>
              <a:rPr sz="2000" spc="5" dirty="0">
                <a:solidFill>
                  <a:srgbClr val="3C3C3C"/>
                </a:solidFill>
                <a:latin typeface="Gill Sans MT"/>
                <a:cs typeface="Gill Sans MT"/>
              </a:rPr>
              <a:t>u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stomer</a:t>
            </a:r>
            <a:r>
              <a:rPr sz="2000" spc="-5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I</a:t>
            </a:r>
            <a:r>
              <a:rPr sz="2000" spc="-160" dirty="0">
                <a:solidFill>
                  <a:srgbClr val="3C3C3C"/>
                </a:solidFill>
                <a:latin typeface="Gill Sans MT"/>
                <a:cs typeface="Gill Sans MT"/>
              </a:rPr>
              <a:t>D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,</a:t>
            </a:r>
            <a:r>
              <a:rPr sz="2000" spc="-204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Sto</a:t>
            </a:r>
            <a:r>
              <a:rPr sz="2000" spc="-45" dirty="0">
                <a:solidFill>
                  <a:srgbClr val="3C3C3C"/>
                </a:solidFill>
                <a:latin typeface="Gill Sans MT"/>
                <a:cs typeface="Gill Sans MT"/>
              </a:rPr>
              <a:t>r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e</a:t>
            </a:r>
            <a:r>
              <a:rPr sz="2000" spc="-3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ID].  The</a:t>
            </a:r>
            <a:r>
              <a:rPr sz="2000" spc="-2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spc="-15" dirty="0">
                <a:solidFill>
                  <a:srgbClr val="3C3C3C"/>
                </a:solidFill>
                <a:latin typeface="Gill Sans MT"/>
                <a:cs typeface="Gill Sans MT"/>
              </a:rPr>
              <a:t>non-key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attribute</a:t>
            </a:r>
            <a:r>
              <a:rPr sz="2000" spc="-4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is</a:t>
            </a:r>
            <a:r>
              <a:rPr sz="2000" spc="-1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[Purchase</a:t>
            </a:r>
            <a:r>
              <a:rPr sz="2000" spc="-2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Location].</a:t>
            </a:r>
            <a:endParaRPr sz="2000">
              <a:latin typeface="Gill Sans MT"/>
              <a:cs typeface="Gill Sans MT"/>
            </a:endParaRPr>
          </a:p>
          <a:p>
            <a:pPr marL="317500">
              <a:lnSpc>
                <a:spcPct val="100000"/>
              </a:lnSpc>
              <a:spcBef>
                <a:spcPts val="1080"/>
              </a:spcBef>
            </a:pP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In</a:t>
            </a:r>
            <a:r>
              <a:rPr sz="2000" spc="13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this</a:t>
            </a:r>
            <a:r>
              <a:rPr sz="2000" spc="14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spc="5" dirty="0">
                <a:solidFill>
                  <a:srgbClr val="3C3C3C"/>
                </a:solidFill>
                <a:latin typeface="Gill Sans MT"/>
                <a:cs typeface="Gill Sans MT"/>
              </a:rPr>
              <a:t>case,</a:t>
            </a:r>
            <a:r>
              <a:rPr sz="2000" spc="-6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spc="-10" dirty="0">
                <a:solidFill>
                  <a:srgbClr val="3C3C3C"/>
                </a:solidFill>
                <a:latin typeface="Gill Sans MT"/>
                <a:cs typeface="Gill Sans MT"/>
              </a:rPr>
              <a:t>[Purchase</a:t>
            </a:r>
            <a:r>
              <a:rPr sz="2000" spc="14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Location]</a:t>
            </a:r>
            <a:r>
              <a:rPr sz="2000" spc="14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spc="-10" dirty="0">
                <a:solidFill>
                  <a:srgbClr val="3C3C3C"/>
                </a:solidFill>
                <a:latin typeface="Gill Sans MT"/>
                <a:cs typeface="Gill Sans MT"/>
              </a:rPr>
              <a:t>only</a:t>
            </a:r>
            <a:r>
              <a:rPr sz="2000" spc="13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depends</a:t>
            </a:r>
            <a:r>
              <a:rPr sz="2000" spc="13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on</a:t>
            </a:r>
            <a:r>
              <a:rPr sz="2000" spc="13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spc="-10" dirty="0">
                <a:solidFill>
                  <a:srgbClr val="3C3C3C"/>
                </a:solidFill>
                <a:latin typeface="Gill Sans MT"/>
                <a:cs typeface="Gill Sans MT"/>
              </a:rPr>
              <a:t>[Store</a:t>
            </a:r>
            <a:r>
              <a:rPr sz="2000" spc="13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ID],</a:t>
            </a:r>
            <a:r>
              <a:rPr sz="2000" spc="-7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which</a:t>
            </a:r>
            <a:r>
              <a:rPr sz="2000" spc="14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is</a:t>
            </a:r>
            <a:r>
              <a:rPr sz="2000" spc="14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spc="-10" dirty="0">
                <a:solidFill>
                  <a:srgbClr val="3C3C3C"/>
                </a:solidFill>
                <a:latin typeface="Gill Sans MT"/>
                <a:cs typeface="Gill Sans MT"/>
              </a:rPr>
              <a:t>only</a:t>
            </a:r>
            <a:r>
              <a:rPr sz="2000" spc="12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spc="5" dirty="0">
                <a:solidFill>
                  <a:srgbClr val="3C3C3C"/>
                </a:solidFill>
                <a:latin typeface="Gill Sans MT"/>
                <a:cs typeface="Gill Sans MT"/>
              </a:rPr>
              <a:t>part</a:t>
            </a:r>
            <a:r>
              <a:rPr sz="2000" spc="15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of</a:t>
            </a:r>
            <a:r>
              <a:rPr sz="2000" spc="13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the</a:t>
            </a:r>
            <a:endParaRPr sz="2000">
              <a:latin typeface="Gill Sans MT"/>
              <a:cs typeface="Gill Sans MT"/>
            </a:endParaRPr>
          </a:p>
          <a:p>
            <a:pPr marL="317500">
              <a:lnSpc>
                <a:spcPct val="100000"/>
              </a:lnSpc>
            </a:pP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pr</a:t>
            </a:r>
            <a:r>
              <a:rPr sz="2000" spc="5" dirty="0">
                <a:solidFill>
                  <a:srgbClr val="3C3C3C"/>
                </a:solidFill>
                <a:latin typeface="Gill Sans MT"/>
                <a:cs typeface="Gill Sans MT"/>
              </a:rPr>
              <a:t>i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ma</a:t>
            </a:r>
            <a:r>
              <a:rPr sz="2000" spc="55" dirty="0">
                <a:solidFill>
                  <a:srgbClr val="3C3C3C"/>
                </a:solidFill>
                <a:latin typeface="Gill Sans MT"/>
                <a:cs typeface="Gill Sans MT"/>
              </a:rPr>
              <a:t>r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y</a:t>
            </a:r>
            <a:r>
              <a:rPr sz="2000" spc="-4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spc="-65" dirty="0">
                <a:solidFill>
                  <a:srgbClr val="3C3C3C"/>
                </a:solidFill>
                <a:latin typeface="Gill Sans MT"/>
                <a:cs typeface="Gill Sans MT"/>
              </a:rPr>
              <a:t>k</a:t>
            </a:r>
            <a:r>
              <a:rPr sz="2000" spc="-40" dirty="0">
                <a:solidFill>
                  <a:srgbClr val="3C3C3C"/>
                </a:solidFill>
                <a:latin typeface="Gill Sans MT"/>
                <a:cs typeface="Gill Sans MT"/>
              </a:rPr>
              <a:t>e</a:t>
            </a:r>
            <a:r>
              <a:rPr sz="2000" spc="-160" dirty="0">
                <a:solidFill>
                  <a:srgbClr val="3C3C3C"/>
                </a:solidFill>
                <a:latin typeface="Gill Sans MT"/>
                <a:cs typeface="Gill Sans MT"/>
              </a:rPr>
              <a:t>y</a:t>
            </a:r>
            <a:r>
              <a:rPr sz="2000" spc="100" dirty="0">
                <a:solidFill>
                  <a:srgbClr val="3C3C3C"/>
                </a:solidFill>
                <a:latin typeface="Gill Sans MT"/>
                <a:cs typeface="Gill Sans MT"/>
              </a:rPr>
              <a:t>.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T</a:t>
            </a:r>
            <a:r>
              <a:rPr sz="2000" spc="5" dirty="0">
                <a:solidFill>
                  <a:srgbClr val="3C3C3C"/>
                </a:solidFill>
                <a:latin typeface="Gill Sans MT"/>
                <a:cs typeface="Gill Sans MT"/>
              </a:rPr>
              <a:t>h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e</a:t>
            </a:r>
            <a:r>
              <a:rPr sz="2000" spc="-40" dirty="0">
                <a:solidFill>
                  <a:srgbClr val="3C3C3C"/>
                </a:solidFill>
                <a:latin typeface="Gill Sans MT"/>
                <a:cs typeface="Gill Sans MT"/>
              </a:rPr>
              <a:t>r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e</a:t>
            </a:r>
            <a:r>
              <a:rPr sz="2000" spc="-20" dirty="0">
                <a:solidFill>
                  <a:srgbClr val="3C3C3C"/>
                </a:solidFill>
                <a:latin typeface="Gill Sans MT"/>
                <a:cs typeface="Gill Sans MT"/>
              </a:rPr>
              <a:t>f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o</a:t>
            </a:r>
            <a:r>
              <a:rPr sz="2000" spc="-40" dirty="0">
                <a:solidFill>
                  <a:srgbClr val="3C3C3C"/>
                </a:solidFill>
                <a:latin typeface="Gill Sans MT"/>
                <a:cs typeface="Gill Sans MT"/>
              </a:rPr>
              <a:t>r</a:t>
            </a:r>
            <a:r>
              <a:rPr sz="2000" spc="30" dirty="0">
                <a:solidFill>
                  <a:srgbClr val="3C3C3C"/>
                </a:solidFill>
                <a:latin typeface="Gill Sans MT"/>
                <a:cs typeface="Gill Sans MT"/>
              </a:rPr>
              <a:t>e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,</a:t>
            </a:r>
            <a:r>
              <a:rPr sz="2000" spc="-22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t</a:t>
            </a:r>
            <a:r>
              <a:rPr sz="2000" spc="5" dirty="0">
                <a:solidFill>
                  <a:srgbClr val="3C3C3C"/>
                </a:solidFill>
                <a:latin typeface="Gill Sans MT"/>
                <a:cs typeface="Gill Sans MT"/>
              </a:rPr>
              <a:t>h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i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s</a:t>
            </a:r>
            <a:r>
              <a:rPr sz="2000" spc="-1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tab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l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e</a:t>
            </a:r>
            <a:r>
              <a:rPr sz="2000" spc="-2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does</a:t>
            </a:r>
            <a:r>
              <a:rPr sz="2000" spc="-1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not</a:t>
            </a:r>
            <a:r>
              <a:rPr sz="2000" spc="-2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s</a:t>
            </a:r>
            <a:r>
              <a:rPr sz="2000" spc="-10" dirty="0">
                <a:solidFill>
                  <a:srgbClr val="3C3C3C"/>
                </a:solidFill>
                <a:latin typeface="Gill Sans MT"/>
                <a:cs typeface="Gill Sans MT"/>
              </a:rPr>
              <a:t>a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t</a:t>
            </a:r>
            <a:r>
              <a:rPr sz="2000" spc="5" dirty="0">
                <a:solidFill>
                  <a:srgbClr val="3C3C3C"/>
                </a:solidFill>
                <a:latin typeface="Gill Sans MT"/>
                <a:cs typeface="Gill Sans MT"/>
              </a:rPr>
              <a:t>i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sfy</a:t>
            </a:r>
            <a:r>
              <a:rPr sz="2000" spc="-2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sec</a:t>
            </a:r>
            <a:r>
              <a:rPr sz="2000" spc="-10" dirty="0">
                <a:solidFill>
                  <a:srgbClr val="3C3C3C"/>
                </a:solidFill>
                <a:latin typeface="Gill Sans MT"/>
                <a:cs typeface="Gill Sans MT"/>
              </a:rPr>
              <a:t>o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nd normal</a:t>
            </a:r>
            <a:r>
              <a:rPr sz="2000" spc="-3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spc="-20" dirty="0">
                <a:solidFill>
                  <a:srgbClr val="3C3C3C"/>
                </a:solidFill>
                <a:latin typeface="Gill Sans MT"/>
                <a:cs typeface="Gill Sans MT"/>
              </a:rPr>
              <a:t>f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or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m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.</a:t>
            </a:r>
            <a:endParaRPr sz="2000">
              <a:latin typeface="Gill Sans MT"/>
              <a:cs typeface="Gill Sans MT"/>
            </a:endParaRPr>
          </a:p>
          <a:p>
            <a:pPr marL="317500" indent="-304800">
              <a:lnSpc>
                <a:spcPct val="100000"/>
              </a:lnSpc>
              <a:spcBef>
                <a:spcPts val="1080"/>
              </a:spcBef>
              <a:buClr>
                <a:srgbClr val="4590B8"/>
              </a:buClr>
              <a:buSzPct val="90000"/>
              <a:buFont typeface="Wingdings 2"/>
              <a:buChar char=""/>
              <a:tabLst>
                <a:tab pos="316865" algn="l"/>
                <a:tab pos="317500" algn="l"/>
              </a:tabLst>
            </a:pPr>
            <a:r>
              <a:rPr sz="2000" spc="-150" dirty="0">
                <a:solidFill>
                  <a:srgbClr val="3C3C3C"/>
                </a:solidFill>
                <a:latin typeface="Gill Sans MT"/>
                <a:cs typeface="Gill Sans MT"/>
              </a:rPr>
              <a:t>To</a:t>
            </a:r>
            <a:r>
              <a:rPr sz="2000" spc="-1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bring</a:t>
            </a:r>
            <a:r>
              <a:rPr sz="2000" spc="-3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this</a:t>
            </a:r>
            <a:r>
              <a:rPr sz="2000" spc="-2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table</a:t>
            </a:r>
            <a:r>
              <a:rPr sz="2000" spc="-2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to</a:t>
            </a:r>
            <a:r>
              <a:rPr sz="2000" spc="-2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second normal</a:t>
            </a:r>
            <a:r>
              <a:rPr sz="2000" spc="-4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form,</a:t>
            </a:r>
            <a:r>
              <a:rPr sz="2000" spc="-229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spc="-20" dirty="0">
                <a:solidFill>
                  <a:srgbClr val="3C3C3C"/>
                </a:solidFill>
                <a:latin typeface="Gill Sans MT"/>
                <a:cs typeface="Gill Sans MT"/>
              </a:rPr>
              <a:t>we </a:t>
            </a:r>
            <a:r>
              <a:rPr sz="2000" spc="-10" dirty="0">
                <a:solidFill>
                  <a:srgbClr val="3C3C3C"/>
                </a:solidFill>
                <a:latin typeface="Gill Sans MT"/>
                <a:cs typeface="Gill Sans MT"/>
              </a:rPr>
              <a:t>break</a:t>
            </a:r>
            <a:r>
              <a:rPr sz="2000" spc="-2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spc="5" dirty="0">
                <a:solidFill>
                  <a:srgbClr val="3C3C3C"/>
                </a:solidFill>
                <a:latin typeface="Gill Sans MT"/>
                <a:cs typeface="Gill Sans MT"/>
              </a:rPr>
              <a:t>the</a:t>
            </a:r>
            <a:r>
              <a:rPr sz="2000" spc="-1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table</a:t>
            </a:r>
            <a:r>
              <a:rPr sz="2000" spc="-1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into</a:t>
            </a:r>
            <a:r>
              <a:rPr sz="2000" spc="-4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spc="-10" dirty="0">
                <a:solidFill>
                  <a:srgbClr val="3C3C3C"/>
                </a:solidFill>
                <a:latin typeface="Gill Sans MT"/>
                <a:cs typeface="Gill Sans MT"/>
              </a:rPr>
              <a:t>two</a:t>
            </a:r>
            <a:r>
              <a:rPr sz="2000" spc="-3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tables.</a:t>
            </a:r>
            <a:endParaRPr sz="2000">
              <a:latin typeface="Gill Sans MT"/>
              <a:cs typeface="Gill Sans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208511" y="6054344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5" dirty="0">
                <a:solidFill>
                  <a:srgbClr val="4590B8"/>
                </a:solidFill>
                <a:latin typeface="Gill Sans MT"/>
                <a:cs typeface="Gill Sans MT"/>
              </a:rPr>
              <a:t>27</a:t>
            </a:r>
            <a:endParaRPr sz="900">
              <a:latin typeface="Gill Sans MT"/>
              <a:cs typeface="Gill Sans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38400" y="1972055"/>
            <a:ext cx="4027932" cy="213360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444500" y="6531499"/>
            <a:ext cx="644525" cy="202565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200" spc="-5" dirty="0">
                <a:solidFill>
                  <a:srgbClr val="393939"/>
                </a:solidFill>
                <a:latin typeface="Gill Sans MT"/>
                <a:cs typeface="Gill Sans MT"/>
              </a:rPr>
              <a:t>6/10/2020</a:t>
            </a:r>
            <a:endParaRPr sz="1200">
              <a:latin typeface="Gill Sans MT"/>
              <a:cs typeface="Gill Sans MT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97408" y="600455"/>
            <a:ext cx="10985500" cy="1259205"/>
          </a:xfrm>
          <a:prstGeom prst="rect">
            <a:avLst/>
          </a:prstGeom>
          <a:solidFill>
            <a:srgbClr val="1A315F"/>
          </a:solidFill>
        </p:spPr>
        <p:txBody>
          <a:bodyPr vert="horz" wrap="square" lIns="0" tIns="73025" rIns="0" bIns="0" rtlCol="0">
            <a:spAutoFit/>
          </a:bodyPr>
          <a:lstStyle/>
          <a:p>
            <a:pPr marL="10795" algn="ctr">
              <a:lnSpc>
                <a:spcPct val="100000"/>
              </a:lnSpc>
              <a:spcBef>
                <a:spcPts val="575"/>
              </a:spcBef>
            </a:pPr>
            <a:r>
              <a:rPr sz="3600" dirty="0">
                <a:latin typeface="Gill Sans MT"/>
                <a:cs typeface="Gill Sans MT"/>
              </a:rPr>
              <a:t>2</a:t>
            </a:r>
            <a:r>
              <a:rPr sz="3600" baseline="25462" dirty="0"/>
              <a:t>ND</a:t>
            </a:r>
            <a:r>
              <a:rPr sz="3600" spc="419" baseline="25462" dirty="0"/>
              <a:t> </a:t>
            </a:r>
            <a:r>
              <a:rPr sz="3600" spc="-25" dirty="0"/>
              <a:t>FORM</a:t>
            </a:r>
            <a:r>
              <a:rPr sz="3600" spc="-20" dirty="0"/>
              <a:t> </a:t>
            </a:r>
            <a:r>
              <a:rPr sz="3600" dirty="0"/>
              <a:t>OF</a:t>
            </a:r>
            <a:r>
              <a:rPr sz="3600" spc="-5" dirty="0"/>
              <a:t> </a:t>
            </a:r>
            <a:r>
              <a:rPr sz="3600" spc="-20" dirty="0"/>
              <a:t>NORMALIZATION</a:t>
            </a:r>
            <a:endParaRPr sz="3600">
              <a:latin typeface="Gill Sans MT"/>
              <a:cs typeface="Gill Sans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89050" y="5289041"/>
            <a:ext cx="9792335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What </a:t>
            </a:r>
            <a:r>
              <a:rPr sz="2000" spc="-20" dirty="0">
                <a:solidFill>
                  <a:srgbClr val="3C3C3C"/>
                </a:solidFill>
                <a:latin typeface="Gill Sans MT"/>
                <a:cs typeface="Gill Sans MT"/>
              </a:rPr>
              <a:t>we </a:t>
            </a:r>
            <a:r>
              <a:rPr sz="2000" spc="-30" dirty="0">
                <a:solidFill>
                  <a:srgbClr val="3C3C3C"/>
                </a:solidFill>
                <a:latin typeface="Gill Sans MT"/>
                <a:cs typeface="Gill Sans MT"/>
              </a:rPr>
              <a:t>have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done is to </a:t>
            </a:r>
            <a:r>
              <a:rPr sz="2000" spc="-20" dirty="0">
                <a:solidFill>
                  <a:srgbClr val="3C3C3C"/>
                </a:solidFill>
                <a:latin typeface="Gill Sans MT"/>
                <a:cs typeface="Gill Sans MT"/>
              </a:rPr>
              <a:t>remove 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the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partial 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functional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dependency 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that </a:t>
            </a:r>
            <a:r>
              <a:rPr sz="2000" spc="-20" dirty="0">
                <a:solidFill>
                  <a:srgbClr val="3C3C3C"/>
                </a:solidFill>
                <a:latin typeface="Gill Sans MT"/>
                <a:cs typeface="Gill Sans MT"/>
              </a:rPr>
              <a:t>we </a:t>
            </a:r>
            <a:r>
              <a:rPr sz="2000" spc="-10" dirty="0">
                <a:solidFill>
                  <a:srgbClr val="3C3C3C"/>
                </a:solidFill>
                <a:latin typeface="Gill Sans MT"/>
                <a:cs typeface="Gill Sans MT"/>
              </a:rPr>
              <a:t>initially 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had. </a:t>
            </a:r>
            <a:r>
              <a:rPr sz="2000" spc="-40" dirty="0">
                <a:solidFill>
                  <a:srgbClr val="3C3C3C"/>
                </a:solidFill>
                <a:latin typeface="Gill Sans MT"/>
                <a:cs typeface="Gill Sans MT"/>
              </a:rPr>
              <a:t>Now, </a:t>
            </a:r>
            <a:r>
              <a:rPr sz="2000" spc="-3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in the table </a:t>
            </a:r>
            <a:r>
              <a:rPr sz="2000" spc="-25" dirty="0">
                <a:solidFill>
                  <a:srgbClr val="3C3C3C"/>
                </a:solidFill>
                <a:latin typeface="Gill Sans MT"/>
                <a:cs typeface="Gill Sans MT"/>
              </a:rPr>
              <a:t>[TABLE_STORE], 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the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column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spc="-10" dirty="0">
                <a:solidFill>
                  <a:srgbClr val="3C3C3C"/>
                </a:solidFill>
                <a:latin typeface="Gill Sans MT"/>
                <a:cs typeface="Gill Sans MT"/>
              </a:rPr>
              <a:t>[Purchase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 Location]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 is 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fully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 dependent 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on</a:t>
            </a:r>
            <a:r>
              <a:rPr sz="2000" spc="54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the </a:t>
            </a:r>
            <a:r>
              <a:rPr sz="2000" spc="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spc="10" dirty="0">
                <a:solidFill>
                  <a:srgbClr val="3C3C3C"/>
                </a:solidFill>
                <a:latin typeface="Gill Sans MT"/>
                <a:cs typeface="Gill Sans MT"/>
              </a:rPr>
              <a:t>primary</a:t>
            </a:r>
            <a:r>
              <a:rPr sz="2000" spc="-5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spc="-35" dirty="0">
                <a:solidFill>
                  <a:srgbClr val="3C3C3C"/>
                </a:solidFill>
                <a:latin typeface="Gill Sans MT"/>
                <a:cs typeface="Gill Sans MT"/>
              </a:rPr>
              <a:t>key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 of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that</a:t>
            </a:r>
            <a:r>
              <a:rPr sz="2000" spc="-4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spc="5" dirty="0">
                <a:solidFill>
                  <a:srgbClr val="3C3C3C"/>
                </a:solidFill>
                <a:latin typeface="Gill Sans MT"/>
                <a:cs typeface="Gill Sans MT"/>
              </a:rPr>
              <a:t>table,</a:t>
            </a:r>
            <a:r>
              <a:rPr sz="2000" spc="-22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which</a:t>
            </a:r>
            <a:r>
              <a:rPr sz="2000" spc="-2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is</a:t>
            </a:r>
            <a:r>
              <a:rPr sz="2000" spc="-1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[Store</a:t>
            </a:r>
            <a:r>
              <a:rPr sz="2000" spc="-4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ID].</a:t>
            </a:r>
            <a:endParaRPr sz="2000">
              <a:latin typeface="Gill Sans MT"/>
              <a:cs typeface="Gill Sans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208511" y="6054344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5" dirty="0">
                <a:solidFill>
                  <a:srgbClr val="4590B8"/>
                </a:solidFill>
                <a:latin typeface="Gill Sans MT"/>
                <a:cs typeface="Gill Sans MT"/>
              </a:rPr>
              <a:t>28</a:t>
            </a:r>
            <a:endParaRPr sz="900">
              <a:latin typeface="Gill Sans MT"/>
              <a:cs typeface="Gill Sans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67000" y="2141220"/>
            <a:ext cx="4648200" cy="2362199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444500" y="6531499"/>
            <a:ext cx="644525" cy="202565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200" spc="-5" dirty="0">
                <a:solidFill>
                  <a:srgbClr val="393939"/>
                </a:solidFill>
                <a:latin typeface="Gill Sans MT"/>
                <a:cs typeface="Gill Sans MT"/>
              </a:rPr>
              <a:t>6/10/2020</a:t>
            </a:r>
            <a:endParaRPr sz="1200">
              <a:latin typeface="Gill Sans MT"/>
              <a:cs typeface="Gill Sans MT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597408" y="441959"/>
          <a:ext cx="10985500" cy="14166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88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785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468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320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1A31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6200">
                      <a:solidFill>
                        <a:srgbClr val="FFFFFF"/>
                      </a:solidFill>
                      <a:prstDash val="solid"/>
                    </a:lnL>
                    <a:lnR w="762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4590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6200">
                      <a:solidFill>
                        <a:srgbClr val="FFFFFF"/>
                      </a:solidFill>
                      <a:prstDash val="solid"/>
                    </a:lnL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959F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84605">
                <a:tc gridSpan="3">
                  <a:txBody>
                    <a:bodyPr/>
                    <a:lstStyle/>
                    <a:p>
                      <a:pPr marL="472440">
                        <a:lnSpc>
                          <a:spcPct val="100000"/>
                        </a:lnSpc>
                        <a:spcBef>
                          <a:spcPts val="3504"/>
                        </a:spcBef>
                      </a:pPr>
                      <a:r>
                        <a:rPr sz="3600" b="1" dirty="0">
                          <a:solidFill>
                            <a:srgbClr val="FFFFFF"/>
                          </a:solidFill>
                          <a:latin typeface="Gill Sans MT"/>
                          <a:cs typeface="Gill Sans MT"/>
                        </a:rPr>
                        <a:t>3</a:t>
                      </a:r>
                      <a:r>
                        <a:rPr sz="3600" b="1" baseline="25462" dirty="0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RD</a:t>
                      </a:r>
                      <a:r>
                        <a:rPr sz="3600" b="1" spc="375" baseline="25462" dirty="0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 </a:t>
                      </a:r>
                      <a:r>
                        <a:rPr sz="3600" b="1" spc="-20" dirty="0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FORM</a:t>
                      </a:r>
                      <a:r>
                        <a:rPr sz="3600" b="1" spc="-25" dirty="0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 </a:t>
                      </a:r>
                      <a:r>
                        <a:rPr sz="3600" b="1" dirty="0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OF</a:t>
                      </a:r>
                      <a:r>
                        <a:rPr sz="3600" b="1" spc="-20" dirty="0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 </a:t>
                      </a:r>
                      <a:r>
                        <a:rPr sz="3600" b="1" spc="-15" dirty="0">
                          <a:solidFill>
                            <a:srgbClr val="FFFFFF"/>
                          </a:solidFill>
                          <a:latin typeface="Constantia"/>
                          <a:cs typeface="Constantia"/>
                        </a:rPr>
                        <a:t>NORMALIZATION</a:t>
                      </a:r>
                      <a:endParaRPr sz="3600">
                        <a:latin typeface="Constantia"/>
                        <a:cs typeface="Constantia"/>
                      </a:endParaRPr>
                    </a:p>
                  </a:txBody>
                  <a:tcPr marL="0" marR="0" marT="445134" marB="0">
                    <a:lnT w="57150">
                      <a:solidFill>
                        <a:srgbClr val="FFFFFF"/>
                      </a:solidFill>
                      <a:prstDash val="solid"/>
                    </a:lnT>
                    <a:solidFill>
                      <a:srgbClr val="1A315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1395730" y="5067376"/>
            <a:ext cx="9915525" cy="94106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In 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the table [Book ID] determines </a:t>
            </a:r>
            <a:r>
              <a:rPr sz="2000" spc="-10" dirty="0">
                <a:solidFill>
                  <a:srgbClr val="3C3C3C"/>
                </a:solidFill>
                <a:latin typeface="Gill Sans MT"/>
                <a:cs typeface="Gill Sans MT"/>
              </a:rPr>
              <a:t>[Genre 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ID],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and 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[Genre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ID] 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determines </a:t>
            </a:r>
            <a:r>
              <a:rPr sz="2000" spc="-15" dirty="0">
                <a:solidFill>
                  <a:srgbClr val="3C3C3C"/>
                </a:solidFill>
                <a:latin typeface="Gill Sans MT"/>
                <a:cs typeface="Gill Sans MT"/>
              </a:rPr>
              <a:t>[Genre </a:t>
            </a:r>
            <a:r>
              <a:rPr sz="2000" spc="-45" dirty="0">
                <a:solidFill>
                  <a:srgbClr val="3C3C3C"/>
                </a:solidFill>
                <a:latin typeface="Gill Sans MT"/>
                <a:cs typeface="Gill Sans MT"/>
              </a:rPr>
              <a:t>Type]. </a:t>
            </a:r>
            <a:r>
              <a:rPr sz="2000" spc="-4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spc="-10" dirty="0">
                <a:solidFill>
                  <a:srgbClr val="3C3C3C"/>
                </a:solidFill>
                <a:latin typeface="Gill Sans MT"/>
                <a:cs typeface="Gill Sans MT"/>
              </a:rPr>
              <a:t>Therefore, 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[Book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ID] 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determines [Genre </a:t>
            </a:r>
            <a:r>
              <a:rPr sz="2000" spc="-55" dirty="0">
                <a:solidFill>
                  <a:srgbClr val="3C3C3C"/>
                </a:solidFill>
                <a:latin typeface="Gill Sans MT"/>
                <a:cs typeface="Gill Sans MT"/>
              </a:rPr>
              <a:t>Type] </a:t>
            </a:r>
            <a:r>
              <a:rPr sz="2000" spc="-10" dirty="0">
                <a:solidFill>
                  <a:srgbClr val="3C3C3C"/>
                </a:solidFill>
                <a:latin typeface="Gill Sans MT"/>
                <a:cs typeface="Gill Sans MT"/>
              </a:rPr>
              <a:t>via [Genre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ID] 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and </a:t>
            </a:r>
            <a:r>
              <a:rPr sz="2000" spc="-20" dirty="0">
                <a:solidFill>
                  <a:srgbClr val="3C3C3C"/>
                </a:solidFill>
                <a:latin typeface="Gill Sans MT"/>
                <a:cs typeface="Gill Sans MT"/>
              </a:rPr>
              <a:t>we </a:t>
            </a:r>
            <a:r>
              <a:rPr sz="2000" spc="-30" dirty="0">
                <a:solidFill>
                  <a:srgbClr val="3C3C3C"/>
                </a:solidFill>
                <a:latin typeface="Gill Sans MT"/>
                <a:cs typeface="Gill Sans MT"/>
              </a:rPr>
              <a:t>have 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transitive functional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spc="-15" dirty="0">
                <a:solidFill>
                  <a:srgbClr val="3C3C3C"/>
                </a:solidFill>
                <a:latin typeface="Gill Sans MT"/>
                <a:cs typeface="Gill Sans MT"/>
              </a:rPr>
              <a:t>dependency,</a:t>
            </a:r>
            <a:r>
              <a:rPr sz="2000" spc="-21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and</a:t>
            </a:r>
            <a:r>
              <a:rPr sz="2000" spc="-2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this</a:t>
            </a:r>
            <a:r>
              <a:rPr sz="2000" spc="-2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structure</a:t>
            </a:r>
            <a:r>
              <a:rPr sz="2000" spc="-4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does not</a:t>
            </a:r>
            <a:r>
              <a:rPr sz="2000" spc="-2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satisfy</a:t>
            </a:r>
            <a:r>
              <a:rPr sz="2000" spc="-2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spc="-10" dirty="0">
                <a:solidFill>
                  <a:srgbClr val="3C3C3C"/>
                </a:solidFill>
                <a:latin typeface="Gill Sans MT"/>
                <a:cs typeface="Gill Sans MT"/>
              </a:rPr>
              <a:t>third</a:t>
            </a:r>
            <a:r>
              <a:rPr sz="2000" spc="-3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normal</a:t>
            </a:r>
            <a:r>
              <a:rPr sz="2000" spc="-2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form.</a:t>
            </a:r>
            <a:endParaRPr sz="2000">
              <a:latin typeface="Gill Sans MT"/>
              <a:cs typeface="Gill Sans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95730" y="6119571"/>
            <a:ext cx="762000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50" dirty="0">
                <a:solidFill>
                  <a:srgbClr val="3C3C3C"/>
                </a:solidFill>
                <a:latin typeface="Gill Sans MT"/>
                <a:cs typeface="Gill Sans MT"/>
              </a:rPr>
              <a:t>To</a:t>
            </a:r>
            <a:r>
              <a:rPr sz="2000" spc="-1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bring</a:t>
            </a:r>
            <a:r>
              <a:rPr sz="2000" spc="-4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this</a:t>
            </a:r>
            <a:r>
              <a:rPr sz="2000" spc="-2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table</a:t>
            </a:r>
            <a:r>
              <a:rPr sz="2000" spc="-2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to</a:t>
            </a:r>
            <a:r>
              <a:rPr sz="2000" spc="-1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spc="-10" dirty="0">
                <a:solidFill>
                  <a:srgbClr val="3C3C3C"/>
                </a:solidFill>
                <a:latin typeface="Gill Sans MT"/>
                <a:cs typeface="Gill Sans MT"/>
              </a:rPr>
              <a:t>third</a:t>
            </a:r>
            <a:r>
              <a:rPr sz="2000" spc="-3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normal</a:t>
            </a:r>
            <a:r>
              <a:rPr sz="2000" spc="-3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form,</a:t>
            </a:r>
            <a:r>
              <a:rPr sz="2000" spc="-229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spc="-20" dirty="0">
                <a:solidFill>
                  <a:srgbClr val="3C3C3C"/>
                </a:solidFill>
                <a:latin typeface="Gill Sans MT"/>
                <a:cs typeface="Gill Sans MT"/>
              </a:rPr>
              <a:t>we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split</a:t>
            </a:r>
            <a:r>
              <a:rPr sz="2000" spc="-1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the</a:t>
            </a:r>
            <a:r>
              <a:rPr sz="2000" spc="-2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table</a:t>
            </a:r>
            <a:r>
              <a:rPr sz="2000" spc="-2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into</a:t>
            </a:r>
            <a:r>
              <a:rPr sz="2000" spc="-3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spc="-10" dirty="0">
                <a:solidFill>
                  <a:srgbClr val="3C3C3C"/>
                </a:solidFill>
                <a:latin typeface="Gill Sans MT"/>
                <a:cs typeface="Gill Sans MT"/>
              </a:rPr>
              <a:t>two</a:t>
            </a:r>
            <a:r>
              <a:rPr sz="2000" spc="-2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tables.</a:t>
            </a:r>
            <a:endParaRPr sz="2000">
              <a:latin typeface="Gill Sans MT"/>
              <a:cs typeface="Gill Sans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208511" y="6054344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5" dirty="0">
                <a:solidFill>
                  <a:srgbClr val="4590B8"/>
                </a:solidFill>
                <a:latin typeface="Gill Sans MT"/>
                <a:cs typeface="Gill Sans MT"/>
              </a:rPr>
              <a:t>29</a:t>
            </a:r>
            <a:endParaRPr sz="900">
              <a:latin typeface="Gill Sans MT"/>
              <a:cs typeface="Gill Sans MT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95600" y="2292095"/>
            <a:ext cx="4331368" cy="2177796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44500" y="6531499"/>
            <a:ext cx="644525" cy="202565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200" spc="-5" dirty="0">
                <a:solidFill>
                  <a:srgbClr val="393939"/>
                </a:solidFill>
                <a:latin typeface="Gill Sans MT"/>
                <a:cs typeface="Gill Sans MT"/>
              </a:rPr>
              <a:t>6/10/2020</a:t>
            </a:r>
            <a:endParaRPr sz="1200">
              <a:latin typeface="Gill Sans MT"/>
              <a:cs typeface="Gill Sans MT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97408" y="600455"/>
            <a:ext cx="10985500" cy="1259205"/>
          </a:xfrm>
          <a:prstGeom prst="rect">
            <a:avLst/>
          </a:prstGeom>
          <a:solidFill>
            <a:srgbClr val="1A315F"/>
          </a:solidFill>
        </p:spPr>
        <p:txBody>
          <a:bodyPr vert="horz" wrap="square" lIns="0" tIns="73025" rIns="0" bIns="0" rtlCol="0">
            <a:spAutoFit/>
          </a:bodyPr>
          <a:lstStyle/>
          <a:p>
            <a:pPr marL="10795" algn="ctr">
              <a:lnSpc>
                <a:spcPct val="100000"/>
              </a:lnSpc>
              <a:spcBef>
                <a:spcPts val="575"/>
              </a:spcBef>
            </a:pPr>
            <a:r>
              <a:rPr sz="3600" spc="-10" dirty="0">
                <a:latin typeface="Gill Sans MT"/>
                <a:cs typeface="Gill Sans MT"/>
              </a:rPr>
              <a:t>3</a:t>
            </a:r>
            <a:r>
              <a:rPr sz="3600" spc="-15" baseline="25462" dirty="0"/>
              <a:t>rd</a:t>
            </a:r>
            <a:r>
              <a:rPr sz="3600" spc="405" baseline="25462" dirty="0"/>
              <a:t> </a:t>
            </a:r>
            <a:r>
              <a:rPr sz="3600" spc="-25" dirty="0"/>
              <a:t>FORM</a:t>
            </a:r>
            <a:r>
              <a:rPr sz="3600" spc="-20" dirty="0"/>
              <a:t> </a:t>
            </a:r>
            <a:r>
              <a:rPr sz="3600" dirty="0"/>
              <a:t>OF</a:t>
            </a:r>
            <a:r>
              <a:rPr sz="3600" spc="-5" dirty="0"/>
              <a:t> </a:t>
            </a:r>
            <a:r>
              <a:rPr sz="3600" spc="-20" dirty="0"/>
              <a:t>NORMALIZATION</a:t>
            </a:r>
            <a:endParaRPr sz="3600">
              <a:latin typeface="Gill Sans MT"/>
              <a:cs typeface="Gill Sans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40739" y="5289041"/>
            <a:ext cx="681672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33425" algn="l"/>
                <a:tab pos="1153795" algn="l"/>
                <a:tab pos="2174875" algn="l"/>
                <a:tab pos="3368675" algn="l"/>
                <a:tab pos="3897629" algn="l"/>
                <a:tab pos="4510405" algn="l"/>
                <a:tab pos="5711190" algn="l"/>
              </a:tabLst>
            </a:pP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N</a:t>
            </a:r>
            <a:r>
              <a:rPr sz="2000" spc="-35" dirty="0">
                <a:solidFill>
                  <a:srgbClr val="3C3C3C"/>
                </a:solidFill>
                <a:latin typeface="Gill Sans MT"/>
                <a:cs typeface="Gill Sans MT"/>
              </a:rPr>
              <a:t>o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w	a</a:t>
            </a:r>
            <a:r>
              <a:rPr sz="2000" spc="-10" dirty="0">
                <a:solidFill>
                  <a:srgbClr val="3C3C3C"/>
                </a:solidFill>
                <a:latin typeface="Gill Sans MT"/>
                <a:cs typeface="Gill Sans MT"/>
              </a:rPr>
              <a:t>l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l	n</a:t>
            </a:r>
            <a:r>
              <a:rPr sz="2000" spc="-10" dirty="0">
                <a:solidFill>
                  <a:srgbClr val="3C3C3C"/>
                </a:solidFill>
                <a:latin typeface="Gill Sans MT"/>
                <a:cs typeface="Gill Sans MT"/>
              </a:rPr>
              <a:t>on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-</a:t>
            </a:r>
            <a:r>
              <a:rPr sz="2000" spc="-65" dirty="0">
                <a:solidFill>
                  <a:srgbClr val="3C3C3C"/>
                </a:solidFill>
                <a:latin typeface="Gill Sans MT"/>
                <a:cs typeface="Gill Sans MT"/>
              </a:rPr>
              <a:t>k</a:t>
            </a:r>
            <a:r>
              <a:rPr sz="2000" spc="-40" dirty="0">
                <a:solidFill>
                  <a:srgbClr val="3C3C3C"/>
                </a:solidFill>
                <a:latin typeface="Gill Sans MT"/>
                <a:cs typeface="Gill Sans MT"/>
              </a:rPr>
              <a:t>e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y	att</a:t>
            </a:r>
            <a:r>
              <a:rPr sz="2000" spc="-10" dirty="0">
                <a:solidFill>
                  <a:srgbClr val="3C3C3C"/>
                </a:solidFill>
                <a:latin typeface="Gill Sans MT"/>
                <a:cs typeface="Gill Sans MT"/>
              </a:rPr>
              <a:t>ri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but</a:t>
            </a:r>
            <a:r>
              <a:rPr sz="2000" spc="-10" dirty="0">
                <a:solidFill>
                  <a:srgbClr val="3C3C3C"/>
                </a:solidFill>
                <a:latin typeface="Gill Sans MT"/>
                <a:cs typeface="Gill Sans MT"/>
              </a:rPr>
              <a:t>e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s	a</a:t>
            </a:r>
            <a:r>
              <a:rPr sz="2000" spc="-45" dirty="0">
                <a:solidFill>
                  <a:srgbClr val="3C3C3C"/>
                </a:solidFill>
                <a:latin typeface="Gill Sans MT"/>
                <a:cs typeface="Gill Sans MT"/>
              </a:rPr>
              <a:t>r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e	</a:t>
            </a:r>
            <a:r>
              <a:rPr sz="2000" spc="-10" dirty="0">
                <a:solidFill>
                  <a:srgbClr val="3C3C3C"/>
                </a:solidFill>
                <a:latin typeface="Gill Sans MT"/>
                <a:cs typeface="Gill Sans MT"/>
              </a:rPr>
              <a:t>f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ul</a:t>
            </a:r>
            <a:r>
              <a:rPr sz="2000" spc="-20" dirty="0">
                <a:solidFill>
                  <a:srgbClr val="3C3C3C"/>
                </a:solidFill>
                <a:latin typeface="Gill Sans MT"/>
                <a:cs typeface="Gill Sans MT"/>
              </a:rPr>
              <a:t>l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y	</a:t>
            </a:r>
            <a:r>
              <a:rPr sz="2000" spc="-10" dirty="0">
                <a:solidFill>
                  <a:srgbClr val="3C3C3C"/>
                </a:solidFill>
                <a:latin typeface="Gill Sans MT"/>
                <a:cs typeface="Gill Sans MT"/>
              </a:rPr>
              <a:t>f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u</a:t>
            </a:r>
            <a:r>
              <a:rPr sz="2000" spc="10" dirty="0">
                <a:solidFill>
                  <a:srgbClr val="3C3C3C"/>
                </a:solidFill>
                <a:latin typeface="Gill Sans MT"/>
                <a:cs typeface="Gill Sans MT"/>
              </a:rPr>
              <a:t>n</a:t>
            </a:r>
            <a:r>
              <a:rPr sz="2000" spc="-15" dirty="0">
                <a:solidFill>
                  <a:srgbClr val="3C3C3C"/>
                </a:solidFill>
                <a:latin typeface="Gill Sans MT"/>
                <a:cs typeface="Gill Sans MT"/>
              </a:rPr>
              <a:t>c</a:t>
            </a:r>
            <a:r>
              <a:rPr sz="2000" spc="-10" dirty="0">
                <a:solidFill>
                  <a:srgbClr val="3C3C3C"/>
                </a:solidFill>
                <a:latin typeface="Gill Sans MT"/>
                <a:cs typeface="Gill Sans MT"/>
              </a:rPr>
              <a:t>t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i</a:t>
            </a:r>
            <a:r>
              <a:rPr sz="2000" spc="-15" dirty="0">
                <a:solidFill>
                  <a:srgbClr val="3C3C3C"/>
                </a:solidFill>
                <a:latin typeface="Gill Sans MT"/>
                <a:cs typeface="Gill Sans MT"/>
              </a:rPr>
              <a:t>o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nal	de</a:t>
            </a:r>
            <a:r>
              <a:rPr sz="2000" spc="-10" dirty="0">
                <a:solidFill>
                  <a:srgbClr val="3C3C3C"/>
                </a:solidFill>
                <a:latin typeface="Gill Sans MT"/>
                <a:cs typeface="Gill Sans MT"/>
              </a:rPr>
              <a:t>p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endent</a:t>
            </a:r>
            <a:endParaRPr sz="2000">
              <a:latin typeface="Gill Sans MT"/>
              <a:cs typeface="Gill Sans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40739" y="5289041"/>
            <a:ext cx="8050530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6992620">
              <a:lnSpc>
                <a:spcPct val="100000"/>
              </a:lnSpc>
              <a:spcBef>
                <a:spcPts val="100"/>
              </a:spcBef>
              <a:tabLst>
                <a:tab pos="1998345" algn="l"/>
                <a:tab pos="2702560" algn="l"/>
                <a:tab pos="3667760" algn="l"/>
                <a:tab pos="4232910" algn="l"/>
                <a:tab pos="4822825" algn="l"/>
                <a:tab pos="5737225" algn="l"/>
                <a:tab pos="6287770" algn="l"/>
                <a:tab pos="6945630" algn="l"/>
                <a:tab pos="7638415" algn="l"/>
              </a:tabLst>
            </a:pPr>
            <a:r>
              <a:rPr sz="2000" spc="-10" dirty="0">
                <a:solidFill>
                  <a:srgbClr val="3C3C3C"/>
                </a:solidFill>
                <a:latin typeface="Gill Sans MT"/>
                <a:cs typeface="Gill Sans MT"/>
              </a:rPr>
              <a:t>only	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on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 [</a:t>
            </a:r>
            <a:r>
              <a:rPr sz="2000" spc="-200" dirty="0">
                <a:solidFill>
                  <a:srgbClr val="3C3C3C"/>
                </a:solidFill>
                <a:latin typeface="Gill Sans MT"/>
                <a:cs typeface="Gill Sans MT"/>
              </a:rPr>
              <a:t>T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AB</a:t>
            </a:r>
            <a:r>
              <a:rPr sz="2000" spc="-15" dirty="0">
                <a:solidFill>
                  <a:srgbClr val="3C3C3C"/>
                </a:solidFill>
                <a:latin typeface="Gill Sans MT"/>
                <a:cs typeface="Gill Sans MT"/>
              </a:rPr>
              <a:t>L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E_BO</a:t>
            </a:r>
            <a:r>
              <a:rPr sz="2000" spc="-10" dirty="0">
                <a:solidFill>
                  <a:srgbClr val="3C3C3C"/>
                </a:solidFill>
                <a:latin typeface="Gill Sans MT"/>
                <a:cs typeface="Gill Sans MT"/>
              </a:rPr>
              <a:t>O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K],	b</a:t>
            </a:r>
            <a:r>
              <a:rPr sz="2000" spc="-10" dirty="0">
                <a:solidFill>
                  <a:srgbClr val="3C3C3C"/>
                </a:solidFill>
                <a:latin typeface="Gill Sans MT"/>
                <a:cs typeface="Gill Sans MT"/>
              </a:rPr>
              <a:t>ot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h	</a:t>
            </a:r>
            <a:r>
              <a:rPr sz="2000" spc="-10" dirty="0">
                <a:solidFill>
                  <a:srgbClr val="3C3C3C"/>
                </a:solidFill>
                <a:latin typeface="Gill Sans MT"/>
                <a:cs typeface="Gill Sans MT"/>
              </a:rPr>
              <a:t>[G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en</a:t>
            </a:r>
            <a:r>
              <a:rPr sz="2000" spc="-40" dirty="0">
                <a:solidFill>
                  <a:srgbClr val="3C3C3C"/>
                </a:solidFill>
                <a:latin typeface="Gill Sans MT"/>
                <a:cs typeface="Gill Sans MT"/>
              </a:rPr>
              <a:t>r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e	I</a:t>
            </a:r>
            <a:r>
              <a:rPr sz="2000" spc="-15" dirty="0">
                <a:solidFill>
                  <a:srgbClr val="3C3C3C"/>
                </a:solidFill>
                <a:latin typeface="Gill Sans MT"/>
                <a:cs typeface="Gill Sans MT"/>
              </a:rPr>
              <a:t>D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]	</a:t>
            </a:r>
            <a:r>
              <a:rPr sz="2000" spc="-20" dirty="0">
                <a:solidFill>
                  <a:srgbClr val="3C3C3C"/>
                </a:solidFill>
                <a:latin typeface="Gill Sans MT"/>
                <a:cs typeface="Gill Sans MT"/>
              </a:rPr>
              <a:t>a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nd	[Pri</a:t>
            </a:r>
            <a:r>
              <a:rPr sz="2000" spc="-10" dirty="0">
                <a:solidFill>
                  <a:srgbClr val="3C3C3C"/>
                </a:solidFill>
                <a:latin typeface="Gill Sans MT"/>
                <a:cs typeface="Gill Sans MT"/>
              </a:rPr>
              <a:t>c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e]	</a:t>
            </a:r>
            <a:r>
              <a:rPr sz="2000" spc="-20" dirty="0">
                <a:solidFill>
                  <a:srgbClr val="3C3C3C"/>
                </a:solidFill>
                <a:latin typeface="Gill Sans MT"/>
                <a:cs typeface="Gill Sans MT"/>
              </a:rPr>
              <a:t>a</a:t>
            </a:r>
            <a:r>
              <a:rPr sz="2000" spc="-55" dirty="0">
                <a:solidFill>
                  <a:srgbClr val="3C3C3C"/>
                </a:solidFill>
                <a:latin typeface="Gill Sans MT"/>
                <a:cs typeface="Gill Sans MT"/>
              </a:rPr>
              <a:t>r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e	o</a:t>
            </a:r>
            <a:r>
              <a:rPr sz="2000" spc="-10" dirty="0">
                <a:solidFill>
                  <a:srgbClr val="3C3C3C"/>
                </a:solidFill>
                <a:latin typeface="Gill Sans MT"/>
                <a:cs typeface="Gill Sans MT"/>
              </a:rPr>
              <a:t>n</a:t>
            </a:r>
            <a:r>
              <a:rPr sz="2000" spc="-20" dirty="0">
                <a:solidFill>
                  <a:srgbClr val="3C3C3C"/>
                </a:solidFill>
                <a:latin typeface="Gill Sans MT"/>
                <a:cs typeface="Gill Sans MT"/>
              </a:rPr>
              <a:t>l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y	dep</a:t>
            </a:r>
            <a:r>
              <a:rPr sz="2000" spc="-10" dirty="0">
                <a:solidFill>
                  <a:srgbClr val="3C3C3C"/>
                </a:solidFill>
                <a:latin typeface="Gill Sans MT"/>
                <a:cs typeface="Gill Sans MT"/>
              </a:rPr>
              <a:t>e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ndent</a:t>
            </a:r>
            <a:endParaRPr sz="2000">
              <a:latin typeface="Gill Sans MT"/>
              <a:cs typeface="Gill Sans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935973" y="5289041"/>
            <a:ext cx="1366520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9545" marR="5080" indent="-157480">
              <a:lnSpc>
                <a:spcPct val="100000"/>
              </a:lnSpc>
              <a:spcBef>
                <a:spcPts val="100"/>
              </a:spcBef>
              <a:tabLst>
                <a:tab pos="547370" algn="l"/>
                <a:tab pos="661670" algn="l"/>
              </a:tabLst>
            </a:pPr>
            <a:r>
              <a:rPr sz="2000" spc="-10" dirty="0">
                <a:solidFill>
                  <a:srgbClr val="3C3C3C"/>
                </a:solidFill>
                <a:latin typeface="Gill Sans MT"/>
                <a:cs typeface="Gill Sans MT"/>
              </a:rPr>
              <a:t>t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he	p</a:t>
            </a:r>
            <a:r>
              <a:rPr sz="2000" spc="-10" dirty="0">
                <a:solidFill>
                  <a:srgbClr val="3C3C3C"/>
                </a:solidFill>
                <a:latin typeface="Gill Sans MT"/>
                <a:cs typeface="Gill Sans MT"/>
              </a:rPr>
              <a:t>r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im</a:t>
            </a:r>
            <a:r>
              <a:rPr sz="2000" spc="-10" dirty="0">
                <a:solidFill>
                  <a:srgbClr val="3C3C3C"/>
                </a:solidFill>
                <a:latin typeface="Gill Sans MT"/>
                <a:cs typeface="Gill Sans MT"/>
              </a:rPr>
              <a:t>a</a:t>
            </a:r>
            <a:r>
              <a:rPr sz="2000" spc="55" dirty="0">
                <a:solidFill>
                  <a:srgbClr val="3C3C3C"/>
                </a:solidFill>
                <a:latin typeface="Gill Sans MT"/>
                <a:cs typeface="Gill Sans MT"/>
              </a:rPr>
              <a:t>r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y  </a:t>
            </a:r>
            <a:r>
              <a:rPr sz="2000" spc="-10" dirty="0">
                <a:solidFill>
                  <a:srgbClr val="3C3C3C"/>
                </a:solidFill>
                <a:latin typeface="Gill Sans MT"/>
                <a:cs typeface="Gill Sans MT"/>
              </a:rPr>
              <a:t>on		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[Book</a:t>
            </a:r>
            <a:endParaRPr sz="2000">
              <a:latin typeface="Gill Sans MT"/>
              <a:cs typeface="Gill Sans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440161" y="5289041"/>
            <a:ext cx="909955" cy="92836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2069">
              <a:lnSpc>
                <a:spcPct val="100000"/>
              </a:lnSpc>
              <a:spcBef>
                <a:spcPts val="100"/>
              </a:spcBef>
              <a:tabLst>
                <a:tab pos="608330" algn="l"/>
              </a:tabLst>
            </a:pPr>
            <a:r>
              <a:rPr sz="2000" spc="-65" dirty="0">
                <a:solidFill>
                  <a:srgbClr val="3C3C3C"/>
                </a:solidFill>
                <a:latin typeface="Gill Sans MT"/>
                <a:cs typeface="Gill Sans MT"/>
              </a:rPr>
              <a:t>key.	</a:t>
            </a:r>
            <a:r>
              <a:rPr sz="2000" spc="-10" dirty="0">
                <a:solidFill>
                  <a:srgbClr val="3C3C3C"/>
                </a:solidFill>
                <a:latin typeface="Gill Sans MT"/>
                <a:cs typeface="Gill Sans MT"/>
              </a:rPr>
              <a:t>In</a:t>
            </a:r>
            <a:endParaRPr sz="200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tabLst>
                <a:tab pos="607060" algn="l"/>
              </a:tabLst>
            </a:pP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ID].	</a:t>
            </a:r>
            <a:r>
              <a:rPr sz="2000" spc="-10" dirty="0">
                <a:solidFill>
                  <a:srgbClr val="3C3C3C"/>
                </a:solidFill>
                <a:latin typeface="Gill Sans MT"/>
                <a:cs typeface="Gill Sans MT"/>
              </a:rPr>
              <a:t>In</a:t>
            </a:r>
            <a:endParaRPr sz="2000">
              <a:latin typeface="Gill Sans MT"/>
              <a:cs typeface="Gill Sans MT"/>
            </a:endParaRPr>
          </a:p>
          <a:p>
            <a:pPr marR="5080" algn="r">
              <a:lnSpc>
                <a:spcPct val="100000"/>
              </a:lnSpc>
              <a:spcBef>
                <a:spcPts val="1225"/>
              </a:spcBef>
            </a:pPr>
            <a:r>
              <a:rPr sz="900" spc="5" dirty="0">
                <a:solidFill>
                  <a:srgbClr val="4590B8"/>
                </a:solidFill>
                <a:latin typeface="Gill Sans MT"/>
                <a:cs typeface="Gill Sans MT"/>
              </a:rPr>
              <a:t>30</a:t>
            </a:r>
            <a:endParaRPr sz="900">
              <a:latin typeface="Gill Sans MT"/>
              <a:cs typeface="Gill Sans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40739" y="5898591"/>
            <a:ext cx="675894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5" dirty="0">
                <a:solidFill>
                  <a:srgbClr val="3C3C3C"/>
                </a:solidFill>
                <a:latin typeface="Gill Sans MT"/>
                <a:cs typeface="Gill Sans MT"/>
              </a:rPr>
              <a:t>[TABLE_GENRE],</a:t>
            </a:r>
            <a:r>
              <a:rPr sz="2000" spc="-24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[Genre</a:t>
            </a:r>
            <a:r>
              <a:rPr sz="2000" spc="-28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spc="-50" dirty="0">
                <a:solidFill>
                  <a:srgbClr val="3C3C3C"/>
                </a:solidFill>
                <a:latin typeface="Gill Sans MT"/>
                <a:cs typeface="Gill Sans MT"/>
              </a:rPr>
              <a:t>Type]</a:t>
            </a:r>
            <a:r>
              <a:rPr sz="2000" spc="-1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is</a:t>
            </a:r>
            <a:r>
              <a:rPr sz="2000" spc="-2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only</a:t>
            </a:r>
            <a:r>
              <a:rPr sz="2000" spc="-2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dependent</a:t>
            </a:r>
            <a:r>
              <a:rPr sz="2000" spc="-1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on</a:t>
            </a:r>
            <a:r>
              <a:rPr sz="2000" spc="-25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spc="-5" dirty="0">
                <a:solidFill>
                  <a:srgbClr val="3C3C3C"/>
                </a:solidFill>
                <a:latin typeface="Gill Sans MT"/>
                <a:cs typeface="Gill Sans MT"/>
              </a:rPr>
              <a:t>[Genre</a:t>
            </a:r>
            <a:r>
              <a:rPr sz="2000" spc="-40" dirty="0">
                <a:solidFill>
                  <a:srgbClr val="3C3C3C"/>
                </a:solidFill>
                <a:latin typeface="Gill Sans MT"/>
                <a:cs typeface="Gill Sans MT"/>
              </a:rPr>
              <a:t> </a:t>
            </a:r>
            <a:r>
              <a:rPr sz="2000" dirty="0">
                <a:solidFill>
                  <a:srgbClr val="3C3C3C"/>
                </a:solidFill>
                <a:latin typeface="Gill Sans MT"/>
                <a:cs typeface="Gill Sans MT"/>
              </a:rPr>
              <a:t>ID].</a:t>
            </a:r>
            <a:endParaRPr sz="2000">
              <a:latin typeface="Gill Sans MT"/>
              <a:cs typeface="Gill Sans MT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55164" y="2354579"/>
            <a:ext cx="4936236" cy="2057400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444500" y="6531499"/>
            <a:ext cx="644525" cy="202565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200" spc="-5" dirty="0">
                <a:solidFill>
                  <a:srgbClr val="393939"/>
                </a:solidFill>
                <a:latin typeface="Gill Sans MT"/>
                <a:cs typeface="Gill Sans MT"/>
              </a:rPr>
              <a:t>6/10/2020</a:t>
            </a:r>
            <a:endParaRPr sz="1200">
              <a:latin typeface="Gill Sans MT"/>
              <a:cs typeface="Gill Sans M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1743</Words>
  <Application>Microsoft Office PowerPoint</Application>
  <PresentationFormat>Widescreen</PresentationFormat>
  <Paragraphs>202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9" baseType="lpstr">
      <vt:lpstr>Arial</vt:lpstr>
      <vt:lpstr>Calibri</vt:lpstr>
      <vt:lpstr>Constantia</vt:lpstr>
      <vt:lpstr>Gill Sans MT</vt:lpstr>
      <vt:lpstr>Times New Roman</vt:lpstr>
      <vt:lpstr>Trebuchet MS</vt:lpstr>
      <vt:lpstr>Wingdings</vt:lpstr>
      <vt:lpstr>Wingdings 2</vt:lpstr>
      <vt:lpstr>Office Theme</vt:lpstr>
      <vt:lpstr>DATABASE MANAGEMENT SYSTEMS</vt:lpstr>
      <vt:lpstr>NORMALIZATION</vt:lpstr>
      <vt:lpstr>  IN THIS LECTURE YOU WILL LEARN ABOUT:</vt:lpstr>
      <vt:lpstr>DATA NORMALIZATION</vt:lpstr>
      <vt:lpstr> NORMALIZATION</vt:lpstr>
      <vt:lpstr>NORMALIZATION (CONT’D)</vt:lpstr>
      <vt:lpstr>WELL-STRUCTURED RELATIONS</vt:lpstr>
      <vt:lpstr>PowerPoint Presentation</vt:lpstr>
      <vt:lpstr>3) Update Anomaly, it exists when one or more instances of duplicated data is updated,  but not all.</vt:lpstr>
      <vt:lpstr>PowerPoint Presentation</vt:lpstr>
      <vt:lpstr>2nd Normal Form, A relation is in 2NF if it is in 1NF and every non-key attribute is fully dependent on</vt:lpstr>
      <vt:lpstr>3rd Normal Form, A relation is in third normal form, if it is in 2NF and every non-key attribute of</vt:lpstr>
      <vt:lpstr>EXAMPLE</vt:lpstr>
      <vt:lpstr>ANOMALIES IN THIS TABLE</vt:lpstr>
      <vt:lpstr>FUNCTIONAL DEPENDENCIES AND KEYS</vt:lpstr>
      <vt:lpstr>Steps in normalization</vt:lpstr>
      <vt:lpstr>FIRST NORMAL FORM</vt:lpstr>
      <vt:lpstr>PowerPoint Presentation</vt:lpstr>
      <vt:lpstr>Table with no multivalued attributes and unique rows, in 1st normal form</vt:lpstr>
      <vt:lpstr>ANOMALIES IN THIS TABLE</vt:lpstr>
      <vt:lpstr>SECOND NORMAL FORM</vt:lpstr>
      <vt:lpstr>Functional dependency diagram for INVOICE</vt:lpstr>
      <vt:lpstr>Removing partial dependencies</vt:lpstr>
      <vt:lpstr>THIRD NORMAL FORM</vt:lpstr>
      <vt:lpstr>Removing partial dependencies</vt:lpstr>
      <vt:lpstr>EXAMPLE OF NORMALIZATION</vt:lpstr>
      <vt:lpstr>PowerPoint Presentation</vt:lpstr>
      <vt:lpstr>2ND FORM OF NORMALIZATION</vt:lpstr>
      <vt:lpstr>PowerPoint Presentation</vt:lpstr>
      <vt:lpstr>3rd FORM OF NORMALIZATION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Database Management Systems</dc:title>
  <dc:creator>Zartasha Baloch</dc:creator>
  <cp:lastModifiedBy>Junaid Javed</cp:lastModifiedBy>
  <cp:revision>1</cp:revision>
  <dcterms:created xsi:type="dcterms:W3CDTF">2026-02-17T07:55:42Z</dcterms:created>
  <dcterms:modified xsi:type="dcterms:W3CDTF">2026-09-14T10:54:08Z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2020-06-10T00:00:00Z</vt:filetime>
  </property>
  <property fmtid="{D5CDD505-2E9C-101B-9397-08002B2CF9AE}" pid="3" name="Creator">
    <vt:lpwstr>Microsoft® PowerPoint® for Office 365</vt:lpwstr>
  </property>
  <property fmtid="{D5CDD505-2E9C-101B-9397-08002B2CF9AE}" pid="4" name="LastSaved">
    <vt:filetime>2026-02-17T00:00:00Z</vt:filetime>
  </property>
</Properties>
</file>